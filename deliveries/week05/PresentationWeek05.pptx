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Bricolage Grotesque" charset="1" panose="020B0605040402000204"/>
      <p:regular r:id="rId27"/>
    </p:embeddedFont>
    <p:embeddedFont>
      <p:font typeface="Poppins Bold" charset="1" panose="00000800000000000000"/>
      <p:regular r:id="rId28"/>
    </p:embeddedFont>
    <p:embeddedFont>
      <p:font typeface="Poppins" charset="1" panose="00000500000000000000"/>
      <p:regular r:id="rId29"/>
    </p:embeddedFont>
    <p:embeddedFont>
      <p:font typeface="Calibri (MS) Bold" charset="1" panose="020F0702030404030204"/>
      <p:regular r:id="rId30"/>
    </p:embeddedFont>
    <p:embeddedFont>
      <p:font typeface="Calibri (MS) Italics" charset="1" panose="020F05020202040A0204"/>
      <p:regular r:id="rId31"/>
    </p:embeddedFont>
    <p:embeddedFont>
      <p:font typeface="Calibri (MS)" charset="1" panose="020F0502020204030204"/>
      <p:regular r:id="rId32"/>
    </p:embeddedFont>
    <p:embeddedFont>
      <p:font typeface="Cambria Bold" charset="1" panose="02040803050406030204"/>
      <p:regular r:id="rId33"/>
    </p:embeddedFont>
    <p:embeddedFont>
      <p:font typeface="Canva Sans Bold" charset="1" panose="020B0803030501040103"/>
      <p:regular r:id="rId34"/>
    </p:embeddedFont>
    <p:embeddedFont>
      <p:font typeface="Calibri (MS) Bold Italics" charset="1" panose="020F07020304040A0204"/>
      <p:regular r:id="rId35"/>
    </p:embeddedFont>
    <p:embeddedFont>
      <p:font typeface="Arial" charset="1" panose="020B0604020202020204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font" Target="fonts/font27.fntdata"/><Relationship Id="rId28" Type="http://schemas.openxmlformats.org/officeDocument/2006/relationships/font" Target="fonts/font28.fntdata"/><Relationship Id="rId29" Type="http://schemas.openxmlformats.org/officeDocument/2006/relationships/font" Target="fonts/font29.fntdata"/><Relationship Id="rId30" Type="http://schemas.openxmlformats.org/officeDocument/2006/relationships/font" Target="fonts/font30.fntdata"/><Relationship Id="rId31" Type="http://schemas.openxmlformats.org/officeDocument/2006/relationships/font" Target="fonts/font31.fntdata"/><Relationship Id="rId32" Type="http://schemas.openxmlformats.org/officeDocument/2006/relationships/font" Target="fonts/font32.fntdata"/><Relationship Id="rId33" Type="http://schemas.openxmlformats.org/officeDocument/2006/relationships/font" Target="fonts/font33.fntdata"/><Relationship Id="rId34" Type="http://schemas.openxmlformats.org/officeDocument/2006/relationships/font" Target="fonts/font34.fntdata"/><Relationship Id="rId35" Type="http://schemas.openxmlformats.org/officeDocument/2006/relationships/font" Target="fonts/font35.fntdata"/><Relationship Id="rId36" Type="http://schemas.openxmlformats.org/officeDocument/2006/relationships/font" Target="fonts/font3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15882" cy="10287000"/>
            <a:chOff x="0" y="0"/>
            <a:chExt cx="63628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6282" cy="2709333"/>
            </a:xfrm>
            <a:custGeom>
              <a:avLst/>
              <a:gdLst/>
              <a:ahLst/>
              <a:cxnLst/>
              <a:rect r="r" b="b" t="t" l="l"/>
              <a:pathLst>
                <a:path h="2709333" w="636282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93E9C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650950" y="1028700"/>
            <a:ext cx="9241467" cy="9258300"/>
          </a:xfrm>
          <a:custGeom>
            <a:avLst/>
            <a:gdLst/>
            <a:ahLst/>
            <a:cxnLst/>
            <a:rect r="r" b="b" t="t" l="l"/>
            <a:pathLst>
              <a:path h="9258300" w="9241467">
                <a:moveTo>
                  <a:pt x="0" y="0"/>
                </a:moveTo>
                <a:lnTo>
                  <a:pt x="9241467" y="0"/>
                </a:lnTo>
                <a:lnTo>
                  <a:pt x="9241467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3021734" y="4717954"/>
            <a:ext cx="7329518" cy="1463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1215" spc="-717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InmoScore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60740" y="8287049"/>
            <a:ext cx="1713939" cy="684317"/>
            <a:chOff x="0" y="0"/>
            <a:chExt cx="2285252" cy="91242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2272228" cy="4562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21"/>
                </a:lnSpc>
              </a:pPr>
              <a:r>
                <a:rPr lang="en-US" sz="226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2026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3024" y="456211"/>
              <a:ext cx="2272228" cy="4562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21"/>
                </a:lnSpc>
              </a:pPr>
              <a:r>
                <a:rPr lang="en-US" sz="226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DPD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021734" y="3931189"/>
            <a:ext cx="11662790" cy="548640"/>
            <a:chOff x="0" y="0"/>
            <a:chExt cx="15550387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50387" cy="731520"/>
            </a:xfrm>
            <a:custGeom>
              <a:avLst/>
              <a:gdLst/>
              <a:ahLst/>
              <a:cxnLst/>
              <a:rect r="r" b="b" t="t" l="l"/>
              <a:pathLst>
                <a:path h="731520" w="15550387">
                  <a:moveTo>
                    <a:pt x="0" y="0"/>
                  </a:moveTo>
                  <a:lnTo>
                    <a:pt x="15550387" y="0"/>
                  </a:lnTo>
                  <a:lnTo>
                    <a:pt x="15550387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5916" b="-339700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5550387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3A58E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PROPTECH · ASISTENTE DE INVERSIÓN INMOBILIARIA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021734" y="6181318"/>
            <a:ext cx="7938094" cy="1097280"/>
            <a:chOff x="0" y="0"/>
            <a:chExt cx="10584125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84125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584125">
                  <a:moveTo>
                    <a:pt x="0" y="0"/>
                  </a:moveTo>
                  <a:lnTo>
                    <a:pt x="10584125" y="0"/>
                  </a:lnTo>
                  <a:lnTo>
                    <a:pt x="10584125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384" r="-64147" b="-181384"/>
              </a:stretch>
            </a:blip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0584125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i="true">
                  <a:solidFill>
                    <a:srgbClr val="3A58E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El recomendador de vivienda que entiende tu estilo de vida, no solo tu presupuesto.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021734" y="7554870"/>
            <a:ext cx="8551447" cy="732179"/>
            <a:chOff x="0" y="0"/>
            <a:chExt cx="11401929" cy="9762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401929" cy="976238"/>
            </a:xfrm>
            <a:custGeom>
              <a:avLst/>
              <a:gdLst/>
              <a:ahLst/>
              <a:cxnLst/>
              <a:rect r="r" b="b" t="t" l="l"/>
              <a:pathLst>
                <a:path h="976238" w="11401929">
                  <a:moveTo>
                    <a:pt x="0" y="0"/>
                  </a:moveTo>
                  <a:lnTo>
                    <a:pt x="11401929" y="0"/>
                  </a:lnTo>
                  <a:lnTo>
                    <a:pt x="11401929" y="976238"/>
                  </a:lnTo>
                  <a:lnTo>
                    <a:pt x="0" y="9762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6433" r="-68413" b="-330099"/>
              </a:stretch>
            </a:blipFill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1401929" cy="1023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3A58E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Denzel</a:t>
              </a:r>
              <a:r>
                <a:rPr lang="en-US" sz="2100">
                  <a:solidFill>
                    <a:srgbClr val="3A58E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Cloud &amp; DevOps Engineer   ·   </a:t>
              </a:r>
              <a:r>
                <a:rPr lang="en-US" b="true" sz="2100">
                  <a:solidFill>
                    <a:srgbClr val="3A58E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Jyns</a:t>
              </a:r>
              <a:r>
                <a:rPr lang="en-US" sz="2100">
                  <a:solidFill>
                    <a:srgbClr val="3A58E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Machine Learning Engineer   ·   </a:t>
              </a:r>
              <a:r>
                <a:rPr lang="en-US" b="true" sz="2100">
                  <a:solidFill>
                    <a:srgbClr val="3A58E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Lisseth</a:t>
              </a:r>
              <a:r>
                <a:rPr lang="en-US" sz="2100">
                  <a:solidFill>
                    <a:srgbClr val="3A58E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Data Analyst   ·   </a:t>
              </a:r>
              <a:r>
                <a:rPr lang="en-US" b="true" sz="2100">
                  <a:solidFill>
                    <a:srgbClr val="3A58E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Mafer</a:t>
              </a:r>
              <a:r>
                <a:rPr lang="en-US" sz="2100">
                  <a:solidFill>
                    <a:srgbClr val="3A58E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Full-Stack Developer &amp; UX/UI Designer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9495A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PROPOSAL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960120"/>
            <a:chOff x="0" y="0"/>
            <a:chExt cx="215798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462" r="0" b="-278462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0F101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Abstract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331720"/>
            <a:ext cx="16596360" cy="6309360"/>
            <a:chOff x="0" y="0"/>
            <a:chExt cx="22128480" cy="8412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8412480"/>
            </a:xfrm>
            <a:custGeom>
              <a:avLst/>
              <a:gdLst/>
              <a:ahLst/>
              <a:cxnLst/>
              <a:rect r="r" b="b" t="t" l="l"/>
              <a:pathLst>
                <a:path h="8412480" w="22128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945600" y="0"/>
                  </a:lnTo>
                  <a:cubicBezTo>
                    <a:pt x="22046564" y="0"/>
                    <a:pt x="22128480" y="81915"/>
                    <a:pt x="22128480" y="182880"/>
                  </a:cubicBezTo>
                  <a:lnTo>
                    <a:pt x="22128480" y="8229600"/>
                  </a:lnTo>
                  <a:cubicBezTo>
                    <a:pt x="22128480" y="8330565"/>
                    <a:pt x="22046564" y="8412480"/>
                    <a:pt x="21945600" y="8412480"/>
                  </a:cubicBezTo>
                  <a:lnTo>
                    <a:pt x="182880" y="8412480"/>
                  </a:lnTo>
                  <a:cubicBezTo>
                    <a:pt x="81915" y="8412480"/>
                    <a:pt x="0" y="8330565"/>
                    <a:pt x="0" y="8229600"/>
                  </a:cubicBezTo>
                  <a:close/>
                </a:path>
              </a:pathLst>
            </a:custGeom>
            <a:solidFill>
              <a:srgbClr val="2B3D9C"/>
            </a:solid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71600" y="2811780"/>
            <a:ext cx="15499080" cy="2743200"/>
            <a:chOff x="0" y="0"/>
            <a:chExt cx="20665440" cy="3657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665439" cy="3657600"/>
            </a:xfrm>
            <a:custGeom>
              <a:avLst/>
              <a:gdLst/>
              <a:ahLst/>
              <a:cxnLst/>
              <a:rect r="r" b="b" t="t" l="l"/>
              <a:pathLst>
                <a:path h="365760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090" r="0" b="-60090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20665440" cy="3781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Asistente de búsqueda inmobiliaria para compradores de vivienda propia en Lima Metropolitana.</a:t>
              </a:r>
            </a:p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Los portales actuales filtran por precio, distrito y número de habitaciones.</a:t>
              </a:r>
            </a:p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InmoScore agrega tres modelos sobre ese mismo inventario:</a:t>
              </a:r>
            </a:p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·  Motor de valoración de precios</a:t>
              </a:r>
            </a:p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·  Modelo de visión para la calidad del entorno</a:t>
              </a:r>
            </a:p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·  Motor de recomendación personalizado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71600" y="5760720"/>
            <a:ext cx="15499080" cy="2331720"/>
            <a:chOff x="0" y="0"/>
            <a:chExt cx="20665440" cy="3108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665439" cy="3108960"/>
            </a:xfrm>
            <a:custGeom>
              <a:avLst/>
              <a:gdLst/>
              <a:ahLst/>
              <a:cxnLst/>
              <a:rect r="r" b="b" t="t" l="l"/>
              <a:pathLst>
                <a:path h="310896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518" r="0" b="-79518"/>
              </a:stretch>
            </a:blip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123825"/>
              <a:ext cx="20665440" cy="3232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Base de datos: seis fuentes públicas consolidadas, entre ellas 24 148 transacciones cerradas y 3 987 avisos de venta.</a:t>
              </a:r>
            </a:p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Salida: ranking ordenado por perfil, con la explicación de cada recomendación en lenguaje natural.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5800" y="9738360"/>
            <a:ext cx="8229600" cy="411480"/>
            <a:chOff x="0" y="0"/>
            <a:chExt cx="109728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544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InmoScore · Week 5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048988" y="9738360"/>
            <a:ext cx="548640" cy="411480"/>
            <a:chOff x="0" y="0"/>
            <a:chExt cx="73152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  <p:txBody>
            <a:bodyPr/>
            <a:p/>
          </p:txBody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3544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9495A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PROPOSAL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960120"/>
            <a:chOff x="0" y="0"/>
            <a:chExt cx="215798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462" r="0" b="-278462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0F101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Background &amp; Problem Statement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331720"/>
            <a:ext cx="8092440" cy="6446520"/>
            <a:chOff x="0" y="0"/>
            <a:chExt cx="10789920" cy="859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89920" cy="8595360"/>
            </a:xfrm>
            <a:custGeom>
              <a:avLst/>
              <a:gdLst/>
              <a:ahLst/>
              <a:cxnLst/>
              <a:rect r="r" b="b" t="t" l="l"/>
              <a:pathLst>
                <a:path h="8595360" w="10789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07040" y="0"/>
                  </a:lnTo>
                  <a:cubicBezTo>
                    <a:pt x="10708005" y="0"/>
                    <a:pt x="10789920" y="81915"/>
                    <a:pt x="10789920" y="182880"/>
                  </a:cubicBezTo>
                  <a:lnTo>
                    <a:pt x="10789920" y="8412480"/>
                  </a:lnTo>
                  <a:cubicBezTo>
                    <a:pt x="10789920" y="8513445"/>
                    <a:pt x="10708005" y="8595360"/>
                    <a:pt x="10607040" y="8595360"/>
                  </a:cubicBezTo>
                  <a:lnTo>
                    <a:pt x="182880" y="8595360"/>
                  </a:lnTo>
                  <a:cubicBezTo>
                    <a:pt x="81915" y="8595360"/>
                    <a:pt x="0" y="8513445"/>
                    <a:pt x="0" y="8412480"/>
                  </a:cubicBezTo>
                  <a:close/>
                </a:path>
              </a:pathLst>
            </a:custGeom>
            <a:solidFill>
              <a:srgbClr val="2B3D9C"/>
            </a:solid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34440" y="2674620"/>
            <a:ext cx="7269480" cy="548640"/>
            <a:chOff x="0" y="0"/>
            <a:chExt cx="96926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176" r="0" b="-208176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9692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A0AAE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Background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3291840"/>
            <a:ext cx="7269480" cy="5212080"/>
            <a:chOff x="0" y="0"/>
            <a:chExt cx="9692640" cy="6949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92640" cy="6949440"/>
            </a:xfrm>
            <a:custGeom>
              <a:avLst/>
              <a:gdLst/>
              <a:ahLst/>
              <a:cxnLst/>
              <a:rect r="r" b="b" t="t" l="l"/>
              <a:pathLst>
                <a:path h="69494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949440"/>
                  </a:lnTo>
                  <a:lnTo>
                    <a:pt x="0" y="6949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991" t="0" r="-41991" b="0"/>
              </a:stretch>
            </a:blip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104775"/>
              <a:ext cx="9692640" cy="7054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5"/>
                </a:lnSpc>
              </a:pPr>
              <a:r>
                <a:rPr lang="en-US" sz="195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El precio por m² va de S/ 9 299 en Barranco a S/ 2 773 en San Martín de Porres: 3,4 veces según el distrito.</a:t>
              </a:r>
            </a:p>
            <a:p>
              <a:pPr algn="l">
                <a:lnSpc>
                  <a:spcPts val="2925"/>
                </a:lnSpc>
              </a:pPr>
              <a:r>
                <a:rPr lang="en-US" sz="195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Urbania y Properati publican precio y fotografías, sin referencia de valor de mercado.</a:t>
              </a:r>
            </a:p>
            <a:p>
              <a:pPr algn="l">
                <a:lnSpc>
                  <a:spcPts val="2925"/>
                </a:lnSpc>
              </a:pPr>
              <a:r>
                <a:rPr lang="en-US" sz="195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Las denuncias policiales van de 11 a 81 por mil habitantes entre distritos.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26880" y="2331720"/>
            <a:ext cx="8161020" cy="6446520"/>
            <a:chOff x="0" y="0"/>
            <a:chExt cx="10881360" cy="8595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81360" cy="8595360"/>
            </a:xfrm>
            <a:custGeom>
              <a:avLst/>
              <a:gdLst/>
              <a:ahLst/>
              <a:cxnLst/>
              <a:rect r="r" b="b" t="t" l="l"/>
              <a:pathLst>
                <a:path h="8595360" w="10881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98480" y="0"/>
                  </a:lnTo>
                  <a:cubicBezTo>
                    <a:pt x="10799445" y="0"/>
                    <a:pt x="10881360" y="81915"/>
                    <a:pt x="10881360" y="182880"/>
                  </a:cubicBezTo>
                  <a:lnTo>
                    <a:pt x="10881360" y="8412480"/>
                  </a:lnTo>
                  <a:cubicBezTo>
                    <a:pt x="10881360" y="8513445"/>
                    <a:pt x="10799445" y="8595360"/>
                    <a:pt x="10698480" y="8595360"/>
                  </a:cubicBezTo>
                  <a:lnTo>
                    <a:pt x="182880" y="8595360"/>
                  </a:lnTo>
                  <a:cubicBezTo>
                    <a:pt x="81915" y="8595360"/>
                    <a:pt x="0" y="8513445"/>
                    <a:pt x="0" y="8412480"/>
                  </a:cubicBezTo>
                  <a:close/>
                </a:path>
              </a:pathLst>
            </a:custGeom>
            <a:solidFill>
              <a:srgbClr val="2B3D9C"/>
            </a:solid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9738360" y="2674620"/>
            <a:ext cx="7269480" cy="548640"/>
            <a:chOff x="0" y="0"/>
            <a:chExt cx="969264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176" r="0" b="-208176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692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A0AAE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38360" y="3291840"/>
            <a:ext cx="7269480" cy="3566160"/>
            <a:chOff x="0" y="0"/>
            <a:chExt cx="9692640" cy="47548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6926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941" t="0" r="-12941" b="0"/>
              </a:stretch>
            </a:blipFill>
          </p:spPr>
          <p:txBody>
            <a:bodyPr/>
            <a:p/>
          </p:txBody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9692640" cy="4792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¿Está este inmueble bien valorado respecto al mercado real de su zona y tipo?</a:t>
              </a:r>
            </a:p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¿Cómo es realmente el entorno del inmueble, más allá de las fotos del anuncio?</a:t>
              </a:r>
            </a:p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¿Qué tan confiable es la constructora, en proyectos en planos o en construcción?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738360" y="6995160"/>
            <a:ext cx="7269480" cy="1508760"/>
            <a:chOff x="0" y="0"/>
            <a:chExt cx="9692640" cy="20116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6926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882" r="0" b="-43882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692640" cy="2049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A0AAE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Nada de ese contexto aparece en el aviso. La comparación entre opciones queda a criterio del comprador.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85800" y="9738360"/>
            <a:ext cx="8229600" cy="411480"/>
            <a:chOff x="0" y="0"/>
            <a:chExt cx="1097280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  <p:txBody>
            <a:bodyPr/>
            <a:p/>
          </p:txBody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544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InmoScore · Week 5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7048988" y="9738360"/>
            <a:ext cx="548640" cy="411480"/>
            <a:chOff x="0" y="0"/>
            <a:chExt cx="731520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  <p:txBody>
            <a:bodyPr/>
            <a:p/>
          </p:txBody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3544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9495A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PROPOSAL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960120"/>
            <a:chOff x="0" y="0"/>
            <a:chExt cx="215798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462" r="0" b="-278462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0F101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Target Users &amp; Expected Value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331720"/>
            <a:ext cx="8092440" cy="6446520"/>
            <a:chOff x="0" y="0"/>
            <a:chExt cx="10789920" cy="859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89920" cy="8595360"/>
            </a:xfrm>
            <a:custGeom>
              <a:avLst/>
              <a:gdLst/>
              <a:ahLst/>
              <a:cxnLst/>
              <a:rect r="r" b="b" t="t" l="l"/>
              <a:pathLst>
                <a:path h="8595360" w="10789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07040" y="0"/>
                  </a:lnTo>
                  <a:cubicBezTo>
                    <a:pt x="10708005" y="0"/>
                    <a:pt x="10789920" y="81915"/>
                    <a:pt x="10789920" y="182880"/>
                  </a:cubicBezTo>
                  <a:lnTo>
                    <a:pt x="10789920" y="8412480"/>
                  </a:lnTo>
                  <a:cubicBezTo>
                    <a:pt x="10789920" y="8513445"/>
                    <a:pt x="10708005" y="8595360"/>
                    <a:pt x="10607040" y="8595360"/>
                  </a:cubicBezTo>
                  <a:lnTo>
                    <a:pt x="182880" y="8595360"/>
                  </a:lnTo>
                  <a:cubicBezTo>
                    <a:pt x="81915" y="8595360"/>
                    <a:pt x="0" y="8513445"/>
                    <a:pt x="0" y="8412480"/>
                  </a:cubicBezTo>
                  <a:close/>
                </a:path>
              </a:pathLst>
            </a:custGeom>
            <a:solidFill>
              <a:srgbClr val="A0AAE7"/>
            </a:solid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34440" y="2674620"/>
            <a:ext cx="7269480" cy="548640"/>
            <a:chOff x="0" y="0"/>
            <a:chExt cx="96926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176" r="0" b="-208176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9692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3544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 Users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3291840"/>
            <a:ext cx="7269480" cy="5212080"/>
            <a:chOff x="0" y="0"/>
            <a:chExt cx="9692640" cy="6949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92640" cy="6949440"/>
            </a:xfrm>
            <a:custGeom>
              <a:avLst/>
              <a:gdLst/>
              <a:ahLst/>
              <a:cxnLst/>
              <a:rect r="r" b="b" t="t" l="l"/>
              <a:pathLst>
                <a:path h="69494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949440"/>
                  </a:lnTo>
                  <a:lnTo>
                    <a:pt x="0" y="6949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991" t="0" r="-41991" b="0"/>
              </a:stretch>
            </a:blip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104775"/>
              <a:ext cx="9692640" cy="7054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b="true" sz="2025">
                  <a:solidFill>
                    <a:srgbClr val="0F10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Usuario principal: </a:t>
              </a:r>
              <a:r>
                <a:rPr lang="en-US" sz="2025">
                  <a:solidFill>
                    <a:srgbClr val="0F101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personas naturales que buscan comprar su primera vivienda o cambiar de vivienda en Lima Metropolitana (no inversionistas).</a:t>
              </a:r>
            </a:p>
            <a:p>
              <a:pPr algn="l">
                <a:lnSpc>
                  <a:spcPts val="3159"/>
                </a:lnSpc>
              </a:pPr>
            </a:p>
            <a:p>
              <a:pPr algn="l">
                <a:lnSpc>
                  <a:spcPts val="3159"/>
                </a:lnSpc>
              </a:pPr>
              <a:r>
                <a:rPr lang="en-US" b="true" sz="2025">
                  <a:solidFill>
                    <a:srgbClr val="0F10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Usuarios secundarios (expansión futura): </a:t>
              </a:r>
              <a:r>
                <a:rPr lang="en-US" sz="2025">
                  <a:solidFill>
                    <a:srgbClr val="0F101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constructoras e inmobiliarias confiables interesadas en diferenciarse mediante un score de confiabilidad transparente.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26880" y="2331720"/>
            <a:ext cx="8161020" cy="6446520"/>
            <a:chOff x="0" y="0"/>
            <a:chExt cx="10881360" cy="8595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81360" cy="8595360"/>
            </a:xfrm>
            <a:custGeom>
              <a:avLst/>
              <a:gdLst/>
              <a:ahLst/>
              <a:cxnLst/>
              <a:rect r="r" b="b" t="t" l="l"/>
              <a:pathLst>
                <a:path h="8595360" w="10881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98480" y="0"/>
                  </a:lnTo>
                  <a:cubicBezTo>
                    <a:pt x="10799445" y="0"/>
                    <a:pt x="10881360" y="81915"/>
                    <a:pt x="10881360" y="182880"/>
                  </a:cubicBezTo>
                  <a:lnTo>
                    <a:pt x="10881360" y="8412480"/>
                  </a:lnTo>
                  <a:cubicBezTo>
                    <a:pt x="10881360" y="8513445"/>
                    <a:pt x="10799445" y="8595360"/>
                    <a:pt x="10698480" y="8595360"/>
                  </a:cubicBezTo>
                  <a:lnTo>
                    <a:pt x="182880" y="8595360"/>
                  </a:lnTo>
                  <a:cubicBezTo>
                    <a:pt x="81915" y="8595360"/>
                    <a:pt x="0" y="8513445"/>
                    <a:pt x="0" y="8412480"/>
                  </a:cubicBezTo>
                  <a:close/>
                </a:path>
              </a:pathLst>
            </a:custGeom>
            <a:solidFill>
              <a:srgbClr val="2B3D9C"/>
            </a:solid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9738360" y="2674620"/>
            <a:ext cx="7269480" cy="548640"/>
            <a:chOff x="0" y="0"/>
            <a:chExt cx="969264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176" r="0" b="-208176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692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F9FB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Expected Value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38360" y="3291840"/>
            <a:ext cx="7269480" cy="1508760"/>
            <a:chOff x="0" y="0"/>
            <a:chExt cx="9692640" cy="20116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6926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882" r="0" b="-43882"/>
              </a:stretch>
            </a:blipFill>
          </p:spPr>
          <p:txBody>
            <a:bodyPr/>
            <a:p/>
          </p:txBody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9692640" cy="2097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1875">
                  <a:solidFill>
                    <a:srgbClr val="F9FB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Para el comprador: </a:t>
              </a:r>
              <a:r>
                <a:rPr lang="en-US" sz="1875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contraste del precio pedido contra 24 148 transacciones cerradas y el índice de zona de 47 distritos.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738360" y="4869180"/>
            <a:ext cx="7269480" cy="1508760"/>
            <a:chOff x="0" y="0"/>
            <a:chExt cx="9692640" cy="20116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6926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882" r="0" b="-43882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85725"/>
              <a:ext cx="9692640" cy="2097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1875">
                  <a:solidFill>
                    <a:srgbClr val="F9FB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Para el mercado: </a:t>
              </a:r>
              <a:r>
                <a:rPr lang="en-US" sz="1875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expone el historial de 460 promotores registrados ante el Fondo MIVIVIENDA.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738360" y="6446520"/>
            <a:ext cx="7269480" cy="1508760"/>
            <a:chOff x="0" y="0"/>
            <a:chExt cx="9692640" cy="20116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6926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882" r="0" b="-43882"/>
              </a:stretch>
            </a:blipFill>
          </p:spPr>
          <p:txBody>
            <a:bodyPr/>
            <a:p/>
          </p:txBody>
        </p:sp>
        <p:sp>
          <p:nvSpPr>
            <p:cNvPr name="TextBox 29" id="29"/>
            <p:cNvSpPr txBox="true"/>
            <p:nvPr/>
          </p:nvSpPr>
          <p:spPr>
            <a:xfrm>
              <a:off x="0" y="-85725"/>
              <a:ext cx="9692640" cy="2097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1875">
                  <a:solidFill>
                    <a:srgbClr val="F9FB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Para el curso: </a:t>
              </a:r>
              <a:r>
                <a:rPr lang="en-US" sz="1875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seis fuentes públicas integradas en un feature store de 27 variables, reproducible con scripts.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85800" y="9738360"/>
            <a:ext cx="8229600" cy="411480"/>
            <a:chOff x="0" y="0"/>
            <a:chExt cx="10972800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  <p:txBody>
            <a:bodyPr/>
            <a:p/>
          </p:txBody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544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InmoScore · Week 5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7048988" y="9738360"/>
            <a:ext cx="548640" cy="411480"/>
            <a:chOff x="0" y="0"/>
            <a:chExt cx="73152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  <p:txBody>
            <a:bodyPr/>
            <a:p/>
          </p:txBody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3544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3544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PROPOSAL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960120"/>
            <a:chOff x="0" y="0"/>
            <a:chExt cx="215798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462" r="0" b="-278462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0F101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Initial Product Scope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25980"/>
            <a:ext cx="15087600" cy="548640"/>
            <a:chOff x="0" y="0"/>
            <a:chExt cx="201168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1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5838" r="0" b="-485838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0116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0F10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Alternativas de solución consideradas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2743200"/>
            <a:ext cx="5349240" cy="2057400"/>
            <a:chOff x="0" y="0"/>
            <a:chExt cx="7132320" cy="2743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323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7132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49440" y="0"/>
                  </a:lnTo>
                  <a:cubicBezTo>
                    <a:pt x="7050405" y="0"/>
                    <a:pt x="7132320" y="81915"/>
                    <a:pt x="7132320" y="182880"/>
                  </a:cubicBezTo>
                  <a:lnTo>
                    <a:pt x="7132320" y="2560320"/>
                  </a:lnTo>
                  <a:cubicBezTo>
                    <a:pt x="7132320" y="2661285"/>
                    <a:pt x="7050405" y="2743200"/>
                    <a:pt x="6949440" y="2743200"/>
                  </a:cubicBezTo>
                  <a:lnTo>
                    <a:pt x="182880" y="2743200"/>
                  </a:lnTo>
                  <a:cubicBezTo>
                    <a:pt x="81915" y="2743200"/>
                    <a:pt x="0" y="2661285"/>
                    <a:pt x="0" y="2560320"/>
                  </a:cubicBezTo>
                  <a:close/>
                </a:path>
              </a:pathLst>
            </a:custGeom>
            <a:solidFill>
              <a:srgbClr val="2B3D9C"/>
            </a:solid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7280" y="2948940"/>
            <a:ext cx="4800600" cy="685800"/>
            <a:chOff x="0" y="0"/>
            <a:chExt cx="640080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00800" cy="914400"/>
            </a:xfrm>
            <a:custGeom>
              <a:avLst/>
              <a:gdLst/>
              <a:ahLst/>
              <a:cxnLst/>
              <a:rect r="r" b="b" t="t" l="l"/>
              <a:pathLst>
                <a:path h="9144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64008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F9FB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Visualización geoespacial estática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3634740"/>
            <a:ext cx="4800600" cy="1097280"/>
            <a:chOff x="0" y="0"/>
            <a:chExt cx="6400800" cy="1463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00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7" r="0" b="-35247"/>
              </a:stretch>
            </a:blipFill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4008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Descartada: pasiva, no se adapta al usuario.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446520" y="2743200"/>
            <a:ext cx="5349240" cy="2057400"/>
            <a:chOff x="0" y="0"/>
            <a:chExt cx="7132320" cy="274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323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7132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49440" y="0"/>
                  </a:lnTo>
                  <a:cubicBezTo>
                    <a:pt x="7050405" y="0"/>
                    <a:pt x="7132320" y="81915"/>
                    <a:pt x="7132320" y="182880"/>
                  </a:cubicBezTo>
                  <a:lnTo>
                    <a:pt x="7132320" y="2560320"/>
                  </a:lnTo>
                  <a:cubicBezTo>
                    <a:pt x="7132320" y="2661285"/>
                    <a:pt x="7050405" y="2743200"/>
                    <a:pt x="6949440" y="2743200"/>
                  </a:cubicBezTo>
                  <a:lnTo>
                    <a:pt x="182880" y="2743200"/>
                  </a:lnTo>
                  <a:cubicBezTo>
                    <a:pt x="81915" y="2743200"/>
                    <a:pt x="0" y="2661285"/>
                    <a:pt x="0" y="2560320"/>
                  </a:cubicBezTo>
                  <a:close/>
                </a:path>
              </a:pathLst>
            </a:custGeom>
            <a:solidFill>
              <a:srgbClr val="2B3D9C"/>
            </a:solidFill>
          </p:spPr>
          <p:txBody>
            <a:bodyPr/>
            <a:p/>
          </p:txBody>
        </p:sp>
      </p:grpSp>
      <p:grpSp>
        <p:nvGrpSpPr>
          <p:cNvPr name="Group 21" id="21"/>
          <p:cNvGrpSpPr/>
          <p:nvPr/>
        </p:nvGrpSpPr>
        <p:grpSpPr>
          <a:xfrm rot="0">
            <a:off x="6720840" y="2948940"/>
            <a:ext cx="4800600" cy="685800"/>
            <a:chOff x="0" y="0"/>
            <a:chExt cx="640080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00800" cy="914400"/>
            </a:xfrm>
            <a:custGeom>
              <a:avLst/>
              <a:gdLst/>
              <a:ahLst/>
              <a:cxnLst/>
              <a:rect r="r" b="b" t="t" l="l"/>
              <a:pathLst>
                <a:path h="9144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  <p:txBody>
            <a:bodyPr/>
            <a:p/>
          </p:txBody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64008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F9FB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Asistente conversacional (LLM)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720840" y="3634740"/>
            <a:ext cx="4800600" cy="1097280"/>
            <a:chOff x="0" y="0"/>
            <a:chExt cx="6400800" cy="1463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00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7" r="0" b="-35247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4008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Descartado: no genera ranking accionable ni comparable.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070080" y="2743200"/>
            <a:ext cx="5349240" cy="2057400"/>
            <a:chOff x="0" y="0"/>
            <a:chExt cx="7132320" cy="2743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323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7132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49440" y="0"/>
                  </a:lnTo>
                  <a:cubicBezTo>
                    <a:pt x="7050405" y="0"/>
                    <a:pt x="7132320" y="81915"/>
                    <a:pt x="7132320" y="182880"/>
                  </a:cubicBezTo>
                  <a:lnTo>
                    <a:pt x="7132320" y="2560320"/>
                  </a:lnTo>
                  <a:cubicBezTo>
                    <a:pt x="7132320" y="2661285"/>
                    <a:pt x="7050405" y="2743200"/>
                    <a:pt x="6949440" y="2743200"/>
                  </a:cubicBezTo>
                  <a:lnTo>
                    <a:pt x="182880" y="2743200"/>
                  </a:lnTo>
                  <a:cubicBezTo>
                    <a:pt x="81915" y="2743200"/>
                    <a:pt x="0" y="2661285"/>
                    <a:pt x="0" y="2560320"/>
                  </a:cubicBezTo>
                  <a:close/>
                </a:path>
              </a:pathLst>
            </a:custGeom>
            <a:solidFill>
              <a:srgbClr val="2B3D9C"/>
            </a:solid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344400" y="2948940"/>
            <a:ext cx="4800600" cy="685800"/>
            <a:chOff x="0" y="0"/>
            <a:chExt cx="64008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00800" cy="914400"/>
            </a:xfrm>
            <a:custGeom>
              <a:avLst/>
              <a:gdLst/>
              <a:ahLst/>
              <a:cxnLst/>
              <a:rect r="r" b="b" t="t" l="l"/>
              <a:pathLst>
                <a:path h="9144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4008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F9FB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InmoScore (elegida)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344400" y="3634740"/>
            <a:ext cx="4800600" cy="1097280"/>
            <a:chOff x="0" y="0"/>
            <a:chExt cx="6400800" cy="1463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400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47" r="0" b="-35247"/>
              </a:stretch>
            </a:blipFill>
          </p:spPr>
          <p:txBody>
            <a:bodyPr/>
            <a:p/>
          </p:txBody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4008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Combina predicción real con recomendación personalizada explicable.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5143500"/>
            <a:ext cx="8092440" cy="3703320"/>
            <a:chOff x="0" y="0"/>
            <a:chExt cx="10789920" cy="49377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789920" cy="4937760"/>
            </a:xfrm>
            <a:custGeom>
              <a:avLst/>
              <a:gdLst/>
              <a:ahLst/>
              <a:cxnLst/>
              <a:rect r="r" b="b" t="t" l="l"/>
              <a:pathLst>
                <a:path h="4937760" w="10789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07040" y="0"/>
                  </a:lnTo>
                  <a:cubicBezTo>
                    <a:pt x="10708005" y="0"/>
                    <a:pt x="10789920" y="81915"/>
                    <a:pt x="10789920" y="182880"/>
                  </a:cubicBezTo>
                  <a:lnTo>
                    <a:pt x="10789920" y="4754880"/>
                  </a:lnTo>
                  <a:cubicBezTo>
                    <a:pt x="10789920" y="4855845"/>
                    <a:pt x="10708005" y="4937760"/>
                    <a:pt x="10607040" y="4937760"/>
                  </a:cubicBezTo>
                  <a:lnTo>
                    <a:pt x="182880" y="4937760"/>
                  </a:lnTo>
                  <a:cubicBezTo>
                    <a:pt x="81915" y="4937760"/>
                    <a:pt x="0" y="4855845"/>
                    <a:pt x="0" y="4754880"/>
                  </a:cubicBezTo>
                  <a:close/>
                </a:path>
              </a:pathLst>
            </a:custGeom>
            <a:solidFill>
              <a:srgbClr val="9495A2"/>
            </a:solid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34440" y="5417820"/>
            <a:ext cx="7269480" cy="480060"/>
            <a:chOff x="0" y="0"/>
            <a:chExt cx="9692640" cy="640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5059" r="0" b="-245059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96926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F9FB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Dentro del alcance (MVP)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34440" y="5966460"/>
            <a:ext cx="7269480" cy="2743200"/>
            <a:chOff x="0" y="0"/>
            <a:chExt cx="9692640" cy="3657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6926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5" r="0" b="-1635"/>
              </a:stretch>
            </a:blipFill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9692640" cy="3695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Lima Metropolitana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Motor de valoración (precio + oportunidad)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Índice compuesto de zona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Motor de recomendación personalizado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Prototipo funcional desplegado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326880" y="5143500"/>
            <a:ext cx="8161020" cy="3703320"/>
            <a:chOff x="0" y="0"/>
            <a:chExt cx="10881360" cy="49377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881360" cy="4937760"/>
            </a:xfrm>
            <a:custGeom>
              <a:avLst/>
              <a:gdLst/>
              <a:ahLst/>
              <a:cxnLst/>
              <a:rect r="r" b="b" t="t" l="l"/>
              <a:pathLst>
                <a:path h="4937760" w="10881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98480" y="0"/>
                  </a:lnTo>
                  <a:cubicBezTo>
                    <a:pt x="10799445" y="0"/>
                    <a:pt x="10881360" y="81915"/>
                    <a:pt x="10881360" y="182880"/>
                  </a:cubicBezTo>
                  <a:lnTo>
                    <a:pt x="10881360" y="4754880"/>
                  </a:lnTo>
                  <a:cubicBezTo>
                    <a:pt x="10881360" y="4855845"/>
                    <a:pt x="10799445" y="4937760"/>
                    <a:pt x="10698480" y="4937760"/>
                  </a:cubicBezTo>
                  <a:lnTo>
                    <a:pt x="182880" y="4937760"/>
                  </a:lnTo>
                  <a:cubicBezTo>
                    <a:pt x="81915" y="4937760"/>
                    <a:pt x="0" y="4855845"/>
                    <a:pt x="0" y="4754880"/>
                  </a:cubicBezTo>
                  <a:close/>
                </a:path>
              </a:pathLst>
            </a:custGeom>
            <a:solidFill>
              <a:srgbClr val="9495A2"/>
            </a:solidFill>
          </p:spPr>
          <p:txBody>
            <a:bodyPr/>
            <a:p/>
          </p:txBody>
        </p:sp>
      </p:grpSp>
      <p:grpSp>
        <p:nvGrpSpPr>
          <p:cNvPr name="Group 45" id="45"/>
          <p:cNvGrpSpPr/>
          <p:nvPr/>
        </p:nvGrpSpPr>
        <p:grpSpPr>
          <a:xfrm rot="0">
            <a:off x="9738360" y="5417820"/>
            <a:ext cx="7269480" cy="480060"/>
            <a:chOff x="0" y="0"/>
            <a:chExt cx="9692640" cy="6400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5059" r="0" b="-245059"/>
              </a:stretch>
            </a:blipFill>
          </p:spPr>
          <p:txBody>
            <a:bodyPr/>
            <a:p/>
          </p:txBody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96926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F9FB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Fuera del alcance (esta iteración)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738360" y="5966460"/>
            <a:ext cx="7269480" cy="2743200"/>
            <a:chOff x="0" y="0"/>
            <a:chExt cx="9692640" cy="3657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6926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5" r="0" b="-1635"/>
              </a:stretch>
            </a:blipFill>
          </p:spPr>
          <p:txBody>
            <a:bodyPr/>
            <a:p/>
          </p:txBody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9692640" cy="3695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Cobertura nacional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Precalificación real de crédito hipotecario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Score de constructora con cobertura exhaustiva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Aprendizaje continuo por feedback implícito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85800" y="9738360"/>
            <a:ext cx="8229600" cy="411480"/>
            <a:chOff x="0" y="0"/>
            <a:chExt cx="1097280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  <p:txBody>
            <a:bodyPr/>
            <a:p/>
          </p:txBody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544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InmoScore · Week 5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7048988" y="9738360"/>
            <a:ext cx="548640" cy="411480"/>
            <a:chOff x="0" y="0"/>
            <a:chExt cx="731520" cy="5486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  <p:txBody>
            <a:bodyPr/>
            <a:p/>
          </p:txBody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3544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anvas_hq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2977" y="274320"/>
            <a:ext cx="13762045" cy="9738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9495A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REQUIREMENTS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960120"/>
            <a:chOff x="0" y="0"/>
            <a:chExt cx="215798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462" r="0" b="-278462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0F101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Stakeholders &amp; User Needs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331720"/>
            <a:ext cx="8092440" cy="6446520"/>
            <a:chOff x="0" y="0"/>
            <a:chExt cx="10789920" cy="859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89920" cy="8595360"/>
            </a:xfrm>
            <a:custGeom>
              <a:avLst/>
              <a:gdLst/>
              <a:ahLst/>
              <a:cxnLst/>
              <a:rect r="r" b="b" t="t" l="l"/>
              <a:pathLst>
                <a:path h="8595360" w="10789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07040" y="0"/>
                  </a:lnTo>
                  <a:cubicBezTo>
                    <a:pt x="10708005" y="0"/>
                    <a:pt x="10789920" y="81915"/>
                    <a:pt x="10789920" y="182880"/>
                  </a:cubicBezTo>
                  <a:lnTo>
                    <a:pt x="10789920" y="8412480"/>
                  </a:lnTo>
                  <a:cubicBezTo>
                    <a:pt x="10789920" y="8513445"/>
                    <a:pt x="10708005" y="8595360"/>
                    <a:pt x="10607040" y="8595360"/>
                  </a:cubicBezTo>
                  <a:lnTo>
                    <a:pt x="182880" y="8595360"/>
                  </a:lnTo>
                  <a:cubicBezTo>
                    <a:pt x="81915" y="8595360"/>
                    <a:pt x="0" y="8513445"/>
                    <a:pt x="0" y="8412480"/>
                  </a:cubicBezTo>
                  <a:close/>
                </a:path>
              </a:pathLst>
            </a:custGeom>
            <a:solidFill>
              <a:srgbClr val="2B3D9C"/>
            </a:solid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34440" y="2674620"/>
            <a:ext cx="7269480" cy="548640"/>
            <a:chOff x="0" y="0"/>
            <a:chExt cx="96926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176" r="0" b="-208176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9692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A0AAE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Stakeholders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3291840"/>
            <a:ext cx="7269480" cy="5212080"/>
            <a:chOff x="0" y="0"/>
            <a:chExt cx="9692640" cy="6949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92640" cy="6949440"/>
            </a:xfrm>
            <a:custGeom>
              <a:avLst/>
              <a:gdLst/>
              <a:ahLst/>
              <a:cxnLst/>
              <a:rect r="r" b="b" t="t" l="l"/>
              <a:pathLst>
                <a:path h="69494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949440"/>
                  </a:lnTo>
                  <a:lnTo>
                    <a:pt x="0" y="6949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991" t="0" r="-41991" b="0"/>
              </a:stretch>
            </a:blip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9692640" cy="6997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Compradores de vivienda propia (usuario final)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Constructoras e inmobiliarias confiables (beneficiarias indirectas)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Entidades financieras y bancos (créditos y riesgo crediticio)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Municipalidades distritales (zonificación y servicios urbanos)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Policía Nacional del Perú - PNP (datos oficiales de delincuencia)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Indecopi (fiscalización y récord de sanciones inmobiliarias)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Juntas vecinales y comunidad local (entorno y ruido barrial)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Equipo: Denzel, Jyns, Mafer, Lisseth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Docente / curso DS3022 (sponsor académico)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26880" y="2331720"/>
            <a:ext cx="8161020" cy="6446520"/>
            <a:chOff x="0" y="0"/>
            <a:chExt cx="10881360" cy="8595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81360" cy="8595360"/>
            </a:xfrm>
            <a:custGeom>
              <a:avLst/>
              <a:gdLst/>
              <a:ahLst/>
              <a:cxnLst/>
              <a:rect r="r" b="b" t="t" l="l"/>
              <a:pathLst>
                <a:path h="8595360" w="10881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98480" y="0"/>
                  </a:lnTo>
                  <a:cubicBezTo>
                    <a:pt x="10799445" y="0"/>
                    <a:pt x="10881360" y="81915"/>
                    <a:pt x="10881360" y="182880"/>
                  </a:cubicBezTo>
                  <a:lnTo>
                    <a:pt x="10881360" y="8412480"/>
                  </a:lnTo>
                  <a:cubicBezTo>
                    <a:pt x="10881360" y="8513445"/>
                    <a:pt x="10799445" y="8595360"/>
                    <a:pt x="10698480" y="8595360"/>
                  </a:cubicBezTo>
                  <a:lnTo>
                    <a:pt x="182880" y="8595360"/>
                  </a:lnTo>
                  <a:cubicBezTo>
                    <a:pt x="81915" y="8595360"/>
                    <a:pt x="0" y="8513445"/>
                    <a:pt x="0" y="8412480"/>
                  </a:cubicBezTo>
                  <a:close/>
                </a:path>
              </a:pathLst>
            </a:custGeom>
            <a:solidFill>
              <a:srgbClr val="9495A2"/>
            </a:solid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9738360" y="2674620"/>
            <a:ext cx="7269480" cy="548640"/>
            <a:chOff x="0" y="0"/>
            <a:chExt cx="969264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176" r="0" b="-208176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692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F9FB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Needs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38360" y="3291840"/>
            <a:ext cx="7269480" cy="5486400"/>
            <a:chOff x="0" y="0"/>
            <a:chExt cx="9692640" cy="7315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692640" cy="7315200"/>
            </a:xfrm>
            <a:custGeom>
              <a:avLst/>
              <a:gdLst/>
              <a:ahLst/>
              <a:cxnLst/>
              <a:rect r="r" b="b" t="t" l="l"/>
              <a:pathLst>
                <a:path h="731520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0"/>
                  </a:lnTo>
                  <a:lnTo>
                    <a:pt x="0" y="7315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832" t="0" r="-46832" b="0"/>
              </a:stretch>
            </a:blipFill>
          </p:spPr>
          <p:txBody>
            <a:bodyPr/>
            <a:p/>
          </p:txBody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9692640" cy="7353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39328" indent="-169664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Contrastar el precio pedido contra ventas cerradas de la misma zona</a:t>
              </a:r>
            </a:p>
            <a:p>
              <a:pPr algn="l" marL="339328" indent="-169664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Medir seguridad, equipamiento urbano y nivel de ingreso del entorno</a:t>
              </a:r>
            </a:p>
            <a:p>
              <a:pPr algn="l" marL="339328" indent="-169664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Revisar cuántos proyectos ha entregado la constructora</a:t>
              </a:r>
            </a:p>
            <a:p>
              <a:pPr algn="l" marL="339328" indent="-169664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Ordenar la oferta según ingreso, ahorro y prioridades propias</a:t>
              </a:r>
            </a:p>
            <a:p>
              <a:pPr algn="l" marL="339328" indent="-169664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 qué variable pesó en cada recomendación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85800" y="9738360"/>
            <a:ext cx="8229600" cy="411480"/>
            <a:chOff x="0" y="0"/>
            <a:chExt cx="1097280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544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InmoScore · Week 5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7048988" y="9738360"/>
            <a:ext cx="548640" cy="411480"/>
            <a:chOff x="0" y="0"/>
            <a:chExt cx="73152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  <p:txBody>
            <a:bodyPr/>
            <a:p/>
          </p:txBody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3544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9495A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REQUIREMENTS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960120"/>
            <a:chOff x="0" y="0"/>
            <a:chExt cx="215798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462" r="0" b="-278462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0F101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Functional Requirements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263140"/>
            <a:ext cx="8161020" cy="987552"/>
            <a:chOff x="0" y="0"/>
            <a:chExt cx="10881360" cy="13167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813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881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98480" y="0"/>
                  </a:lnTo>
                  <a:cubicBezTo>
                    <a:pt x="10799445" y="0"/>
                    <a:pt x="10881360" y="81915"/>
                    <a:pt x="10881360" y="182880"/>
                  </a:cubicBezTo>
                  <a:lnTo>
                    <a:pt x="10881360" y="1133856"/>
                  </a:lnTo>
                  <a:cubicBezTo>
                    <a:pt x="10881360" y="1234821"/>
                    <a:pt x="10799445" y="1316736"/>
                    <a:pt x="10698480" y="1316736"/>
                  </a:cubicBezTo>
                  <a:lnTo>
                    <a:pt x="182880" y="1316736"/>
                  </a:lnTo>
                  <a:cubicBezTo>
                    <a:pt x="81915" y="1316736"/>
                    <a:pt x="0" y="1234821"/>
                    <a:pt x="0" y="1133856"/>
                  </a:cubicBezTo>
                  <a:close/>
                </a:path>
              </a:pathLst>
            </a:custGeom>
            <a:solidFill>
              <a:srgbClr val="9495A2"/>
            </a:solid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2372868"/>
            <a:ext cx="1234440" cy="768096"/>
            <a:chOff x="0" y="0"/>
            <a:chExt cx="1645920" cy="10241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833" t="0" r="-29833" b="0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459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F9FB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RF-01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331720" y="2345436"/>
            <a:ext cx="6377940" cy="822960"/>
            <a:chOff x="0" y="0"/>
            <a:chExt cx="850392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503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009" r="0" b="-101009"/>
              </a:stretch>
            </a:blip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850392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Recolectar y normalizar listados inmobiliarios desde portales públicos.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3332988"/>
            <a:ext cx="8161020" cy="987552"/>
            <a:chOff x="0" y="0"/>
            <a:chExt cx="10881360" cy="13167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813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881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98480" y="0"/>
                  </a:lnTo>
                  <a:cubicBezTo>
                    <a:pt x="10799445" y="0"/>
                    <a:pt x="10881360" y="81915"/>
                    <a:pt x="10881360" y="182880"/>
                  </a:cubicBezTo>
                  <a:lnTo>
                    <a:pt x="10881360" y="1133856"/>
                  </a:lnTo>
                  <a:cubicBezTo>
                    <a:pt x="10881360" y="1234821"/>
                    <a:pt x="10799445" y="1316736"/>
                    <a:pt x="10698480" y="1316736"/>
                  </a:cubicBezTo>
                  <a:lnTo>
                    <a:pt x="182880" y="1316736"/>
                  </a:lnTo>
                  <a:cubicBezTo>
                    <a:pt x="81915" y="1316736"/>
                    <a:pt x="0" y="1234821"/>
                    <a:pt x="0" y="1133856"/>
                  </a:cubicBezTo>
                  <a:close/>
                </a:path>
              </a:pathLst>
            </a:custGeom>
            <a:solidFill>
              <a:srgbClr val="9495A2"/>
            </a:solid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3442716"/>
            <a:ext cx="1234440" cy="768096"/>
            <a:chOff x="0" y="0"/>
            <a:chExt cx="1645920" cy="10241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4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833" t="0" r="-29833" b="0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6459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F9FB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RF-02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331720" y="3415284"/>
            <a:ext cx="6377940" cy="822960"/>
            <a:chOff x="0" y="0"/>
            <a:chExt cx="850392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503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009" r="0" b="-101009"/>
              </a:stretch>
            </a:blipFill>
          </p:spPr>
          <p:txBody>
            <a:bodyPr/>
            <a:p/>
          </p:txBody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850392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Calcular distancia a puntos de interés cercanos (colegios, parques, transporte).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4402836"/>
            <a:ext cx="8161020" cy="987552"/>
            <a:chOff x="0" y="0"/>
            <a:chExt cx="10881360" cy="131673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8813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881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98480" y="0"/>
                  </a:lnTo>
                  <a:cubicBezTo>
                    <a:pt x="10799445" y="0"/>
                    <a:pt x="10881360" y="81915"/>
                    <a:pt x="10881360" y="182880"/>
                  </a:cubicBezTo>
                  <a:lnTo>
                    <a:pt x="10881360" y="1133856"/>
                  </a:lnTo>
                  <a:cubicBezTo>
                    <a:pt x="10881360" y="1234821"/>
                    <a:pt x="10799445" y="1316736"/>
                    <a:pt x="10698480" y="1316736"/>
                  </a:cubicBezTo>
                  <a:lnTo>
                    <a:pt x="182880" y="1316736"/>
                  </a:lnTo>
                  <a:cubicBezTo>
                    <a:pt x="81915" y="1316736"/>
                    <a:pt x="0" y="1234821"/>
                    <a:pt x="0" y="1133856"/>
                  </a:cubicBezTo>
                  <a:close/>
                </a:path>
              </a:pathLst>
            </a:custGeom>
            <a:solidFill>
              <a:srgbClr val="9495A2"/>
            </a:solid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28700" y="4512564"/>
            <a:ext cx="1234440" cy="768096"/>
            <a:chOff x="0" y="0"/>
            <a:chExt cx="1645920" cy="10241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4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833" t="0" r="-29833" b="0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6459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F9FB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RF-03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331720" y="4485132"/>
            <a:ext cx="6377940" cy="822960"/>
            <a:chOff x="0" y="0"/>
            <a:chExt cx="850392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503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009" r="0" b="-101009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850392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Generar predicted_price_soles mediante un modelo de valoración.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5472684"/>
            <a:ext cx="8161020" cy="987552"/>
            <a:chOff x="0" y="0"/>
            <a:chExt cx="10881360" cy="131673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8813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881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98480" y="0"/>
                  </a:lnTo>
                  <a:cubicBezTo>
                    <a:pt x="10799445" y="0"/>
                    <a:pt x="10881360" y="81915"/>
                    <a:pt x="10881360" y="182880"/>
                  </a:cubicBezTo>
                  <a:lnTo>
                    <a:pt x="10881360" y="1133856"/>
                  </a:lnTo>
                  <a:cubicBezTo>
                    <a:pt x="10881360" y="1234821"/>
                    <a:pt x="10799445" y="1316736"/>
                    <a:pt x="10698480" y="1316736"/>
                  </a:cubicBezTo>
                  <a:lnTo>
                    <a:pt x="182880" y="1316736"/>
                  </a:lnTo>
                  <a:cubicBezTo>
                    <a:pt x="81915" y="1316736"/>
                    <a:pt x="0" y="1234821"/>
                    <a:pt x="0" y="1133856"/>
                  </a:cubicBezTo>
                  <a:close/>
                </a:path>
              </a:pathLst>
            </a:custGeom>
            <a:solidFill>
              <a:srgbClr val="9495A2"/>
            </a:solidFill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8700" y="5582412"/>
            <a:ext cx="1234440" cy="768096"/>
            <a:chOff x="0" y="0"/>
            <a:chExt cx="1645920" cy="102412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4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833" t="0" r="-29833" b="0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6459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F9FB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RF-04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331720" y="5554980"/>
            <a:ext cx="6377940" cy="822960"/>
            <a:chOff x="0" y="0"/>
            <a:chExt cx="850392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503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009" r="0" b="-101009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850392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Calcular opportunity_score (precio publicado vs. estimado).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60" y="6542532"/>
            <a:ext cx="8161020" cy="987552"/>
            <a:chOff x="0" y="0"/>
            <a:chExt cx="10881360" cy="131673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8813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881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98480" y="0"/>
                  </a:lnTo>
                  <a:cubicBezTo>
                    <a:pt x="10799445" y="0"/>
                    <a:pt x="10881360" y="81915"/>
                    <a:pt x="10881360" y="182880"/>
                  </a:cubicBezTo>
                  <a:lnTo>
                    <a:pt x="10881360" y="1133856"/>
                  </a:lnTo>
                  <a:cubicBezTo>
                    <a:pt x="10881360" y="1234821"/>
                    <a:pt x="10799445" y="1316736"/>
                    <a:pt x="10698480" y="1316736"/>
                  </a:cubicBezTo>
                  <a:lnTo>
                    <a:pt x="182880" y="1316736"/>
                  </a:lnTo>
                  <a:cubicBezTo>
                    <a:pt x="81915" y="1316736"/>
                    <a:pt x="0" y="1234821"/>
                    <a:pt x="0" y="1133856"/>
                  </a:cubicBezTo>
                  <a:close/>
                </a:path>
              </a:pathLst>
            </a:custGeom>
            <a:solidFill>
              <a:srgbClr val="9495A2"/>
            </a:solidFill>
          </p:spPr>
          <p:txBody>
            <a:bodyPr/>
            <a:p/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28700" y="6652260"/>
            <a:ext cx="1234440" cy="768096"/>
            <a:chOff x="0" y="0"/>
            <a:chExt cx="1645920" cy="102412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64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833" t="0" r="-29833" b="0"/>
              </a:stretch>
            </a:blipFill>
          </p:spPr>
          <p:txBody>
            <a:bodyPr/>
            <a:p/>
          </p:txBody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6459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F9FB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RF-05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331720" y="6624828"/>
            <a:ext cx="6377940" cy="822960"/>
            <a:chOff x="0" y="0"/>
            <a:chExt cx="8503920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503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009" r="0" b="-101009"/>
              </a:stretch>
            </a:blipFill>
          </p:spPr>
          <p:txBody>
            <a:bodyPr/>
            <a:p/>
          </p:txBody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850392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Generar visual_quality_score con un modelo de visión por computadora.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22960" y="7612380"/>
            <a:ext cx="8161020" cy="987552"/>
            <a:chOff x="0" y="0"/>
            <a:chExt cx="10881360" cy="131673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8813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881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98480" y="0"/>
                  </a:lnTo>
                  <a:cubicBezTo>
                    <a:pt x="10799445" y="0"/>
                    <a:pt x="10881360" y="81915"/>
                    <a:pt x="10881360" y="182880"/>
                  </a:cubicBezTo>
                  <a:lnTo>
                    <a:pt x="10881360" y="1133856"/>
                  </a:lnTo>
                  <a:cubicBezTo>
                    <a:pt x="10881360" y="1234821"/>
                    <a:pt x="10799445" y="1316736"/>
                    <a:pt x="10698480" y="1316736"/>
                  </a:cubicBezTo>
                  <a:lnTo>
                    <a:pt x="182880" y="1316736"/>
                  </a:lnTo>
                  <a:cubicBezTo>
                    <a:pt x="81915" y="1316736"/>
                    <a:pt x="0" y="1234821"/>
                    <a:pt x="0" y="1133856"/>
                  </a:cubicBezTo>
                  <a:close/>
                </a:path>
              </a:pathLst>
            </a:custGeom>
            <a:solidFill>
              <a:srgbClr val="9495A2"/>
            </a:solidFill>
          </p:spPr>
          <p:txBody>
            <a:bodyPr/>
            <a:p/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28700" y="7722108"/>
            <a:ext cx="1234440" cy="768096"/>
            <a:chOff x="0" y="0"/>
            <a:chExt cx="1645920" cy="102412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64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833" t="0" r="-29833" b="0"/>
              </a:stretch>
            </a:blipFill>
          </p:spPr>
          <p:txBody>
            <a:bodyPr/>
            <a:p/>
          </p:txBody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6459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F9FB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RF-06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331720" y="7694676"/>
            <a:ext cx="6377940" cy="822960"/>
            <a:chOff x="0" y="0"/>
            <a:chExt cx="8503920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503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009" r="0" b="-101009"/>
              </a:stretch>
            </a:blipFill>
          </p:spPr>
          <p:txBody>
            <a:bodyPr/>
            <a:p/>
          </p:txBody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850392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Calcular zone_composite_index (seguridad + conveniencia + visual).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258300" y="2263140"/>
            <a:ext cx="8161020" cy="987552"/>
            <a:chOff x="0" y="0"/>
            <a:chExt cx="10881360" cy="13167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8813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881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98480" y="0"/>
                  </a:lnTo>
                  <a:cubicBezTo>
                    <a:pt x="10799445" y="0"/>
                    <a:pt x="10881360" y="81915"/>
                    <a:pt x="10881360" y="182880"/>
                  </a:cubicBezTo>
                  <a:lnTo>
                    <a:pt x="10881360" y="1133856"/>
                  </a:lnTo>
                  <a:cubicBezTo>
                    <a:pt x="10881360" y="1234821"/>
                    <a:pt x="10799445" y="1316736"/>
                    <a:pt x="10698480" y="1316736"/>
                  </a:cubicBezTo>
                  <a:lnTo>
                    <a:pt x="182880" y="1316736"/>
                  </a:lnTo>
                  <a:cubicBezTo>
                    <a:pt x="81915" y="1316736"/>
                    <a:pt x="0" y="1234821"/>
                    <a:pt x="0" y="1133856"/>
                  </a:cubicBezTo>
                  <a:close/>
                </a:path>
              </a:pathLst>
            </a:custGeom>
            <a:solidFill>
              <a:srgbClr val="9495A2"/>
            </a:solidFill>
          </p:spPr>
          <p:txBody>
            <a:bodyPr/>
            <a:p/>
          </p:txBody>
        </p:sp>
      </p:grpSp>
      <p:grpSp>
        <p:nvGrpSpPr>
          <p:cNvPr name="Group 58" id="58"/>
          <p:cNvGrpSpPr/>
          <p:nvPr/>
        </p:nvGrpSpPr>
        <p:grpSpPr>
          <a:xfrm rot="0">
            <a:off x="9464040" y="2372868"/>
            <a:ext cx="1234440" cy="768096"/>
            <a:chOff x="0" y="0"/>
            <a:chExt cx="1645920" cy="102412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64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833" t="0" r="-29833" b="0"/>
              </a:stretch>
            </a:blipFill>
          </p:spPr>
          <p:txBody>
            <a:bodyPr/>
            <a:p/>
          </p:txBody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6459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F9FB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RF-07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767060" y="2345436"/>
            <a:ext cx="6377940" cy="822960"/>
            <a:chOff x="0" y="0"/>
            <a:chExt cx="8503920" cy="10972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503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009" r="0" b="-101009"/>
              </a:stretch>
            </a:blipFill>
          </p:spPr>
          <p:txBody>
            <a:bodyPr/>
            <a:p/>
          </p:txBody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850392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Calcular constructora_reliability_score.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258300" y="3332988"/>
            <a:ext cx="8161020" cy="987552"/>
            <a:chOff x="0" y="0"/>
            <a:chExt cx="10881360" cy="131673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8813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881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98480" y="0"/>
                  </a:lnTo>
                  <a:cubicBezTo>
                    <a:pt x="10799445" y="0"/>
                    <a:pt x="10881360" y="81915"/>
                    <a:pt x="10881360" y="182880"/>
                  </a:cubicBezTo>
                  <a:lnTo>
                    <a:pt x="10881360" y="1133856"/>
                  </a:lnTo>
                  <a:cubicBezTo>
                    <a:pt x="10881360" y="1234821"/>
                    <a:pt x="10799445" y="1316736"/>
                    <a:pt x="10698480" y="1316736"/>
                  </a:cubicBezTo>
                  <a:lnTo>
                    <a:pt x="182880" y="1316736"/>
                  </a:lnTo>
                  <a:cubicBezTo>
                    <a:pt x="81915" y="1316736"/>
                    <a:pt x="0" y="1234821"/>
                    <a:pt x="0" y="1133856"/>
                  </a:cubicBezTo>
                  <a:close/>
                </a:path>
              </a:pathLst>
            </a:custGeom>
            <a:solidFill>
              <a:srgbClr val="9495A2"/>
            </a:solidFill>
          </p:spPr>
          <p:txBody>
            <a:bodyPr/>
            <a:p/>
          </p:txBody>
        </p:sp>
      </p:grpSp>
      <p:grpSp>
        <p:nvGrpSpPr>
          <p:cNvPr name="Group 66" id="66"/>
          <p:cNvGrpSpPr/>
          <p:nvPr/>
        </p:nvGrpSpPr>
        <p:grpSpPr>
          <a:xfrm rot="0">
            <a:off x="9464040" y="3442716"/>
            <a:ext cx="1234440" cy="768096"/>
            <a:chOff x="0" y="0"/>
            <a:chExt cx="1645920" cy="102412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64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833" t="0" r="-29833" b="0"/>
              </a:stretch>
            </a:blipFill>
          </p:spPr>
          <p:txBody>
            <a:bodyPr/>
            <a:p/>
          </p:txBody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6459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F9FB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RF-08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767060" y="3415284"/>
            <a:ext cx="6377940" cy="822960"/>
            <a:chOff x="0" y="0"/>
            <a:chExt cx="8503920" cy="10972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503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009" r="0" b="-101009"/>
              </a:stretch>
            </a:blipFill>
          </p:spPr>
          <p:txBody>
            <a:bodyPr/>
            <a:p/>
          </p:txBody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850392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Permitir ingresar perfil financiero del usuario.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258300" y="4402836"/>
            <a:ext cx="8161020" cy="987552"/>
            <a:chOff x="0" y="0"/>
            <a:chExt cx="10881360" cy="131673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8813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881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98480" y="0"/>
                  </a:lnTo>
                  <a:cubicBezTo>
                    <a:pt x="10799445" y="0"/>
                    <a:pt x="10881360" y="81915"/>
                    <a:pt x="10881360" y="182880"/>
                  </a:cubicBezTo>
                  <a:lnTo>
                    <a:pt x="10881360" y="1133856"/>
                  </a:lnTo>
                  <a:cubicBezTo>
                    <a:pt x="10881360" y="1234821"/>
                    <a:pt x="10799445" y="1316736"/>
                    <a:pt x="10698480" y="1316736"/>
                  </a:cubicBezTo>
                  <a:lnTo>
                    <a:pt x="182880" y="1316736"/>
                  </a:lnTo>
                  <a:cubicBezTo>
                    <a:pt x="81915" y="1316736"/>
                    <a:pt x="0" y="1234821"/>
                    <a:pt x="0" y="1133856"/>
                  </a:cubicBezTo>
                  <a:close/>
                </a:path>
              </a:pathLst>
            </a:custGeom>
            <a:solidFill>
              <a:srgbClr val="9495A2"/>
            </a:solidFill>
          </p:spPr>
          <p:txBody>
            <a:bodyPr/>
            <a:p/>
          </p:txBody>
        </p:sp>
      </p:grpSp>
      <p:grpSp>
        <p:nvGrpSpPr>
          <p:cNvPr name="Group 74" id="74"/>
          <p:cNvGrpSpPr/>
          <p:nvPr/>
        </p:nvGrpSpPr>
        <p:grpSpPr>
          <a:xfrm rot="0">
            <a:off x="9464040" y="4512564"/>
            <a:ext cx="1234440" cy="768096"/>
            <a:chOff x="0" y="0"/>
            <a:chExt cx="1645920" cy="102412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64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833" t="0" r="-29833" b="0"/>
              </a:stretch>
            </a:blipFill>
          </p:spPr>
          <p:txBody>
            <a:bodyPr/>
            <a:p/>
          </p:txBody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6459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F9FB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RF-09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767060" y="4485132"/>
            <a:ext cx="6377940" cy="822960"/>
            <a:chOff x="0" y="0"/>
            <a:chExt cx="8503920" cy="10972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503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009" r="0" b="-101009"/>
              </a:stretch>
            </a:blipFill>
          </p:spPr>
          <p:txBody>
            <a:bodyPr/>
            <a:p/>
          </p:txBody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850392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Permitir declarar preferencias de estilo de vida.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258300" y="5472684"/>
            <a:ext cx="8161020" cy="987552"/>
            <a:chOff x="0" y="0"/>
            <a:chExt cx="10881360" cy="131673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8813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881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98480" y="0"/>
                  </a:lnTo>
                  <a:cubicBezTo>
                    <a:pt x="10799445" y="0"/>
                    <a:pt x="10881360" y="81915"/>
                    <a:pt x="10881360" y="182880"/>
                  </a:cubicBezTo>
                  <a:lnTo>
                    <a:pt x="10881360" y="1133856"/>
                  </a:lnTo>
                  <a:cubicBezTo>
                    <a:pt x="10881360" y="1234821"/>
                    <a:pt x="10799445" y="1316736"/>
                    <a:pt x="10698480" y="1316736"/>
                  </a:cubicBezTo>
                  <a:lnTo>
                    <a:pt x="182880" y="1316736"/>
                  </a:lnTo>
                  <a:cubicBezTo>
                    <a:pt x="81915" y="1316736"/>
                    <a:pt x="0" y="1234821"/>
                    <a:pt x="0" y="1133856"/>
                  </a:cubicBezTo>
                  <a:close/>
                </a:path>
              </a:pathLst>
            </a:custGeom>
            <a:solidFill>
              <a:srgbClr val="9495A2"/>
            </a:solidFill>
          </p:spPr>
          <p:txBody>
            <a:bodyPr/>
            <a:p/>
          </p:txBody>
        </p:sp>
      </p:grpSp>
      <p:grpSp>
        <p:nvGrpSpPr>
          <p:cNvPr name="Group 82" id="82"/>
          <p:cNvGrpSpPr/>
          <p:nvPr/>
        </p:nvGrpSpPr>
        <p:grpSpPr>
          <a:xfrm rot="0">
            <a:off x="9464040" y="5582412"/>
            <a:ext cx="1234440" cy="768096"/>
            <a:chOff x="0" y="0"/>
            <a:chExt cx="1645920" cy="102412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64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833" t="0" r="-29833" b="0"/>
              </a:stretch>
            </a:blipFill>
          </p:spPr>
          <p:txBody>
            <a:bodyPr/>
            <a:p/>
          </p:txBody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16459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F9FB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RF-10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0767060" y="5554980"/>
            <a:ext cx="6377940" cy="822960"/>
            <a:chOff x="0" y="0"/>
            <a:chExt cx="8503920" cy="109728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503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009" r="0" b="-101009"/>
              </a:stretch>
            </a:blipFill>
          </p:spPr>
          <p:txBody>
            <a:bodyPr/>
            <a:p/>
          </p:txBody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850392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Generar ranking personalizado combinando todos los scores.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258300" y="6542532"/>
            <a:ext cx="8161020" cy="987552"/>
            <a:chOff x="0" y="0"/>
            <a:chExt cx="10881360" cy="131673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8813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881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98480" y="0"/>
                  </a:lnTo>
                  <a:cubicBezTo>
                    <a:pt x="10799445" y="0"/>
                    <a:pt x="10881360" y="81915"/>
                    <a:pt x="10881360" y="182880"/>
                  </a:cubicBezTo>
                  <a:lnTo>
                    <a:pt x="10881360" y="1133856"/>
                  </a:lnTo>
                  <a:cubicBezTo>
                    <a:pt x="10881360" y="1234821"/>
                    <a:pt x="10799445" y="1316736"/>
                    <a:pt x="10698480" y="1316736"/>
                  </a:cubicBezTo>
                  <a:lnTo>
                    <a:pt x="182880" y="1316736"/>
                  </a:lnTo>
                  <a:cubicBezTo>
                    <a:pt x="81915" y="1316736"/>
                    <a:pt x="0" y="1234821"/>
                    <a:pt x="0" y="1133856"/>
                  </a:cubicBezTo>
                  <a:close/>
                </a:path>
              </a:pathLst>
            </a:custGeom>
            <a:solidFill>
              <a:srgbClr val="9495A2"/>
            </a:solidFill>
          </p:spPr>
          <p:txBody>
            <a:bodyPr/>
            <a:p/>
          </p:txBody>
        </p:sp>
      </p:grpSp>
      <p:grpSp>
        <p:nvGrpSpPr>
          <p:cNvPr name="Group 90" id="90"/>
          <p:cNvGrpSpPr/>
          <p:nvPr/>
        </p:nvGrpSpPr>
        <p:grpSpPr>
          <a:xfrm rot="0">
            <a:off x="9464040" y="6652260"/>
            <a:ext cx="1234440" cy="768096"/>
            <a:chOff x="0" y="0"/>
            <a:chExt cx="1645920" cy="102412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64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833" t="0" r="-29833" b="0"/>
              </a:stretch>
            </a:blipFill>
          </p:spPr>
          <p:txBody>
            <a:bodyPr/>
            <a:p/>
          </p:txBody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16459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F9FB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RF-11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0767060" y="6624828"/>
            <a:ext cx="6377940" cy="822960"/>
            <a:chOff x="0" y="0"/>
            <a:chExt cx="8503920" cy="109728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8503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009" r="0" b="-101009"/>
              </a:stretch>
            </a:blipFill>
          </p:spPr>
          <p:txBody>
            <a:bodyPr/>
            <a:p/>
          </p:txBody>
        </p:sp>
        <p:sp>
          <p:nvSpPr>
            <p:cNvPr name="TextBox 95" id="95"/>
            <p:cNvSpPr txBox="true"/>
            <p:nvPr/>
          </p:nvSpPr>
          <p:spPr>
            <a:xfrm>
              <a:off x="0" y="-28575"/>
              <a:ext cx="850392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Explicar en lenguaje natural cada recomendación.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258300" y="7612380"/>
            <a:ext cx="8161020" cy="987552"/>
            <a:chOff x="0" y="0"/>
            <a:chExt cx="10881360" cy="131673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8813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881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98480" y="0"/>
                  </a:lnTo>
                  <a:cubicBezTo>
                    <a:pt x="10799445" y="0"/>
                    <a:pt x="10881360" y="81915"/>
                    <a:pt x="10881360" y="182880"/>
                  </a:cubicBezTo>
                  <a:lnTo>
                    <a:pt x="10881360" y="1133856"/>
                  </a:lnTo>
                  <a:cubicBezTo>
                    <a:pt x="10881360" y="1234821"/>
                    <a:pt x="10799445" y="1316736"/>
                    <a:pt x="10698480" y="1316736"/>
                  </a:cubicBezTo>
                  <a:lnTo>
                    <a:pt x="182880" y="1316736"/>
                  </a:lnTo>
                  <a:cubicBezTo>
                    <a:pt x="81915" y="1316736"/>
                    <a:pt x="0" y="1234821"/>
                    <a:pt x="0" y="1133856"/>
                  </a:cubicBezTo>
                  <a:close/>
                </a:path>
              </a:pathLst>
            </a:custGeom>
            <a:solidFill>
              <a:srgbClr val="9495A2"/>
            </a:solidFill>
          </p:spPr>
          <p:txBody>
            <a:bodyPr/>
            <a:p/>
          </p:txBody>
        </p:sp>
      </p:grpSp>
      <p:grpSp>
        <p:nvGrpSpPr>
          <p:cNvPr name="Group 98" id="98"/>
          <p:cNvGrpSpPr/>
          <p:nvPr/>
        </p:nvGrpSpPr>
        <p:grpSpPr>
          <a:xfrm rot="0">
            <a:off x="9464040" y="7722108"/>
            <a:ext cx="1234440" cy="768096"/>
            <a:chOff x="0" y="0"/>
            <a:chExt cx="1645920" cy="102412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64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833" t="0" r="-29833" b="0"/>
              </a:stretch>
            </a:blipFill>
          </p:spPr>
          <p:txBody>
            <a:bodyPr/>
            <a:p/>
          </p:txBody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6459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F9FB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RF-12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0767060" y="7694676"/>
            <a:ext cx="6377940" cy="822960"/>
            <a:chOff x="0" y="0"/>
            <a:chExt cx="8503920" cy="109728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8503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009" r="0" b="-101009"/>
              </a:stretch>
            </a:blipFill>
          </p:spPr>
          <p:txBody>
            <a:bodyPr/>
            <a:p/>
          </p:txBody>
        </p:sp>
        <p:sp>
          <p:nvSpPr>
            <p:cNvPr name="TextBox 103" id="103"/>
            <p:cNvSpPr txBox="true"/>
            <p:nvPr/>
          </p:nvSpPr>
          <p:spPr>
            <a:xfrm>
              <a:off x="0" y="-28575"/>
              <a:ext cx="850392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Visualizar las propiedades recomendadas en un mapa interactivo.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685800" y="9738360"/>
            <a:ext cx="8229600" cy="411480"/>
            <a:chOff x="0" y="0"/>
            <a:chExt cx="10972800" cy="5486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  <p:txBody>
            <a:bodyPr/>
            <a:p/>
          </p:txBody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544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InmoScore · Week 5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7048988" y="9738360"/>
            <a:ext cx="548640" cy="411480"/>
            <a:chOff x="0" y="0"/>
            <a:chExt cx="731520" cy="54864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  <p:txBody>
            <a:bodyPr/>
            <a:p/>
          </p:txBody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3544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3544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REQUIREMENTS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960120"/>
            <a:chOff x="0" y="0"/>
            <a:chExt cx="215798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462" r="0" b="-278462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0F101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Non-Functional Requirements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263140"/>
            <a:ext cx="8161020" cy="1440180"/>
            <a:chOff x="0" y="0"/>
            <a:chExt cx="10881360" cy="1920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81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881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98480" y="0"/>
                  </a:lnTo>
                  <a:cubicBezTo>
                    <a:pt x="10799445" y="0"/>
                    <a:pt x="10881360" y="81915"/>
                    <a:pt x="10881360" y="182880"/>
                  </a:cubicBezTo>
                  <a:lnTo>
                    <a:pt x="10881360" y="1737360"/>
                  </a:lnTo>
                  <a:cubicBezTo>
                    <a:pt x="10881360" y="1838325"/>
                    <a:pt x="10799445" y="1920240"/>
                    <a:pt x="10698480" y="1920240"/>
                  </a:cubicBezTo>
                  <a:lnTo>
                    <a:pt x="182880" y="1920240"/>
                  </a:lnTo>
                  <a:cubicBezTo>
                    <a:pt x="81915" y="1920240"/>
                    <a:pt x="0" y="1838325"/>
                    <a:pt x="0" y="1737360"/>
                  </a:cubicBezTo>
                  <a:close/>
                </a:path>
              </a:pathLst>
            </a:custGeom>
            <a:solidFill>
              <a:srgbClr val="9495A2"/>
            </a:solid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7280" y="2400300"/>
            <a:ext cx="7612380" cy="480060"/>
            <a:chOff x="0" y="0"/>
            <a:chExt cx="10149840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49840" cy="640080"/>
            </a:xfrm>
            <a:custGeom>
              <a:avLst/>
              <a:gdLst/>
              <a:ahLst/>
              <a:cxnLst/>
              <a:rect r="r" b="b" t="t" l="l"/>
              <a:pathLst>
                <a:path h="64008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977" r="0" b="-258977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1498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F9FB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RNF-01 · Rendimiento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7280" y="2880360"/>
            <a:ext cx="7612380" cy="754380"/>
            <a:chOff x="0" y="0"/>
            <a:chExt cx="1014984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49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6621" r="0" b="-146621"/>
              </a:stretch>
            </a:blip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014984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0F101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Ranking generado en menos de 5s tras cambio de preferencias (~5,000 propiedades).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3840480"/>
            <a:ext cx="8161020" cy="1440180"/>
            <a:chOff x="0" y="0"/>
            <a:chExt cx="10881360" cy="19202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81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881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98480" y="0"/>
                  </a:lnTo>
                  <a:cubicBezTo>
                    <a:pt x="10799445" y="0"/>
                    <a:pt x="10881360" y="81915"/>
                    <a:pt x="10881360" y="182880"/>
                  </a:cubicBezTo>
                  <a:lnTo>
                    <a:pt x="10881360" y="1737360"/>
                  </a:lnTo>
                  <a:cubicBezTo>
                    <a:pt x="10881360" y="1838325"/>
                    <a:pt x="10799445" y="1920240"/>
                    <a:pt x="10698480" y="1920240"/>
                  </a:cubicBezTo>
                  <a:lnTo>
                    <a:pt x="182880" y="1920240"/>
                  </a:lnTo>
                  <a:cubicBezTo>
                    <a:pt x="81915" y="1920240"/>
                    <a:pt x="0" y="1838325"/>
                    <a:pt x="0" y="1737360"/>
                  </a:cubicBezTo>
                  <a:close/>
                </a:path>
              </a:pathLst>
            </a:custGeom>
            <a:solidFill>
              <a:srgbClr val="9495A2"/>
            </a:solid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97280" y="3977640"/>
            <a:ext cx="7612380" cy="480060"/>
            <a:chOff x="0" y="0"/>
            <a:chExt cx="1014984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149840" cy="640080"/>
            </a:xfrm>
            <a:custGeom>
              <a:avLst/>
              <a:gdLst/>
              <a:ahLst/>
              <a:cxnLst/>
              <a:rect r="r" b="b" t="t" l="l"/>
              <a:pathLst>
                <a:path h="64008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977" r="0" b="-258977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1498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0F10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RNF-02 · Escalabilidad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97280" y="4457700"/>
            <a:ext cx="7612380" cy="754380"/>
            <a:chOff x="0" y="0"/>
            <a:chExt cx="10149840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149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6621" r="0" b="-146621"/>
              </a:stretch>
            </a:blipFill>
          </p:spPr>
          <p:txBody>
            <a:bodyPr/>
            <a:p/>
          </p:txBody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1014984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0F101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Soportar nuevos distritos sin rediseño estructural.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5417820"/>
            <a:ext cx="8161020" cy="1440180"/>
            <a:chOff x="0" y="0"/>
            <a:chExt cx="10881360" cy="19202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881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881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98480" y="0"/>
                  </a:lnTo>
                  <a:cubicBezTo>
                    <a:pt x="10799445" y="0"/>
                    <a:pt x="10881360" y="81915"/>
                    <a:pt x="10881360" y="182880"/>
                  </a:cubicBezTo>
                  <a:lnTo>
                    <a:pt x="10881360" y="1737360"/>
                  </a:lnTo>
                  <a:cubicBezTo>
                    <a:pt x="10881360" y="1838325"/>
                    <a:pt x="10799445" y="1920240"/>
                    <a:pt x="10698480" y="1920240"/>
                  </a:cubicBezTo>
                  <a:lnTo>
                    <a:pt x="182880" y="1920240"/>
                  </a:lnTo>
                  <a:cubicBezTo>
                    <a:pt x="81915" y="1920240"/>
                    <a:pt x="0" y="1838325"/>
                    <a:pt x="0" y="1737360"/>
                  </a:cubicBezTo>
                  <a:close/>
                </a:path>
              </a:pathLst>
            </a:custGeom>
            <a:solidFill>
              <a:srgbClr val="9495A2"/>
            </a:solid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7280" y="5554980"/>
            <a:ext cx="7612380" cy="480060"/>
            <a:chOff x="0" y="0"/>
            <a:chExt cx="10149840" cy="640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149840" cy="640080"/>
            </a:xfrm>
            <a:custGeom>
              <a:avLst/>
              <a:gdLst/>
              <a:ahLst/>
              <a:cxnLst/>
              <a:rect r="r" b="b" t="t" l="l"/>
              <a:pathLst>
                <a:path h="64008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977" r="0" b="-258977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1498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0F10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RNF-03 · Actualidad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97280" y="6035040"/>
            <a:ext cx="7612380" cy="754380"/>
            <a:chOff x="0" y="0"/>
            <a:chExt cx="10149840" cy="1005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149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6621" r="0" b="-146621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014984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0F101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Listados: actualización semanal. Criminalidad/proyectos: mensual-trimestral.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6995160"/>
            <a:ext cx="8161020" cy="1440180"/>
            <a:chOff x="0" y="0"/>
            <a:chExt cx="10881360" cy="1920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881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881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98480" y="0"/>
                  </a:lnTo>
                  <a:cubicBezTo>
                    <a:pt x="10799445" y="0"/>
                    <a:pt x="10881360" y="81915"/>
                    <a:pt x="10881360" y="182880"/>
                  </a:cubicBezTo>
                  <a:lnTo>
                    <a:pt x="10881360" y="1737360"/>
                  </a:lnTo>
                  <a:cubicBezTo>
                    <a:pt x="10881360" y="1838325"/>
                    <a:pt x="10799445" y="1920240"/>
                    <a:pt x="10698480" y="1920240"/>
                  </a:cubicBezTo>
                  <a:lnTo>
                    <a:pt x="182880" y="1920240"/>
                  </a:lnTo>
                  <a:cubicBezTo>
                    <a:pt x="81915" y="1920240"/>
                    <a:pt x="0" y="1838325"/>
                    <a:pt x="0" y="1737360"/>
                  </a:cubicBezTo>
                  <a:close/>
                </a:path>
              </a:pathLst>
            </a:custGeom>
            <a:solidFill>
              <a:srgbClr val="9495A2"/>
            </a:solidFill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97280" y="7132320"/>
            <a:ext cx="7612380" cy="480060"/>
            <a:chOff x="0" y="0"/>
            <a:chExt cx="1014984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149840" cy="640080"/>
            </a:xfrm>
            <a:custGeom>
              <a:avLst/>
              <a:gdLst/>
              <a:ahLst/>
              <a:cxnLst/>
              <a:rect r="r" b="b" t="t" l="l"/>
              <a:pathLst>
                <a:path h="64008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977" r="0" b="-258977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01498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0F10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RNF-04 · Usabilidad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97280" y="7612380"/>
            <a:ext cx="7612380" cy="754380"/>
            <a:chOff x="0" y="0"/>
            <a:chExt cx="10149840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149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6621" r="0" b="-146621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1014984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0F101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Configurar preferencias y obtener resultado en menos de 3 pasos.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258300" y="2263140"/>
            <a:ext cx="8161020" cy="1440180"/>
            <a:chOff x="0" y="0"/>
            <a:chExt cx="10881360" cy="19202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881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881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98480" y="0"/>
                  </a:lnTo>
                  <a:cubicBezTo>
                    <a:pt x="10799445" y="0"/>
                    <a:pt x="10881360" y="81915"/>
                    <a:pt x="10881360" y="182880"/>
                  </a:cubicBezTo>
                  <a:lnTo>
                    <a:pt x="10881360" y="1737360"/>
                  </a:lnTo>
                  <a:cubicBezTo>
                    <a:pt x="10881360" y="1838325"/>
                    <a:pt x="10799445" y="1920240"/>
                    <a:pt x="10698480" y="1920240"/>
                  </a:cubicBezTo>
                  <a:lnTo>
                    <a:pt x="182880" y="1920240"/>
                  </a:lnTo>
                  <a:cubicBezTo>
                    <a:pt x="81915" y="1920240"/>
                    <a:pt x="0" y="1838325"/>
                    <a:pt x="0" y="1737360"/>
                  </a:cubicBezTo>
                  <a:close/>
                </a:path>
              </a:pathLst>
            </a:custGeom>
            <a:solidFill>
              <a:srgbClr val="9495A2"/>
            </a:solidFill>
          </p:spPr>
          <p:txBody>
            <a:bodyPr/>
            <a:p/>
          </p:txBody>
        </p:sp>
      </p:grpSp>
      <p:grpSp>
        <p:nvGrpSpPr>
          <p:cNvPr name="Group 42" id="42"/>
          <p:cNvGrpSpPr/>
          <p:nvPr/>
        </p:nvGrpSpPr>
        <p:grpSpPr>
          <a:xfrm rot="0">
            <a:off x="9532620" y="2400300"/>
            <a:ext cx="7612380" cy="480060"/>
            <a:chOff x="0" y="0"/>
            <a:chExt cx="10149840" cy="6400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149840" cy="640080"/>
            </a:xfrm>
            <a:custGeom>
              <a:avLst/>
              <a:gdLst/>
              <a:ahLst/>
              <a:cxnLst/>
              <a:rect r="r" b="b" t="t" l="l"/>
              <a:pathLst>
                <a:path h="64008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977" r="0" b="-258977"/>
              </a:stretch>
            </a:blipFill>
          </p:spPr>
          <p:txBody>
            <a:bodyPr/>
            <a:p/>
          </p:txBody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01498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0F10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RNF-05 · Explicabilidad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532620" y="2880360"/>
            <a:ext cx="7612380" cy="754380"/>
            <a:chOff x="0" y="0"/>
            <a:chExt cx="10149840" cy="1005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149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6621" r="0" b="-146621"/>
              </a:stretch>
            </a:blipFill>
          </p:spPr>
          <p:txBody>
            <a:bodyPr/>
            <a:p/>
          </p:txBody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1014984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0F101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Ninguna recomendación se muestra sin su explicación asociada.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258300" y="3840480"/>
            <a:ext cx="8161020" cy="1440180"/>
            <a:chOff x="0" y="0"/>
            <a:chExt cx="10881360" cy="19202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881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881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98480" y="0"/>
                  </a:lnTo>
                  <a:cubicBezTo>
                    <a:pt x="10799445" y="0"/>
                    <a:pt x="10881360" y="81915"/>
                    <a:pt x="10881360" y="182880"/>
                  </a:cubicBezTo>
                  <a:lnTo>
                    <a:pt x="10881360" y="1737360"/>
                  </a:lnTo>
                  <a:cubicBezTo>
                    <a:pt x="10881360" y="1838325"/>
                    <a:pt x="10799445" y="1920240"/>
                    <a:pt x="10698480" y="1920240"/>
                  </a:cubicBezTo>
                  <a:lnTo>
                    <a:pt x="182880" y="1920240"/>
                  </a:lnTo>
                  <a:cubicBezTo>
                    <a:pt x="81915" y="1920240"/>
                    <a:pt x="0" y="1838325"/>
                    <a:pt x="0" y="1737360"/>
                  </a:cubicBezTo>
                  <a:close/>
                </a:path>
              </a:pathLst>
            </a:custGeom>
            <a:solidFill>
              <a:srgbClr val="9495A2"/>
            </a:solidFill>
          </p:spPr>
          <p:txBody>
            <a:bodyPr/>
            <a:p/>
          </p:txBody>
        </p:sp>
      </p:grpSp>
      <p:grpSp>
        <p:nvGrpSpPr>
          <p:cNvPr name="Group 50" id="50"/>
          <p:cNvGrpSpPr/>
          <p:nvPr/>
        </p:nvGrpSpPr>
        <p:grpSpPr>
          <a:xfrm rot="0">
            <a:off x="9532620" y="3977640"/>
            <a:ext cx="7612380" cy="480060"/>
            <a:chOff x="0" y="0"/>
            <a:chExt cx="10149840" cy="640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149840" cy="640080"/>
            </a:xfrm>
            <a:custGeom>
              <a:avLst/>
              <a:gdLst/>
              <a:ahLst/>
              <a:cxnLst/>
              <a:rect r="r" b="b" t="t" l="l"/>
              <a:pathLst>
                <a:path h="64008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977" r="0" b="-258977"/>
              </a:stretch>
            </a:blipFill>
          </p:spPr>
          <p:txBody>
            <a:bodyPr/>
            <a:p/>
          </p:txBody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1498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0F10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RNF-06 · Privacidad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532620" y="4457700"/>
            <a:ext cx="7612380" cy="754380"/>
            <a:chOff x="0" y="0"/>
            <a:chExt cx="10149840" cy="10058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149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6621" r="0" b="-146621"/>
              </a:stretch>
            </a:blipFill>
          </p:spPr>
          <p:txBody>
            <a:bodyPr/>
            <a:p/>
          </p:txBody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1014984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0F101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Datos financieros del usuario no se comparten sin consentimiento.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258300" y="5417820"/>
            <a:ext cx="8161020" cy="1440180"/>
            <a:chOff x="0" y="0"/>
            <a:chExt cx="10881360" cy="19202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881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881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98480" y="0"/>
                  </a:lnTo>
                  <a:cubicBezTo>
                    <a:pt x="10799445" y="0"/>
                    <a:pt x="10881360" y="81915"/>
                    <a:pt x="10881360" y="182880"/>
                  </a:cubicBezTo>
                  <a:lnTo>
                    <a:pt x="10881360" y="1737360"/>
                  </a:lnTo>
                  <a:cubicBezTo>
                    <a:pt x="10881360" y="1838325"/>
                    <a:pt x="10799445" y="1920240"/>
                    <a:pt x="10698480" y="1920240"/>
                  </a:cubicBezTo>
                  <a:lnTo>
                    <a:pt x="182880" y="1920240"/>
                  </a:lnTo>
                  <a:cubicBezTo>
                    <a:pt x="81915" y="1920240"/>
                    <a:pt x="0" y="1838325"/>
                    <a:pt x="0" y="1737360"/>
                  </a:cubicBezTo>
                  <a:close/>
                </a:path>
              </a:pathLst>
            </a:custGeom>
            <a:solidFill>
              <a:srgbClr val="9495A2"/>
            </a:solidFill>
          </p:spPr>
          <p:txBody>
            <a:bodyPr/>
            <a:p/>
          </p:txBody>
        </p:sp>
      </p:grpSp>
      <p:grpSp>
        <p:nvGrpSpPr>
          <p:cNvPr name="Group 58" id="58"/>
          <p:cNvGrpSpPr/>
          <p:nvPr/>
        </p:nvGrpSpPr>
        <p:grpSpPr>
          <a:xfrm rot="0">
            <a:off x="9532620" y="5554980"/>
            <a:ext cx="7612380" cy="480060"/>
            <a:chOff x="0" y="0"/>
            <a:chExt cx="10149840" cy="6400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149840" cy="640080"/>
            </a:xfrm>
            <a:custGeom>
              <a:avLst/>
              <a:gdLst/>
              <a:ahLst/>
              <a:cxnLst/>
              <a:rect r="r" b="b" t="t" l="l"/>
              <a:pathLst>
                <a:path h="64008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977" r="0" b="-258977"/>
              </a:stretch>
            </a:blipFill>
          </p:spPr>
          <p:txBody>
            <a:bodyPr/>
            <a:p/>
          </p:txBody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01498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0F10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RNF-07 · Legalidad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532620" y="6035040"/>
            <a:ext cx="7612380" cy="754380"/>
            <a:chOff x="0" y="0"/>
            <a:chExt cx="10149840" cy="10058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149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6621" r="0" b="-146621"/>
              </a:stretch>
            </a:blipFill>
          </p:spPr>
          <p:txBody>
            <a:bodyPr/>
            <a:p/>
          </p:txBody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1014984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0F101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Scraping respeta Términos de Servicio y robots.txt de cada fuente.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258300" y="6995160"/>
            <a:ext cx="8161020" cy="1440180"/>
            <a:chOff x="0" y="0"/>
            <a:chExt cx="10881360" cy="19202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881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881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98480" y="0"/>
                  </a:lnTo>
                  <a:cubicBezTo>
                    <a:pt x="10799445" y="0"/>
                    <a:pt x="10881360" y="81915"/>
                    <a:pt x="10881360" y="182880"/>
                  </a:cubicBezTo>
                  <a:lnTo>
                    <a:pt x="10881360" y="1737360"/>
                  </a:lnTo>
                  <a:cubicBezTo>
                    <a:pt x="10881360" y="1838325"/>
                    <a:pt x="10799445" y="1920240"/>
                    <a:pt x="10698480" y="1920240"/>
                  </a:cubicBezTo>
                  <a:lnTo>
                    <a:pt x="182880" y="1920240"/>
                  </a:lnTo>
                  <a:cubicBezTo>
                    <a:pt x="81915" y="1920240"/>
                    <a:pt x="0" y="1838325"/>
                    <a:pt x="0" y="1737360"/>
                  </a:cubicBezTo>
                  <a:close/>
                </a:path>
              </a:pathLst>
            </a:custGeom>
            <a:solidFill>
              <a:srgbClr val="9495A2"/>
            </a:solidFill>
          </p:spPr>
          <p:txBody>
            <a:bodyPr/>
            <a:p/>
          </p:txBody>
        </p:sp>
      </p:grpSp>
      <p:grpSp>
        <p:nvGrpSpPr>
          <p:cNvPr name="Group 66" id="66"/>
          <p:cNvGrpSpPr/>
          <p:nvPr/>
        </p:nvGrpSpPr>
        <p:grpSpPr>
          <a:xfrm rot="0">
            <a:off x="9532620" y="7132320"/>
            <a:ext cx="7612380" cy="480060"/>
            <a:chOff x="0" y="0"/>
            <a:chExt cx="10149840" cy="6400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149840" cy="640080"/>
            </a:xfrm>
            <a:custGeom>
              <a:avLst/>
              <a:gdLst/>
              <a:ahLst/>
              <a:cxnLst/>
              <a:rect r="r" b="b" t="t" l="l"/>
              <a:pathLst>
                <a:path h="64008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977" r="0" b="-258977"/>
              </a:stretch>
            </a:blipFill>
          </p:spPr>
          <p:txBody>
            <a:bodyPr/>
            <a:p/>
          </p:txBody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01498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0F10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RNF-08 · Reproducibilidad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532620" y="7612380"/>
            <a:ext cx="7612380" cy="754380"/>
            <a:chOff x="0" y="0"/>
            <a:chExt cx="10149840" cy="10058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149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6621" r="0" b="-146621"/>
              </a:stretch>
            </a:blipFill>
          </p:spPr>
          <p:txBody>
            <a:bodyPr/>
            <a:p/>
          </p:txBody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1014984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0F101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Pipeline ejecutable siguiendo la documentación del repositorio.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685800" y="9738360"/>
            <a:ext cx="8229600" cy="411480"/>
            <a:chOff x="0" y="0"/>
            <a:chExt cx="10972800" cy="5486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  <p:txBody>
            <a:bodyPr/>
            <a:p/>
          </p:txBody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544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InmoScore · Week 5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7048988" y="9738360"/>
            <a:ext cx="548640" cy="411480"/>
            <a:chOff x="0" y="0"/>
            <a:chExt cx="731520" cy="5486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  <p:txBody>
            <a:bodyPr/>
            <a:p/>
          </p:txBody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3544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9495A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REQUIREMENTS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-11754"/>
            <a:ext cx="16184880" cy="3303594"/>
            <a:chOff x="0" y="0"/>
            <a:chExt cx="21579840" cy="44047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4404792"/>
            </a:xfrm>
            <a:custGeom>
              <a:avLst/>
              <a:gdLst/>
              <a:ahLst/>
              <a:cxnLst/>
              <a:rect r="r" b="b" t="t" l="l"/>
              <a:pathLst>
                <a:path h="4404792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0929" r="0" b="-9992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01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Requerimientos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331720"/>
            <a:ext cx="8092440" cy="6446520"/>
            <a:chOff x="0" y="0"/>
            <a:chExt cx="10789920" cy="859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89920" cy="8595360"/>
            </a:xfrm>
            <a:custGeom>
              <a:avLst/>
              <a:gdLst/>
              <a:ahLst/>
              <a:cxnLst/>
              <a:rect r="r" b="b" t="t" l="l"/>
              <a:pathLst>
                <a:path h="8595360" w="10789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07040" y="0"/>
                  </a:lnTo>
                  <a:cubicBezTo>
                    <a:pt x="10708005" y="0"/>
                    <a:pt x="10789920" y="81915"/>
                    <a:pt x="10789920" y="182880"/>
                  </a:cubicBezTo>
                  <a:lnTo>
                    <a:pt x="10789920" y="8412480"/>
                  </a:lnTo>
                  <a:cubicBezTo>
                    <a:pt x="10789920" y="8513445"/>
                    <a:pt x="10708005" y="8595360"/>
                    <a:pt x="10607040" y="8595360"/>
                  </a:cubicBezTo>
                  <a:lnTo>
                    <a:pt x="182880" y="8595360"/>
                  </a:lnTo>
                  <a:cubicBezTo>
                    <a:pt x="81915" y="8595360"/>
                    <a:pt x="0" y="8513445"/>
                    <a:pt x="0" y="8412480"/>
                  </a:cubicBezTo>
                  <a:close/>
                </a:path>
              </a:pathLst>
            </a:custGeom>
            <a:solidFill>
              <a:srgbClr val="2B3D9C"/>
            </a:solid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34440" y="2674620"/>
            <a:ext cx="7269480" cy="548640"/>
            <a:chOff x="0" y="0"/>
            <a:chExt cx="96926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176" r="0" b="-208176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9692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A0AAE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REQ-01: Mo</a:t>
              </a:r>
              <a:r>
                <a:rPr lang="en-US" b="true" sz="2100">
                  <a:solidFill>
                    <a:srgbClr val="A0AAE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tor de recomendación personalizado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3291840"/>
            <a:ext cx="7269480" cy="5212080"/>
            <a:chOff x="0" y="0"/>
            <a:chExt cx="9692640" cy="6949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92640" cy="6949440"/>
            </a:xfrm>
            <a:custGeom>
              <a:avLst/>
              <a:gdLst/>
              <a:ahLst/>
              <a:cxnLst/>
              <a:rect r="r" b="b" t="t" l="l"/>
              <a:pathLst>
                <a:path h="69494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949440"/>
                  </a:lnTo>
                  <a:lnTo>
                    <a:pt x="0" y="6949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991" t="0" r="-41991" b="0"/>
              </a:stretch>
            </a:blip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9692640" cy="6997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Combina opportunity_score, zone_composite_index y constructora_reliability_score.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Pondera cada score con el perfil financiero y de estilo de vida declarado.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Salida: ranking ordenado, distinto para cada persona sobre el mismo inventario.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Regla: si falta un componente, la propiedad se marca como dato parcial.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Aceptación: dos perfiles distintos producen rankings distintos y explicables.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26880" y="2331720"/>
            <a:ext cx="8161020" cy="6446520"/>
            <a:chOff x="0" y="0"/>
            <a:chExt cx="10881360" cy="8595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81360" cy="8595360"/>
            </a:xfrm>
            <a:custGeom>
              <a:avLst/>
              <a:gdLst/>
              <a:ahLst/>
              <a:cxnLst/>
              <a:rect r="r" b="b" t="t" l="l"/>
              <a:pathLst>
                <a:path h="8595360" w="10881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98480" y="0"/>
                  </a:lnTo>
                  <a:cubicBezTo>
                    <a:pt x="10799445" y="0"/>
                    <a:pt x="10881360" y="81915"/>
                    <a:pt x="10881360" y="182880"/>
                  </a:cubicBezTo>
                  <a:lnTo>
                    <a:pt x="10881360" y="8412480"/>
                  </a:lnTo>
                  <a:cubicBezTo>
                    <a:pt x="10881360" y="8513445"/>
                    <a:pt x="10799445" y="8595360"/>
                    <a:pt x="10698480" y="8595360"/>
                  </a:cubicBezTo>
                  <a:lnTo>
                    <a:pt x="182880" y="8595360"/>
                  </a:lnTo>
                  <a:cubicBezTo>
                    <a:pt x="81915" y="8595360"/>
                    <a:pt x="0" y="8513445"/>
                    <a:pt x="0" y="8412480"/>
                  </a:cubicBezTo>
                  <a:close/>
                </a:path>
              </a:pathLst>
            </a:custGeom>
            <a:solidFill>
              <a:srgbClr val="9495A2"/>
            </a:solid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9738360" y="2674620"/>
            <a:ext cx="7269480" cy="548640"/>
            <a:chOff x="0" y="0"/>
            <a:chExt cx="969264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176" r="0" b="-208176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692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9FB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REQ-02: Explicabilidad d</a:t>
              </a:r>
              <a:r>
                <a:rPr lang="en-US" b="true" sz="2100">
                  <a:solidFill>
                    <a:srgbClr val="F9FB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 cada recomendación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38360" y="3154680"/>
            <a:ext cx="7269480" cy="5486400"/>
            <a:chOff x="0" y="0"/>
            <a:chExt cx="9692640" cy="7315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692640" cy="7315200"/>
            </a:xfrm>
            <a:custGeom>
              <a:avLst/>
              <a:gdLst/>
              <a:ahLst/>
              <a:cxnLst/>
              <a:rect r="r" b="b" t="t" l="l"/>
              <a:pathLst>
                <a:path h="731520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0"/>
                  </a:lnTo>
                  <a:lnTo>
                    <a:pt x="0" y="7315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832" t="0" r="-46832" b="0"/>
              </a:stretch>
            </a:blipFill>
          </p:spPr>
          <p:txBody>
            <a:bodyPr/>
            <a:p/>
          </p:txBody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9692640" cy="7353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Cada propiedad del ranking se muestra junto a una explicación generada automáticamente.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El texto nombra las variables que más pesaron en el score.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Ejemplo: 12% bajo el precio esperado, a 8 min de un colegio afín.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Si falta un componente, la explicación lo declara como dato parcial.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Aceptación: ninguna propiedad del ranking aparece sin explicación.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85800" y="9738360"/>
            <a:ext cx="8229600" cy="411480"/>
            <a:chOff x="0" y="0"/>
            <a:chExt cx="1097280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544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InmoScore · Week 5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7048988" y="9738360"/>
            <a:ext cx="548640" cy="411480"/>
            <a:chOff x="0" y="0"/>
            <a:chExt cx="73152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  <p:txBody>
            <a:bodyPr/>
            <a:p/>
          </p:txBody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3544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48988" y="9738360"/>
            <a:ext cx="548640" cy="411480"/>
            <a:chOff x="0" y="0"/>
            <a:chExt cx="73152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438912"/>
            <a:ext cx="13716000" cy="480060"/>
            <a:chOff x="0" y="0"/>
            <a:chExt cx="1828800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5F669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</a:t>
              </a:r>
              <a:r>
                <a:rPr lang="en-US" b="true" sz="1800" spc="225">
                  <a:solidFill>
                    <a:srgbClr val="5F669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STORIES · CUBRE REQ-01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850392"/>
            <a:ext cx="16459200" cy="822960"/>
            <a:chOff x="0" y="0"/>
            <a:chExt cx="2194560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9456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F3E9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US-01 · Ranking personalizado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2057400"/>
            <a:ext cx="8092440" cy="2948940"/>
            <a:chOff x="0" y="0"/>
            <a:chExt cx="10789920" cy="39319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89920" cy="3931920"/>
            </a:xfrm>
            <a:custGeom>
              <a:avLst/>
              <a:gdLst/>
              <a:ahLst/>
              <a:cxnLst/>
              <a:rect r="r" b="b" t="t" l="l"/>
              <a:pathLst>
                <a:path h="393192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3785616"/>
                  </a:lnTo>
                  <a:cubicBezTo>
                    <a:pt x="10789920" y="3866388"/>
                    <a:pt x="10724388" y="3931920"/>
                    <a:pt x="10643616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5F669F"/>
            </a:solid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65860" y="2263140"/>
            <a:ext cx="7680960" cy="2606040"/>
            <a:chOff x="0" y="0"/>
            <a:chExt cx="10241280" cy="3474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41280" cy="3474720"/>
            </a:xfrm>
            <a:custGeom>
              <a:avLst/>
              <a:gdLst/>
              <a:ahLst/>
              <a:cxnLst/>
              <a:rect r="r" b="b" t="t" l="l"/>
              <a:pathLst>
                <a:path h="34747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29" r="0" b="-7429"/>
              </a:stretch>
            </a:blip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104775"/>
              <a:ext cx="10241280" cy="3579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b="true" sz="2199" i="true">
                  <a:solidFill>
                    <a:srgbClr val="FAFCFD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Como</a:t>
              </a:r>
              <a:r>
                <a:rPr lang="en-US" sz="2199" i="true">
                  <a:solidFill>
                    <a:srgbClr val="FAFCF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comprador de vivienda propia, </a:t>
              </a:r>
              <a:r>
                <a:rPr lang="en-US" b="true" sz="2199" i="true">
                  <a:solidFill>
                    <a:srgbClr val="FAFCFD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quiero</a:t>
              </a:r>
              <a:r>
                <a:rPr lang="en-US" sz="2199" i="true">
                  <a:solidFill>
                    <a:srgbClr val="FAFCF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recibir un ranking personalizado de propiedades según mis prioridades financieras y de estilo de vida, </a:t>
              </a:r>
              <a:r>
                <a:rPr lang="en-US" b="true" sz="2199" i="true">
                  <a:solidFill>
                    <a:srgbClr val="FAFCFD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para</a:t>
              </a:r>
              <a:r>
                <a:rPr lang="en-US" sz="2199" i="true">
                  <a:solidFill>
                    <a:srgbClr val="FAFCF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poder identificar rápidamente las mejores opciones sin revisar manualmente cada portal.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5280660"/>
            <a:ext cx="8092440" cy="4114800"/>
            <a:chOff x="0" y="0"/>
            <a:chExt cx="10789920" cy="548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89920" cy="5486400"/>
            </a:xfrm>
            <a:custGeom>
              <a:avLst/>
              <a:gdLst/>
              <a:ahLst/>
              <a:cxnLst/>
              <a:rect r="r" b="b" t="t" l="l"/>
              <a:pathLst>
                <a:path h="548640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5340096"/>
                  </a:lnTo>
                  <a:cubicBezTo>
                    <a:pt x="10789920" y="5420868"/>
                    <a:pt x="10724388" y="5486400"/>
                    <a:pt x="10643616" y="5486400"/>
                  </a:cubicBezTo>
                  <a:lnTo>
                    <a:pt x="146304" y="5486400"/>
                  </a:lnTo>
                  <a:cubicBezTo>
                    <a:pt x="65532" y="5486400"/>
                    <a:pt x="0" y="5420868"/>
                    <a:pt x="0" y="5340096"/>
                  </a:cubicBezTo>
                  <a:close/>
                </a:path>
              </a:pathLst>
            </a:custGeom>
            <a:solidFill>
              <a:srgbClr val="293E9C"/>
            </a:solid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65860" y="5486400"/>
            <a:ext cx="7406640" cy="480060"/>
            <a:chOff x="0" y="0"/>
            <a:chExt cx="987552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875520" cy="640080"/>
            </a:xfrm>
            <a:custGeom>
              <a:avLst/>
              <a:gdLst/>
              <a:ahLst/>
              <a:cxnLst/>
              <a:rect r="r" b="b" t="t" l="l"/>
              <a:pathLst>
                <a:path h="64008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0626" r="0" b="-250626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8755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Criterios de aceptación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65860" y="6035040"/>
            <a:ext cx="7406640" cy="3069726"/>
            <a:chOff x="0" y="0"/>
            <a:chExt cx="9875520" cy="409296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875520" cy="4092968"/>
            </a:xfrm>
            <a:custGeom>
              <a:avLst/>
              <a:gdLst/>
              <a:ahLst/>
              <a:cxnLst/>
              <a:rect r="r" b="b" t="t" l="l"/>
              <a:pathLst>
                <a:path h="4092968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4092968"/>
                  </a:lnTo>
                  <a:lnTo>
                    <a:pt x="0" y="4092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3" t="0" r="-7023" b="-7235"/>
              </a:stretch>
            </a:blipFill>
          </p:spPr>
          <p:txBody>
            <a:bodyPr/>
            <a:p/>
          </p:txBody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9875520" cy="4159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b="true" sz="2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Given </a:t>
              </a: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 el usuario definió sus pesos de preferencia,</a:t>
              </a:r>
            </a:p>
            <a:p>
              <a:pPr algn="l">
                <a:lnSpc>
                  <a:spcPts val="2760"/>
                </a:lnSpc>
              </a:pPr>
              <a:r>
                <a:rPr lang="en-US" b="true" sz="2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When </a:t>
              </a: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solicita recomendaciones,</a:t>
              </a:r>
            </a:p>
            <a:p>
              <a:pPr algn="l">
                <a:lnSpc>
                  <a:spcPts val="2760"/>
                </a:lnSpc>
              </a:pPr>
              <a:r>
                <a:rPr lang="en-US" b="true" sz="2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Then </a:t>
              </a: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sistema devuelve un ranking ordenado por score compuesto.</a:t>
              </a:r>
            </a:p>
            <a:p>
              <a:pPr algn="l">
                <a:lnSpc>
                  <a:spcPts val="2760"/>
                </a:lnSpc>
              </a:pPr>
            </a:p>
            <a:p>
              <a:pPr algn="l">
                <a:lnSpc>
                  <a:spcPts val="2760"/>
                </a:lnSpc>
              </a:pPr>
              <a:r>
                <a:rPr lang="en-US" b="true" sz="2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Given </a:t>
              </a: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 cambio en preferencias,</a:t>
              </a:r>
            </a:p>
            <a:p>
              <a:pPr algn="l">
                <a:lnSpc>
                  <a:spcPts val="2760"/>
                </a:lnSpc>
              </a:pPr>
              <a:r>
                <a:rPr lang="en-US" b="true" sz="2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When </a:t>
              </a: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usuario las actualiza,</a:t>
              </a:r>
            </a:p>
            <a:p>
              <a:pPr algn="l">
                <a:lnSpc>
                  <a:spcPts val="2760"/>
                </a:lnSpc>
              </a:pPr>
              <a:r>
                <a:rPr lang="en-US" b="true" sz="2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Then </a:t>
              </a: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ranking se recalcula.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230868" y="3738558"/>
            <a:ext cx="8092440" cy="480060"/>
            <a:chOff x="0" y="0"/>
            <a:chExt cx="1078992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89920" cy="640080"/>
            </a:xfrm>
            <a:custGeom>
              <a:avLst/>
              <a:gdLst/>
              <a:ahLst/>
              <a:cxnLst/>
              <a:rect r="r" b="b" t="t" l="l"/>
              <a:pathLst>
                <a:path h="64008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462" r="0" b="-278462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07899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5F669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flujo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230868" y="4424358"/>
            <a:ext cx="1851660" cy="1783080"/>
            <a:chOff x="0" y="0"/>
            <a:chExt cx="2468880" cy="23774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688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468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322576" y="0"/>
                  </a:lnTo>
                  <a:cubicBezTo>
                    <a:pt x="2403348" y="0"/>
                    <a:pt x="2468880" y="65532"/>
                    <a:pt x="2468880" y="146304"/>
                  </a:cubicBezTo>
                  <a:lnTo>
                    <a:pt x="2468880" y="2231136"/>
                  </a:lnTo>
                  <a:cubicBezTo>
                    <a:pt x="2468880" y="2311908"/>
                    <a:pt x="2403348" y="2377440"/>
                    <a:pt x="2322576" y="2377440"/>
                  </a:cubicBezTo>
                  <a:lnTo>
                    <a:pt x="146304" y="2377440"/>
                  </a:lnTo>
                  <a:cubicBezTo>
                    <a:pt x="65532" y="2377440"/>
                    <a:pt x="0" y="2311908"/>
                    <a:pt x="0" y="2231136"/>
                  </a:cubicBezTo>
                  <a:close/>
                </a:path>
              </a:pathLst>
            </a:custGeom>
            <a:solidFill>
              <a:srgbClr val="ADB4D0"/>
            </a:solid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40596" y="4424358"/>
            <a:ext cx="1632204" cy="1783080"/>
            <a:chOff x="0" y="0"/>
            <a:chExt cx="2176272" cy="2377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76272" cy="2377440"/>
            </a:xfrm>
            <a:custGeom>
              <a:avLst/>
              <a:gdLst/>
              <a:ahLst/>
              <a:cxnLst/>
              <a:rect r="r" b="b" t="t" l="l"/>
              <a:pathLst>
                <a:path h="2377440" w="2176272">
                  <a:moveTo>
                    <a:pt x="0" y="0"/>
                  </a:moveTo>
                  <a:lnTo>
                    <a:pt x="2176272" y="0"/>
                  </a:lnTo>
                  <a:lnTo>
                    <a:pt x="2176272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163" t="0" r="-90163" b="0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2176272" cy="2406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Perfil del</a:t>
              </a:r>
            </a:p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usuario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082528" y="4972998"/>
            <a:ext cx="164592" cy="685800"/>
            <a:chOff x="0" y="0"/>
            <a:chExt cx="219456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9456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">
                  <a:moveTo>
                    <a:pt x="0" y="0"/>
                  </a:moveTo>
                  <a:lnTo>
                    <a:pt x="219456" y="0"/>
                  </a:lnTo>
                  <a:lnTo>
                    <a:pt x="21945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84598" t="0" r="-484598" b="0"/>
              </a:stretch>
            </a:blipFill>
          </p:spPr>
          <p:txBody>
            <a:bodyPr/>
            <a:p/>
          </p:txBody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219456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5F669F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247120" y="4424358"/>
            <a:ext cx="1851660" cy="1783080"/>
            <a:chOff x="0" y="0"/>
            <a:chExt cx="2468880" cy="2377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688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468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322576" y="0"/>
                  </a:lnTo>
                  <a:cubicBezTo>
                    <a:pt x="2403348" y="0"/>
                    <a:pt x="2468880" y="65532"/>
                    <a:pt x="2468880" y="146304"/>
                  </a:cubicBezTo>
                  <a:lnTo>
                    <a:pt x="2468880" y="2231136"/>
                  </a:lnTo>
                  <a:cubicBezTo>
                    <a:pt x="2468880" y="2311908"/>
                    <a:pt x="2403348" y="2377440"/>
                    <a:pt x="2322576" y="2377440"/>
                  </a:cubicBezTo>
                  <a:lnTo>
                    <a:pt x="146304" y="2377440"/>
                  </a:lnTo>
                  <a:cubicBezTo>
                    <a:pt x="65532" y="2377440"/>
                    <a:pt x="0" y="2311908"/>
                    <a:pt x="0" y="2231136"/>
                  </a:cubicBezTo>
                  <a:close/>
                </a:path>
              </a:pathLst>
            </a:custGeom>
            <a:solidFill>
              <a:srgbClr val="ADB4D0"/>
            </a:solid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356848" y="4424358"/>
            <a:ext cx="1632204" cy="1783080"/>
            <a:chOff x="0" y="0"/>
            <a:chExt cx="2176272" cy="23774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76272" cy="2377440"/>
            </a:xfrm>
            <a:custGeom>
              <a:avLst/>
              <a:gdLst/>
              <a:ahLst/>
              <a:cxnLst/>
              <a:rect r="r" b="b" t="t" l="l"/>
              <a:pathLst>
                <a:path h="2377440" w="2176272">
                  <a:moveTo>
                    <a:pt x="0" y="0"/>
                  </a:moveTo>
                  <a:lnTo>
                    <a:pt x="2176272" y="0"/>
                  </a:lnTo>
                  <a:lnTo>
                    <a:pt x="2176272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163" t="0" r="-90163" b="0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2176272" cy="2406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opportunity_score</a:t>
              </a:r>
            </a:p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 zone_index</a:t>
              </a:r>
            </a:p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 constructora_score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098780" y="4972998"/>
            <a:ext cx="164592" cy="685800"/>
            <a:chOff x="0" y="0"/>
            <a:chExt cx="219456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456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">
                  <a:moveTo>
                    <a:pt x="0" y="0"/>
                  </a:moveTo>
                  <a:lnTo>
                    <a:pt x="219456" y="0"/>
                  </a:lnTo>
                  <a:lnTo>
                    <a:pt x="21945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84598" t="0" r="-484598" b="0"/>
              </a:stretch>
            </a:blipFill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219456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5F669F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263372" y="4424358"/>
            <a:ext cx="1851660" cy="1783080"/>
            <a:chOff x="0" y="0"/>
            <a:chExt cx="2468880" cy="2377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4688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468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322576" y="0"/>
                  </a:lnTo>
                  <a:cubicBezTo>
                    <a:pt x="2403348" y="0"/>
                    <a:pt x="2468880" y="65532"/>
                    <a:pt x="2468880" y="146304"/>
                  </a:cubicBezTo>
                  <a:lnTo>
                    <a:pt x="2468880" y="2231136"/>
                  </a:lnTo>
                  <a:cubicBezTo>
                    <a:pt x="2468880" y="2311908"/>
                    <a:pt x="2403348" y="2377440"/>
                    <a:pt x="2322576" y="2377440"/>
                  </a:cubicBezTo>
                  <a:lnTo>
                    <a:pt x="146304" y="2377440"/>
                  </a:lnTo>
                  <a:cubicBezTo>
                    <a:pt x="65532" y="2377440"/>
                    <a:pt x="0" y="2311908"/>
                    <a:pt x="0" y="2231136"/>
                  </a:cubicBezTo>
                  <a:close/>
                </a:path>
              </a:pathLst>
            </a:custGeom>
            <a:solidFill>
              <a:srgbClr val="ADB4D0"/>
            </a:solidFill>
          </p:spPr>
          <p:txBody>
            <a:bodyPr/>
            <a:p/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373100" y="4424358"/>
            <a:ext cx="1632204" cy="1783080"/>
            <a:chOff x="0" y="0"/>
            <a:chExt cx="2176272" cy="23774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76272" cy="2377440"/>
            </a:xfrm>
            <a:custGeom>
              <a:avLst/>
              <a:gdLst/>
              <a:ahLst/>
              <a:cxnLst/>
              <a:rect r="r" b="b" t="t" l="l"/>
              <a:pathLst>
                <a:path h="2377440" w="2176272">
                  <a:moveTo>
                    <a:pt x="0" y="0"/>
                  </a:moveTo>
                  <a:lnTo>
                    <a:pt x="2176272" y="0"/>
                  </a:lnTo>
                  <a:lnTo>
                    <a:pt x="2176272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163" t="0" r="-90163" b="0"/>
              </a:stretch>
            </a:blipFill>
          </p:spPr>
          <p:txBody>
            <a:bodyPr/>
            <a:p/>
          </p:txBody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2176272" cy="2406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Motor de</a:t>
              </a:r>
            </a:p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recomendación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115032" y="4972998"/>
            <a:ext cx="164592" cy="685800"/>
            <a:chOff x="0" y="0"/>
            <a:chExt cx="219456" cy="914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9456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">
                  <a:moveTo>
                    <a:pt x="0" y="0"/>
                  </a:moveTo>
                  <a:lnTo>
                    <a:pt x="219456" y="0"/>
                  </a:lnTo>
                  <a:lnTo>
                    <a:pt x="21945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84598" t="0" r="-484598" b="0"/>
              </a:stretch>
            </a:blipFill>
          </p:spPr>
          <p:txBody>
            <a:bodyPr/>
            <a:p/>
          </p:txBody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219456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5F669F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5279624" y="4424358"/>
            <a:ext cx="1851660" cy="1783080"/>
            <a:chOff x="0" y="0"/>
            <a:chExt cx="2468880" cy="23774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4688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468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322576" y="0"/>
                  </a:lnTo>
                  <a:cubicBezTo>
                    <a:pt x="2403348" y="0"/>
                    <a:pt x="2468880" y="65532"/>
                    <a:pt x="2468880" y="146304"/>
                  </a:cubicBezTo>
                  <a:lnTo>
                    <a:pt x="2468880" y="2231136"/>
                  </a:lnTo>
                  <a:cubicBezTo>
                    <a:pt x="2468880" y="2311908"/>
                    <a:pt x="2403348" y="2377440"/>
                    <a:pt x="2322576" y="2377440"/>
                  </a:cubicBezTo>
                  <a:lnTo>
                    <a:pt x="146304" y="2377440"/>
                  </a:lnTo>
                  <a:cubicBezTo>
                    <a:pt x="65532" y="2377440"/>
                    <a:pt x="0" y="2311908"/>
                    <a:pt x="0" y="2231136"/>
                  </a:cubicBezTo>
                  <a:close/>
                </a:path>
              </a:pathLst>
            </a:custGeom>
            <a:solidFill>
              <a:srgbClr val="ADB4D0"/>
            </a:solidFill>
          </p:spPr>
          <p:txBody>
            <a:bodyPr/>
            <a:p/>
          </p:txBody>
        </p:sp>
      </p:grpSp>
      <p:grpSp>
        <p:nvGrpSpPr>
          <p:cNvPr name="Group 53" id="53"/>
          <p:cNvGrpSpPr/>
          <p:nvPr/>
        </p:nvGrpSpPr>
        <p:grpSpPr>
          <a:xfrm rot="0">
            <a:off x="15389352" y="4424358"/>
            <a:ext cx="1632204" cy="1783080"/>
            <a:chOff x="0" y="0"/>
            <a:chExt cx="2176272" cy="23774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76272" cy="2377440"/>
            </a:xfrm>
            <a:custGeom>
              <a:avLst/>
              <a:gdLst/>
              <a:ahLst/>
              <a:cxnLst/>
              <a:rect r="r" b="b" t="t" l="l"/>
              <a:pathLst>
                <a:path h="2377440" w="2176272">
                  <a:moveTo>
                    <a:pt x="0" y="0"/>
                  </a:moveTo>
                  <a:lnTo>
                    <a:pt x="2176272" y="0"/>
                  </a:lnTo>
                  <a:lnTo>
                    <a:pt x="2176272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163" t="0" r="-90163" b="0"/>
              </a:stretch>
            </a:blipFill>
          </p:spPr>
          <p:txBody>
            <a:bodyPr/>
            <a:p/>
          </p:txBody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2176272" cy="2406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Ranking</a:t>
              </a:r>
            </a:p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explicado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230868" y="6416988"/>
            <a:ext cx="8092440" cy="817254"/>
            <a:chOff x="0" y="0"/>
            <a:chExt cx="10789920" cy="108967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789920" cy="1089672"/>
            </a:xfrm>
            <a:custGeom>
              <a:avLst/>
              <a:gdLst/>
              <a:ahLst/>
              <a:cxnLst/>
              <a:rect r="r" b="b" t="t" l="l"/>
              <a:pathLst>
                <a:path h="1089672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1089672"/>
                  </a:lnTo>
                  <a:lnTo>
                    <a:pt x="0" y="1089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242" r="0" b="-193638"/>
              </a:stretch>
            </a:blipFill>
          </p:spPr>
          <p:txBody>
            <a:bodyPr/>
            <a:p/>
          </p:txBody>
        </p:sp>
        <p:sp>
          <p:nvSpPr>
            <p:cNvPr name="TextBox 58" id="58"/>
            <p:cNvSpPr txBox="true"/>
            <p:nvPr/>
          </p:nvSpPr>
          <p:spPr>
            <a:xfrm>
              <a:off x="0" y="-76200"/>
              <a:ext cx="10789920" cy="11658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650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diagrama muestra cómo los tres scores individuales, ponderados por el perfil del usuario, convergen en un ranking único y explicado por persona.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85800" y="9738360"/>
            <a:ext cx="8229600" cy="411480"/>
            <a:chOff x="0" y="0"/>
            <a:chExt cx="1097280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  <p:txBody>
            <a:bodyPr/>
            <a:p/>
          </p:txBody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InmoScore · Requirements Artifacts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48988" y="9738360"/>
            <a:ext cx="548640" cy="411480"/>
            <a:chOff x="0" y="0"/>
            <a:chExt cx="73152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438912"/>
            <a:ext cx="13716000" cy="480060"/>
            <a:chOff x="0" y="0"/>
            <a:chExt cx="1828800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5F669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</a:t>
              </a:r>
              <a:r>
                <a:rPr lang="en-US" b="true" sz="1800" spc="225">
                  <a:solidFill>
                    <a:srgbClr val="5F669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STORIES · CUBRE REQ-02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850392"/>
            <a:ext cx="16459200" cy="822960"/>
            <a:chOff x="0" y="0"/>
            <a:chExt cx="2194560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9456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F3E9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US-02 · Explicabilidad de la recomendación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2057400"/>
            <a:ext cx="8092440" cy="2948940"/>
            <a:chOff x="0" y="0"/>
            <a:chExt cx="10789920" cy="39319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89920" cy="3931920"/>
            </a:xfrm>
            <a:custGeom>
              <a:avLst/>
              <a:gdLst/>
              <a:ahLst/>
              <a:cxnLst/>
              <a:rect r="r" b="b" t="t" l="l"/>
              <a:pathLst>
                <a:path h="393192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3785616"/>
                  </a:lnTo>
                  <a:cubicBezTo>
                    <a:pt x="10789920" y="3866388"/>
                    <a:pt x="10724388" y="3931920"/>
                    <a:pt x="10643616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5F669F"/>
            </a:solid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65860" y="2263140"/>
            <a:ext cx="7680960" cy="2606040"/>
            <a:chOff x="0" y="0"/>
            <a:chExt cx="10241280" cy="3474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41280" cy="3474720"/>
            </a:xfrm>
            <a:custGeom>
              <a:avLst/>
              <a:gdLst/>
              <a:ahLst/>
              <a:cxnLst/>
              <a:rect r="r" b="b" t="t" l="l"/>
              <a:pathLst>
                <a:path h="34747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29" r="0" b="-7429"/>
              </a:stretch>
            </a:blip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104775"/>
              <a:ext cx="10241280" cy="3579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3299"/>
                </a:lnSpc>
                <a:spcBef>
                  <a:spcPct val="0"/>
                </a:spcBef>
              </a:pPr>
              <a:r>
                <a:rPr lang="en-US" b="true" sz="2199" i="true" strike="noStrike" u="none">
                  <a:solidFill>
                    <a:srgbClr val="FAFCFD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Como</a:t>
              </a:r>
              <a:r>
                <a:rPr lang="en-US" sz="2199" i="true" strike="noStrike" u="none">
                  <a:solidFill>
                    <a:srgbClr val="FAFCF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comprador de vivienda propia, </a:t>
              </a:r>
              <a:r>
                <a:rPr lang="en-US" b="true" sz="2199" i="true" strike="noStrike" u="none">
                  <a:solidFill>
                    <a:srgbClr val="FAFCFD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quiero</a:t>
              </a:r>
              <a:r>
                <a:rPr lang="en-US" sz="2199" i="true" strike="noStrike" u="none">
                  <a:solidFill>
                    <a:srgbClr val="FAFCF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ver una explicación en lenguaje natural junto a cada propiedad recomendada, incluso cuando falte algún dato, </a:t>
              </a:r>
              <a:r>
                <a:rPr lang="en-US" b="true" sz="2199" i="true" strike="noStrike" u="none">
                  <a:solidFill>
                    <a:srgbClr val="FAFCFD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para</a:t>
              </a:r>
              <a:r>
                <a:rPr lang="en-US" sz="2199" i="true" strike="noStrike" u="none">
                  <a:solidFill>
                    <a:srgbClr val="FAFCF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poder confiar en el ranking sin sentir que es una caja negra.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5280660"/>
            <a:ext cx="8092440" cy="4114800"/>
            <a:chOff x="0" y="0"/>
            <a:chExt cx="10789920" cy="548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89920" cy="5486400"/>
            </a:xfrm>
            <a:custGeom>
              <a:avLst/>
              <a:gdLst/>
              <a:ahLst/>
              <a:cxnLst/>
              <a:rect r="r" b="b" t="t" l="l"/>
              <a:pathLst>
                <a:path h="548640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5340096"/>
                  </a:lnTo>
                  <a:cubicBezTo>
                    <a:pt x="10789920" y="5420868"/>
                    <a:pt x="10724388" y="5486400"/>
                    <a:pt x="10643616" y="5486400"/>
                  </a:cubicBezTo>
                  <a:lnTo>
                    <a:pt x="146304" y="5486400"/>
                  </a:lnTo>
                  <a:cubicBezTo>
                    <a:pt x="65532" y="5486400"/>
                    <a:pt x="0" y="5420868"/>
                    <a:pt x="0" y="5340096"/>
                  </a:cubicBezTo>
                  <a:close/>
                </a:path>
              </a:pathLst>
            </a:custGeom>
            <a:solidFill>
              <a:srgbClr val="293E9C"/>
            </a:solid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65860" y="5486400"/>
            <a:ext cx="7406640" cy="480060"/>
            <a:chOff x="0" y="0"/>
            <a:chExt cx="987552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875520" cy="640080"/>
            </a:xfrm>
            <a:custGeom>
              <a:avLst/>
              <a:gdLst/>
              <a:ahLst/>
              <a:cxnLst/>
              <a:rect r="r" b="b" t="t" l="l"/>
              <a:pathLst>
                <a:path h="64008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0626" r="0" b="-250626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8755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Criterios de aceptación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65860" y="6035040"/>
            <a:ext cx="7406640" cy="3291840"/>
            <a:chOff x="0" y="0"/>
            <a:chExt cx="9875520" cy="43891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875520" cy="4389120"/>
            </a:xfrm>
            <a:custGeom>
              <a:avLst/>
              <a:gdLst/>
              <a:ahLst/>
              <a:cxnLst/>
              <a:rect r="r" b="b" t="t" l="l"/>
              <a:pathLst>
                <a:path h="438912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4389120"/>
                  </a:lnTo>
                  <a:lnTo>
                    <a:pt x="0" y="4389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3" t="0" r="-7023" b="0"/>
              </a:stretch>
            </a:blipFill>
          </p:spPr>
          <p:txBody>
            <a:bodyPr/>
            <a:p/>
          </p:txBody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9875520" cy="4455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760"/>
                </a:lnSpc>
                <a:spcBef>
                  <a:spcPct val="0"/>
                </a:spcBef>
              </a:pPr>
              <a:r>
                <a:rPr lang="en-US" b="true" sz="2000" strike="noStrike" u="non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Given</a:t>
              </a:r>
              <a:r>
                <a:rPr lang="en-US" sz="2000" strike="noStrike" u="none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que existe un ranking generado,</a:t>
              </a:r>
            </a:p>
            <a:p>
              <a:pPr algn="l" marL="0" indent="0" lvl="0">
                <a:lnSpc>
                  <a:spcPts val="2760"/>
                </a:lnSpc>
                <a:spcBef>
                  <a:spcPct val="0"/>
                </a:spcBef>
              </a:pPr>
              <a:r>
                <a:rPr lang="en-US" b="true" sz="2000" strike="noStrike" u="non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When</a:t>
              </a:r>
              <a:r>
                <a:rPr lang="en-US" sz="2000" strike="noStrike" u="none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se muestra cada propiedad,</a:t>
              </a:r>
            </a:p>
            <a:p>
              <a:pPr algn="l" marL="0" indent="0" lvl="0">
                <a:lnSpc>
                  <a:spcPts val="2760"/>
                </a:lnSpc>
                <a:spcBef>
                  <a:spcPct val="0"/>
                </a:spcBef>
              </a:pPr>
              <a:r>
                <a:rPr lang="en-US" b="true" sz="2000" strike="noStrike" u="non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Then</a:t>
              </a:r>
              <a:r>
                <a:rPr lang="en-US" sz="2000" strike="noStrike" u="none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debe incluir una explicación textual asociada.</a:t>
              </a:r>
            </a:p>
            <a:p>
              <a:pPr algn="l" marL="0" indent="0" lvl="0">
                <a:lnSpc>
                  <a:spcPts val="2760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760"/>
                </a:lnSpc>
                <a:spcBef>
                  <a:spcPct val="0"/>
                </a:spcBef>
              </a:pPr>
              <a:r>
                <a:rPr lang="en-US" b="true" sz="2000" strike="noStrike" u="non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Given</a:t>
              </a:r>
              <a:r>
                <a:rPr lang="en-US" sz="2000" strike="noStrike" u="none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que falta un componente del score,</a:t>
              </a:r>
            </a:p>
            <a:p>
              <a:pPr algn="l" marL="0" indent="0" lvl="0">
                <a:lnSpc>
                  <a:spcPts val="2760"/>
                </a:lnSpc>
                <a:spcBef>
                  <a:spcPct val="0"/>
                </a:spcBef>
              </a:pPr>
              <a:r>
                <a:rPr lang="en-US" b="true" sz="2000" strike="noStrike" u="non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When</a:t>
              </a:r>
              <a:r>
                <a:rPr lang="en-US" sz="2000" strike="noStrike" u="none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se genera la explicación,</a:t>
              </a:r>
            </a:p>
            <a:p>
              <a:pPr algn="l" marL="0" indent="0" lvl="0">
                <a:lnSpc>
                  <a:spcPts val="2760"/>
                </a:lnSpc>
                <a:spcBef>
                  <a:spcPct val="0"/>
                </a:spcBef>
              </a:pPr>
              <a:r>
                <a:rPr lang="en-US" b="true" sz="2000" strike="noStrike" u="non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Then</a:t>
              </a:r>
              <a:r>
                <a:rPr lang="en-US" sz="2000" strike="noStrike" u="none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el sistema indica "dato parcial" en vez de omitirlo.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230868" y="3771900"/>
            <a:ext cx="8092440" cy="480060"/>
            <a:chOff x="0" y="0"/>
            <a:chExt cx="1078992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89920" cy="640080"/>
            </a:xfrm>
            <a:custGeom>
              <a:avLst/>
              <a:gdLst/>
              <a:ahLst/>
              <a:cxnLst/>
              <a:rect r="r" b="b" t="t" l="l"/>
              <a:pathLst>
                <a:path h="64008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462" r="0" b="-278462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07899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5F669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flujo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230868" y="4457700"/>
            <a:ext cx="1851660" cy="1783080"/>
            <a:chOff x="0" y="0"/>
            <a:chExt cx="2468880" cy="23774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688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468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322576" y="0"/>
                  </a:lnTo>
                  <a:cubicBezTo>
                    <a:pt x="2403348" y="0"/>
                    <a:pt x="2468880" y="65532"/>
                    <a:pt x="2468880" y="146304"/>
                  </a:cubicBezTo>
                  <a:lnTo>
                    <a:pt x="2468880" y="2231136"/>
                  </a:lnTo>
                  <a:cubicBezTo>
                    <a:pt x="2468880" y="2311908"/>
                    <a:pt x="2403348" y="2377440"/>
                    <a:pt x="2322576" y="2377440"/>
                  </a:cubicBezTo>
                  <a:lnTo>
                    <a:pt x="146304" y="2377440"/>
                  </a:lnTo>
                  <a:cubicBezTo>
                    <a:pt x="65532" y="2377440"/>
                    <a:pt x="0" y="2311908"/>
                    <a:pt x="0" y="2231136"/>
                  </a:cubicBezTo>
                  <a:close/>
                </a:path>
              </a:pathLst>
            </a:custGeom>
            <a:solidFill>
              <a:srgbClr val="ADB4D0"/>
            </a:solid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40596" y="4457700"/>
            <a:ext cx="1632204" cy="1783080"/>
            <a:chOff x="0" y="0"/>
            <a:chExt cx="2176272" cy="2377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76272" cy="2377440"/>
            </a:xfrm>
            <a:custGeom>
              <a:avLst/>
              <a:gdLst/>
              <a:ahLst/>
              <a:cxnLst/>
              <a:rect r="r" b="b" t="t" l="l"/>
              <a:pathLst>
                <a:path h="2377440" w="2176272">
                  <a:moveTo>
                    <a:pt x="0" y="0"/>
                  </a:moveTo>
                  <a:lnTo>
                    <a:pt x="2176272" y="0"/>
                  </a:lnTo>
                  <a:lnTo>
                    <a:pt x="2176272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163" t="0" r="-90163" b="0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2176272" cy="2406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Scores +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variables que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más pesaron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082528" y="5006340"/>
            <a:ext cx="164592" cy="685800"/>
            <a:chOff x="0" y="0"/>
            <a:chExt cx="219456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9456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">
                  <a:moveTo>
                    <a:pt x="0" y="0"/>
                  </a:moveTo>
                  <a:lnTo>
                    <a:pt x="219456" y="0"/>
                  </a:lnTo>
                  <a:lnTo>
                    <a:pt x="21945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84598" t="0" r="-484598" b="0"/>
              </a:stretch>
            </a:blipFill>
          </p:spPr>
          <p:txBody>
            <a:bodyPr/>
            <a:p/>
          </p:txBody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219456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5F669F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247120" y="4457700"/>
            <a:ext cx="1851660" cy="1783080"/>
            <a:chOff x="0" y="0"/>
            <a:chExt cx="2468880" cy="2377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688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468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322576" y="0"/>
                  </a:lnTo>
                  <a:cubicBezTo>
                    <a:pt x="2403348" y="0"/>
                    <a:pt x="2468880" y="65532"/>
                    <a:pt x="2468880" y="146304"/>
                  </a:cubicBezTo>
                  <a:lnTo>
                    <a:pt x="2468880" y="2231136"/>
                  </a:lnTo>
                  <a:cubicBezTo>
                    <a:pt x="2468880" y="2311908"/>
                    <a:pt x="2403348" y="2377440"/>
                    <a:pt x="2322576" y="2377440"/>
                  </a:cubicBezTo>
                  <a:lnTo>
                    <a:pt x="146304" y="2377440"/>
                  </a:lnTo>
                  <a:cubicBezTo>
                    <a:pt x="65532" y="2377440"/>
                    <a:pt x="0" y="2311908"/>
                    <a:pt x="0" y="2231136"/>
                  </a:cubicBezTo>
                  <a:close/>
                </a:path>
              </a:pathLst>
            </a:custGeom>
            <a:solidFill>
              <a:srgbClr val="ADB4D0"/>
            </a:solid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356848" y="4457700"/>
            <a:ext cx="1632204" cy="1783080"/>
            <a:chOff x="0" y="0"/>
            <a:chExt cx="2176272" cy="23774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76272" cy="2377440"/>
            </a:xfrm>
            <a:custGeom>
              <a:avLst/>
              <a:gdLst/>
              <a:ahLst/>
              <a:cxnLst/>
              <a:rect r="r" b="b" t="t" l="l"/>
              <a:pathLst>
                <a:path h="2377440" w="2176272">
                  <a:moveTo>
                    <a:pt x="0" y="0"/>
                  </a:moveTo>
                  <a:lnTo>
                    <a:pt x="2176272" y="0"/>
                  </a:lnTo>
                  <a:lnTo>
                    <a:pt x="2176272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163" t="0" r="-90163" b="0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2176272" cy="2406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Generador de</a:t>
              </a:r>
            </a:p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explicación</a:t>
              </a:r>
            </a:p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(lenguaje natural)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098780" y="5006340"/>
            <a:ext cx="164592" cy="685800"/>
            <a:chOff x="0" y="0"/>
            <a:chExt cx="219456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456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">
                  <a:moveTo>
                    <a:pt x="0" y="0"/>
                  </a:moveTo>
                  <a:lnTo>
                    <a:pt x="219456" y="0"/>
                  </a:lnTo>
                  <a:lnTo>
                    <a:pt x="21945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84598" t="0" r="-484598" b="0"/>
              </a:stretch>
            </a:blipFill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219456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5F669F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263372" y="4457700"/>
            <a:ext cx="1851660" cy="1783080"/>
            <a:chOff x="0" y="0"/>
            <a:chExt cx="2468880" cy="2377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4688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468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322576" y="0"/>
                  </a:lnTo>
                  <a:cubicBezTo>
                    <a:pt x="2403348" y="0"/>
                    <a:pt x="2468880" y="65532"/>
                    <a:pt x="2468880" y="146304"/>
                  </a:cubicBezTo>
                  <a:lnTo>
                    <a:pt x="2468880" y="2231136"/>
                  </a:lnTo>
                  <a:cubicBezTo>
                    <a:pt x="2468880" y="2311908"/>
                    <a:pt x="2403348" y="2377440"/>
                    <a:pt x="2322576" y="2377440"/>
                  </a:cubicBezTo>
                  <a:lnTo>
                    <a:pt x="146304" y="2377440"/>
                  </a:lnTo>
                  <a:cubicBezTo>
                    <a:pt x="65532" y="2377440"/>
                    <a:pt x="0" y="2311908"/>
                    <a:pt x="0" y="2231136"/>
                  </a:cubicBezTo>
                  <a:close/>
                </a:path>
              </a:pathLst>
            </a:custGeom>
            <a:solidFill>
              <a:srgbClr val="ADB4D0"/>
            </a:solidFill>
          </p:spPr>
          <p:txBody>
            <a:bodyPr/>
            <a:p/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373100" y="4457700"/>
            <a:ext cx="1632204" cy="1783080"/>
            <a:chOff x="0" y="0"/>
            <a:chExt cx="2176272" cy="23774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76272" cy="2377440"/>
            </a:xfrm>
            <a:custGeom>
              <a:avLst/>
              <a:gdLst/>
              <a:ahLst/>
              <a:cxnLst/>
              <a:rect r="r" b="b" t="t" l="l"/>
              <a:pathLst>
                <a:path h="2377440" w="2176272">
                  <a:moveTo>
                    <a:pt x="0" y="0"/>
                  </a:moveTo>
                  <a:lnTo>
                    <a:pt x="2176272" y="0"/>
                  </a:lnTo>
                  <a:lnTo>
                    <a:pt x="2176272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163" t="0" r="-90163" b="0"/>
              </a:stretch>
            </a:blipFill>
          </p:spPr>
          <p:txBody>
            <a:bodyPr/>
            <a:p/>
          </p:txBody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2176272" cy="2406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Texto explicativo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por propiedad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115032" y="5006340"/>
            <a:ext cx="164592" cy="685800"/>
            <a:chOff x="0" y="0"/>
            <a:chExt cx="219456" cy="914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9456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">
                  <a:moveTo>
                    <a:pt x="0" y="0"/>
                  </a:moveTo>
                  <a:lnTo>
                    <a:pt x="219456" y="0"/>
                  </a:lnTo>
                  <a:lnTo>
                    <a:pt x="21945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84598" t="0" r="-484598" b="0"/>
              </a:stretch>
            </a:blipFill>
          </p:spPr>
          <p:txBody>
            <a:bodyPr/>
            <a:p/>
          </p:txBody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219456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5F669F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5279624" y="4457700"/>
            <a:ext cx="1851660" cy="1783080"/>
            <a:chOff x="0" y="0"/>
            <a:chExt cx="2468880" cy="23774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4688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468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322576" y="0"/>
                  </a:lnTo>
                  <a:cubicBezTo>
                    <a:pt x="2403348" y="0"/>
                    <a:pt x="2468880" y="65532"/>
                    <a:pt x="2468880" y="146304"/>
                  </a:cubicBezTo>
                  <a:lnTo>
                    <a:pt x="2468880" y="2231136"/>
                  </a:lnTo>
                  <a:cubicBezTo>
                    <a:pt x="2468880" y="2311908"/>
                    <a:pt x="2403348" y="2377440"/>
                    <a:pt x="2322576" y="2377440"/>
                  </a:cubicBezTo>
                  <a:lnTo>
                    <a:pt x="146304" y="2377440"/>
                  </a:lnTo>
                  <a:cubicBezTo>
                    <a:pt x="65532" y="2377440"/>
                    <a:pt x="0" y="2311908"/>
                    <a:pt x="0" y="2231136"/>
                  </a:cubicBezTo>
                  <a:close/>
                </a:path>
              </a:pathLst>
            </a:custGeom>
            <a:solidFill>
              <a:srgbClr val="ADB4D0"/>
            </a:solidFill>
          </p:spPr>
          <p:txBody>
            <a:bodyPr/>
            <a:p/>
          </p:txBody>
        </p:sp>
      </p:grpSp>
      <p:grpSp>
        <p:nvGrpSpPr>
          <p:cNvPr name="Group 53" id="53"/>
          <p:cNvGrpSpPr/>
          <p:nvPr/>
        </p:nvGrpSpPr>
        <p:grpSpPr>
          <a:xfrm rot="0">
            <a:off x="15389352" y="4457700"/>
            <a:ext cx="1632204" cy="1783080"/>
            <a:chOff x="0" y="0"/>
            <a:chExt cx="2176272" cy="23774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76272" cy="2377440"/>
            </a:xfrm>
            <a:custGeom>
              <a:avLst/>
              <a:gdLst/>
              <a:ahLst/>
              <a:cxnLst/>
              <a:rect r="r" b="b" t="t" l="l"/>
              <a:pathLst>
                <a:path h="2377440" w="2176272">
                  <a:moveTo>
                    <a:pt x="0" y="0"/>
                  </a:moveTo>
                  <a:lnTo>
                    <a:pt x="2176272" y="0"/>
                  </a:lnTo>
                  <a:lnTo>
                    <a:pt x="2176272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163" t="0" r="-90163" b="0"/>
              </a:stretch>
            </a:blipFill>
          </p:spPr>
          <p:txBody>
            <a:bodyPr/>
            <a:p/>
          </p:txBody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2176272" cy="2406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Mostrado junto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 ranking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230868" y="6412230"/>
            <a:ext cx="8092440" cy="788670"/>
            <a:chOff x="0" y="0"/>
            <a:chExt cx="10789920" cy="10515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789920" cy="1051560"/>
            </a:xfrm>
            <a:custGeom>
              <a:avLst/>
              <a:gdLst/>
              <a:ahLst/>
              <a:cxnLst/>
              <a:rect r="r" b="b" t="t" l="l"/>
              <a:pathLst>
                <a:path h="105156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1051560"/>
                  </a:lnTo>
                  <a:lnTo>
                    <a:pt x="0" y="1051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889" r="0" b="-212976"/>
              </a:stretch>
            </a:blipFill>
          </p:spPr>
          <p:txBody>
            <a:bodyPr/>
            <a:p/>
          </p:txBody>
        </p:sp>
        <p:sp>
          <p:nvSpPr>
            <p:cNvPr name="TextBox 58" id="58"/>
            <p:cNvSpPr txBox="true"/>
            <p:nvPr/>
          </p:nvSpPr>
          <p:spPr>
            <a:xfrm>
              <a:off x="0" y="-76200"/>
              <a:ext cx="10789920" cy="1127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650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diagrama muestra cómo los scores y sus variables clave se traducen en texto explicativo, mostrado siempre junto a la propiedad en el ranking.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85800" y="9738360"/>
            <a:ext cx="8229600" cy="411480"/>
            <a:chOff x="0" y="0"/>
            <a:chExt cx="1097280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  <p:txBody>
            <a:bodyPr/>
            <a:p/>
          </p:txBody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InmoScore · Requirements Artifacts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48988" y="9738360"/>
            <a:ext cx="548640" cy="411480"/>
            <a:chOff x="0" y="0"/>
            <a:chExt cx="73152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438912"/>
            <a:ext cx="13716000" cy="480060"/>
            <a:chOff x="0" y="0"/>
            <a:chExt cx="1828800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5F669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WIREFRAMES · CUBRE REQ-01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850392"/>
            <a:ext cx="16459200" cy="822960"/>
            <a:chOff x="0" y="0"/>
            <a:chExt cx="2194560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9456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F3E9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Pantalla de perfil y preferencias del usuario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086100" y="9258300"/>
            <a:ext cx="11658600" cy="480060"/>
            <a:chOff x="0" y="0"/>
            <a:chExt cx="15544800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544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3208" r="0" b="-423208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55448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i="true">
                  <a:solidFill>
                    <a:srgbClr val="5F669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Wireframe de alta fidelidad — perfil financiero + pesos de estilo de vida, las dos entradas que exige REQ-01.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738360"/>
            <a:ext cx="8229600" cy="411480"/>
            <a:chOff x="0" y="0"/>
            <a:chExt cx="109728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InmoScore · Requirements Artifacts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3340604" y="1819453"/>
            <a:ext cx="11149591" cy="7344159"/>
          </a:xfrm>
          <a:custGeom>
            <a:avLst/>
            <a:gdLst/>
            <a:ahLst/>
            <a:cxnLst/>
            <a:rect r="r" b="b" t="t" l="l"/>
            <a:pathLst>
              <a:path h="7344159" w="11149591">
                <a:moveTo>
                  <a:pt x="0" y="0"/>
                </a:moveTo>
                <a:lnTo>
                  <a:pt x="11149592" y="0"/>
                </a:lnTo>
                <a:lnTo>
                  <a:pt x="11149592" y="7344159"/>
                </a:lnTo>
                <a:lnTo>
                  <a:pt x="0" y="73441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43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48988" y="9738360"/>
            <a:ext cx="548640" cy="411480"/>
            <a:chOff x="0" y="0"/>
            <a:chExt cx="73152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438912"/>
            <a:ext cx="13716000" cy="480060"/>
            <a:chOff x="0" y="0"/>
            <a:chExt cx="1828800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A5ABD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WIREFRAMES · CUBRE REQ-02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850392"/>
            <a:ext cx="16459200" cy="822960"/>
            <a:chOff x="0" y="0"/>
            <a:chExt cx="2194560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9456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F3E9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Tarjeta de propiedad con explicación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78684" y="9018270"/>
            <a:ext cx="10930632" cy="480060"/>
            <a:chOff x="0" y="0"/>
            <a:chExt cx="14574175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574176" cy="640080"/>
            </a:xfrm>
            <a:custGeom>
              <a:avLst/>
              <a:gdLst/>
              <a:ahLst/>
              <a:cxnLst/>
              <a:rect r="r" b="b" t="t" l="l"/>
              <a:pathLst>
                <a:path h="640080" w="14574176">
                  <a:moveTo>
                    <a:pt x="0" y="0"/>
                  </a:moveTo>
                  <a:lnTo>
                    <a:pt x="14574176" y="0"/>
                  </a:lnTo>
                  <a:lnTo>
                    <a:pt x="14574176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536" r="5888" b="-367536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4574175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i="true">
                  <a:solidFill>
                    <a:srgbClr val="2F3E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Wireframe de alta fidelidad — cada score viene con su explicación en texto plano, incluyendo el caso de "dato parcial" exigido por REQ-02.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738360"/>
            <a:ext cx="8229600" cy="411480"/>
            <a:chOff x="0" y="0"/>
            <a:chExt cx="109728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2F3E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InmoScore · Requirements Artifacts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048988" y="9738360"/>
            <a:ext cx="548640" cy="411480"/>
            <a:chOff x="0" y="0"/>
            <a:chExt cx="73152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649846" y="1673352"/>
            <a:ext cx="10988307" cy="7344918"/>
          </a:xfrm>
          <a:custGeom>
            <a:avLst/>
            <a:gdLst/>
            <a:ahLst/>
            <a:cxnLst/>
            <a:rect r="r" b="b" t="t" l="l"/>
            <a:pathLst>
              <a:path h="7344918" w="10988307">
                <a:moveTo>
                  <a:pt x="0" y="0"/>
                </a:moveTo>
                <a:lnTo>
                  <a:pt x="10988308" y="0"/>
                </a:lnTo>
                <a:lnTo>
                  <a:pt x="10988308" y="7344918"/>
                </a:lnTo>
                <a:lnTo>
                  <a:pt x="0" y="73449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48988" y="9738360"/>
            <a:ext cx="548640" cy="411480"/>
            <a:chOff x="0" y="0"/>
            <a:chExt cx="73152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438912"/>
            <a:ext cx="13716000" cy="480060"/>
            <a:chOff x="0" y="0"/>
            <a:chExt cx="1828800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A5ABD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STORYBOARDS · CUBRE REQ-01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850392"/>
            <a:ext cx="16459200" cy="822960"/>
            <a:chOff x="0" y="0"/>
            <a:chExt cx="2194560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9456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F3E9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María recibe un ranking hecho a su medida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00100" y="8230072"/>
            <a:ext cx="16459200" cy="548640"/>
            <a:chOff x="0" y="0"/>
            <a:chExt cx="219456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19456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2F3E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Storyboard — ilustra REQ-01: perfil declarado → combinación de los 3 scores → ranking único por persona.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738360"/>
            <a:ext cx="8229600" cy="411480"/>
            <a:chOff x="0" y="0"/>
            <a:chExt cx="109728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2F3E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InmoScore · Requirements Artifacts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3706503" y="2160308"/>
            <a:ext cx="10874993" cy="6069764"/>
          </a:xfrm>
          <a:custGeom>
            <a:avLst/>
            <a:gdLst/>
            <a:ahLst/>
            <a:cxnLst/>
            <a:rect r="r" b="b" t="t" l="l"/>
            <a:pathLst>
              <a:path h="5582808" w="16917600">
                <a:moveTo>
                  <a:pt x="0" y="0"/>
                </a:moveTo>
                <a:lnTo>
                  <a:pt x="16917600" y="0"/>
                </a:lnTo>
                <a:lnTo>
                  <a:pt x="16917600" y="5582808"/>
                </a:lnTo>
                <a:lnTo>
                  <a:pt x="0" y="55828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48988" y="9738360"/>
            <a:ext cx="548640" cy="411480"/>
            <a:chOff x="0" y="0"/>
            <a:chExt cx="73152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438912"/>
            <a:ext cx="13716000" cy="480060"/>
            <a:chOff x="0" y="0"/>
            <a:chExt cx="1828800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5F669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STORYBOARDS · CUBRE REQ-02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850392"/>
            <a:ext cx="16459200" cy="822960"/>
            <a:chOff x="0" y="0"/>
            <a:chExt cx="2194560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9456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F3E9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Carlos entiende el porqué de cada recomendación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7964042"/>
            <a:ext cx="16459200" cy="328994"/>
            <a:chOff x="0" y="0"/>
            <a:chExt cx="21945600" cy="4386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438658"/>
            </a:xfrm>
            <a:custGeom>
              <a:avLst/>
              <a:gdLst/>
              <a:ahLst/>
              <a:cxnLst/>
              <a:rect r="r" b="b" t="t" l="l"/>
              <a:pathLst>
                <a:path h="43865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38658"/>
                  </a:lnTo>
                  <a:lnTo>
                    <a:pt x="0" y="4386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433" r="0" b="-958196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1945600" cy="467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2F3E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Storyboard — ilustra REQ-02: cada score viene con explicación en lenguaje natural, incluso cuando falta un dato.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738360"/>
            <a:ext cx="8229600" cy="411480"/>
            <a:chOff x="0" y="0"/>
            <a:chExt cx="109728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2F3E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InmoScore · Requirements Artifacts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22960" y="2518121"/>
            <a:ext cx="16774668" cy="5107729"/>
          </a:xfrm>
          <a:custGeom>
            <a:avLst/>
            <a:gdLst/>
            <a:ahLst/>
            <a:cxnLst/>
            <a:rect r="r" b="b" t="t" l="l"/>
            <a:pathLst>
              <a:path h="5107729" w="16774668">
                <a:moveTo>
                  <a:pt x="0" y="0"/>
                </a:moveTo>
                <a:lnTo>
                  <a:pt x="16774668" y="0"/>
                </a:lnTo>
                <a:lnTo>
                  <a:pt x="16774668" y="5107729"/>
                </a:lnTo>
                <a:lnTo>
                  <a:pt x="0" y="51077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40" t="0" r="-144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48988" y="9738360"/>
            <a:ext cx="548640" cy="411480"/>
            <a:chOff x="0" y="0"/>
            <a:chExt cx="73152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438912"/>
            <a:ext cx="13716000" cy="480060"/>
            <a:chOff x="0" y="0"/>
            <a:chExt cx="1828800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A5ABD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CASOS</a:t>
              </a:r>
              <a:r>
                <a:rPr lang="en-US" b="true" sz="1800" spc="225">
                  <a:solidFill>
                    <a:srgbClr val="A5ABD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DE USO · CUBRE REQ-01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850392"/>
            <a:ext cx="16459200" cy="822960"/>
            <a:chOff x="0" y="0"/>
            <a:chExt cx="2194560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9456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F3E9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UC-01 · Generar ranking personalizado de propiedades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1920240"/>
            <a:ext cx="16596360" cy="1165860"/>
            <a:chOff x="0" y="0"/>
            <a:chExt cx="22128480" cy="1554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1408176"/>
                  </a:lnTo>
                  <a:cubicBezTo>
                    <a:pt x="22128480" y="1488948"/>
                    <a:pt x="22062948" y="1554480"/>
                    <a:pt x="21982176" y="1554480"/>
                  </a:cubicBezTo>
                  <a:lnTo>
                    <a:pt x="146304" y="1554480"/>
                  </a:lnTo>
                  <a:cubicBezTo>
                    <a:pt x="65532" y="1554480"/>
                    <a:pt x="0" y="1488948"/>
                    <a:pt x="0" y="1408176"/>
                  </a:cubicBezTo>
                  <a:close/>
                </a:path>
              </a:pathLst>
            </a:custGeom>
            <a:solidFill>
              <a:srgbClr val="293E9C"/>
            </a:solid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1920240"/>
            <a:ext cx="15773400" cy="1165860"/>
            <a:chOff x="0" y="0"/>
            <a:chExt cx="21031200" cy="15544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312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3621" r="0" b="-213621"/>
              </a:stretch>
            </a:blip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103120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FAFCF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Actor: </a:t>
              </a:r>
              <a:r>
                <a:rPr lang="en-US" sz="1800">
                  <a:solidFill>
                    <a:srgbClr val="FAFC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Comprador de vivienda propia   </a:t>
              </a:r>
              <a:r>
                <a:rPr lang="en-US" b="true" sz="1800">
                  <a:solidFill>
                    <a:srgbClr val="FAFCF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Precondición: </a:t>
              </a:r>
              <a:r>
                <a:rPr lang="en-US" sz="1800">
                  <a:solidFill>
                    <a:srgbClr val="FAFC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usuario configuró su perfil financiero y de estilo de vida; existen propiedades con opportunity_score, zone_composite_index y constructora_reliability_score calculados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3360420"/>
            <a:ext cx="9738360" cy="5897880"/>
            <a:chOff x="0" y="0"/>
            <a:chExt cx="12984480" cy="7863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984607" cy="7863840"/>
            </a:xfrm>
            <a:custGeom>
              <a:avLst/>
              <a:gdLst/>
              <a:ahLst/>
              <a:cxnLst/>
              <a:rect r="r" b="b" t="t" l="l"/>
              <a:pathLst>
                <a:path h="7863840" w="12984607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2838303" y="0"/>
                  </a:lnTo>
                  <a:cubicBezTo>
                    <a:pt x="12919075" y="0"/>
                    <a:pt x="12984607" y="65532"/>
                    <a:pt x="12984607" y="146304"/>
                  </a:cubicBezTo>
                  <a:lnTo>
                    <a:pt x="12984607" y="7717536"/>
                  </a:lnTo>
                  <a:cubicBezTo>
                    <a:pt x="12984607" y="7798308"/>
                    <a:pt x="12919075" y="7863840"/>
                    <a:pt x="12838303" y="7863840"/>
                  </a:cubicBezTo>
                  <a:lnTo>
                    <a:pt x="146304" y="7863840"/>
                  </a:lnTo>
                  <a:cubicBezTo>
                    <a:pt x="65532" y="7863840"/>
                    <a:pt x="0" y="7798308"/>
                    <a:pt x="0" y="7717536"/>
                  </a:cubicBezTo>
                  <a:close/>
                </a:path>
              </a:pathLst>
            </a:custGeom>
            <a:solidFill>
              <a:srgbClr val="E5E9F5"/>
            </a:solid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4440" y="3634740"/>
            <a:ext cx="8915400" cy="480060"/>
            <a:chOff x="0" y="0"/>
            <a:chExt cx="1188720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887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64" r="0" b="-311864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18872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5F669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Flujo principal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34440" y="4362450"/>
            <a:ext cx="8915400" cy="4609059"/>
            <a:chOff x="0" y="0"/>
            <a:chExt cx="11887200" cy="614541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887200" cy="6145412"/>
            </a:xfrm>
            <a:custGeom>
              <a:avLst/>
              <a:gdLst/>
              <a:ahLst/>
              <a:cxnLst/>
              <a:rect r="r" b="b" t="t" l="l"/>
              <a:pathLst>
                <a:path h="6145412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145412"/>
                  </a:lnTo>
                  <a:lnTo>
                    <a:pt x="0" y="61454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073" t="0" r="-20073" b="-5643"/>
              </a:stretch>
            </a:blipFill>
          </p:spPr>
          <p:txBody>
            <a:bodyPr/>
            <a:p/>
          </p:txBody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1887200" cy="61930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2437" indent="-226219" lvl="1">
                <a:lnSpc>
                  <a:spcPts val="2999"/>
                </a:lnSpc>
                <a:buAutoNum type="arabicPeriod" startAt="1"/>
              </a:pPr>
              <a:r>
                <a:rPr lang="en-US" sz="2499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usuario ingresa a la plataforma y accede al formulario de preferencias.</a:t>
              </a:r>
            </a:p>
            <a:p>
              <a:pPr algn="l" marL="452437" indent="-226219" lvl="1">
                <a:lnSpc>
                  <a:spcPts val="2999"/>
                </a:lnSpc>
                <a:buAutoNum type="arabicPeriod" startAt="1"/>
              </a:pPr>
              <a:r>
                <a:rPr lang="en-US" sz="2499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Define pesos para precio, ubicación, seguridad, colegios y confiabilidad de constructora.</a:t>
              </a:r>
            </a:p>
            <a:p>
              <a:pPr algn="l" marL="452437" indent="-226219" lvl="1">
                <a:lnSpc>
                  <a:spcPts val="2999"/>
                </a:lnSpc>
                <a:buAutoNum type="arabicPeriod" startAt="1"/>
              </a:pPr>
              <a:r>
                <a:rPr lang="en-US" sz="2499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sistema recupera opportunity_score, zone_composite_index y constructora_reliability_score de cada inmueble activo.</a:t>
              </a:r>
            </a:p>
            <a:p>
              <a:pPr algn="l" marL="452437" indent="-226219" lvl="1">
                <a:lnSpc>
                  <a:spcPts val="2999"/>
                </a:lnSpc>
                <a:buAutoNum type="arabicPeriod" startAt="1"/>
              </a:pPr>
              <a:r>
                <a:rPr lang="en-US" sz="2499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sistema combina los tres scores, ponderados según los pesos declarados por el usuario.</a:t>
              </a:r>
            </a:p>
            <a:p>
              <a:pPr algn="l" marL="452437" indent="-226219" lvl="1">
                <a:lnSpc>
                  <a:spcPts val="2999"/>
                </a:lnSpc>
                <a:buAutoNum type="arabicPeriod" startAt="1"/>
              </a:pPr>
              <a:r>
                <a:rPr lang="en-US" sz="2499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sistema genera un ranking ordenado por el score compuesto resultante.</a:t>
              </a:r>
            </a:p>
            <a:p>
              <a:pPr algn="l" marL="452437" indent="-226219" lvl="1">
                <a:lnSpc>
                  <a:spcPts val="2999"/>
                </a:lnSpc>
                <a:buAutoNum type="arabicPeriod" startAt="1"/>
              </a:pPr>
              <a:r>
                <a:rPr lang="en-US" sz="2499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sistema despliega el ranking personalizado al usuario.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835640" y="3360420"/>
            <a:ext cx="6583680" cy="5897880"/>
            <a:chOff x="0" y="0"/>
            <a:chExt cx="8778240" cy="7863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778240" cy="7863840"/>
            </a:xfrm>
            <a:custGeom>
              <a:avLst/>
              <a:gdLst/>
              <a:ahLst/>
              <a:cxnLst/>
              <a:rect r="r" b="b" t="t" l="l"/>
              <a:pathLst>
                <a:path h="7863840" w="8778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631936" y="0"/>
                  </a:lnTo>
                  <a:cubicBezTo>
                    <a:pt x="8712708" y="0"/>
                    <a:pt x="8778240" y="65532"/>
                    <a:pt x="8778240" y="146304"/>
                  </a:cubicBezTo>
                  <a:lnTo>
                    <a:pt x="8778240" y="7717536"/>
                  </a:lnTo>
                  <a:cubicBezTo>
                    <a:pt x="8778240" y="7798308"/>
                    <a:pt x="8712708" y="7863840"/>
                    <a:pt x="8631936" y="7863840"/>
                  </a:cubicBezTo>
                  <a:lnTo>
                    <a:pt x="146304" y="7863840"/>
                  </a:lnTo>
                  <a:cubicBezTo>
                    <a:pt x="65532" y="7863840"/>
                    <a:pt x="0" y="7798308"/>
                    <a:pt x="0" y="7717536"/>
                  </a:cubicBezTo>
                  <a:close/>
                </a:path>
              </a:pathLst>
            </a:custGeom>
            <a:solidFill>
              <a:srgbClr val="293E9C"/>
            </a:solid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178540" y="3634740"/>
            <a:ext cx="5897880" cy="480060"/>
            <a:chOff x="0" y="0"/>
            <a:chExt cx="7863840" cy="640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863840" cy="640080"/>
            </a:xfrm>
            <a:custGeom>
              <a:avLst/>
              <a:gdLst/>
              <a:ahLst/>
              <a:cxnLst/>
              <a:rect r="r" b="b" t="t" l="l"/>
              <a:pathLst>
                <a:path h="6400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9387" r="0" b="-189387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78638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Flujos alternativos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178540" y="4183380"/>
            <a:ext cx="5897880" cy="2932274"/>
            <a:chOff x="0" y="0"/>
            <a:chExt cx="7863840" cy="390969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863840" cy="3909699"/>
            </a:xfrm>
            <a:custGeom>
              <a:avLst/>
              <a:gdLst/>
              <a:ahLst/>
              <a:cxnLst/>
              <a:rect r="r" b="b" t="t" l="l"/>
              <a:pathLst>
                <a:path h="3909699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3909699"/>
                  </a:lnTo>
                  <a:lnTo>
                    <a:pt x="0" y="39096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627" t="0" r="-18627" b="-7584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95250"/>
              <a:ext cx="7863840" cy="40049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3a. </a:t>
              </a: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 falta un componente del score (ej. sin visual_quality_score), el sistema marca la propiedad como "dato parcial" en vez de omitirla o inventar el valor.</a:t>
              </a:r>
            </a:p>
            <a:p>
              <a:pPr algn="l">
                <a:lnSpc>
                  <a:spcPts val="3000"/>
                </a:lnSpc>
              </a:pPr>
            </a:p>
            <a:p>
              <a:pPr algn="l">
                <a:lnSpc>
                  <a:spcPts val="30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4a. </a:t>
              </a: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Dos usuarios con perfiles distintos que consultan el mismo inventario reciben rankings diferentes.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178540" y="7269480"/>
            <a:ext cx="5897880" cy="411480"/>
            <a:chOff x="0" y="0"/>
            <a:chExt cx="786384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863840" cy="548640"/>
            </a:xfrm>
            <a:custGeom>
              <a:avLst/>
              <a:gdLst/>
              <a:ahLst/>
              <a:cxnLst/>
              <a:rect r="r" b="b" t="t" l="l"/>
              <a:pathLst>
                <a:path h="54864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9285" r="0" b="-229285"/>
              </a:stretch>
            </a:blipFill>
          </p:spPr>
          <p:txBody>
            <a:bodyPr/>
            <a:p/>
          </p:txBody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786384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Postcondición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178540" y="7749540"/>
            <a:ext cx="5897880" cy="1234440"/>
            <a:chOff x="0" y="0"/>
            <a:chExt cx="7863840" cy="16459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8638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095" r="0" b="-43095"/>
              </a:stretch>
            </a:blipFill>
          </p:spPr>
          <p:txBody>
            <a:bodyPr/>
            <a:p/>
          </p:txBody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86384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El usuario recibe una lista de propiedades ordenada de forma única según su propio perfil.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85800" y="9738360"/>
            <a:ext cx="8229600" cy="411480"/>
            <a:chOff x="0" y="0"/>
            <a:chExt cx="1097280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  <p:txBody>
            <a:bodyPr/>
            <a:p/>
          </p:txBody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InmoScore · Requirements Artifacts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48988" y="9738360"/>
            <a:ext cx="548640" cy="411480"/>
            <a:chOff x="0" y="0"/>
            <a:chExt cx="73152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438912"/>
            <a:ext cx="13716000" cy="480060"/>
            <a:chOff x="0" y="0"/>
            <a:chExt cx="1828800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A5ABD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CASOS</a:t>
              </a:r>
              <a:r>
                <a:rPr lang="en-US" b="true" sz="1800" spc="225">
                  <a:solidFill>
                    <a:srgbClr val="A5ABD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DE USO · CUBRE REQ-02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850392"/>
            <a:ext cx="16459200" cy="822960"/>
            <a:chOff x="0" y="0"/>
            <a:chExt cx="2194560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9456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F3E9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UC-02 · Consultar la explicación de una recomendación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1920240"/>
            <a:ext cx="16596360" cy="1165860"/>
            <a:chOff x="0" y="0"/>
            <a:chExt cx="22128480" cy="1554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1408176"/>
                  </a:lnTo>
                  <a:cubicBezTo>
                    <a:pt x="22128480" y="1488948"/>
                    <a:pt x="22062948" y="1554480"/>
                    <a:pt x="21982176" y="1554480"/>
                  </a:cubicBezTo>
                  <a:lnTo>
                    <a:pt x="146304" y="1554480"/>
                  </a:lnTo>
                  <a:cubicBezTo>
                    <a:pt x="65532" y="1554480"/>
                    <a:pt x="0" y="1488948"/>
                    <a:pt x="0" y="1408176"/>
                  </a:cubicBezTo>
                  <a:close/>
                </a:path>
              </a:pathLst>
            </a:custGeom>
            <a:solidFill>
              <a:srgbClr val="293E9C"/>
            </a:solid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1920240"/>
            <a:ext cx="15773400" cy="1165860"/>
            <a:chOff x="0" y="0"/>
            <a:chExt cx="21031200" cy="15544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312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3621" r="0" b="-213621"/>
              </a:stretch>
            </a:blip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103120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FAFCF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Actor: </a:t>
              </a:r>
              <a:r>
                <a:rPr lang="en-US" sz="1950">
                  <a:solidFill>
                    <a:srgbClr val="FAFC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Comprador de vivienda propia   </a:t>
              </a:r>
              <a:r>
                <a:rPr lang="en-US" b="true" sz="1950">
                  <a:solidFill>
                    <a:srgbClr val="FAFCF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Precondición: </a:t>
              </a:r>
              <a:r>
                <a:rPr lang="en-US" sz="1950">
                  <a:solidFill>
                    <a:srgbClr val="FAFC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existe un ranking generado (resultado de UC-01) con al menos una propiedad recomendada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3360420"/>
            <a:ext cx="9738360" cy="5897880"/>
            <a:chOff x="0" y="0"/>
            <a:chExt cx="12984480" cy="7863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984607" cy="7863840"/>
            </a:xfrm>
            <a:custGeom>
              <a:avLst/>
              <a:gdLst/>
              <a:ahLst/>
              <a:cxnLst/>
              <a:rect r="r" b="b" t="t" l="l"/>
              <a:pathLst>
                <a:path h="7863840" w="12984607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2838303" y="0"/>
                  </a:lnTo>
                  <a:cubicBezTo>
                    <a:pt x="12919075" y="0"/>
                    <a:pt x="12984607" y="65532"/>
                    <a:pt x="12984607" y="146304"/>
                  </a:cubicBezTo>
                  <a:lnTo>
                    <a:pt x="12984607" y="7717536"/>
                  </a:lnTo>
                  <a:cubicBezTo>
                    <a:pt x="12984607" y="7798308"/>
                    <a:pt x="12919075" y="7863840"/>
                    <a:pt x="12838303" y="7863840"/>
                  </a:cubicBezTo>
                  <a:lnTo>
                    <a:pt x="146304" y="7863840"/>
                  </a:lnTo>
                  <a:cubicBezTo>
                    <a:pt x="65532" y="7863840"/>
                    <a:pt x="0" y="7798308"/>
                    <a:pt x="0" y="7717536"/>
                  </a:cubicBezTo>
                  <a:close/>
                </a:path>
              </a:pathLst>
            </a:custGeom>
            <a:solidFill>
              <a:srgbClr val="E5E9F5"/>
            </a:solid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4440" y="3634740"/>
            <a:ext cx="8915400" cy="480060"/>
            <a:chOff x="0" y="0"/>
            <a:chExt cx="1188720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887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64" r="0" b="-311864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18872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5F669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Flujo principal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34440" y="4183380"/>
            <a:ext cx="8915400" cy="4869180"/>
            <a:chOff x="0" y="0"/>
            <a:chExt cx="11887200" cy="64922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887200" cy="6492240"/>
            </a:xfrm>
            <a:custGeom>
              <a:avLst/>
              <a:gdLst/>
              <a:ahLst/>
              <a:cxnLst/>
              <a:rect r="r" b="b" t="t" l="l"/>
              <a:pathLst>
                <a:path h="649224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492240"/>
                  </a:lnTo>
                  <a:lnTo>
                    <a:pt x="0" y="649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073" t="0" r="-20073" b="0"/>
              </a:stretch>
            </a:blipFill>
          </p:spPr>
          <p:txBody>
            <a:bodyPr/>
            <a:p/>
          </p:txBody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1887200" cy="653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2437" indent="-226219" lvl="1">
                <a:lnSpc>
                  <a:spcPts val="2999"/>
                </a:lnSpc>
                <a:buAutoNum type="arabicPeriod" startAt="1"/>
              </a:pPr>
              <a:r>
                <a:rPr lang="en-US" sz="2499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usuario visualiza el ranking de propiedades recomendadas.</a:t>
              </a:r>
            </a:p>
            <a:p>
              <a:pPr algn="l" marL="452437" indent="-226219" lvl="1">
                <a:lnSpc>
                  <a:spcPts val="2999"/>
                </a:lnSpc>
                <a:buAutoNum type="arabicPeriod" startAt="1"/>
              </a:pPr>
              <a:r>
                <a:rPr lang="en-US" sz="2499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Por cada propiedad, el sistema genera automáticamente una explicación en lenguaje natural a partir de las variables que más pesaron en el score (ej. gap de precio, distancia a colegio).</a:t>
              </a:r>
            </a:p>
            <a:p>
              <a:pPr algn="l" marL="452437" indent="-226219" lvl="1">
                <a:lnSpc>
                  <a:spcPts val="2999"/>
                </a:lnSpc>
                <a:buAutoNum type="arabicPeriod" startAt="1"/>
              </a:pPr>
              <a:r>
                <a:rPr lang="en-US" sz="2499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sistema muestra la explicación junto a cada propiedad, sin que el usuario deba solicitarla.</a:t>
              </a:r>
            </a:p>
            <a:p>
              <a:pPr algn="l" marL="452437" indent="-226219" lvl="1">
                <a:lnSpc>
                  <a:spcPts val="2999"/>
                </a:lnSpc>
                <a:buAutoNum type="arabicPeriod" startAt="1"/>
              </a:pPr>
              <a:r>
                <a:rPr lang="en-US" sz="2499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usuario lee la explicación y decide si abrir el detalle de la propiedad.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835640" y="3360420"/>
            <a:ext cx="6583680" cy="5897880"/>
            <a:chOff x="0" y="0"/>
            <a:chExt cx="8778240" cy="7863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778240" cy="7863840"/>
            </a:xfrm>
            <a:custGeom>
              <a:avLst/>
              <a:gdLst/>
              <a:ahLst/>
              <a:cxnLst/>
              <a:rect r="r" b="b" t="t" l="l"/>
              <a:pathLst>
                <a:path h="7863840" w="8778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631936" y="0"/>
                  </a:lnTo>
                  <a:cubicBezTo>
                    <a:pt x="8712708" y="0"/>
                    <a:pt x="8778240" y="65532"/>
                    <a:pt x="8778240" y="146304"/>
                  </a:cubicBezTo>
                  <a:lnTo>
                    <a:pt x="8778240" y="7717536"/>
                  </a:lnTo>
                  <a:cubicBezTo>
                    <a:pt x="8778240" y="7798308"/>
                    <a:pt x="8712708" y="7863840"/>
                    <a:pt x="8631936" y="7863840"/>
                  </a:cubicBezTo>
                  <a:lnTo>
                    <a:pt x="146304" y="7863840"/>
                  </a:lnTo>
                  <a:cubicBezTo>
                    <a:pt x="65532" y="7863840"/>
                    <a:pt x="0" y="7798308"/>
                    <a:pt x="0" y="7717536"/>
                  </a:cubicBezTo>
                  <a:close/>
                </a:path>
              </a:pathLst>
            </a:custGeom>
            <a:solidFill>
              <a:srgbClr val="293E9C"/>
            </a:solid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178540" y="3634740"/>
            <a:ext cx="5897880" cy="480060"/>
            <a:chOff x="0" y="0"/>
            <a:chExt cx="7863840" cy="640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863840" cy="640080"/>
            </a:xfrm>
            <a:custGeom>
              <a:avLst/>
              <a:gdLst/>
              <a:ahLst/>
              <a:cxnLst/>
              <a:rect r="r" b="b" t="t" l="l"/>
              <a:pathLst>
                <a:path h="6400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9387" r="0" b="-189387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78638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FAFCF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Flujo alternativo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178540" y="4183380"/>
            <a:ext cx="5897880" cy="2468880"/>
            <a:chOff x="0" y="0"/>
            <a:chExt cx="7863840" cy="3291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8638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708" t="0" r="-3708" b="0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95250"/>
              <a:ext cx="7863840" cy="3387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2a. </a:t>
              </a: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 el sistema no puede generar una explicación completa por datos parciales, debe indicarlo explícitamente en el texto en vez de omitir la explicación.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178540" y="6858000"/>
            <a:ext cx="5897880" cy="411480"/>
            <a:chOff x="0" y="0"/>
            <a:chExt cx="786384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863840" cy="548640"/>
            </a:xfrm>
            <a:custGeom>
              <a:avLst/>
              <a:gdLst/>
              <a:ahLst/>
              <a:cxnLst/>
              <a:rect r="r" b="b" t="t" l="l"/>
              <a:pathLst>
                <a:path h="54864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9285" r="0" b="-229285"/>
              </a:stretch>
            </a:blipFill>
          </p:spPr>
          <p:txBody>
            <a:bodyPr/>
            <a:p/>
          </p:txBody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786384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FAFCF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Postcondición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178540" y="7338060"/>
            <a:ext cx="5897880" cy="1645920"/>
            <a:chOff x="0" y="0"/>
            <a:chExt cx="7863840" cy="21945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8638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821" r="0" b="-19821"/>
              </a:stretch>
            </a:blipFill>
          </p:spPr>
          <p:txBody>
            <a:bodyPr/>
            <a:p/>
          </p:txBody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86384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FAFCF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Ninguna propiedad del ranking se muestra sin su explicación asociada.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85800" y="9738360"/>
            <a:ext cx="8229600" cy="411480"/>
            <a:chOff x="0" y="0"/>
            <a:chExt cx="1097280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  <p:txBody>
            <a:bodyPr/>
            <a:p/>
          </p:txBody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InmoScore · Requirements Artifacts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101" id="101"/>
          <p:cNvGrpSpPr/>
          <p:nvPr/>
        </p:nvGrpSpPr>
        <p:grpSpPr>
          <a:xfrm rot="0">
            <a:off x="822960" y="8709660"/>
            <a:ext cx="16596360" cy="754380"/>
            <a:chOff x="0" y="0"/>
            <a:chExt cx="22128480" cy="10058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21284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ADB4D0"/>
            </a:solidFill>
          </p:spPr>
          <p:txBody>
            <a:bodyPr/>
            <a:p/>
          </p:txBody>
        </p:sp>
      </p:grpSp>
      <p:grpSp>
        <p:nvGrpSpPr>
          <p:cNvPr name="Group 2" id="2"/>
          <p:cNvGrpSpPr/>
          <p:nvPr/>
        </p:nvGrpSpPr>
        <p:grpSpPr>
          <a:xfrm rot="0">
            <a:off x="17048988" y="9738360"/>
            <a:ext cx="548640" cy="411480"/>
            <a:chOff x="0" y="0"/>
            <a:chExt cx="73152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438912"/>
            <a:ext cx="13716000" cy="480060"/>
            <a:chOff x="0" y="0"/>
            <a:chExt cx="1828800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A5ABD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TAREAS ANALÍTICAS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850392"/>
            <a:ext cx="16459200" cy="822960"/>
            <a:chOff x="0" y="0"/>
            <a:chExt cx="2194560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9456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F3E9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Tareas analíticas del proyecto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2125980"/>
            <a:ext cx="4937760" cy="480060"/>
            <a:chOff x="0" y="0"/>
            <a:chExt cx="6583680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83680" cy="640080"/>
            </a:xfrm>
            <a:custGeom>
              <a:avLst/>
              <a:gdLst/>
              <a:ahLst/>
              <a:cxnLst/>
              <a:rect r="r" b="b" t="t" l="l"/>
              <a:pathLst>
                <a:path h="640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417" r="0" b="-150417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658368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5F669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Tarea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760720" y="2125980"/>
            <a:ext cx="1783080" cy="480060"/>
            <a:chOff x="0" y="0"/>
            <a:chExt cx="2377440" cy="640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77440" cy="640080"/>
            </a:xfrm>
            <a:custGeom>
              <a:avLst/>
              <a:gdLst/>
              <a:ahLst/>
              <a:cxnLst/>
              <a:rect r="r" b="b" t="t" l="l"/>
              <a:pathLst>
                <a:path h="64008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372" r="0" b="-22372"/>
              </a:stretch>
            </a:blip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37744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5F669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Responsable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543800" y="2125980"/>
            <a:ext cx="2057400" cy="480060"/>
            <a:chOff x="0" y="0"/>
            <a:chExt cx="2743200" cy="640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43200" cy="640080"/>
            </a:xfrm>
            <a:custGeom>
              <a:avLst/>
              <a:gdLst/>
              <a:ahLst/>
              <a:cxnLst/>
              <a:rect r="r" b="b" t="t" l="l"/>
              <a:pathLst>
                <a:path h="64008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07" r="0" b="-33507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74320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5F669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Requerimiento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01200" y="2125980"/>
            <a:ext cx="7543800" cy="480060"/>
            <a:chOff x="0" y="0"/>
            <a:chExt cx="10058400" cy="640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58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193" r="0" b="-256193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005840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5F669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Justificación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2674620"/>
            <a:ext cx="16596360" cy="754380"/>
            <a:chOff x="0" y="0"/>
            <a:chExt cx="22128480" cy="1005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284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ADB4D0"/>
            </a:solid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960120" y="2674620"/>
            <a:ext cx="4732020" cy="754380"/>
            <a:chOff x="0" y="0"/>
            <a:chExt cx="6309360" cy="1005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09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224" r="0" b="-72224"/>
              </a:stretch>
            </a:blipFill>
          </p:spPr>
          <p:txBody>
            <a:bodyPr/>
            <a:p/>
          </p:txBody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3093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EDA de listados inmobiliarios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897880" y="2674620"/>
            <a:ext cx="1577340" cy="754380"/>
            <a:chOff x="0" y="0"/>
            <a:chExt cx="2103120" cy="1005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03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62" t="0" r="-11362" b="0"/>
              </a:stretch>
            </a:blipFill>
          </p:spPr>
          <p:txBody>
            <a:bodyPr/>
            <a:p/>
          </p:txBody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1031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Lisseth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680960" y="2674620"/>
            <a:ext cx="1851660" cy="754380"/>
            <a:chOff x="0" y="0"/>
            <a:chExt cx="2468880" cy="1005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688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71" t="0" r="-2271" b="0"/>
              </a:stretch>
            </a:blipFill>
          </p:spPr>
          <p:txBody>
            <a:bodyPr/>
            <a:p/>
          </p:txBody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4688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RF-01, RF-03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738360" y="2674620"/>
            <a:ext cx="7338060" cy="754380"/>
            <a:chOff x="0" y="0"/>
            <a:chExt cx="9784080" cy="1005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784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536" r="0" b="-139536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97840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Necesario para detectar outliers y evaluar completitud antes de entrenar el motor de valoración.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60120" y="3429000"/>
            <a:ext cx="4732020" cy="754380"/>
            <a:chOff x="0" y="0"/>
            <a:chExt cx="6309360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309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224" r="0" b="-72224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63093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 engineering geoespacial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897880" y="3429000"/>
            <a:ext cx="1577340" cy="754380"/>
            <a:chOff x="0" y="0"/>
            <a:chExt cx="2103120" cy="10058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03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62" t="0" r="-11362" b="0"/>
              </a:stretch>
            </a:blipFill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21031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Liss</a:t>
              </a: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eth / Jyns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680960" y="3429000"/>
            <a:ext cx="1851660" cy="754380"/>
            <a:chOff x="0" y="0"/>
            <a:chExt cx="2468880" cy="10058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4688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71" t="0" r="-2271" b="0"/>
              </a:stretch>
            </a:blipFill>
          </p:spPr>
          <p:txBody>
            <a:bodyPr/>
            <a:p/>
          </p:txBody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4688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RF-02, RF-06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738360" y="3429000"/>
            <a:ext cx="7338060" cy="754380"/>
            <a:chOff x="0" y="0"/>
            <a:chExt cx="9784080" cy="1005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784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536" r="0" b="-139536"/>
              </a:stretch>
            </a:blipFill>
          </p:spPr>
          <p:txBody>
            <a:bodyPr/>
            <a:p/>
          </p:txBody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97840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Calcular distancias (Haversine) a POIs habilita el índice de conveniencia urbana.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22960" y="4183380"/>
            <a:ext cx="16596360" cy="754380"/>
            <a:chOff x="0" y="0"/>
            <a:chExt cx="22128480" cy="10058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1284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ADB4D0"/>
            </a:solidFill>
          </p:spPr>
          <p:txBody>
            <a:bodyPr/>
            <a:p/>
          </p:txBody>
        </p:sp>
      </p:grpSp>
      <p:grpSp>
        <p:nvGrpSpPr>
          <p:cNvPr name="Group 51" id="51"/>
          <p:cNvGrpSpPr/>
          <p:nvPr/>
        </p:nvGrpSpPr>
        <p:grpSpPr>
          <a:xfrm rot="0">
            <a:off x="960120" y="4183380"/>
            <a:ext cx="4732020" cy="754380"/>
            <a:chOff x="0" y="0"/>
            <a:chExt cx="6309360" cy="10058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309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224" r="0" b="-72224"/>
              </a:stretch>
            </a:blipFill>
          </p:spPr>
          <p:txBody>
            <a:bodyPr/>
            <a:p/>
          </p:txBody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63093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Entrenamiento del motor de valoración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5897880" y="4183380"/>
            <a:ext cx="1577340" cy="754380"/>
            <a:chOff x="0" y="0"/>
            <a:chExt cx="2103120" cy="10058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03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62" t="0" r="-11362" b="0"/>
              </a:stretch>
            </a:blipFill>
          </p:spPr>
          <p:txBody>
            <a:bodyPr/>
            <a:p/>
          </p:txBody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21031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Jyns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680960" y="4183380"/>
            <a:ext cx="1851660" cy="754380"/>
            <a:chOff x="0" y="0"/>
            <a:chExt cx="2468880" cy="10058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4688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71" t="0" r="-2271" b="0"/>
              </a:stretch>
            </a:blipFill>
          </p:spPr>
          <p:txBody>
            <a:bodyPr/>
            <a:p/>
          </p:txBody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24688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RF-03, RF-04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738360" y="4183380"/>
            <a:ext cx="7338060" cy="754380"/>
            <a:chOff x="0" y="0"/>
            <a:chExt cx="9784080" cy="10058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784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536" r="0" b="-139536"/>
              </a:stretch>
            </a:blipFill>
          </p:spPr>
          <p:txBody>
            <a:bodyPr/>
            <a:p/>
          </p:txBody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97840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Modelo de regresión para predicted_price_soles, evaluado con MAE vs. baseline.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60120" y="4937760"/>
            <a:ext cx="4732020" cy="754380"/>
            <a:chOff x="0" y="0"/>
            <a:chExt cx="6309360" cy="10058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309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224" r="0" b="-72224"/>
              </a:stretch>
            </a:blipFill>
          </p:spPr>
          <p:txBody>
            <a:bodyPr/>
            <a:p/>
          </p:txBody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63093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Entrenamiento del modelo de visión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5897880" y="4937760"/>
            <a:ext cx="1577340" cy="754380"/>
            <a:chOff x="0" y="0"/>
            <a:chExt cx="2103120" cy="10058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103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62" t="0" r="-11362" b="0"/>
              </a:stretch>
            </a:blipFill>
          </p:spPr>
          <p:txBody>
            <a:bodyPr/>
            <a:p/>
          </p:txBody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21031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Jyns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7680960" y="4937760"/>
            <a:ext cx="1851660" cy="754380"/>
            <a:chOff x="0" y="0"/>
            <a:chExt cx="2468880" cy="10058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4688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71" t="0" r="-2271" b="0"/>
              </a:stretch>
            </a:blipFill>
          </p:spPr>
          <p:txBody>
            <a:bodyPr/>
            <a:p/>
          </p:txBody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24688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RF-05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738360" y="4937760"/>
            <a:ext cx="7338060" cy="754380"/>
            <a:chOff x="0" y="0"/>
            <a:chExt cx="9784080" cy="10058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784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536" r="0" b="-139536"/>
              </a:stretch>
            </a:blipFill>
          </p:spPr>
          <p:txBody>
            <a:bodyPr/>
            <a:p/>
          </p:txBody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97840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CNN (transfer learning) sobre imágenes de zona para visual_quality_score.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822960" y="5692140"/>
            <a:ext cx="16596360" cy="754380"/>
            <a:chOff x="0" y="0"/>
            <a:chExt cx="22128480" cy="10058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21284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E5E9F5"/>
            </a:solidFill>
          </p:spPr>
          <p:txBody>
            <a:bodyPr/>
            <a:p/>
          </p:txBody>
        </p:sp>
      </p:grpSp>
      <p:grpSp>
        <p:nvGrpSpPr>
          <p:cNvPr name="Group 77" id="77"/>
          <p:cNvGrpSpPr/>
          <p:nvPr/>
        </p:nvGrpSpPr>
        <p:grpSpPr>
          <a:xfrm rot="0">
            <a:off x="960120" y="5692140"/>
            <a:ext cx="4732020" cy="754380"/>
            <a:chOff x="0" y="0"/>
            <a:chExt cx="6309360" cy="10058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309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224" r="0" b="-72224"/>
              </a:stretch>
            </a:blipFill>
          </p:spPr>
          <p:txBody>
            <a:bodyPr/>
            <a:p/>
          </p:txBody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63093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Diseño del índice compuesto de zona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5897880" y="5692140"/>
            <a:ext cx="1577340" cy="754380"/>
            <a:chOff x="0" y="0"/>
            <a:chExt cx="2103120" cy="10058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103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62" t="0" r="-11362" b="0"/>
              </a:stretch>
            </a:blipFill>
          </p:spPr>
          <p:txBody>
            <a:bodyPr/>
            <a:p/>
          </p:txBody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21031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Jyns / Lisseth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7680960" y="5692140"/>
            <a:ext cx="1851660" cy="754380"/>
            <a:chOff x="0" y="0"/>
            <a:chExt cx="2468880" cy="10058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4688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71" t="0" r="-2271" b="0"/>
              </a:stretch>
            </a:blipFill>
          </p:spPr>
          <p:txBody>
            <a:bodyPr/>
            <a:p/>
          </p:txBody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24688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RF-06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738360" y="5692140"/>
            <a:ext cx="7338060" cy="754380"/>
            <a:chOff x="0" y="0"/>
            <a:chExt cx="9784080" cy="10058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784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536" r="0" b="-139536"/>
              </a:stretch>
            </a:blipFill>
          </p:spPr>
          <p:txBody>
            <a:bodyPr/>
            <a:p/>
          </p:txBody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97840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Combina seguridad + conveniencia + percepción visual en un solo score.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60120" y="6446520"/>
            <a:ext cx="4732020" cy="754380"/>
            <a:chOff x="0" y="0"/>
            <a:chExt cx="6309360" cy="10058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309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224" r="0" b="-72224"/>
              </a:stretch>
            </a:blipFill>
          </p:spPr>
          <p:txBody>
            <a:bodyPr/>
            <a:p/>
          </p:txBody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63093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Diseño del score de confiabilidad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5897880" y="6446520"/>
            <a:ext cx="1577340" cy="754380"/>
            <a:chOff x="0" y="0"/>
            <a:chExt cx="2103120" cy="10058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103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62" t="0" r="-11362" b="0"/>
              </a:stretch>
            </a:blipFill>
          </p:spPr>
          <p:txBody>
            <a:bodyPr/>
            <a:p/>
          </p:txBody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21031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Liss</a:t>
              </a: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eth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7680960" y="6446520"/>
            <a:ext cx="1851660" cy="754380"/>
            <a:chOff x="0" y="0"/>
            <a:chExt cx="2468880" cy="10058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4688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71" t="0" r="-2271" b="0"/>
              </a:stretch>
            </a:blipFill>
          </p:spPr>
          <p:txBody>
            <a:bodyPr/>
            <a:p/>
          </p:txBody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24688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RF-07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738360" y="6446520"/>
            <a:ext cx="7338060" cy="754380"/>
            <a:chOff x="0" y="0"/>
            <a:chExt cx="9784080" cy="100584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784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536" r="0" b="-139536"/>
              </a:stretch>
            </a:blipFill>
          </p:spPr>
          <p:txBody>
            <a:bodyPr/>
            <a:p/>
          </p:txBody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97840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Agrega historial de plazos, proyectos y antigüedad de cada constructora.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822960" y="7200900"/>
            <a:ext cx="16596360" cy="754380"/>
            <a:chOff x="0" y="0"/>
            <a:chExt cx="22128480" cy="10058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21284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ADB4D0"/>
            </a:solidFill>
          </p:spPr>
          <p:txBody>
            <a:bodyPr/>
            <a:p/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960120" y="7200900"/>
            <a:ext cx="4732020" cy="754380"/>
            <a:chOff x="0" y="0"/>
            <a:chExt cx="6309360" cy="10058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6309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224" r="0" b="-72224"/>
              </a:stretch>
            </a:blipFill>
          </p:spPr>
          <p:txBody>
            <a:bodyPr/>
            <a:p/>
          </p:txBody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63093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Motor de recomendación ponderado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5897880" y="7200900"/>
            <a:ext cx="1577340" cy="754380"/>
            <a:chOff x="0" y="0"/>
            <a:chExt cx="2103120" cy="100584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103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62" t="0" r="-11362" b="0"/>
              </a:stretch>
            </a:blipFill>
          </p:spPr>
          <p:txBody>
            <a:bodyPr/>
            <a:p/>
          </p:txBody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21031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Jyns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7680960" y="7200900"/>
            <a:ext cx="1851660" cy="754380"/>
            <a:chOff x="0" y="0"/>
            <a:chExt cx="2468880" cy="100584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4688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71" t="0" r="-2271" b="0"/>
              </a:stretch>
            </a:blipFill>
          </p:spPr>
          <p:txBody>
            <a:bodyPr/>
            <a:p/>
          </p:txBody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24688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RF-08, RF-09, RF-10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9738360" y="7200900"/>
            <a:ext cx="7338060" cy="754380"/>
            <a:chOff x="0" y="0"/>
            <a:chExt cx="9784080" cy="100584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9784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536" r="0" b="-139536"/>
              </a:stretch>
            </a:blipFill>
          </p:spPr>
          <p:txBody>
            <a:bodyPr/>
            <a:p/>
          </p:txBody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97840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Combina todos los scores según el perfil declarado por el usuario.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960120" y="7955280"/>
            <a:ext cx="4732020" cy="754380"/>
            <a:chOff x="0" y="0"/>
            <a:chExt cx="6309360" cy="10058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309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224" r="0" b="-72224"/>
              </a:stretch>
            </a:blipFill>
          </p:spPr>
          <p:txBody>
            <a:bodyPr/>
            <a:p/>
          </p:txBody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63093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Generación de explicaciones en NL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5897880" y="7955280"/>
            <a:ext cx="1577340" cy="754380"/>
            <a:chOff x="0" y="0"/>
            <a:chExt cx="2103120" cy="100584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103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62" t="0" r="-11362" b="0"/>
              </a:stretch>
            </a:blipFill>
          </p:spPr>
          <p:txBody>
            <a:bodyPr/>
            <a:p/>
          </p:txBody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21031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Jyns / Mafer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7680960" y="7955280"/>
            <a:ext cx="1851660" cy="754380"/>
            <a:chOff x="0" y="0"/>
            <a:chExt cx="2468880" cy="100584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4688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71" t="0" r="-2271" b="0"/>
              </a:stretch>
            </a:blipFill>
          </p:spPr>
          <p:txBody>
            <a:bodyPr/>
            <a:p/>
          </p:txBody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24688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RF-11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9738360" y="7955280"/>
            <a:ext cx="7338060" cy="754380"/>
            <a:chOff x="0" y="0"/>
            <a:chExt cx="9784080" cy="100584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9784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536" r="0" b="-139536"/>
              </a:stretch>
            </a:blipFill>
          </p:spPr>
          <p:txBody>
            <a:bodyPr/>
            <a:p/>
          </p:txBody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97840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Traduce las variables del modelo en una explicación legible por el usuario.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685800" y="9738360"/>
            <a:ext cx="8229600" cy="411480"/>
            <a:chOff x="0" y="0"/>
            <a:chExt cx="10972800" cy="54864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  <p:txBody>
            <a:bodyPr/>
            <a:p/>
          </p:txBody>
        </p:sp>
        <p:sp>
          <p:nvSpPr>
            <p:cNvPr name="TextBox 129" id="129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InmoScore · Requirements Artifacts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960120" y="8709660"/>
            <a:ext cx="4732020" cy="754380"/>
            <a:chOff x="0" y="0"/>
            <a:chExt cx="6309360" cy="10058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309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224" r="0" b="-72224"/>
              </a:stretch>
            </a:blipFill>
          </p:spPr>
          <p:txBody>
            <a:bodyPr/>
            <a:p/>
          </p:txBody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63093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Pipeline de ingesta y geocodificación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5897880" y="8709660"/>
            <a:ext cx="1577340" cy="754380"/>
            <a:chOff x="0" y="0"/>
            <a:chExt cx="2103120" cy="100584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103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362" t="0" r="-11362" b="0"/>
              </a:stretch>
            </a:blipFill>
          </p:spPr>
          <p:txBody>
            <a:bodyPr/>
            <a:p/>
          </p:txBody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21031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Denzel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7680960" y="8709660"/>
            <a:ext cx="1851660" cy="754380"/>
            <a:chOff x="0" y="0"/>
            <a:chExt cx="2468880" cy="100584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4688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71" t="0" r="-2271" b="0"/>
              </a:stretch>
            </a:blipFill>
          </p:spPr>
          <p:txBody>
            <a:bodyPr/>
            <a:p/>
          </p:txBody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24688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RF-01, RF-02, RNF-03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9738360" y="8709660"/>
            <a:ext cx="7338060" cy="754380"/>
            <a:chOff x="0" y="0"/>
            <a:chExt cx="9784080" cy="100584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9784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536" r="0" b="-139536"/>
              </a:stretch>
            </a:blipFill>
          </p:spPr>
          <p:txBody>
            <a:bodyPr/>
            <a:p/>
          </p:txBody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97840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F669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Automatiza la descarga de las seis fuentes y geocodifica las direcciones con Nominatim, requisito de las distancias a POIs.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9495A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REQUIREMENTS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960120"/>
            <a:chOff x="0" y="0"/>
            <a:chExt cx="215798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462" r="0" b="-278462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0F101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Assumptions, Constraints &amp; Acceptance Criteria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94560"/>
            <a:ext cx="5280660" cy="6583680"/>
            <a:chOff x="0" y="0"/>
            <a:chExt cx="7040880" cy="8778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0880" cy="8778240"/>
            </a:xfrm>
            <a:custGeom>
              <a:avLst/>
              <a:gdLst/>
              <a:ahLst/>
              <a:cxnLst/>
              <a:rect r="r" b="b" t="t" l="l"/>
              <a:pathLst>
                <a:path h="8778240" w="7040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858000" y="0"/>
                  </a:lnTo>
                  <a:cubicBezTo>
                    <a:pt x="6958965" y="0"/>
                    <a:pt x="7040880" y="81915"/>
                    <a:pt x="7040880" y="182880"/>
                  </a:cubicBezTo>
                  <a:lnTo>
                    <a:pt x="7040880" y="8595360"/>
                  </a:lnTo>
                  <a:cubicBezTo>
                    <a:pt x="7040880" y="8696325"/>
                    <a:pt x="6958965" y="8778240"/>
                    <a:pt x="6858000" y="8778240"/>
                  </a:cubicBezTo>
                  <a:lnTo>
                    <a:pt x="182880" y="8778240"/>
                  </a:lnTo>
                  <a:cubicBezTo>
                    <a:pt x="81915" y="8778240"/>
                    <a:pt x="0" y="8696325"/>
                    <a:pt x="0" y="8595360"/>
                  </a:cubicBezTo>
                  <a:close/>
                </a:path>
              </a:pathLst>
            </a:custGeom>
            <a:solidFill>
              <a:srgbClr val="9495A2"/>
            </a:solid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65860" y="2468880"/>
            <a:ext cx="4663440" cy="480060"/>
            <a:chOff x="0" y="0"/>
            <a:chExt cx="6217920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283" r="0" b="-139283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62179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0F10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Assumptions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65860" y="3017520"/>
            <a:ext cx="4663440" cy="5349240"/>
            <a:chOff x="0" y="0"/>
            <a:chExt cx="6217920" cy="71323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17920" cy="7132320"/>
            </a:xfrm>
            <a:custGeom>
              <a:avLst/>
              <a:gdLst/>
              <a:ahLst/>
              <a:cxnLst/>
              <a:rect r="r" b="b" t="t" l="l"/>
              <a:pathLst>
                <a:path h="71323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132320"/>
                  </a:lnTo>
                  <a:lnTo>
                    <a:pt x="0" y="7132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7171" t="0" r="-97171" b="0"/>
              </a:stretch>
            </a:blip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6217920" cy="7160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98609" indent="-149304" lvl="1">
                <a:lnSpc>
                  <a:spcPts val="1980"/>
                </a:lnSpc>
                <a:buFont typeface="Arial"/>
                <a:buChar char="•"/>
              </a:pPr>
              <a:r>
                <a:rPr lang="en-US" sz="1650">
                  <a:solidFill>
                    <a:srgbClr val="0F101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Estructura HTML de los portales estable durante el desarrollo</a:t>
              </a:r>
            </a:p>
            <a:p>
              <a:pPr algn="l" marL="298609" indent="-149304" lvl="1">
                <a:lnSpc>
                  <a:spcPts val="1980"/>
                </a:lnSpc>
                <a:buFont typeface="Arial"/>
                <a:buChar char="•"/>
              </a:pPr>
              <a:r>
                <a:rPr lang="en-US" sz="1650">
                  <a:solidFill>
                    <a:srgbClr val="0F101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Cobertura de Alcabala representativa del mercado de Lima</a:t>
              </a:r>
            </a:p>
            <a:p>
              <a:pPr algn="l" marL="298609" indent="-149304" lvl="1">
                <a:lnSpc>
                  <a:spcPts val="1980"/>
                </a:lnSpc>
                <a:buFont typeface="Arial"/>
                <a:buChar char="•"/>
              </a:pPr>
              <a:r>
                <a:rPr lang="en-US" sz="1650">
                  <a:solidFill>
                    <a:srgbClr val="0F101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Direcciones de los avisos geocodificables con Nominatim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377940" y="2194560"/>
            <a:ext cx="5280660" cy="6583680"/>
            <a:chOff x="0" y="0"/>
            <a:chExt cx="7040880" cy="87782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40880" cy="8778240"/>
            </a:xfrm>
            <a:custGeom>
              <a:avLst/>
              <a:gdLst/>
              <a:ahLst/>
              <a:cxnLst/>
              <a:rect r="r" b="b" t="t" l="l"/>
              <a:pathLst>
                <a:path h="8778240" w="7040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858000" y="0"/>
                  </a:lnTo>
                  <a:cubicBezTo>
                    <a:pt x="6958965" y="0"/>
                    <a:pt x="7040880" y="81915"/>
                    <a:pt x="7040880" y="182880"/>
                  </a:cubicBezTo>
                  <a:lnTo>
                    <a:pt x="7040880" y="8595360"/>
                  </a:lnTo>
                  <a:cubicBezTo>
                    <a:pt x="7040880" y="8696325"/>
                    <a:pt x="6958965" y="8778240"/>
                    <a:pt x="6858000" y="8778240"/>
                  </a:cubicBezTo>
                  <a:lnTo>
                    <a:pt x="182880" y="8778240"/>
                  </a:lnTo>
                  <a:cubicBezTo>
                    <a:pt x="81915" y="8778240"/>
                    <a:pt x="0" y="8696325"/>
                    <a:pt x="0" y="8595360"/>
                  </a:cubicBezTo>
                  <a:close/>
                </a:path>
              </a:pathLst>
            </a:custGeom>
            <a:solidFill>
              <a:srgbClr val="9495A2"/>
            </a:solid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6720840" y="2468880"/>
            <a:ext cx="4663440" cy="480060"/>
            <a:chOff x="0" y="0"/>
            <a:chExt cx="621792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283" r="0" b="-139283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62179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0F10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Constraints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720840" y="3017520"/>
            <a:ext cx="4663440" cy="5349240"/>
            <a:chOff x="0" y="0"/>
            <a:chExt cx="6217920" cy="71323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17920" cy="7132320"/>
            </a:xfrm>
            <a:custGeom>
              <a:avLst/>
              <a:gdLst/>
              <a:ahLst/>
              <a:cxnLst/>
              <a:rect r="r" b="b" t="t" l="l"/>
              <a:pathLst>
                <a:path h="71323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132320"/>
                  </a:lnTo>
                  <a:lnTo>
                    <a:pt x="0" y="7132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7171" t="0" r="-97171" b="0"/>
              </a:stretch>
            </a:blipFill>
          </p:spPr>
          <p:txBody>
            <a:bodyPr/>
            <a:p/>
          </p:txBody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6217920" cy="7160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98609" indent="-149304" lvl="1">
                <a:lnSpc>
                  <a:spcPts val="1980"/>
                </a:lnSpc>
                <a:buFont typeface="Arial"/>
                <a:buChar char="•"/>
              </a:pPr>
              <a:r>
                <a:rPr lang="en-US" sz="1650">
                  <a:solidFill>
                    <a:srgbClr val="0F101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Cronograma del curso, Week 4 a 15</a:t>
              </a:r>
            </a:p>
            <a:p>
              <a:pPr algn="l" marL="298609" indent="-149304" lvl="1">
                <a:lnSpc>
                  <a:spcPts val="1980"/>
                </a:lnSpc>
                <a:buFont typeface="Arial"/>
                <a:buChar char="•"/>
              </a:pPr>
              <a:r>
                <a:rPr lang="en-US" sz="1650">
                  <a:solidFill>
                    <a:srgbClr val="0F101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Alcabala no registra área ni tipo de predio: sin precio por m² por operación</a:t>
              </a:r>
            </a:p>
            <a:p>
              <a:pPr algn="l" marL="298609" indent="-149304" lvl="1">
                <a:lnSpc>
                  <a:spcPts val="1980"/>
                </a:lnSpc>
                <a:buFont typeface="Arial"/>
                <a:buChar char="•"/>
              </a:pPr>
              <a:r>
                <a:rPr lang="en-US" sz="1650">
                  <a:solidFill>
                    <a:srgbClr val="0F101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Sin fuente de imágenes de entorno para el modelo de visión</a:t>
              </a:r>
            </a:p>
            <a:p>
              <a:pPr algn="l" marL="298609" indent="-149304" lvl="1">
                <a:lnSpc>
                  <a:spcPts val="1980"/>
                </a:lnSpc>
                <a:buFont typeface="Arial"/>
                <a:buChar char="•"/>
              </a:pPr>
              <a:r>
                <a:rPr lang="en-US" sz="1650">
                  <a:solidFill>
                    <a:srgbClr val="0F101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historial de plazos de constructoras exige acceso al CIPIEC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932920" y="2194560"/>
            <a:ext cx="5554980" cy="6583680"/>
            <a:chOff x="0" y="0"/>
            <a:chExt cx="7406640" cy="87782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406640" cy="8778240"/>
            </a:xfrm>
            <a:custGeom>
              <a:avLst/>
              <a:gdLst/>
              <a:ahLst/>
              <a:cxnLst/>
              <a:rect r="r" b="b" t="t" l="l"/>
              <a:pathLst>
                <a:path h="8778240" w="74066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7223760" y="0"/>
                  </a:lnTo>
                  <a:cubicBezTo>
                    <a:pt x="7324725" y="0"/>
                    <a:pt x="7406640" y="81915"/>
                    <a:pt x="7406640" y="182880"/>
                  </a:cubicBezTo>
                  <a:lnTo>
                    <a:pt x="7406640" y="8595360"/>
                  </a:lnTo>
                  <a:cubicBezTo>
                    <a:pt x="7406640" y="8696325"/>
                    <a:pt x="7324725" y="8778240"/>
                    <a:pt x="7223760" y="8778240"/>
                  </a:cubicBezTo>
                  <a:lnTo>
                    <a:pt x="182880" y="8778240"/>
                  </a:lnTo>
                  <a:cubicBezTo>
                    <a:pt x="81915" y="8778240"/>
                    <a:pt x="0" y="8696325"/>
                    <a:pt x="0" y="8595360"/>
                  </a:cubicBezTo>
                  <a:close/>
                </a:path>
              </a:pathLst>
            </a:custGeom>
            <a:solidFill>
              <a:srgbClr val="2B3D9C"/>
            </a:solid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275820" y="2468880"/>
            <a:ext cx="4937760" cy="480060"/>
            <a:chOff x="0" y="0"/>
            <a:chExt cx="6583680" cy="640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583680" cy="640080"/>
            </a:xfrm>
            <a:custGeom>
              <a:avLst/>
              <a:gdLst/>
              <a:ahLst/>
              <a:cxnLst/>
              <a:rect r="r" b="b" t="t" l="l"/>
              <a:pathLst>
                <a:path h="640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417" r="0" b="-150417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5836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F9FB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Acceptance Criteria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275820" y="3017520"/>
            <a:ext cx="4937760" cy="5486400"/>
            <a:chOff x="0" y="0"/>
            <a:chExt cx="6583680" cy="7315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83680" cy="7315200"/>
            </a:xfrm>
            <a:custGeom>
              <a:avLst/>
              <a:gdLst/>
              <a:ahLst/>
              <a:cxnLst/>
              <a:rect r="r" b="b" t="t" l="l"/>
              <a:pathLst>
                <a:path h="73152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0"/>
                  </a:lnTo>
                  <a:lnTo>
                    <a:pt x="0" y="7315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2559" t="0" r="-92559" b="0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6583680" cy="7334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85036" indent="-142518" lvl="1">
                <a:lnSpc>
                  <a:spcPts val="1889"/>
                </a:lnSpc>
                <a:buFont typeface="Arial"/>
                <a:buChar char="•"/>
              </a:pPr>
              <a:r>
                <a:rPr lang="en-US" sz="1575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3 987 avisos normalizados, sin nulos en precio, distrito ni área (cumplido)</a:t>
              </a:r>
            </a:p>
            <a:p>
              <a:pPr algn="l" marL="285036" indent="-142518" lvl="1">
                <a:lnSpc>
                  <a:spcPts val="1889"/>
                </a:lnSpc>
                <a:buFont typeface="Arial"/>
                <a:buChar char="•"/>
              </a:pPr>
              <a:r>
                <a:rPr lang="en-US" sz="1575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MAE del motor de valoración contra transacciones de Alcabala</a:t>
              </a:r>
            </a:p>
            <a:p>
              <a:pPr algn="l" marL="285036" indent="-142518" lvl="1">
                <a:lnSpc>
                  <a:spcPts val="1889"/>
                </a:lnSpc>
                <a:buFont typeface="Arial"/>
                <a:buChar char="•"/>
              </a:pPr>
              <a:r>
                <a:rPr lang="en-US" sz="1575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Ranking distinto para dos perfiles de usuario</a:t>
              </a:r>
            </a:p>
            <a:p>
              <a:pPr algn="l" marL="285036" indent="-142518" lvl="1">
                <a:lnSpc>
                  <a:spcPts val="1889"/>
                </a:lnSpc>
                <a:buFont typeface="Arial"/>
                <a:buChar char="•"/>
              </a:pPr>
              <a:r>
                <a:rPr lang="en-US" sz="1575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Explicación textual en cada recomendación</a:t>
              </a:r>
            </a:p>
            <a:p>
              <a:pPr algn="l" marL="285036" indent="-142518" lvl="1">
                <a:lnSpc>
                  <a:spcPts val="1889"/>
                </a:lnSpc>
                <a:buFont typeface="Arial"/>
                <a:buChar char="•"/>
              </a:pPr>
              <a:r>
                <a:rPr lang="en-US" sz="1575">
                  <a:solidFill>
                    <a:srgbClr val="F9FB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Prototipo desplegado y reproducible vía README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85800" y="9738360"/>
            <a:ext cx="8229600" cy="411480"/>
            <a:chOff x="0" y="0"/>
            <a:chExt cx="1097280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  <p:txBody>
            <a:bodyPr/>
            <a:p/>
          </p:txBody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544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InmoScore · Week 5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7048988" y="9738360"/>
            <a:ext cx="548640" cy="411480"/>
            <a:chOff x="0" y="0"/>
            <a:chExt cx="73152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  <p:txBody>
            <a:bodyPr/>
            <a:p/>
          </p:txBody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3544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327652"/>
            <a:ext cx="6671890" cy="1460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14"/>
              </a:lnSpc>
              <a:spcBef>
                <a:spcPct val="0"/>
              </a:spcBef>
            </a:pPr>
            <a:r>
              <a:rPr lang="en-US" b="true" sz="8510" spc="-54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DAHT_1IuXAY</dc:identifier>
  <dcterms:modified xsi:type="dcterms:W3CDTF">2011-08-01T06:04:30Z</dcterms:modified>
  <cp:revision>1</cp:revision>
  <dc:title>dpd entregables</dc:title>
</cp:coreProperties>
</file>