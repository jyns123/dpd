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Lst>
  <p:sldSz cx="18288000" cy="10287000"/>
  <p:notesSz cx="6858000" cy="9144000"/>
  <p:embeddedFontLst>
    <p:embeddedFont>
      <p:font typeface="Bricolage Grotesque" charset="1" panose="020B0605040402000204"/>
      <p:regular r:id="rId27"/>
    </p:embeddedFont>
    <p:embeddedFont>
      <p:font typeface="Poppins Bold" charset="1" panose="00000800000000000000"/>
      <p:regular r:id="rId28"/>
    </p:embeddedFont>
    <p:embeddedFont>
      <p:font typeface="Poppins" charset="1" panose="00000500000000000000"/>
      <p:regular r:id="rId29"/>
    </p:embeddedFont>
    <p:embeddedFont>
      <p:font typeface="Calibri (MS) Bold" charset="1" panose="020F0702030404030204"/>
      <p:regular r:id="rId30"/>
    </p:embeddedFont>
    <p:embeddedFont>
      <p:font typeface="Calibri (MS) Italics" charset="1" panose="020F05020202040A0204"/>
      <p:regular r:id="rId31"/>
    </p:embeddedFont>
    <p:embeddedFont>
      <p:font typeface="Calibri (MS)" charset="1" panose="020F0502020204030204"/>
      <p:regular r:id="rId32"/>
    </p:embeddedFont>
    <p:embeddedFont>
      <p:font typeface="Cambria Bold" charset="1" panose="02040803050406030204"/>
      <p:regular r:id="rId33"/>
    </p:embeddedFont>
    <p:embeddedFont>
      <p:font typeface="Calibri (MS) Bold Italics" charset="1" panose="020F07020304040A0204"/>
      <p:regular r:id="rId34"/>
    </p:embeddedFont>
    <p:embeddedFont>
      <p:font typeface="Arial" charset="1" panose="020B0604020202020204"/>
      <p:regular r:id="rId35"/>
    </p:embeddedFont>
    <p:embeddedFont>
      <p:font typeface="Canva Sans Bold" charset="1" panose="020B0803030501040103"/>
      <p:regular r:id="rId3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fonts/font27.fntdata" Type="http://schemas.openxmlformats.org/officeDocument/2006/relationships/font"/><Relationship Id="rId28" Target="fonts/font28.fntdata" Type="http://schemas.openxmlformats.org/officeDocument/2006/relationships/font"/><Relationship Id="rId29" Target="fonts/font29.fntdata" Type="http://schemas.openxmlformats.org/officeDocument/2006/relationships/font"/><Relationship Id="rId3" Target="viewProps.xml" Type="http://schemas.openxmlformats.org/officeDocument/2006/relationships/viewProps"/><Relationship Id="rId30" Target="fonts/font30.fntdata" Type="http://schemas.openxmlformats.org/officeDocument/2006/relationships/font"/><Relationship Id="rId31" Target="fonts/font31.fntdata" Type="http://schemas.openxmlformats.org/officeDocument/2006/relationships/font"/><Relationship Id="rId32" Target="fonts/font32.fntdata" Type="http://schemas.openxmlformats.org/officeDocument/2006/relationships/font"/><Relationship Id="rId33" Target="fonts/font33.fntdata" Type="http://schemas.openxmlformats.org/officeDocument/2006/relationships/font"/><Relationship Id="rId34" Target="fonts/font34.fntdata" Type="http://schemas.openxmlformats.org/officeDocument/2006/relationships/font"/><Relationship Id="rId35" Target="fonts/font35.fntdata" Type="http://schemas.openxmlformats.org/officeDocument/2006/relationships/font"/><Relationship Id="rId36" Target="fonts/font36.fntdata" Type="http://schemas.openxmlformats.org/officeDocument/2006/relationships/font"/><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3.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3.jpe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3.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3.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3.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3.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3.jpe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3.jpe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3.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3.jpe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3.jpeg" Type="http://schemas.openxmlformats.org/officeDocument/2006/relationships/image"/><Relationship Id="rId4" Target="../media/image6.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3.jpeg" Type="http://schemas.openxmlformats.org/officeDocument/2006/relationships/image"/><Relationship Id="rId4" Target="../media/image7.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3.jpeg" Type="http://schemas.openxmlformats.org/officeDocument/2006/relationships/image"/><Relationship Id="rId4" Target="../media/image8.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3.jpeg" Type="http://schemas.openxmlformats.org/officeDocument/2006/relationships/image"/><Relationship Id="rId4" Target="../media/image9.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3.jpe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3.jpe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3.jpe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3.jpe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2415882" cy="10287000"/>
            <a:chOff x="0" y="0"/>
            <a:chExt cx="636282" cy="2709333"/>
          </a:xfrm>
        </p:grpSpPr>
        <p:sp>
          <p:nvSpPr>
            <p:cNvPr name="Freeform 3" id="3"/>
            <p:cNvSpPr/>
            <p:nvPr/>
          </p:nvSpPr>
          <p:spPr>
            <a:xfrm flipH="false" flipV="false" rot="0">
              <a:off x="0" y="0"/>
              <a:ext cx="636282" cy="2709333"/>
            </a:xfrm>
            <a:custGeom>
              <a:avLst/>
              <a:gdLst/>
              <a:ahLst/>
              <a:cxnLst/>
              <a:rect r="r" b="b" t="t" l="l"/>
              <a:pathLst>
                <a:path h="2709333" w="636282">
                  <a:moveTo>
                    <a:pt x="0" y="0"/>
                  </a:moveTo>
                  <a:lnTo>
                    <a:pt x="636282" y="0"/>
                  </a:lnTo>
                  <a:lnTo>
                    <a:pt x="636282" y="2709333"/>
                  </a:lnTo>
                  <a:lnTo>
                    <a:pt x="0" y="2709333"/>
                  </a:lnTo>
                  <a:close/>
                </a:path>
              </a:pathLst>
            </a:custGeom>
            <a:solidFill>
              <a:srgbClr val="293E9C"/>
            </a:solidFill>
          </p:spPr>
        </p:sp>
        <p:sp>
          <p:nvSpPr>
            <p:cNvPr name="TextBox 4" id="4"/>
            <p:cNvSpPr txBox="true"/>
            <p:nvPr/>
          </p:nvSpPr>
          <p:spPr>
            <a:xfrm>
              <a:off x="0" y="-38100"/>
              <a:ext cx="636282" cy="2747433"/>
            </a:xfrm>
            <a:prstGeom prst="rect">
              <a:avLst/>
            </a:prstGeom>
          </p:spPr>
          <p:txBody>
            <a:bodyPr anchor="ctr" rtlCol="false" tIns="50800" lIns="50800" bIns="50800" rIns="50800"/>
            <a:lstStyle/>
            <a:p>
              <a:pPr algn="ctr">
                <a:lnSpc>
                  <a:spcPts val="2659"/>
                </a:lnSpc>
                <a:spcBef>
                  <a:spcPct val="0"/>
                </a:spcBef>
              </a:pPr>
            </a:p>
          </p:txBody>
        </p:sp>
      </p:grpSp>
      <p:sp>
        <p:nvSpPr>
          <p:cNvPr name="Freeform 5" id="5"/>
          <p:cNvSpPr/>
          <p:nvPr/>
        </p:nvSpPr>
        <p:spPr>
          <a:xfrm flipH="false" flipV="false" rot="0">
            <a:off x="9650950" y="1028700"/>
            <a:ext cx="9241467" cy="9258300"/>
          </a:xfrm>
          <a:custGeom>
            <a:avLst/>
            <a:gdLst/>
            <a:ahLst/>
            <a:cxnLst/>
            <a:rect r="r" b="b" t="t" l="l"/>
            <a:pathLst>
              <a:path h="9258300" w="9241467">
                <a:moveTo>
                  <a:pt x="0" y="0"/>
                </a:moveTo>
                <a:lnTo>
                  <a:pt x="9241467" y="0"/>
                </a:lnTo>
                <a:lnTo>
                  <a:pt x="9241467" y="9258300"/>
                </a:lnTo>
                <a:lnTo>
                  <a:pt x="0" y="92583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6" id="6"/>
          <p:cNvSpPr txBox="true"/>
          <p:nvPr/>
        </p:nvSpPr>
        <p:spPr>
          <a:xfrm rot="0">
            <a:off x="3021734" y="4717954"/>
            <a:ext cx="7329518" cy="1463364"/>
          </a:xfrm>
          <a:prstGeom prst="rect">
            <a:avLst/>
          </a:prstGeom>
        </p:spPr>
        <p:txBody>
          <a:bodyPr anchor="t" rtlCol="false" tIns="0" lIns="0" bIns="0" rIns="0">
            <a:spAutoFit/>
          </a:bodyPr>
          <a:lstStyle/>
          <a:p>
            <a:pPr algn="l">
              <a:lnSpc>
                <a:spcPts val="10991"/>
              </a:lnSpc>
            </a:pPr>
            <a:r>
              <a:rPr lang="en-US" sz="11215" spc="-717">
                <a:gradFill>
                  <a:gsLst>
                    <a:gs pos="0">
                      <a:srgbClr val="293E9C">
                        <a:alpha val="100000"/>
                      </a:srgbClr>
                    </a:gs>
                    <a:gs pos="100000">
                      <a:srgbClr val="3A58E4">
                        <a:alpha val="100000"/>
                      </a:srgbClr>
                    </a:gs>
                  </a:gsLst>
                  <a:path path="circle">
                    <a:fillToRect l="0" r="100000" t="0" b="100000"/>
                  </a:path>
                  <a:tileRect r="0" l="-100000" b="0" t="-100000"/>
                </a:gradFill>
                <a:latin typeface="Bricolage Grotesque"/>
                <a:ea typeface="Bricolage Grotesque"/>
                <a:cs typeface="Bricolage Grotesque"/>
                <a:sym typeface="Bricolage Grotesque"/>
              </a:rPr>
              <a:t>InmoScore</a:t>
            </a:r>
          </a:p>
        </p:txBody>
      </p:sp>
      <p:grpSp>
        <p:nvGrpSpPr>
          <p:cNvPr name="Group 7" id="7"/>
          <p:cNvGrpSpPr/>
          <p:nvPr/>
        </p:nvGrpSpPr>
        <p:grpSpPr>
          <a:xfrm rot="0">
            <a:off x="360740" y="8287049"/>
            <a:ext cx="1713939" cy="684317"/>
            <a:chOff x="0" y="0"/>
            <a:chExt cx="2285252" cy="912422"/>
          </a:xfrm>
        </p:grpSpPr>
        <p:sp>
          <p:nvSpPr>
            <p:cNvPr name="TextBox 8" id="8"/>
            <p:cNvSpPr txBox="true"/>
            <p:nvPr/>
          </p:nvSpPr>
          <p:spPr>
            <a:xfrm rot="0">
              <a:off x="0" y="0"/>
              <a:ext cx="2272228" cy="456211"/>
            </a:xfrm>
            <a:prstGeom prst="rect">
              <a:avLst/>
            </a:prstGeom>
          </p:spPr>
          <p:txBody>
            <a:bodyPr anchor="t" rtlCol="false" tIns="0" lIns="0" bIns="0" rIns="0">
              <a:spAutoFit/>
            </a:bodyPr>
            <a:lstStyle/>
            <a:p>
              <a:pPr algn="ctr">
                <a:lnSpc>
                  <a:spcPts val="2421"/>
                </a:lnSpc>
              </a:pPr>
              <a:r>
                <a:rPr lang="en-US" sz="2262" b="true">
                  <a:solidFill>
                    <a:srgbClr val="FFFFFF"/>
                  </a:solidFill>
                  <a:latin typeface="Poppins Bold"/>
                  <a:ea typeface="Poppins Bold"/>
                  <a:cs typeface="Poppins Bold"/>
                  <a:sym typeface="Poppins Bold"/>
                </a:rPr>
                <a:t>2026</a:t>
              </a:r>
            </a:p>
          </p:txBody>
        </p:sp>
        <p:sp>
          <p:nvSpPr>
            <p:cNvPr name="TextBox 9" id="9"/>
            <p:cNvSpPr txBox="true"/>
            <p:nvPr/>
          </p:nvSpPr>
          <p:spPr>
            <a:xfrm rot="0">
              <a:off x="13024" y="456211"/>
              <a:ext cx="2272228" cy="456211"/>
            </a:xfrm>
            <a:prstGeom prst="rect">
              <a:avLst/>
            </a:prstGeom>
          </p:spPr>
          <p:txBody>
            <a:bodyPr anchor="t" rtlCol="false" tIns="0" lIns="0" bIns="0" rIns="0">
              <a:spAutoFit/>
            </a:bodyPr>
            <a:lstStyle/>
            <a:p>
              <a:pPr algn="ctr">
                <a:lnSpc>
                  <a:spcPts val="2421"/>
                </a:lnSpc>
              </a:pPr>
              <a:r>
                <a:rPr lang="en-US" sz="2262">
                  <a:solidFill>
                    <a:srgbClr val="FFFFFF"/>
                  </a:solidFill>
                  <a:latin typeface="Poppins"/>
                  <a:ea typeface="Poppins"/>
                  <a:cs typeface="Poppins"/>
                  <a:sym typeface="Poppins"/>
                </a:rPr>
                <a:t>DPD</a:t>
              </a:r>
            </a:p>
          </p:txBody>
        </p:sp>
      </p:grpSp>
      <p:grpSp>
        <p:nvGrpSpPr>
          <p:cNvPr name="Group 10" id="10"/>
          <p:cNvGrpSpPr/>
          <p:nvPr/>
        </p:nvGrpSpPr>
        <p:grpSpPr>
          <a:xfrm rot="0">
            <a:off x="3021734" y="3931189"/>
            <a:ext cx="11662790" cy="548640"/>
            <a:chOff x="0" y="0"/>
            <a:chExt cx="15550387" cy="731520"/>
          </a:xfrm>
        </p:grpSpPr>
        <p:sp>
          <p:nvSpPr>
            <p:cNvPr name="Freeform 11" id="11"/>
            <p:cNvSpPr/>
            <p:nvPr/>
          </p:nvSpPr>
          <p:spPr>
            <a:xfrm flipH="false" flipV="false" rot="0">
              <a:off x="0" y="0"/>
              <a:ext cx="15550387" cy="731520"/>
            </a:xfrm>
            <a:custGeom>
              <a:avLst/>
              <a:gdLst/>
              <a:ahLst/>
              <a:cxnLst/>
              <a:rect r="r" b="b" t="t" l="l"/>
              <a:pathLst>
                <a:path h="731520" w="15550387">
                  <a:moveTo>
                    <a:pt x="0" y="0"/>
                  </a:moveTo>
                  <a:lnTo>
                    <a:pt x="15550387" y="0"/>
                  </a:lnTo>
                  <a:lnTo>
                    <a:pt x="15550387" y="731520"/>
                  </a:lnTo>
                  <a:lnTo>
                    <a:pt x="0" y="731520"/>
                  </a:lnTo>
                  <a:close/>
                </a:path>
              </a:pathLst>
            </a:custGeom>
            <a:blipFill>
              <a:blip r:embed="rId4">
                <a:alphaModFix amt="0"/>
              </a:blip>
              <a:stretch>
                <a:fillRect l="0" t="-339700" r="5916" b="-339700"/>
              </a:stretch>
            </a:blipFill>
          </p:spPr>
        </p:sp>
        <p:sp>
          <p:nvSpPr>
            <p:cNvPr name="TextBox 12" id="12"/>
            <p:cNvSpPr txBox="true"/>
            <p:nvPr/>
          </p:nvSpPr>
          <p:spPr>
            <a:xfrm>
              <a:off x="0" y="-47625"/>
              <a:ext cx="15550387" cy="779145"/>
            </a:xfrm>
            <a:prstGeom prst="rect">
              <a:avLst/>
            </a:prstGeom>
          </p:spPr>
          <p:txBody>
            <a:bodyPr anchor="ctr" rtlCol="false" tIns="0" lIns="0" bIns="0" rIns="0"/>
            <a:lstStyle/>
            <a:p>
              <a:pPr algn="l">
                <a:lnSpc>
                  <a:spcPts val="2340"/>
                </a:lnSpc>
              </a:pPr>
              <a:r>
                <a:rPr lang="en-US" b="true" sz="1950" spc="299">
                  <a:solidFill>
                    <a:srgbClr val="3A58E4"/>
                  </a:solidFill>
                  <a:latin typeface="Calibri (MS) Bold"/>
                  <a:ea typeface="Calibri (MS) Bold"/>
                  <a:cs typeface="Calibri (MS) Bold"/>
                  <a:sym typeface="Calibri (MS) Bold"/>
                </a:rPr>
                <a:t>PROPTECH · ASISTENTE DE INVERSIÓN INMOBILIARIA</a:t>
              </a:r>
            </a:p>
          </p:txBody>
        </p:sp>
      </p:grpSp>
      <p:grpSp>
        <p:nvGrpSpPr>
          <p:cNvPr name="Group 13" id="13"/>
          <p:cNvGrpSpPr/>
          <p:nvPr/>
        </p:nvGrpSpPr>
        <p:grpSpPr>
          <a:xfrm rot="0">
            <a:off x="3021734" y="6181318"/>
            <a:ext cx="7938094" cy="1097280"/>
            <a:chOff x="0" y="0"/>
            <a:chExt cx="10584125" cy="1463040"/>
          </a:xfrm>
        </p:grpSpPr>
        <p:sp>
          <p:nvSpPr>
            <p:cNvPr name="Freeform 14" id="14"/>
            <p:cNvSpPr/>
            <p:nvPr/>
          </p:nvSpPr>
          <p:spPr>
            <a:xfrm flipH="false" flipV="false" rot="0">
              <a:off x="0" y="0"/>
              <a:ext cx="10584125" cy="1463040"/>
            </a:xfrm>
            <a:custGeom>
              <a:avLst/>
              <a:gdLst/>
              <a:ahLst/>
              <a:cxnLst/>
              <a:rect r="r" b="b" t="t" l="l"/>
              <a:pathLst>
                <a:path h="1463040" w="10584125">
                  <a:moveTo>
                    <a:pt x="0" y="0"/>
                  </a:moveTo>
                  <a:lnTo>
                    <a:pt x="10584125" y="0"/>
                  </a:lnTo>
                  <a:lnTo>
                    <a:pt x="10584125" y="1463040"/>
                  </a:lnTo>
                  <a:lnTo>
                    <a:pt x="0" y="1463040"/>
                  </a:lnTo>
                  <a:close/>
                </a:path>
              </a:pathLst>
            </a:custGeom>
            <a:blipFill>
              <a:blip r:embed="rId4">
                <a:alphaModFix amt="0"/>
              </a:blip>
              <a:stretch>
                <a:fillRect l="0" t="-181384" r="-64147" b="-181384"/>
              </a:stretch>
            </a:blipFill>
          </p:spPr>
        </p:sp>
        <p:sp>
          <p:nvSpPr>
            <p:cNvPr name="TextBox 15" id="15"/>
            <p:cNvSpPr txBox="true"/>
            <p:nvPr/>
          </p:nvSpPr>
          <p:spPr>
            <a:xfrm>
              <a:off x="0" y="-66675"/>
              <a:ext cx="10584125" cy="1529715"/>
            </a:xfrm>
            <a:prstGeom prst="rect">
              <a:avLst/>
            </a:prstGeom>
          </p:spPr>
          <p:txBody>
            <a:bodyPr anchor="ctr" rtlCol="false" tIns="0" lIns="0" bIns="0" rIns="0"/>
            <a:lstStyle/>
            <a:p>
              <a:pPr algn="l">
                <a:lnSpc>
                  <a:spcPts val="3600"/>
                </a:lnSpc>
              </a:pPr>
              <a:r>
                <a:rPr lang="en-US" sz="3000" i="true">
                  <a:solidFill>
                    <a:srgbClr val="3A58E4"/>
                  </a:solidFill>
                  <a:latin typeface="Calibri (MS) Italics"/>
                  <a:ea typeface="Calibri (MS) Italics"/>
                  <a:cs typeface="Calibri (MS) Italics"/>
                  <a:sym typeface="Calibri (MS) Italics"/>
                </a:rPr>
                <a:t>El recomendador de vivienda que entiende tu estilo de vida, no solo tu presupuesto.</a:t>
              </a:r>
            </a:p>
          </p:txBody>
        </p:sp>
      </p:grpSp>
      <p:grpSp>
        <p:nvGrpSpPr>
          <p:cNvPr name="Group 16" id="16"/>
          <p:cNvGrpSpPr/>
          <p:nvPr/>
        </p:nvGrpSpPr>
        <p:grpSpPr>
          <a:xfrm rot="0">
            <a:off x="3021734" y="7554870"/>
            <a:ext cx="8551447" cy="732179"/>
            <a:chOff x="0" y="0"/>
            <a:chExt cx="11401929" cy="976238"/>
          </a:xfrm>
        </p:grpSpPr>
        <p:sp>
          <p:nvSpPr>
            <p:cNvPr name="Freeform 17" id="17"/>
            <p:cNvSpPr/>
            <p:nvPr/>
          </p:nvSpPr>
          <p:spPr>
            <a:xfrm flipH="false" flipV="false" rot="0">
              <a:off x="0" y="0"/>
              <a:ext cx="11401929" cy="976238"/>
            </a:xfrm>
            <a:custGeom>
              <a:avLst/>
              <a:gdLst/>
              <a:ahLst/>
              <a:cxnLst/>
              <a:rect r="r" b="b" t="t" l="l"/>
              <a:pathLst>
                <a:path h="976238" w="11401929">
                  <a:moveTo>
                    <a:pt x="0" y="0"/>
                  </a:moveTo>
                  <a:lnTo>
                    <a:pt x="11401929" y="0"/>
                  </a:lnTo>
                  <a:lnTo>
                    <a:pt x="11401929" y="976238"/>
                  </a:lnTo>
                  <a:lnTo>
                    <a:pt x="0" y="976238"/>
                  </a:lnTo>
                  <a:close/>
                </a:path>
              </a:pathLst>
            </a:custGeom>
            <a:blipFill>
              <a:blip r:embed="rId4">
                <a:alphaModFix amt="0"/>
              </a:blip>
              <a:stretch>
                <a:fillRect l="0" t="-336433" r="-68413" b="-330099"/>
              </a:stretch>
            </a:blipFill>
          </p:spPr>
        </p:sp>
        <p:sp>
          <p:nvSpPr>
            <p:cNvPr name="TextBox 18" id="18"/>
            <p:cNvSpPr txBox="true"/>
            <p:nvPr/>
          </p:nvSpPr>
          <p:spPr>
            <a:xfrm>
              <a:off x="0" y="-47625"/>
              <a:ext cx="11401929" cy="1023863"/>
            </a:xfrm>
            <a:prstGeom prst="rect">
              <a:avLst/>
            </a:prstGeom>
          </p:spPr>
          <p:txBody>
            <a:bodyPr anchor="ctr" rtlCol="false" tIns="0" lIns="0" bIns="0" rIns="0"/>
            <a:lstStyle/>
            <a:p>
              <a:pPr algn="l">
                <a:lnSpc>
                  <a:spcPts val="2520"/>
                </a:lnSpc>
              </a:pPr>
              <a:r>
                <a:rPr lang="en-US" b="true" sz="2100">
                  <a:solidFill>
                    <a:srgbClr val="3A58E4"/>
                  </a:solidFill>
                  <a:latin typeface="Calibri (MS) Bold"/>
                  <a:ea typeface="Calibri (MS) Bold"/>
                  <a:cs typeface="Calibri (MS) Bold"/>
                  <a:sym typeface="Calibri (MS) Bold"/>
                </a:rPr>
                <a:t>Denzel</a:t>
              </a:r>
              <a:r>
                <a:rPr lang="en-US" sz="2100">
                  <a:solidFill>
                    <a:srgbClr val="3A58E4"/>
                  </a:solidFill>
                  <a:latin typeface="Calibri (MS)"/>
                  <a:ea typeface="Calibri (MS)"/>
                  <a:cs typeface="Calibri (MS)"/>
                  <a:sym typeface="Calibri (MS)"/>
                </a:rPr>
                <a:t>  Cloud &amp; DevOps Engineer   ·   </a:t>
              </a:r>
              <a:r>
                <a:rPr lang="en-US" b="true" sz="2100">
                  <a:solidFill>
                    <a:srgbClr val="3A58E4"/>
                  </a:solidFill>
                  <a:latin typeface="Calibri (MS) Bold"/>
                  <a:ea typeface="Calibri (MS) Bold"/>
                  <a:cs typeface="Calibri (MS) Bold"/>
                  <a:sym typeface="Calibri (MS) Bold"/>
                </a:rPr>
                <a:t>Jyns</a:t>
              </a:r>
              <a:r>
                <a:rPr lang="en-US" sz="2100">
                  <a:solidFill>
                    <a:srgbClr val="3A58E4"/>
                  </a:solidFill>
                  <a:latin typeface="Calibri (MS)"/>
                  <a:ea typeface="Calibri (MS)"/>
                  <a:cs typeface="Calibri (MS)"/>
                  <a:sym typeface="Calibri (MS)"/>
                </a:rPr>
                <a:t>  Machine Learning Engineer   ·   </a:t>
              </a:r>
              <a:r>
                <a:rPr lang="en-US" b="true" sz="2100">
                  <a:solidFill>
                    <a:srgbClr val="3A58E4"/>
                  </a:solidFill>
                  <a:latin typeface="Calibri (MS) Bold"/>
                  <a:ea typeface="Calibri (MS) Bold"/>
                  <a:cs typeface="Calibri (MS) Bold"/>
                  <a:sym typeface="Calibri (MS) Bold"/>
                </a:rPr>
                <a:t>Lisseth</a:t>
              </a:r>
              <a:r>
                <a:rPr lang="en-US" sz="2100">
                  <a:solidFill>
                    <a:srgbClr val="3A58E4"/>
                  </a:solidFill>
                  <a:latin typeface="Calibri (MS)"/>
                  <a:ea typeface="Calibri (MS)"/>
                  <a:cs typeface="Calibri (MS)"/>
                  <a:sym typeface="Calibri (MS)"/>
                </a:rPr>
                <a:t>  Data Analyst   ·   </a:t>
              </a:r>
              <a:r>
                <a:rPr lang="en-US" b="true" sz="2100">
                  <a:solidFill>
                    <a:srgbClr val="3A58E4"/>
                  </a:solidFill>
                  <a:latin typeface="Calibri (MS) Bold"/>
                  <a:ea typeface="Calibri (MS) Bold"/>
                  <a:cs typeface="Calibri (MS) Bold"/>
                  <a:sym typeface="Calibri (MS) Bold"/>
                </a:rPr>
                <a:t>Mafer</a:t>
              </a:r>
              <a:r>
                <a:rPr lang="en-US" sz="2100">
                  <a:solidFill>
                    <a:srgbClr val="3A58E4"/>
                  </a:solidFill>
                  <a:latin typeface="Calibri (MS)"/>
                  <a:ea typeface="Calibri (MS)"/>
                  <a:cs typeface="Calibri (MS)"/>
                  <a:sym typeface="Calibri (MS)"/>
                </a:rPr>
                <a:t>  Full-Stack Developer &amp; UX/UI Designer</a:t>
              </a: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9FBFC"/>
        </a:solidFill>
      </p:bgPr>
    </p:bg>
    <p:spTree>
      <p:nvGrpSpPr>
        <p:cNvPr id="1" name=""/>
        <p:cNvGrpSpPr/>
        <p:nvPr/>
      </p:nvGrpSpPr>
      <p:grpSpPr>
        <a:xfrm>
          <a:off x="0" y="0"/>
          <a:ext cx="0" cy="0"/>
          <a:chOff x="0" y="0"/>
          <a:chExt cx="0" cy="0"/>
        </a:xfrm>
      </p:grpSpPr>
      <p:grpSp>
        <p:nvGrpSpPr>
          <p:cNvPr name="Group 2" id="2"/>
          <p:cNvGrpSpPr/>
          <p:nvPr/>
        </p:nvGrpSpPr>
        <p:grpSpPr>
          <a:xfrm rot="0">
            <a:off x="822960" y="480060"/>
            <a:ext cx="13716000" cy="480060"/>
            <a:chOff x="0" y="0"/>
            <a:chExt cx="18288000" cy="640080"/>
          </a:xfrm>
        </p:grpSpPr>
        <p:sp>
          <p:nvSpPr>
            <p:cNvPr name="Freeform 3" id="3"/>
            <p:cNvSpPr/>
            <p:nvPr/>
          </p:nvSpPr>
          <p:spPr>
            <a:xfrm flipH="false" flipV="false" rot="0">
              <a:off x="0" y="0"/>
              <a:ext cx="18288000" cy="640080"/>
            </a:xfrm>
            <a:custGeom>
              <a:avLst/>
              <a:gdLst/>
              <a:ahLst/>
              <a:cxnLst/>
              <a:rect r="r" b="b" t="t" l="l"/>
              <a:pathLst>
                <a:path h="640080" w="18288000">
                  <a:moveTo>
                    <a:pt x="0" y="0"/>
                  </a:moveTo>
                  <a:lnTo>
                    <a:pt x="18288000" y="0"/>
                  </a:lnTo>
                  <a:lnTo>
                    <a:pt x="18288000" y="640080"/>
                  </a:lnTo>
                  <a:lnTo>
                    <a:pt x="0" y="640080"/>
                  </a:lnTo>
                  <a:close/>
                </a:path>
              </a:pathLst>
            </a:custGeom>
            <a:blipFill>
              <a:blip r:embed="rId2">
                <a:alphaModFix amt="0"/>
              </a:blip>
              <a:stretch>
                <a:fillRect l="0" t="-506327" r="0" b="-506329"/>
              </a:stretch>
            </a:blipFill>
          </p:spPr>
        </p:sp>
      </p:grpSp>
      <p:grpSp>
        <p:nvGrpSpPr>
          <p:cNvPr name="Group 4" id="4"/>
          <p:cNvGrpSpPr/>
          <p:nvPr/>
        </p:nvGrpSpPr>
        <p:grpSpPr>
          <a:xfrm rot="0">
            <a:off x="822960" y="451485"/>
            <a:ext cx="13716000" cy="508635"/>
            <a:chOff x="0" y="0"/>
            <a:chExt cx="18288000" cy="678180"/>
          </a:xfrm>
        </p:grpSpPr>
        <p:sp>
          <p:nvSpPr>
            <p:cNvPr name="Freeform 5" id="5"/>
            <p:cNvSpPr/>
            <p:nvPr/>
          </p:nvSpPr>
          <p:spPr>
            <a:xfrm flipH="false" flipV="false" rot="0">
              <a:off x="0" y="0"/>
              <a:ext cx="18288000" cy="678180"/>
            </a:xfrm>
            <a:custGeom>
              <a:avLst/>
              <a:gdLst/>
              <a:ahLst/>
              <a:cxnLst/>
              <a:rect r="r" b="b" t="t" l="l"/>
              <a:pathLst>
                <a:path h="678180" w="18288000">
                  <a:moveTo>
                    <a:pt x="0" y="0"/>
                  </a:moveTo>
                  <a:lnTo>
                    <a:pt x="18288000" y="0"/>
                  </a:lnTo>
                  <a:lnTo>
                    <a:pt x="18288000" y="678180"/>
                  </a:lnTo>
                  <a:lnTo>
                    <a:pt x="0" y="678180"/>
                  </a:lnTo>
                  <a:close/>
                </a:path>
              </a:pathLst>
            </a:custGeom>
            <a:blipFill>
              <a:blip r:embed="rId3">
                <a:alphaModFix amt="0"/>
              </a:blip>
              <a:stretch>
                <a:fillRect l="0" t="-475439" r="0" b="-475439"/>
              </a:stretch>
            </a:blipFill>
          </p:spPr>
        </p:sp>
        <p:sp>
          <p:nvSpPr>
            <p:cNvPr name="TextBox 6" id="6"/>
            <p:cNvSpPr txBox="true"/>
            <p:nvPr/>
          </p:nvSpPr>
          <p:spPr>
            <a:xfrm>
              <a:off x="0" y="-38100"/>
              <a:ext cx="18288000" cy="716280"/>
            </a:xfrm>
            <a:prstGeom prst="rect">
              <a:avLst/>
            </a:prstGeom>
          </p:spPr>
          <p:txBody>
            <a:bodyPr anchor="ctr" rtlCol="false" tIns="0" lIns="0" bIns="0" rIns="0"/>
            <a:lstStyle/>
            <a:p>
              <a:pPr algn="l">
                <a:lnSpc>
                  <a:spcPts val="2160"/>
                </a:lnSpc>
              </a:pPr>
              <a:r>
                <a:rPr lang="en-US" b="true" sz="1800" spc="225">
                  <a:solidFill>
                    <a:srgbClr val="9495A2"/>
                  </a:solidFill>
                  <a:latin typeface="Calibri (MS) Bold"/>
                  <a:ea typeface="Calibri (MS) Bold"/>
                  <a:cs typeface="Calibri (MS) Bold"/>
                  <a:sym typeface="Calibri (MS) Bold"/>
                </a:rPr>
                <a:t>PROJECT PROPOSAL</a:t>
              </a:r>
            </a:p>
          </p:txBody>
        </p:sp>
      </p:grpSp>
      <p:grpSp>
        <p:nvGrpSpPr>
          <p:cNvPr name="Group 7" id="7"/>
          <p:cNvGrpSpPr/>
          <p:nvPr/>
        </p:nvGrpSpPr>
        <p:grpSpPr>
          <a:xfrm rot="0">
            <a:off x="822960" y="932688"/>
            <a:ext cx="16184880" cy="960120"/>
            <a:chOff x="0" y="0"/>
            <a:chExt cx="21579840" cy="1280160"/>
          </a:xfrm>
        </p:grpSpPr>
        <p:sp>
          <p:nvSpPr>
            <p:cNvPr name="Freeform 8" id="8"/>
            <p:cNvSpPr/>
            <p:nvPr/>
          </p:nvSpPr>
          <p:spPr>
            <a:xfrm flipH="false" flipV="false" rot="0">
              <a:off x="0" y="0"/>
              <a:ext cx="21579839" cy="1280160"/>
            </a:xfrm>
            <a:custGeom>
              <a:avLst/>
              <a:gdLst/>
              <a:ahLst/>
              <a:cxnLst/>
              <a:rect r="r" b="b" t="t" l="l"/>
              <a:pathLst>
                <a:path h="1280160" w="21579839">
                  <a:moveTo>
                    <a:pt x="0" y="0"/>
                  </a:moveTo>
                  <a:lnTo>
                    <a:pt x="21579839" y="0"/>
                  </a:lnTo>
                  <a:lnTo>
                    <a:pt x="21579839" y="1280160"/>
                  </a:lnTo>
                  <a:lnTo>
                    <a:pt x="0" y="1280160"/>
                  </a:lnTo>
                  <a:close/>
                </a:path>
              </a:pathLst>
            </a:custGeom>
            <a:blipFill>
              <a:blip r:embed="rId2">
                <a:alphaModFix amt="0"/>
              </a:blip>
              <a:stretch>
                <a:fillRect l="0" t="-278234" r="0" b="-278233"/>
              </a:stretch>
            </a:blipFill>
          </p:spPr>
        </p:sp>
      </p:grpSp>
      <p:grpSp>
        <p:nvGrpSpPr>
          <p:cNvPr name="Group 9" id="9"/>
          <p:cNvGrpSpPr/>
          <p:nvPr/>
        </p:nvGrpSpPr>
        <p:grpSpPr>
          <a:xfrm rot="0">
            <a:off x="822960" y="918400"/>
            <a:ext cx="16184880" cy="974407"/>
            <a:chOff x="0" y="0"/>
            <a:chExt cx="21579840" cy="1299210"/>
          </a:xfrm>
        </p:grpSpPr>
        <p:sp>
          <p:nvSpPr>
            <p:cNvPr name="Freeform 10" id="10"/>
            <p:cNvSpPr/>
            <p:nvPr/>
          </p:nvSpPr>
          <p:spPr>
            <a:xfrm flipH="false" flipV="false" rot="0">
              <a:off x="0" y="0"/>
              <a:ext cx="21579839" cy="1299210"/>
            </a:xfrm>
            <a:custGeom>
              <a:avLst/>
              <a:gdLst/>
              <a:ahLst/>
              <a:cxnLst/>
              <a:rect r="r" b="b" t="t" l="l"/>
              <a:pathLst>
                <a:path h="1299210" w="21579839">
                  <a:moveTo>
                    <a:pt x="0" y="0"/>
                  </a:moveTo>
                  <a:lnTo>
                    <a:pt x="21579839" y="0"/>
                  </a:lnTo>
                  <a:lnTo>
                    <a:pt x="21579839" y="1299210"/>
                  </a:lnTo>
                  <a:lnTo>
                    <a:pt x="0" y="1299210"/>
                  </a:lnTo>
                  <a:close/>
                </a:path>
              </a:pathLst>
            </a:custGeom>
            <a:blipFill>
              <a:blip r:embed="rId3">
                <a:alphaModFix amt="0"/>
              </a:blip>
              <a:stretch>
                <a:fillRect l="0" t="-273645" r="0" b="-273645"/>
              </a:stretch>
            </a:blipFill>
          </p:spPr>
        </p:sp>
        <p:sp>
          <p:nvSpPr>
            <p:cNvPr name="TextBox 11" id="11"/>
            <p:cNvSpPr txBox="true"/>
            <p:nvPr/>
          </p:nvSpPr>
          <p:spPr>
            <a:xfrm>
              <a:off x="0" y="-19050"/>
              <a:ext cx="21579840" cy="1318260"/>
            </a:xfrm>
            <a:prstGeom prst="rect">
              <a:avLst/>
            </a:prstGeom>
          </p:spPr>
          <p:txBody>
            <a:bodyPr anchor="ctr" rtlCol="false" tIns="0" lIns="0" bIns="0" rIns="0"/>
            <a:lstStyle/>
            <a:p>
              <a:pPr algn="l">
                <a:lnSpc>
                  <a:spcPts val="5400"/>
                </a:lnSpc>
              </a:pPr>
              <a:r>
                <a:rPr lang="en-US" sz="4500" b="true">
                  <a:solidFill>
                    <a:srgbClr val="0F1017"/>
                  </a:solidFill>
                  <a:latin typeface="Cambria Bold"/>
                  <a:ea typeface="Cambria Bold"/>
                  <a:cs typeface="Cambria Bold"/>
                  <a:sym typeface="Cambria Bold"/>
                </a:rPr>
                <a:t>Abstract</a:t>
              </a:r>
            </a:p>
          </p:txBody>
        </p:sp>
      </p:grpSp>
      <p:grpSp>
        <p:nvGrpSpPr>
          <p:cNvPr name="Group 12" id="12"/>
          <p:cNvGrpSpPr/>
          <p:nvPr/>
        </p:nvGrpSpPr>
        <p:grpSpPr>
          <a:xfrm rot="0">
            <a:off x="822960" y="2331720"/>
            <a:ext cx="16596360" cy="6309360"/>
            <a:chOff x="0" y="0"/>
            <a:chExt cx="22128480" cy="8412480"/>
          </a:xfrm>
        </p:grpSpPr>
        <p:sp>
          <p:nvSpPr>
            <p:cNvPr name="Freeform 13" id="13"/>
            <p:cNvSpPr/>
            <p:nvPr/>
          </p:nvSpPr>
          <p:spPr>
            <a:xfrm flipH="false" flipV="false" rot="0">
              <a:off x="0" y="0"/>
              <a:ext cx="22128480" cy="8412480"/>
            </a:xfrm>
            <a:custGeom>
              <a:avLst/>
              <a:gdLst/>
              <a:ahLst/>
              <a:cxnLst/>
              <a:rect r="r" b="b" t="t" l="l"/>
              <a:pathLst>
                <a:path h="8412480" w="22128480">
                  <a:moveTo>
                    <a:pt x="0" y="182880"/>
                  </a:moveTo>
                  <a:cubicBezTo>
                    <a:pt x="0" y="81915"/>
                    <a:pt x="81915" y="0"/>
                    <a:pt x="182880" y="0"/>
                  </a:cubicBezTo>
                  <a:lnTo>
                    <a:pt x="21945600" y="0"/>
                  </a:lnTo>
                  <a:cubicBezTo>
                    <a:pt x="22046564" y="0"/>
                    <a:pt x="22128480" y="81915"/>
                    <a:pt x="22128480" y="182880"/>
                  </a:cubicBezTo>
                  <a:lnTo>
                    <a:pt x="22128480" y="8229600"/>
                  </a:lnTo>
                  <a:cubicBezTo>
                    <a:pt x="22128480" y="8330565"/>
                    <a:pt x="22046564" y="8412480"/>
                    <a:pt x="21945600" y="8412480"/>
                  </a:cubicBezTo>
                  <a:lnTo>
                    <a:pt x="182880" y="8412480"/>
                  </a:lnTo>
                  <a:cubicBezTo>
                    <a:pt x="81915" y="8412480"/>
                    <a:pt x="0" y="8330565"/>
                    <a:pt x="0" y="8229600"/>
                  </a:cubicBezTo>
                  <a:close/>
                </a:path>
              </a:pathLst>
            </a:custGeom>
            <a:solidFill>
              <a:srgbClr val="2B3D9C"/>
            </a:solidFill>
          </p:spPr>
        </p:sp>
      </p:grpSp>
      <p:grpSp>
        <p:nvGrpSpPr>
          <p:cNvPr name="Group 14" id="14"/>
          <p:cNvGrpSpPr/>
          <p:nvPr/>
        </p:nvGrpSpPr>
        <p:grpSpPr>
          <a:xfrm rot="0">
            <a:off x="1371600" y="2811780"/>
            <a:ext cx="15499080" cy="2743200"/>
            <a:chOff x="0" y="0"/>
            <a:chExt cx="20665440" cy="3657600"/>
          </a:xfrm>
        </p:grpSpPr>
        <p:sp>
          <p:nvSpPr>
            <p:cNvPr name="Freeform 15" id="15"/>
            <p:cNvSpPr/>
            <p:nvPr/>
          </p:nvSpPr>
          <p:spPr>
            <a:xfrm flipH="false" flipV="false" rot="0">
              <a:off x="0" y="0"/>
              <a:ext cx="20665439" cy="3657600"/>
            </a:xfrm>
            <a:custGeom>
              <a:avLst/>
              <a:gdLst/>
              <a:ahLst/>
              <a:cxnLst/>
              <a:rect r="r" b="b" t="t" l="l"/>
              <a:pathLst>
                <a:path h="3657600" w="20665439">
                  <a:moveTo>
                    <a:pt x="0" y="0"/>
                  </a:moveTo>
                  <a:lnTo>
                    <a:pt x="20665439" y="0"/>
                  </a:lnTo>
                  <a:lnTo>
                    <a:pt x="20665439" y="3657600"/>
                  </a:lnTo>
                  <a:lnTo>
                    <a:pt x="0" y="3657600"/>
                  </a:lnTo>
                  <a:close/>
                </a:path>
              </a:pathLst>
            </a:custGeom>
            <a:blipFill>
              <a:blip r:embed="rId2">
                <a:alphaModFix amt="0"/>
              </a:blip>
              <a:stretch>
                <a:fillRect l="0" t="-60013" r="0" b="-60013"/>
              </a:stretch>
            </a:blipFill>
          </p:spPr>
        </p:sp>
      </p:grpSp>
      <p:grpSp>
        <p:nvGrpSpPr>
          <p:cNvPr name="Group 16" id="16"/>
          <p:cNvGrpSpPr/>
          <p:nvPr/>
        </p:nvGrpSpPr>
        <p:grpSpPr>
          <a:xfrm rot="0">
            <a:off x="1371600" y="2718911"/>
            <a:ext cx="15499080" cy="2836069"/>
            <a:chOff x="0" y="0"/>
            <a:chExt cx="20665440" cy="3781425"/>
          </a:xfrm>
        </p:grpSpPr>
        <p:sp>
          <p:nvSpPr>
            <p:cNvPr name="Freeform 17" id="17"/>
            <p:cNvSpPr/>
            <p:nvPr/>
          </p:nvSpPr>
          <p:spPr>
            <a:xfrm flipH="false" flipV="false" rot="0">
              <a:off x="0" y="0"/>
              <a:ext cx="20665439" cy="3781425"/>
            </a:xfrm>
            <a:custGeom>
              <a:avLst/>
              <a:gdLst/>
              <a:ahLst/>
              <a:cxnLst/>
              <a:rect r="r" b="b" t="t" l="l"/>
              <a:pathLst>
                <a:path h="3781425" w="20665439">
                  <a:moveTo>
                    <a:pt x="0" y="0"/>
                  </a:moveTo>
                  <a:lnTo>
                    <a:pt x="20665439" y="0"/>
                  </a:lnTo>
                  <a:lnTo>
                    <a:pt x="20665439" y="3781425"/>
                  </a:lnTo>
                  <a:lnTo>
                    <a:pt x="0" y="3781425"/>
                  </a:lnTo>
                  <a:close/>
                </a:path>
              </a:pathLst>
            </a:custGeom>
            <a:blipFill>
              <a:blip r:embed="rId3">
                <a:alphaModFix amt="0"/>
              </a:blip>
              <a:stretch>
                <a:fillRect l="0" t="-56485" r="0" b="-56485"/>
              </a:stretch>
            </a:blipFill>
          </p:spPr>
        </p:sp>
        <p:sp>
          <p:nvSpPr>
            <p:cNvPr name="TextBox 18" id="18"/>
            <p:cNvSpPr txBox="true"/>
            <p:nvPr/>
          </p:nvSpPr>
          <p:spPr>
            <a:xfrm>
              <a:off x="0" y="-123825"/>
              <a:ext cx="20665440" cy="3905250"/>
            </a:xfrm>
            <a:prstGeom prst="rect">
              <a:avLst/>
            </a:prstGeom>
          </p:spPr>
          <p:txBody>
            <a:bodyPr anchor="ctr" rtlCol="false" tIns="0" lIns="0" bIns="0" rIns="0"/>
            <a:lstStyle/>
            <a:p>
              <a:pPr algn="l">
                <a:lnSpc>
                  <a:spcPts val="3744"/>
                </a:lnSpc>
              </a:pPr>
              <a:r>
                <a:rPr lang="en-US" sz="2400">
                  <a:solidFill>
                    <a:srgbClr val="F9FBFC"/>
                  </a:solidFill>
                  <a:latin typeface="Calibri (MS)"/>
                  <a:ea typeface="Calibri (MS)"/>
                  <a:cs typeface="Calibri (MS)"/>
                  <a:sym typeface="Calibri (MS)"/>
                </a:rPr>
                <a:t>•  Asistente de búsqueda inmobiliaria para compradores de vivienda propia en Lima Metropolitana.</a:t>
              </a:r>
            </a:p>
            <a:p>
              <a:pPr algn="l">
                <a:lnSpc>
                  <a:spcPts val="3744"/>
                </a:lnSpc>
              </a:pPr>
              <a:r>
                <a:rPr lang="en-US" sz="2400">
                  <a:solidFill>
                    <a:srgbClr val="F9FBFC"/>
                  </a:solidFill>
                  <a:latin typeface="Calibri (MS)"/>
                  <a:ea typeface="Calibri (MS)"/>
                  <a:cs typeface="Calibri (MS)"/>
                  <a:sym typeface="Calibri (MS)"/>
                </a:rPr>
                <a:t>•  Los portales actuales filtran por precio, distrito y número de habitaciones.</a:t>
              </a:r>
            </a:p>
            <a:p>
              <a:pPr algn="l">
                <a:lnSpc>
                  <a:spcPts val="3744"/>
                </a:lnSpc>
              </a:pPr>
              <a:r>
                <a:rPr lang="en-US" sz="2400">
                  <a:solidFill>
                    <a:srgbClr val="F9FBFC"/>
                  </a:solidFill>
                  <a:latin typeface="Calibri (MS)"/>
                  <a:ea typeface="Calibri (MS)"/>
                  <a:cs typeface="Calibri (MS)"/>
                  <a:sym typeface="Calibri (MS)"/>
                </a:rPr>
                <a:t>•  InmoScore agrega tres modelos sobre ese mismo inventario:</a:t>
              </a:r>
            </a:p>
            <a:p>
              <a:pPr algn="l">
                <a:lnSpc>
                  <a:spcPts val="3744"/>
                </a:lnSpc>
              </a:pPr>
              <a:r>
                <a:rPr lang="en-US" sz="2400">
                  <a:solidFill>
                    <a:srgbClr val="F9FBFC"/>
                  </a:solidFill>
                  <a:latin typeface="Calibri (MS)"/>
                  <a:ea typeface="Calibri (MS)"/>
                  <a:cs typeface="Calibri (MS)"/>
                  <a:sym typeface="Calibri (MS)"/>
                </a:rPr>
                <a:t>        ·  Motor de valoración de precios</a:t>
              </a:r>
            </a:p>
            <a:p>
              <a:pPr algn="l">
                <a:lnSpc>
                  <a:spcPts val="3744"/>
                </a:lnSpc>
              </a:pPr>
              <a:r>
                <a:rPr lang="en-US" sz="2400">
                  <a:solidFill>
                    <a:srgbClr val="F9FBFC"/>
                  </a:solidFill>
                  <a:latin typeface="Calibri (MS)"/>
                  <a:ea typeface="Calibri (MS)"/>
                  <a:cs typeface="Calibri (MS)"/>
                  <a:sym typeface="Calibri (MS)"/>
                </a:rPr>
                <a:t>        ·  Modelo de visión para la calidad del entorno</a:t>
              </a:r>
            </a:p>
            <a:p>
              <a:pPr algn="l">
                <a:lnSpc>
                  <a:spcPts val="3744"/>
                </a:lnSpc>
              </a:pPr>
              <a:r>
                <a:rPr lang="en-US" sz="2400">
                  <a:solidFill>
                    <a:srgbClr val="F9FBFC"/>
                  </a:solidFill>
                  <a:latin typeface="Calibri (MS)"/>
                  <a:ea typeface="Calibri (MS)"/>
                  <a:cs typeface="Calibri (MS)"/>
                  <a:sym typeface="Calibri (MS)"/>
                </a:rPr>
                <a:t>        ·  Motor de recomendación personalizado</a:t>
              </a:r>
            </a:p>
          </p:txBody>
        </p:sp>
      </p:grpSp>
      <p:grpSp>
        <p:nvGrpSpPr>
          <p:cNvPr name="Group 19" id="19"/>
          <p:cNvGrpSpPr/>
          <p:nvPr/>
        </p:nvGrpSpPr>
        <p:grpSpPr>
          <a:xfrm rot="0">
            <a:off x="1371600" y="5760720"/>
            <a:ext cx="15499080" cy="2331720"/>
            <a:chOff x="0" y="0"/>
            <a:chExt cx="20665440" cy="3108960"/>
          </a:xfrm>
        </p:grpSpPr>
        <p:sp>
          <p:nvSpPr>
            <p:cNvPr name="Freeform 20" id="20"/>
            <p:cNvSpPr/>
            <p:nvPr/>
          </p:nvSpPr>
          <p:spPr>
            <a:xfrm flipH="false" flipV="false" rot="0">
              <a:off x="0" y="0"/>
              <a:ext cx="20665439" cy="3108960"/>
            </a:xfrm>
            <a:custGeom>
              <a:avLst/>
              <a:gdLst/>
              <a:ahLst/>
              <a:cxnLst/>
              <a:rect r="r" b="b" t="t" l="l"/>
              <a:pathLst>
                <a:path h="3108960" w="20665439">
                  <a:moveTo>
                    <a:pt x="0" y="0"/>
                  </a:moveTo>
                  <a:lnTo>
                    <a:pt x="20665439" y="0"/>
                  </a:lnTo>
                  <a:lnTo>
                    <a:pt x="20665439" y="3108960"/>
                  </a:lnTo>
                  <a:lnTo>
                    <a:pt x="0" y="3108960"/>
                  </a:lnTo>
                  <a:close/>
                </a:path>
              </a:pathLst>
            </a:custGeom>
            <a:blipFill>
              <a:blip r:embed="rId2">
                <a:alphaModFix amt="0"/>
              </a:blip>
              <a:stretch>
                <a:fillRect l="0" t="-79428" r="0" b="-79428"/>
              </a:stretch>
            </a:blipFill>
          </p:spPr>
        </p:sp>
      </p:grpSp>
      <p:grpSp>
        <p:nvGrpSpPr>
          <p:cNvPr name="Group 21" id="21"/>
          <p:cNvGrpSpPr/>
          <p:nvPr/>
        </p:nvGrpSpPr>
        <p:grpSpPr>
          <a:xfrm rot="0">
            <a:off x="1371600" y="5667851"/>
            <a:ext cx="15499080" cy="2424589"/>
            <a:chOff x="0" y="0"/>
            <a:chExt cx="20665440" cy="3232785"/>
          </a:xfrm>
        </p:grpSpPr>
        <p:sp>
          <p:nvSpPr>
            <p:cNvPr name="Freeform 22" id="22"/>
            <p:cNvSpPr/>
            <p:nvPr/>
          </p:nvSpPr>
          <p:spPr>
            <a:xfrm flipH="false" flipV="false" rot="0">
              <a:off x="0" y="0"/>
              <a:ext cx="20665439" cy="3232785"/>
            </a:xfrm>
            <a:custGeom>
              <a:avLst/>
              <a:gdLst/>
              <a:ahLst/>
              <a:cxnLst/>
              <a:rect r="r" b="b" t="t" l="l"/>
              <a:pathLst>
                <a:path h="3232785" w="20665439">
                  <a:moveTo>
                    <a:pt x="0" y="0"/>
                  </a:moveTo>
                  <a:lnTo>
                    <a:pt x="20665439" y="0"/>
                  </a:lnTo>
                  <a:lnTo>
                    <a:pt x="20665439" y="3232785"/>
                  </a:lnTo>
                  <a:lnTo>
                    <a:pt x="0" y="3232785"/>
                  </a:lnTo>
                  <a:close/>
                </a:path>
              </a:pathLst>
            </a:custGeom>
            <a:blipFill>
              <a:blip r:embed="rId3">
                <a:alphaModFix amt="0"/>
              </a:blip>
              <a:stretch>
                <a:fillRect l="0" t="-74557" r="0" b="-74557"/>
              </a:stretch>
            </a:blipFill>
          </p:spPr>
        </p:sp>
        <p:sp>
          <p:nvSpPr>
            <p:cNvPr name="TextBox 23" id="23"/>
            <p:cNvSpPr txBox="true"/>
            <p:nvPr/>
          </p:nvSpPr>
          <p:spPr>
            <a:xfrm>
              <a:off x="0" y="-123825"/>
              <a:ext cx="20665440" cy="3356610"/>
            </a:xfrm>
            <a:prstGeom prst="rect">
              <a:avLst/>
            </a:prstGeom>
          </p:spPr>
          <p:txBody>
            <a:bodyPr anchor="ctr" rtlCol="false" tIns="0" lIns="0" bIns="0" rIns="0"/>
            <a:lstStyle/>
            <a:p>
              <a:pPr algn="l">
                <a:lnSpc>
                  <a:spcPts val="3744"/>
                </a:lnSpc>
              </a:pPr>
              <a:r>
                <a:rPr lang="en-US" sz="2400">
                  <a:solidFill>
                    <a:srgbClr val="F9FBFC"/>
                  </a:solidFill>
                  <a:latin typeface="Calibri (MS)"/>
                  <a:ea typeface="Calibri (MS)"/>
                  <a:cs typeface="Calibri (MS)"/>
                  <a:sym typeface="Calibri (MS)"/>
                </a:rPr>
                <a:t>•  Base de datos: seis fuentes públicas consolidadas, entre ellas 24 148 transacciones cerradas y 3 987 avisos de venta.</a:t>
              </a:r>
            </a:p>
            <a:p>
              <a:pPr algn="l">
                <a:lnSpc>
                  <a:spcPts val="3744"/>
                </a:lnSpc>
              </a:pPr>
              <a:r>
                <a:rPr lang="en-US" sz="2400">
                  <a:solidFill>
                    <a:srgbClr val="F9FBFC"/>
                  </a:solidFill>
                  <a:latin typeface="Calibri (MS)"/>
                  <a:ea typeface="Calibri (MS)"/>
                  <a:cs typeface="Calibri (MS)"/>
                  <a:sym typeface="Calibri (MS)"/>
                </a:rPr>
                <a:t>•  Salida: ranking ordenado por perfil, con la explicación de cada recomendación en lenguaje natural.</a:t>
              </a:r>
            </a:p>
          </p:txBody>
        </p:sp>
      </p:grpSp>
      <p:grpSp>
        <p:nvGrpSpPr>
          <p:cNvPr name="Group 24" id="24"/>
          <p:cNvGrpSpPr/>
          <p:nvPr/>
        </p:nvGrpSpPr>
        <p:grpSpPr>
          <a:xfrm rot="0">
            <a:off x="685800" y="9738360"/>
            <a:ext cx="8229600" cy="411480"/>
            <a:chOff x="0" y="0"/>
            <a:chExt cx="10972800" cy="548640"/>
          </a:xfrm>
        </p:grpSpPr>
        <p:sp>
          <p:nvSpPr>
            <p:cNvPr name="Freeform 25" id="25"/>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26" id="26"/>
          <p:cNvGrpSpPr/>
          <p:nvPr/>
        </p:nvGrpSpPr>
        <p:grpSpPr>
          <a:xfrm rot="0">
            <a:off x="685800" y="9709785"/>
            <a:ext cx="8229600" cy="440055"/>
            <a:chOff x="0" y="0"/>
            <a:chExt cx="10972800" cy="586740"/>
          </a:xfrm>
        </p:grpSpPr>
        <p:sp>
          <p:nvSpPr>
            <p:cNvPr name="Freeform 27" id="27"/>
            <p:cNvSpPr/>
            <p:nvPr/>
          </p:nvSpPr>
          <p:spPr>
            <a:xfrm flipH="false" flipV="false" rot="0">
              <a:off x="0" y="0"/>
              <a:ext cx="10972800" cy="586740"/>
            </a:xfrm>
            <a:custGeom>
              <a:avLst/>
              <a:gdLst/>
              <a:ahLst/>
              <a:cxnLst/>
              <a:rect r="r" b="b" t="t" l="l"/>
              <a:pathLst>
                <a:path h="586740" w="10972800">
                  <a:moveTo>
                    <a:pt x="0" y="0"/>
                  </a:moveTo>
                  <a:lnTo>
                    <a:pt x="10972800" y="0"/>
                  </a:lnTo>
                  <a:lnTo>
                    <a:pt x="10972800" y="586740"/>
                  </a:lnTo>
                  <a:lnTo>
                    <a:pt x="0" y="586740"/>
                  </a:lnTo>
                  <a:close/>
                </a:path>
              </a:pathLst>
            </a:custGeom>
            <a:blipFill>
              <a:blip r:embed="rId3">
                <a:alphaModFix amt="0"/>
              </a:blip>
              <a:stretch>
                <a:fillRect l="0" t="-314395" r="0" b="-314395"/>
              </a:stretch>
            </a:blipFill>
          </p:spPr>
        </p:sp>
        <p:sp>
          <p:nvSpPr>
            <p:cNvPr name="TextBox 28" id="28"/>
            <p:cNvSpPr txBox="true"/>
            <p:nvPr/>
          </p:nvSpPr>
          <p:spPr>
            <a:xfrm>
              <a:off x="0" y="-38100"/>
              <a:ext cx="10972800" cy="624840"/>
            </a:xfrm>
            <a:prstGeom prst="rect">
              <a:avLst/>
            </a:prstGeom>
          </p:spPr>
          <p:txBody>
            <a:bodyPr anchor="ctr" rtlCol="false" tIns="0" lIns="0" bIns="0" rIns="0"/>
            <a:lstStyle/>
            <a:p>
              <a:pPr algn="l">
                <a:lnSpc>
                  <a:spcPts val="1800"/>
                </a:lnSpc>
              </a:pPr>
              <a:r>
                <a:rPr lang="en-US" sz="1500">
                  <a:solidFill>
                    <a:srgbClr val="35448A"/>
                  </a:solidFill>
                  <a:latin typeface="Calibri (MS)"/>
                  <a:ea typeface="Calibri (MS)"/>
                  <a:cs typeface="Calibri (MS)"/>
                  <a:sym typeface="Calibri (MS)"/>
                </a:rPr>
                <a:t>InmoScore · Week 5</a:t>
              </a:r>
            </a:p>
          </p:txBody>
        </p:sp>
      </p:grpSp>
      <p:grpSp>
        <p:nvGrpSpPr>
          <p:cNvPr name="Group 29" id="29"/>
          <p:cNvGrpSpPr/>
          <p:nvPr/>
        </p:nvGrpSpPr>
        <p:grpSpPr>
          <a:xfrm rot="0">
            <a:off x="17048988" y="9738360"/>
            <a:ext cx="548640" cy="411480"/>
            <a:chOff x="0" y="0"/>
            <a:chExt cx="731520" cy="548640"/>
          </a:xfrm>
        </p:grpSpPr>
        <p:sp>
          <p:nvSpPr>
            <p:cNvPr name="Freeform 30" id="30"/>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31" id="31"/>
          <p:cNvGrpSpPr/>
          <p:nvPr/>
        </p:nvGrpSpPr>
        <p:grpSpPr>
          <a:xfrm rot="0">
            <a:off x="17048988" y="9709785"/>
            <a:ext cx="548640" cy="440055"/>
            <a:chOff x="0" y="0"/>
            <a:chExt cx="731520" cy="586740"/>
          </a:xfrm>
        </p:grpSpPr>
        <p:sp>
          <p:nvSpPr>
            <p:cNvPr name="Freeform 32" id="32"/>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33" id="33"/>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35448A"/>
                  </a:solidFill>
                  <a:latin typeface="Calibri (MS)"/>
                  <a:ea typeface="Calibri (MS)"/>
                  <a:cs typeface="Calibri (MS)"/>
                  <a:sym typeface="Calibri (MS)"/>
                </a:rPr>
                <a:t>2</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9FBFC"/>
        </a:solidFill>
      </p:bgPr>
    </p:bg>
    <p:spTree>
      <p:nvGrpSpPr>
        <p:cNvPr id="1" name=""/>
        <p:cNvGrpSpPr/>
        <p:nvPr/>
      </p:nvGrpSpPr>
      <p:grpSpPr>
        <a:xfrm>
          <a:off x="0" y="0"/>
          <a:ext cx="0" cy="0"/>
          <a:chOff x="0" y="0"/>
          <a:chExt cx="0" cy="0"/>
        </a:xfrm>
      </p:grpSpPr>
      <p:grpSp>
        <p:nvGrpSpPr>
          <p:cNvPr name="Group 2" id="2"/>
          <p:cNvGrpSpPr/>
          <p:nvPr/>
        </p:nvGrpSpPr>
        <p:grpSpPr>
          <a:xfrm rot="0">
            <a:off x="822960" y="480060"/>
            <a:ext cx="13716000" cy="480060"/>
            <a:chOff x="0" y="0"/>
            <a:chExt cx="18288000" cy="640080"/>
          </a:xfrm>
        </p:grpSpPr>
        <p:sp>
          <p:nvSpPr>
            <p:cNvPr name="Freeform 3" id="3"/>
            <p:cNvSpPr/>
            <p:nvPr/>
          </p:nvSpPr>
          <p:spPr>
            <a:xfrm flipH="false" flipV="false" rot="0">
              <a:off x="0" y="0"/>
              <a:ext cx="18288000" cy="640080"/>
            </a:xfrm>
            <a:custGeom>
              <a:avLst/>
              <a:gdLst/>
              <a:ahLst/>
              <a:cxnLst/>
              <a:rect r="r" b="b" t="t" l="l"/>
              <a:pathLst>
                <a:path h="640080" w="18288000">
                  <a:moveTo>
                    <a:pt x="0" y="0"/>
                  </a:moveTo>
                  <a:lnTo>
                    <a:pt x="18288000" y="0"/>
                  </a:lnTo>
                  <a:lnTo>
                    <a:pt x="18288000" y="640080"/>
                  </a:lnTo>
                  <a:lnTo>
                    <a:pt x="0" y="640080"/>
                  </a:lnTo>
                  <a:close/>
                </a:path>
              </a:pathLst>
            </a:custGeom>
            <a:blipFill>
              <a:blip r:embed="rId2">
                <a:alphaModFix amt="0"/>
              </a:blip>
              <a:stretch>
                <a:fillRect l="0" t="-506327" r="0" b="-506329"/>
              </a:stretch>
            </a:blipFill>
          </p:spPr>
        </p:sp>
      </p:grpSp>
      <p:grpSp>
        <p:nvGrpSpPr>
          <p:cNvPr name="Group 4" id="4"/>
          <p:cNvGrpSpPr/>
          <p:nvPr/>
        </p:nvGrpSpPr>
        <p:grpSpPr>
          <a:xfrm rot="0">
            <a:off x="822960" y="451485"/>
            <a:ext cx="13716000" cy="508635"/>
            <a:chOff x="0" y="0"/>
            <a:chExt cx="18288000" cy="678180"/>
          </a:xfrm>
        </p:grpSpPr>
        <p:sp>
          <p:nvSpPr>
            <p:cNvPr name="Freeform 5" id="5"/>
            <p:cNvSpPr/>
            <p:nvPr/>
          </p:nvSpPr>
          <p:spPr>
            <a:xfrm flipH="false" flipV="false" rot="0">
              <a:off x="0" y="0"/>
              <a:ext cx="18288000" cy="678180"/>
            </a:xfrm>
            <a:custGeom>
              <a:avLst/>
              <a:gdLst/>
              <a:ahLst/>
              <a:cxnLst/>
              <a:rect r="r" b="b" t="t" l="l"/>
              <a:pathLst>
                <a:path h="678180" w="18288000">
                  <a:moveTo>
                    <a:pt x="0" y="0"/>
                  </a:moveTo>
                  <a:lnTo>
                    <a:pt x="18288000" y="0"/>
                  </a:lnTo>
                  <a:lnTo>
                    <a:pt x="18288000" y="678180"/>
                  </a:lnTo>
                  <a:lnTo>
                    <a:pt x="0" y="678180"/>
                  </a:lnTo>
                  <a:close/>
                </a:path>
              </a:pathLst>
            </a:custGeom>
            <a:blipFill>
              <a:blip r:embed="rId3">
                <a:alphaModFix amt="0"/>
              </a:blip>
              <a:stretch>
                <a:fillRect l="0" t="-475439" r="0" b="-475439"/>
              </a:stretch>
            </a:blipFill>
          </p:spPr>
        </p:sp>
        <p:sp>
          <p:nvSpPr>
            <p:cNvPr name="TextBox 6" id="6"/>
            <p:cNvSpPr txBox="true"/>
            <p:nvPr/>
          </p:nvSpPr>
          <p:spPr>
            <a:xfrm>
              <a:off x="0" y="-38100"/>
              <a:ext cx="18288000" cy="716280"/>
            </a:xfrm>
            <a:prstGeom prst="rect">
              <a:avLst/>
            </a:prstGeom>
          </p:spPr>
          <p:txBody>
            <a:bodyPr anchor="ctr" rtlCol="false" tIns="0" lIns="0" bIns="0" rIns="0"/>
            <a:lstStyle/>
            <a:p>
              <a:pPr algn="l">
                <a:lnSpc>
                  <a:spcPts val="2160"/>
                </a:lnSpc>
              </a:pPr>
              <a:r>
                <a:rPr lang="en-US" b="true" sz="1800" spc="225">
                  <a:solidFill>
                    <a:srgbClr val="9495A2"/>
                  </a:solidFill>
                  <a:latin typeface="Calibri (MS) Bold"/>
                  <a:ea typeface="Calibri (MS) Bold"/>
                  <a:cs typeface="Calibri (MS) Bold"/>
                  <a:sym typeface="Calibri (MS) Bold"/>
                </a:rPr>
                <a:t>PROJECT PROPOSAL</a:t>
              </a:r>
            </a:p>
          </p:txBody>
        </p:sp>
      </p:grpSp>
      <p:grpSp>
        <p:nvGrpSpPr>
          <p:cNvPr name="Group 7" id="7"/>
          <p:cNvGrpSpPr/>
          <p:nvPr/>
        </p:nvGrpSpPr>
        <p:grpSpPr>
          <a:xfrm rot="0">
            <a:off x="822960" y="932688"/>
            <a:ext cx="16184880" cy="960120"/>
            <a:chOff x="0" y="0"/>
            <a:chExt cx="21579840" cy="1280160"/>
          </a:xfrm>
        </p:grpSpPr>
        <p:sp>
          <p:nvSpPr>
            <p:cNvPr name="Freeform 8" id="8"/>
            <p:cNvSpPr/>
            <p:nvPr/>
          </p:nvSpPr>
          <p:spPr>
            <a:xfrm flipH="false" flipV="false" rot="0">
              <a:off x="0" y="0"/>
              <a:ext cx="21579839" cy="1280160"/>
            </a:xfrm>
            <a:custGeom>
              <a:avLst/>
              <a:gdLst/>
              <a:ahLst/>
              <a:cxnLst/>
              <a:rect r="r" b="b" t="t" l="l"/>
              <a:pathLst>
                <a:path h="1280160" w="21579839">
                  <a:moveTo>
                    <a:pt x="0" y="0"/>
                  </a:moveTo>
                  <a:lnTo>
                    <a:pt x="21579839" y="0"/>
                  </a:lnTo>
                  <a:lnTo>
                    <a:pt x="21579839" y="1280160"/>
                  </a:lnTo>
                  <a:lnTo>
                    <a:pt x="0" y="1280160"/>
                  </a:lnTo>
                  <a:close/>
                </a:path>
              </a:pathLst>
            </a:custGeom>
            <a:blipFill>
              <a:blip r:embed="rId2">
                <a:alphaModFix amt="0"/>
              </a:blip>
              <a:stretch>
                <a:fillRect l="0" t="-278234" r="0" b="-278233"/>
              </a:stretch>
            </a:blipFill>
          </p:spPr>
        </p:sp>
      </p:grpSp>
      <p:grpSp>
        <p:nvGrpSpPr>
          <p:cNvPr name="Group 9" id="9"/>
          <p:cNvGrpSpPr/>
          <p:nvPr/>
        </p:nvGrpSpPr>
        <p:grpSpPr>
          <a:xfrm rot="0">
            <a:off x="822960" y="918400"/>
            <a:ext cx="16184880" cy="974407"/>
            <a:chOff x="0" y="0"/>
            <a:chExt cx="21579840" cy="1299210"/>
          </a:xfrm>
        </p:grpSpPr>
        <p:sp>
          <p:nvSpPr>
            <p:cNvPr name="Freeform 10" id="10"/>
            <p:cNvSpPr/>
            <p:nvPr/>
          </p:nvSpPr>
          <p:spPr>
            <a:xfrm flipH="false" flipV="false" rot="0">
              <a:off x="0" y="0"/>
              <a:ext cx="21579839" cy="1299210"/>
            </a:xfrm>
            <a:custGeom>
              <a:avLst/>
              <a:gdLst/>
              <a:ahLst/>
              <a:cxnLst/>
              <a:rect r="r" b="b" t="t" l="l"/>
              <a:pathLst>
                <a:path h="1299210" w="21579839">
                  <a:moveTo>
                    <a:pt x="0" y="0"/>
                  </a:moveTo>
                  <a:lnTo>
                    <a:pt x="21579839" y="0"/>
                  </a:lnTo>
                  <a:lnTo>
                    <a:pt x="21579839" y="1299210"/>
                  </a:lnTo>
                  <a:lnTo>
                    <a:pt x="0" y="1299210"/>
                  </a:lnTo>
                  <a:close/>
                </a:path>
              </a:pathLst>
            </a:custGeom>
            <a:blipFill>
              <a:blip r:embed="rId3">
                <a:alphaModFix amt="0"/>
              </a:blip>
              <a:stretch>
                <a:fillRect l="0" t="-273645" r="0" b="-273645"/>
              </a:stretch>
            </a:blipFill>
          </p:spPr>
        </p:sp>
        <p:sp>
          <p:nvSpPr>
            <p:cNvPr name="TextBox 11" id="11"/>
            <p:cNvSpPr txBox="true"/>
            <p:nvPr/>
          </p:nvSpPr>
          <p:spPr>
            <a:xfrm>
              <a:off x="0" y="-19050"/>
              <a:ext cx="21579840" cy="1318260"/>
            </a:xfrm>
            <a:prstGeom prst="rect">
              <a:avLst/>
            </a:prstGeom>
          </p:spPr>
          <p:txBody>
            <a:bodyPr anchor="ctr" rtlCol="false" tIns="0" lIns="0" bIns="0" rIns="0"/>
            <a:lstStyle/>
            <a:p>
              <a:pPr algn="l">
                <a:lnSpc>
                  <a:spcPts val="5400"/>
                </a:lnSpc>
              </a:pPr>
              <a:r>
                <a:rPr lang="en-US" sz="4500" b="true">
                  <a:solidFill>
                    <a:srgbClr val="0F1017"/>
                  </a:solidFill>
                  <a:latin typeface="Cambria Bold"/>
                  <a:ea typeface="Cambria Bold"/>
                  <a:cs typeface="Cambria Bold"/>
                  <a:sym typeface="Cambria Bold"/>
                </a:rPr>
                <a:t>Background &amp; Problem Statement</a:t>
              </a:r>
            </a:p>
          </p:txBody>
        </p:sp>
      </p:grpSp>
      <p:grpSp>
        <p:nvGrpSpPr>
          <p:cNvPr name="Group 12" id="12"/>
          <p:cNvGrpSpPr/>
          <p:nvPr/>
        </p:nvGrpSpPr>
        <p:grpSpPr>
          <a:xfrm rot="0">
            <a:off x="822960" y="2331720"/>
            <a:ext cx="8092440" cy="6446520"/>
            <a:chOff x="0" y="0"/>
            <a:chExt cx="10789920" cy="8595360"/>
          </a:xfrm>
        </p:grpSpPr>
        <p:sp>
          <p:nvSpPr>
            <p:cNvPr name="Freeform 13" id="13"/>
            <p:cNvSpPr/>
            <p:nvPr/>
          </p:nvSpPr>
          <p:spPr>
            <a:xfrm flipH="false" flipV="false" rot="0">
              <a:off x="0" y="0"/>
              <a:ext cx="10789920" cy="8595360"/>
            </a:xfrm>
            <a:custGeom>
              <a:avLst/>
              <a:gdLst/>
              <a:ahLst/>
              <a:cxnLst/>
              <a:rect r="r" b="b" t="t" l="l"/>
              <a:pathLst>
                <a:path h="8595360" w="10789920">
                  <a:moveTo>
                    <a:pt x="0" y="182880"/>
                  </a:moveTo>
                  <a:cubicBezTo>
                    <a:pt x="0" y="81915"/>
                    <a:pt x="81915" y="0"/>
                    <a:pt x="182880" y="0"/>
                  </a:cubicBezTo>
                  <a:lnTo>
                    <a:pt x="10607040" y="0"/>
                  </a:lnTo>
                  <a:cubicBezTo>
                    <a:pt x="10708005" y="0"/>
                    <a:pt x="10789920" y="81915"/>
                    <a:pt x="10789920" y="182880"/>
                  </a:cubicBezTo>
                  <a:lnTo>
                    <a:pt x="10789920" y="8412480"/>
                  </a:lnTo>
                  <a:cubicBezTo>
                    <a:pt x="10789920" y="8513445"/>
                    <a:pt x="10708005" y="8595360"/>
                    <a:pt x="10607040" y="8595360"/>
                  </a:cubicBezTo>
                  <a:lnTo>
                    <a:pt x="182880" y="8595360"/>
                  </a:lnTo>
                  <a:cubicBezTo>
                    <a:pt x="81915" y="8595360"/>
                    <a:pt x="0" y="8513445"/>
                    <a:pt x="0" y="8412480"/>
                  </a:cubicBezTo>
                  <a:close/>
                </a:path>
              </a:pathLst>
            </a:custGeom>
            <a:solidFill>
              <a:srgbClr val="2B3D9C"/>
            </a:solidFill>
          </p:spPr>
        </p:sp>
      </p:grpSp>
      <p:grpSp>
        <p:nvGrpSpPr>
          <p:cNvPr name="Group 14" id="14"/>
          <p:cNvGrpSpPr/>
          <p:nvPr/>
        </p:nvGrpSpPr>
        <p:grpSpPr>
          <a:xfrm rot="0">
            <a:off x="1234440" y="2674620"/>
            <a:ext cx="7269480" cy="548640"/>
            <a:chOff x="0" y="0"/>
            <a:chExt cx="9692640" cy="731520"/>
          </a:xfrm>
        </p:grpSpPr>
        <p:sp>
          <p:nvSpPr>
            <p:cNvPr name="Freeform 15" id="15"/>
            <p:cNvSpPr/>
            <p:nvPr/>
          </p:nvSpPr>
          <p:spPr>
            <a:xfrm flipH="false" flipV="false" rot="0">
              <a:off x="0" y="0"/>
              <a:ext cx="9692640" cy="731520"/>
            </a:xfrm>
            <a:custGeom>
              <a:avLst/>
              <a:gdLst/>
              <a:ahLst/>
              <a:cxnLst/>
              <a:rect r="r" b="b" t="t" l="l"/>
              <a:pathLst>
                <a:path h="731520" w="9692640">
                  <a:moveTo>
                    <a:pt x="0" y="0"/>
                  </a:moveTo>
                  <a:lnTo>
                    <a:pt x="9692640" y="0"/>
                  </a:lnTo>
                  <a:lnTo>
                    <a:pt x="9692640" y="731520"/>
                  </a:lnTo>
                  <a:lnTo>
                    <a:pt x="0" y="731520"/>
                  </a:lnTo>
                  <a:close/>
                </a:path>
              </a:pathLst>
            </a:custGeom>
            <a:blipFill>
              <a:blip r:embed="rId2">
                <a:alphaModFix amt="0"/>
              </a:blip>
              <a:stretch>
                <a:fillRect l="0" t="-207996" r="0" b="-207998"/>
              </a:stretch>
            </a:blipFill>
          </p:spPr>
        </p:sp>
      </p:grpSp>
      <p:grpSp>
        <p:nvGrpSpPr>
          <p:cNvPr name="Group 16" id="16"/>
          <p:cNvGrpSpPr/>
          <p:nvPr/>
        </p:nvGrpSpPr>
        <p:grpSpPr>
          <a:xfrm rot="0">
            <a:off x="1234440" y="2638901"/>
            <a:ext cx="7269480" cy="584359"/>
            <a:chOff x="0" y="0"/>
            <a:chExt cx="9692640" cy="779145"/>
          </a:xfrm>
        </p:grpSpPr>
        <p:sp>
          <p:nvSpPr>
            <p:cNvPr name="Freeform 17" id="17"/>
            <p:cNvSpPr/>
            <p:nvPr/>
          </p:nvSpPr>
          <p:spPr>
            <a:xfrm flipH="false" flipV="false" rot="0">
              <a:off x="0" y="0"/>
              <a:ext cx="9692640" cy="779145"/>
            </a:xfrm>
            <a:custGeom>
              <a:avLst/>
              <a:gdLst/>
              <a:ahLst/>
              <a:cxnLst/>
              <a:rect r="r" b="b" t="t" l="l"/>
              <a:pathLst>
                <a:path h="779145" w="9692640">
                  <a:moveTo>
                    <a:pt x="0" y="0"/>
                  </a:moveTo>
                  <a:lnTo>
                    <a:pt x="9692640" y="0"/>
                  </a:lnTo>
                  <a:lnTo>
                    <a:pt x="9692640" y="779145"/>
                  </a:lnTo>
                  <a:lnTo>
                    <a:pt x="0" y="779145"/>
                  </a:lnTo>
                  <a:close/>
                </a:path>
              </a:pathLst>
            </a:custGeom>
            <a:blipFill>
              <a:blip r:embed="rId3">
                <a:alphaModFix amt="0"/>
              </a:blip>
              <a:stretch>
                <a:fillRect l="0" t="-192395" r="0" b="-192395"/>
              </a:stretch>
            </a:blipFill>
          </p:spPr>
        </p:sp>
        <p:sp>
          <p:nvSpPr>
            <p:cNvPr name="TextBox 18" id="18"/>
            <p:cNvSpPr txBox="true"/>
            <p:nvPr/>
          </p:nvSpPr>
          <p:spPr>
            <a:xfrm>
              <a:off x="0" y="-47625"/>
              <a:ext cx="9692640" cy="826770"/>
            </a:xfrm>
            <a:prstGeom prst="rect">
              <a:avLst/>
            </a:prstGeom>
          </p:spPr>
          <p:txBody>
            <a:bodyPr anchor="ctr" rtlCol="false" tIns="0" lIns="0" bIns="0" rIns="0"/>
            <a:lstStyle/>
            <a:p>
              <a:pPr algn="l">
                <a:lnSpc>
                  <a:spcPts val="2520"/>
                </a:lnSpc>
              </a:pPr>
              <a:r>
                <a:rPr lang="en-US" sz="2100" b="true">
                  <a:solidFill>
                    <a:srgbClr val="A0AAE7"/>
                  </a:solidFill>
                  <a:latin typeface="Calibri (MS) Bold"/>
                  <a:ea typeface="Calibri (MS) Bold"/>
                  <a:cs typeface="Calibri (MS) Bold"/>
                  <a:sym typeface="Calibri (MS) Bold"/>
                </a:rPr>
                <a:t>Background</a:t>
              </a:r>
            </a:p>
          </p:txBody>
        </p:sp>
      </p:grpSp>
      <p:grpSp>
        <p:nvGrpSpPr>
          <p:cNvPr name="Group 19" id="19"/>
          <p:cNvGrpSpPr/>
          <p:nvPr/>
        </p:nvGrpSpPr>
        <p:grpSpPr>
          <a:xfrm rot="0">
            <a:off x="1234440" y="3291840"/>
            <a:ext cx="7269480" cy="5212080"/>
            <a:chOff x="0" y="0"/>
            <a:chExt cx="9692640" cy="6949440"/>
          </a:xfrm>
        </p:grpSpPr>
        <p:sp>
          <p:nvSpPr>
            <p:cNvPr name="Freeform 20" id="20"/>
            <p:cNvSpPr/>
            <p:nvPr/>
          </p:nvSpPr>
          <p:spPr>
            <a:xfrm flipH="false" flipV="false" rot="0">
              <a:off x="0" y="0"/>
              <a:ext cx="9692640" cy="6949440"/>
            </a:xfrm>
            <a:custGeom>
              <a:avLst/>
              <a:gdLst/>
              <a:ahLst/>
              <a:cxnLst/>
              <a:rect r="r" b="b" t="t" l="l"/>
              <a:pathLst>
                <a:path h="6949440" w="9692640">
                  <a:moveTo>
                    <a:pt x="0" y="0"/>
                  </a:moveTo>
                  <a:lnTo>
                    <a:pt x="9692640" y="0"/>
                  </a:lnTo>
                  <a:lnTo>
                    <a:pt x="9692640" y="6949440"/>
                  </a:lnTo>
                  <a:lnTo>
                    <a:pt x="0" y="6949440"/>
                  </a:lnTo>
                  <a:close/>
                </a:path>
              </a:pathLst>
            </a:custGeom>
            <a:blipFill>
              <a:blip r:embed="rId2">
                <a:alphaModFix amt="0"/>
              </a:blip>
              <a:stretch>
                <a:fillRect l="-42055" t="0" r="-42055" b="0"/>
              </a:stretch>
            </a:blipFill>
          </p:spPr>
        </p:sp>
      </p:grpSp>
      <p:grpSp>
        <p:nvGrpSpPr>
          <p:cNvPr name="Group 21" id="21"/>
          <p:cNvGrpSpPr/>
          <p:nvPr/>
        </p:nvGrpSpPr>
        <p:grpSpPr>
          <a:xfrm rot="0">
            <a:off x="1234440" y="3213259"/>
            <a:ext cx="7269480" cy="5290661"/>
            <a:chOff x="0" y="0"/>
            <a:chExt cx="9692640" cy="7054215"/>
          </a:xfrm>
        </p:grpSpPr>
        <p:sp>
          <p:nvSpPr>
            <p:cNvPr name="Freeform 22" id="22"/>
            <p:cNvSpPr/>
            <p:nvPr/>
          </p:nvSpPr>
          <p:spPr>
            <a:xfrm flipH="false" flipV="false" rot="0">
              <a:off x="0" y="0"/>
              <a:ext cx="9692640" cy="7054215"/>
            </a:xfrm>
            <a:custGeom>
              <a:avLst/>
              <a:gdLst/>
              <a:ahLst/>
              <a:cxnLst/>
              <a:rect r="r" b="b" t="t" l="l"/>
              <a:pathLst>
                <a:path h="7054215" w="9692640">
                  <a:moveTo>
                    <a:pt x="0" y="0"/>
                  </a:moveTo>
                  <a:lnTo>
                    <a:pt x="9692640" y="0"/>
                  </a:lnTo>
                  <a:lnTo>
                    <a:pt x="9692640" y="7054215"/>
                  </a:lnTo>
                  <a:lnTo>
                    <a:pt x="0" y="7054215"/>
                  </a:lnTo>
                  <a:close/>
                </a:path>
              </a:pathLst>
            </a:custGeom>
            <a:blipFill>
              <a:blip r:embed="rId3">
                <a:alphaModFix amt="0"/>
              </a:blip>
              <a:stretch>
                <a:fillRect l="-43378" t="0" r="-43378" b="0"/>
              </a:stretch>
            </a:blipFill>
          </p:spPr>
        </p:sp>
        <p:sp>
          <p:nvSpPr>
            <p:cNvPr name="TextBox 23" id="23"/>
            <p:cNvSpPr txBox="true"/>
            <p:nvPr/>
          </p:nvSpPr>
          <p:spPr>
            <a:xfrm>
              <a:off x="0" y="-104775"/>
              <a:ext cx="9692640" cy="7158990"/>
            </a:xfrm>
            <a:prstGeom prst="rect">
              <a:avLst/>
            </a:prstGeom>
          </p:spPr>
          <p:txBody>
            <a:bodyPr anchor="ctr" rtlCol="false" tIns="0" lIns="0" bIns="0" rIns="0"/>
            <a:lstStyle/>
            <a:p>
              <a:pPr algn="l">
                <a:lnSpc>
                  <a:spcPts val="2925"/>
                </a:lnSpc>
              </a:pPr>
              <a:r>
                <a:rPr lang="en-US" sz="1950">
                  <a:solidFill>
                    <a:srgbClr val="F9FBFC"/>
                  </a:solidFill>
                  <a:latin typeface="Calibri (MS)"/>
                  <a:ea typeface="Calibri (MS)"/>
                  <a:cs typeface="Calibri (MS)"/>
                  <a:sym typeface="Calibri (MS)"/>
                </a:rPr>
                <a:t>•  El precio por m² va de S/ 9 299 en Barranco a S/ 2 773 en San Martín de Porres: 3,4 veces según el distrito.</a:t>
              </a:r>
            </a:p>
            <a:p>
              <a:pPr algn="l">
                <a:lnSpc>
                  <a:spcPts val="2925"/>
                </a:lnSpc>
              </a:pPr>
              <a:r>
                <a:rPr lang="en-US" sz="1950">
                  <a:solidFill>
                    <a:srgbClr val="F9FBFC"/>
                  </a:solidFill>
                  <a:latin typeface="Calibri (MS)"/>
                  <a:ea typeface="Calibri (MS)"/>
                  <a:cs typeface="Calibri (MS)"/>
                  <a:sym typeface="Calibri (MS)"/>
                </a:rPr>
                <a:t>•  Urbania y Properati publican precio y fotografías, sin referencia de valor de mercado.</a:t>
              </a:r>
            </a:p>
            <a:p>
              <a:pPr algn="l">
                <a:lnSpc>
                  <a:spcPts val="2925"/>
                </a:lnSpc>
              </a:pPr>
              <a:r>
                <a:rPr lang="en-US" sz="1950">
                  <a:solidFill>
                    <a:srgbClr val="F9FBFC"/>
                  </a:solidFill>
                  <a:latin typeface="Calibri (MS)"/>
                  <a:ea typeface="Calibri (MS)"/>
                  <a:cs typeface="Calibri (MS)"/>
                  <a:sym typeface="Calibri (MS)"/>
                </a:rPr>
                <a:t>•  Las denuncias policiales van de 11 a 81 por mil habitantes entre distritos.</a:t>
              </a:r>
            </a:p>
          </p:txBody>
        </p:sp>
      </p:grpSp>
      <p:grpSp>
        <p:nvGrpSpPr>
          <p:cNvPr name="Group 24" id="24"/>
          <p:cNvGrpSpPr/>
          <p:nvPr/>
        </p:nvGrpSpPr>
        <p:grpSpPr>
          <a:xfrm rot="0">
            <a:off x="9326880" y="2331720"/>
            <a:ext cx="8161020" cy="6446520"/>
            <a:chOff x="0" y="0"/>
            <a:chExt cx="10881360" cy="8595360"/>
          </a:xfrm>
        </p:grpSpPr>
        <p:sp>
          <p:nvSpPr>
            <p:cNvPr name="Freeform 25" id="25"/>
            <p:cNvSpPr/>
            <p:nvPr/>
          </p:nvSpPr>
          <p:spPr>
            <a:xfrm flipH="false" flipV="false" rot="0">
              <a:off x="0" y="0"/>
              <a:ext cx="10881360" cy="8595360"/>
            </a:xfrm>
            <a:custGeom>
              <a:avLst/>
              <a:gdLst/>
              <a:ahLst/>
              <a:cxnLst/>
              <a:rect r="r" b="b" t="t" l="l"/>
              <a:pathLst>
                <a:path h="8595360" w="10881360">
                  <a:moveTo>
                    <a:pt x="0" y="182880"/>
                  </a:moveTo>
                  <a:cubicBezTo>
                    <a:pt x="0" y="81915"/>
                    <a:pt x="81915" y="0"/>
                    <a:pt x="182880" y="0"/>
                  </a:cubicBezTo>
                  <a:lnTo>
                    <a:pt x="10698480" y="0"/>
                  </a:lnTo>
                  <a:cubicBezTo>
                    <a:pt x="10799445" y="0"/>
                    <a:pt x="10881360" y="81915"/>
                    <a:pt x="10881360" y="182880"/>
                  </a:cubicBezTo>
                  <a:lnTo>
                    <a:pt x="10881360" y="8412480"/>
                  </a:lnTo>
                  <a:cubicBezTo>
                    <a:pt x="10881360" y="8513445"/>
                    <a:pt x="10799445" y="8595360"/>
                    <a:pt x="10698480" y="8595360"/>
                  </a:cubicBezTo>
                  <a:lnTo>
                    <a:pt x="182880" y="8595360"/>
                  </a:lnTo>
                  <a:cubicBezTo>
                    <a:pt x="81915" y="8595360"/>
                    <a:pt x="0" y="8513445"/>
                    <a:pt x="0" y="8412480"/>
                  </a:cubicBezTo>
                  <a:close/>
                </a:path>
              </a:pathLst>
            </a:custGeom>
            <a:solidFill>
              <a:srgbClr val="2B3D9C"/>
            </a:solidFill>
          </p:spPr>
        </p:sp>
      </p:grpSp>
      <p:grpSp>
        <p:nvGrpSpPr>
          <p:cNvPr name="Group 26" id="26"/>
          <p:cNvGrpSpPr/>
          <p:nvPr/>
        </p:nvGrpSpPr>
        <p:grpSpPr>
          <a:xfrm rot="0">
            <a:off x="9738360" y="2674620"/>
            <a:ext cx="7269480" cy="548640"/>
            <a:chOff x="0" y="0"/>
            <a:chExt cx="9692640" cy="731520"/>
          </a:xfrm>
        </p:grpSpPr>
        <p:sp>
          <p:nvSpPr>
            <p:cNvPr name="Freeform 27" id="27"/>
            <p:cNvSpPr/>
            <p:nvPr/>
          </p:nvSpPr>
          <p:spPr>
            <a:xfrm flipH="false" flipV="false" rot="0">
              <a:off x="0" y="0"/>
              <a:ext cx="9692640" cy="731520"/>
            </a:xfrm>
            <a:custGeom>
              <a:avLst/>
              <a:gdLst/>
              <a:ahLst/>
              <a:cxnLst/>
              <a:rect r="r" b="b" t="t" l="l"/>
              <a:pathLst>
                <a:path h="731520" w="9692640">
                  <a:moveTo>
                    <a:pt x="0" y="0"/>
                  </a:moveTo>
                  <a:lnTo>
                    <a:pt x="9692640" y="0"/>
                  </a:lnTo>
                  <a:lnTo>
                    <a:pt x="9692640" y="731520"/>
                  </a:lnTo>
                  <a:lnTo>
                    <a:pt x="0" y="731520"/>
                  </a:lnTo>
                  <a:close/>
                </a:path>
              </a:pathLst>
            </a:custGeom>
            <a:blipFill>
              <a:blip r:embed="rId2">
                <a:alphaModFix amt="0"/>
              </a:blip>
              <a:stretch>
                <a:fillRect l="0" t="-207996" r="0" b="-207998"/>
              </a:stretch>
            </a:blipFill>
          </p:spPr>
        </p:sp>
      </p:grpSp>
      <p:grpSp>
        <p:nvGrpSpPr>
          <p:cNvPr name="Group 28" id="28"/>
          <p:cNvGrpSpPr/>
          <p:nvPr/>
        </p:nvGrpSpPr>
        <p:grpSpPr>
          <a:xfrm rot="0">
            <a:off x="9738360" y="2638901"/>
            <a:ext cx="7269480" cy="584359"/>
            <a:chOff x="0" y="0"/>
            <a:chExt cx="9692640" cy="779145"/>
          </a:xfrm>
        </p:grpSpPr>
        <p:sp>
          <p:nvSpPr>
            <p:cNvPr name="Freeform 29" id="29"/>
            <p:cNvSpPr/>
            <p:nvPr/>
          </p:nvSpPr>
          <p:spPr>
            <a:xfrm flipH="false" flipV="false" rot="0">
              <a:off x="0" y="0"/>
              <a:ext cx="9692640" cy="779145"/>
            </a:xfrm>
            <a:custGeom>
              <a:avLst/>
              <a:gdLst/>
              <a:ahLst/>
              <a:cxnLst/>
              <a:rect r="r" b="b" t="t" l="l"/>
              <a:pathLst>
                <a:path h="779145" w="9692640">
                  <a:moveTo>
                    <a:pt x="0" y="0"/>
                  </a:moveTo>
                  <a:lnTo>
                    <a:pt x="9692640" y="0"/>
                  </a:lnTo>
                  <a:lnTo>
                    <a:pt x="9692640" y="779145"/>
                  </a:lnTo>
                  <a:lnTo>
                    <a:pt x="0" y="779145"/>
                  </a:lnTo>
                  <a:close/>
                </a:path>
              </a:pathLst>
            </a:custGeom>
            <a:blipFill>
              <a:blip r:embed="rId3">
                <a:alphaModFix amt="0"/>
              </a:blip>
              <a:stretch>
                <a:fillRect l="0" t="-192395" r="0" b="-192395"/>
              </a:stretch>
            </a:blipFill>
          </p:spPr>
        </p:sp>
        <p:sp>
          <p:nvSpPr>
            <p:cNvPr name="TextBox 30" id="30"/>
            <p:cNvSpPr txBox="true"/>
            <p:nvPr/>
          </p:nvSpPr>
          <p:spPr>
            <a:xfrm>
              <a:off x="0" y="-47625"/>
              <a:ext cx="9692640" cy="826770"/>
            </a:xfrm>
            <a:prstGeom prst="rect">
              <a:avLst/>
            </a:prstGeom>
          </p:spPr>
          <p:txBody>
            <a:bodyPr anchor="ctr" rtlCol="false" tIns="0" lIns="0" bIns="0" rIns="0"/>
            <a:lstStyle/>
            <a:p>
              <a:pPr algn="l">
                <a:lnSpc>
                  <a:spcPts val="2520"/>
                </a:lnSpc>
              </a:pPr>
              <a:r>
                <a:rPr lang="en-US" sz="2100" b="true">
                  <a:solidFill>
                    <a:srgbClr val="A0AAE7"/>
                  </a:solidFill>
                  <a:latin typeface="Calibri (MS) Bold"/>
                  <a:ea typeface="Calibri (MS) Bold"/>
                  <a:cs typeface="Calibri (MS) Bold"/>
                  <a:sym typeface="Calibri (MS) Bold"/>
                </a:rPr>
                <a:t>Problem Statement</a:t>
              </a:r>
            </a:p>
          </p:txBody>
        </p:sp>
      </p:grpSp>
      <p:grpSp>
        <p:nvGrpSpPr>
          <p:cNvPr name="Group 31" id="31"/>
          <p:cNvGrpSpPr/>
          <p:nvPr/>
        </p:nvGrpSpPr>
        <p:grpSpPr>
          <a:xfrm rot="0">
            <a:off x="9738360" y="3291840"/>
            <a:ext cx="7269480" cy="3566160"/>
            <a:chOff x="0" y="0"/>
            <a:chExt cx="9692640" cy="4754880"/>
          </a:xfrm>
        </p:grpSpPr>
        <p:sp>
          <p:nvSpPr>
            <p:cNvPr name="Freeform 32" id="32"/>
            <p:cNvSpPr/>
            <p:nvPr/>
          </p:nvSpPr>
          <p:spPr>
            <a:xfrm flipH="false" flipV="false" rot="0">
              <a:off x="0" y="0"/>
              <a:ext cx="9692640" cy="4754880"/>
            </a:xfrm>
            <a:custGeom>
              <a:avLst/>
              <a:gdLst/>
              <a:ahLst/>
              <a:cxnLst/>
              <a:rect r="r" b="b" t="t" l="l"/>
              <a:pathLst>
                <a:path h="4754880" w="9692640">
                  <a:moveTo>
                    <a:pt x="0" y="0"/>
                  </a:moveTo>
                  <a:lnTo>
                    <a:pt x="9692640" y="0"/>
                  </a:lnTo>
                  <a:lnTo>
                    <a:pt x="9692640" y="4754880"/>
                  </a:lnTo>
                  <a:lnTo>
                    <a:pt x="0" y="4754880"/>
                  </a:lnTo>
                  <a:close/>
                </a:path>
              </a:pathLst>
            </a:custGeom>
            <a:blipFill>
              <a:blip r:embed="rId2">
                <a:alphaModFix amt="0"/>
              </a:blip>
              <a:stretch>
                <a:fillRect l="-12985" t="0" r="-12985" b="0"/>
              </a:stretch>
            </a:blipFill>
          </p:spPr>
        </p:sp>
      </p:grpSp>
      <p:grpSp>
        <p:nvGrpSpPr>
          <p:cNvPr name="Group 33" id="33"/>
          <p:cNvGrpSpPr/>
          <p:nvPr/>
        </p:nvGrpSpPr>
        <p:grpSpPr>
          <a:xfrm rot="0">
            <a:off x="9738360" y="3263265"/>
            <a:ext cx="7269480" cy="3594735"/>
            <a:chOff x="0" y="0"/>
            <a:chExt cx="9692640" cy="4792980"/>
          </a:xfrm>
        </p:grpSpPr>
        <p:sp>
          <p:nvSpPr>
            <p:cNvPr name="Freeform 34" id="34"/>
            <p:cNvSpPr/>
            <p:nvPr/>
          </p:nvSpPr>
          <p:spPr>
            <a:xfrm flipH="false" flipV="false" rot="0">
              <a:off x="0" y="0"/>
              <a:ext cx="9692640" cy="4792980"/>
            </a:xfrm>
            <a:custGeom>
              <a:avLst/>
              <a:gdLst/>
              <a:ahLst/>
              <a:cxnLst/>
              <a:rect r="r" b="b" t="t" l="l"/>
              <a:pathLst>
                <a:path h="4792980" w="9692640">
                  <a:moveTo>
                    <a:pt x="0" y="0"/>
                  </a:moveTo>
                  <a:lnTo>
                    <a:pt x="9692640" y="0"/>
                  </a:lnTo>
                  <a:lnTo>
                    <a:pt x="9692640" y="4792980"/>
                  </a:lnTo>
                  <a:lnTo>
                    <a:pt x="0" y="4792980"/>
                  </a:lnTo>
                  <a:close/>
                </a:path>
              </a:pathLst>
            </a:custGeom>
            <a:blipFill>
              <a:blip r:embed="rId3">
                <a:alphaModFix amt="0"/>
              </a:blip>
              <a:stretch>
                <a:fillRect l="-13445" t="0" r="-13445" b="0"/>
              </a:stretch>
            </a:blipFill>
          </p:spPr>
        </p:sp>
        <p:sp>
          <p:nvSpPr>
            <p:cNvPr name="TextBox 35" id="35"/>
            <p:cNvSpPr txBox="true"/>
            <p:nvPr/>
          </p:nvSpPr>
          <p:spPr>
            <a:xfrm>
              <a:off x="0" y="-38100"/>
              <a:ext cx="9692640" cy="4831080"/>
            </a:xfrm>
            <a:prstGeom prst="rect">
              <a:avLst/>
            </a:prstGeom>
          </p:spPr>
          <p:txBody>
            <a:bodyPr anchor="ctr" rtlCol="false" tIns="0" lIns="0" bIns="0" rIns="0"/>
            <a:lstStyle/>
            <a:p>
              <a:pPr algn="l" marL="427553" indent="-142518" lvl="2">
                <a:lnSpc>
                  <a:spcPts val="2430"/>
                </a:lnSpc>
                <a:buFont typeface="Arial"/>
                <a:buChar char="⚬"/>
              </a:pPr>
              <a:r>
                <a:rPr lang="en-US" sz="2025">
                  <a:solidFill>
                    <a:srgbClr val="F9FBFC"/>
                  </a:solidFill>
                  <a:latin typeface="Calibri (MS)"/>
                  <a:ea typeface="Calibri (MS)"/>
                  <a:cs typeface="Calibri (MS)"/>
                  <a:sym typeface="Calibri (MS)"/>
                </a:rPr>
                <a:t>¿Está este inmueble bien valorado respecto al mercado real de su zona y tipo?</a:t>
              </a:r>
            </a:p>
            <a:p>
              <a:pPr algn="l" marL="427553" indent="-142518" lvl="2">
                <a:lnSpc>
                  <a:spcPts val="2430"/>
                </a:lnSpc>
                <a:buFont typeface="Arial"/>
                <a:buChar char="⚬"/>
              </a:pPr>
              <a:r>
                <a:rPr lang="en-US" sz="2025">
                  <a:solidFill>
                    <a:srgbClr val="F9FBFC"/>
                  </a:solidFill>
                  <a:latin typeface="Calibri (MS)"/>
                  <a:ea typeface="Calibri (MS)"/>
                  <a:cs typeface="Calibri (MS)"/>
                  <a:sym typeface="Calibri (MS)"/>
                </a:rPr>
                <a:t>¿Cómo es realmente el entorno del inmueble, más allá de las fotos del anuncio?</a:t>
              </a:r>
            </a:p>
            <a:p>
              <a:pPr algn="l" marL="427553" indent="-142518" lvl="2">
                <a:lnSpc>
                  <a:spcPts val="2430"/>
                </a:lnSpc>
                <a:buFont typeface="Arial"/>
                <a:buChar char="⚬"/>
              </a:pPr>
              <a:r>
                <a:rPr lang="en-US" sz="2025">
                  <a:solidFill>
                    <a:srgbClr val="F9FBFC"/>
                  </a:solidFill>
                  <a:latin typeface="Calibri (MS)"/>
                  <a:ea typeface="Calibri (MS)"/>
                  <a:cs typeface="Calibri (MS)"/>
                  <a:sym typeface="Calibri (MS)"/>
                </a:rPr>
                <a:t>¿Qué tan confiable es la constructora, en proyectos en planos o en construcción?</a:t>
              </a:r>
            </a:p>
          </p:txBody>
        </p:sp>
      </p:grpSp>
      <p:grpSp>
        <p:nvGrpSpPr>
          <p:cNvPr name="Group 36" id="36"/>
          <p:cNvGrpSpPr/>
          <p:nvPr/>
        </p:nvGrpSpPr>
        <p:grpSpPr>
          <a:xfrm rot="0">
            <a:off x="9738360" y="6995160"/>
            <a:ext cx="7269480" cy="1508760"/>
            <a:chOff x="0" y="0"/>
            <a:chExt cx="9692640" cy="2011680"/>
          </a:xfrm>
        </p:grpSpPr>
        <p:sp>
          <p:nvSpPr>
            <p:cNvPr name="Freeform 37" id="37"/>
            <p:cNvSpPr/>
            <p:nvPr/>
          </p:nvSpPr>
          <p:spPr>
            <a:xfrm flipH="false" flipV="false" rot="0">
              <a:off x="0" y="0"/>
              <a:ext cx="9692640" cy="2011680"/>
            </a:xfrm>
            <a:custGeom>
              <a:avLst/>
              <a:gdLst/>
              <a:ahLst/>
              <a:cxnLst/>
              <a:rect r="r" b="b" t="t" l="l"/>
              <a:pathLst>
                <a:path h="2011680" w="9692640">
                  <a:moveTo>
                    <a:pt x="0" y="0"/>
                  </a:moveTo>
                  <a:lnTo>
                    <a:pt x="9692640" y="0"/>
                  </a:lnTo>
                  <a:lnTo>
                    <a:pt x="9692640" y="2011680"/>
                  </a:lnTo>
                  <a:lnTo>
                    <a:pt x="0" y="2011680"/>
                  </a:lnTo>
                  <a:close/>
                </a:path>
              </a:pathLst>
            </a:custGeom>
            <a:blipFill>
              <a:blip r:embed="rId2">
                <a:alphaModFix amt="0"/>
              </a:blip>
              <a:stretch>
                <a:fillRect l="0" t="-43816" r="0" b="-43817"/>
              </a:stretch>
            </a:blipFill>
          </p:spPr>
        </p:sp>
      </p:grpSp>
      <p:grpSp>
        <p:nvGrpSpPr>
          <p:cNvPr name="Group 38" id="38"/>
          <p:cNvGrpSpPr/>
          <p:nvPr/>
        </p:nvGrpSpPr>
        <p:grpSpPr>
          <a:xfrm rot="0">
            <a:off x="9738360" y="6966585"/>
            <a:ext cx="7269480" cy="1537335"/>
            <a:chOff x="0" y="0"/>
            <a:chExt cx="9692640" cy="2049780"/>
          </a:xfrm>
        </p:grpSpPr>
        <p:sp>
          <p:nvSpPr>
            <p:cNvPr name="Freeform 39" id="39"/>
            <p:cNvSpPr/>
            <p:nvPr/>
          </p:nvSpPr>
          <p:spPr>
            <a:xfrm flipH="false" flipV="false" rot="0">
              <a:off x="0" y="0"/>
              <a:ext cx="9692640" cy="2049780"/>
            </a:xfrm>
            <a:custGeom>
              <a:avLst/>
              <a:gdLst/>
              <a:ahLst/>
              <a:cxnLst/>
              <a:rect r="r" b="b" t="t" l="l"/>
              <a:pathLst>
                <a:path h="2049780" w="9692640">
                  <a:moveTo>
                    <a:pt x="0" y="0"/>
                  </a:moveTo>
                  <a:lnTo>
                    <a:pt x="9692640" y="0"/>
                  </a:lnTo>
                  <a:lnTo>
                    <a:pt x="9692640" y="2049780"/>
                  </a:lnTo>
                  <a:lnTo>
                    <a:pt x="0" y="2049780"/>
                  </a:lnTo>
                  <a:close/>
                </a:path>
              </a:pathLst>
            </a:custGeom>
            <a:blipFill>
              <a:blip r:embed="rId3">
                <a:alphaModFix amt="0"/>
              </a:blip>
              <a:stretch>
                <a:fillRect l="0" t="-42137" r="0" b="-42137"/>
              </a:stretch>
            </a:blipFill>
          </p:spPr>
        </p:sp>
        <p:sp>
          <p:nvSpPr>
            <p:cNvPr name="TextBox 40" id="40"/>
            <p:cNvSpPr txBox="true"/>
            <p:nvPr/>
          </p:nvSpPr>
          <p:spPr>
            <a:xfrm>
              <a:off x="0" y="-38100"/>
              <a:ext cx="9692640" cy="2087880"/>
            </a:xfrm>
            <a:prstGeom prst="rect">
              <a:avLst/>
            </a:prstGeom>
          </p:spPr>
          <p:txBody>
            <a:bodyPr anchor="ctr" rtlCol="false" tIns="0" lIns="0" bIns="0" rIns="0"/>
            <a:lstStyle/>
            <a:p>
              <a:pPr algn="l">
                <a:lnSpc>
                  <a:spcPts val="2250"/>
                </a:lnSpc>
              </a:pPr>
              <a:r>
                <a:rPr lang="en-US" sz="1875" i="true">
                  <a:solidFill>
                    <a:srgbClr val="A0AAE7"/>
                  </a:solidFill>
                  <a:latin typeface="Calibri (MS) Italics"/>
                  <a:ea typeface="Calibri (MS) Italics"/>
                  <a:cs typeface="Calibri (MS) Italics"/>
                  <a:sym typeface="Calibri (MS) Italics"/>
                </a:rPr>
                <a:t>Nada de ese contexto aparece en el aviso. La comparación entre opciones queda a criterio del comprador.</a:t>
              </a:r>
            </a:p>
          </p:txBody>
        </p:sp>
      </p:grpSp>
      <p:grpSp>
        <p:nvGrpSpPr>
          <p:cNvPr name="Group 41" id="41"/>
          <p:cNvGrpSpPr/>
          <p:nvPr/>
        </p:nvGrpSpPr>
        <p:grpSpPr>
          <a:xfrm rot="0">
            <a:off x="685800" y="9738360"/>
            <a:ext cx="8229600" cy="411480"/>
            <a:chOff x="0" y="0"/>
            <a:chExt cx="10972800" cy="548640"/>
          </a:xfrm>
        </p:grpSpPr>
        <p:sp>
          <p:nvSpPr>
            <p:cNvPr name="Freeform 42" id="42"/>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43" id="43"/>
          <p:cNvGrpSpPr/>
          <p:nvPr/>
        </p:nvGrpSpPr>
        <p:grpSpPr>
          <a:xfrm rot="0">
            <a:off x="685800" y="9709785"/>
            <a:ext cx="8229600" cy="440055"/>
            <a:chOff x="0" y="0"/>
            <a:chExt cx="10972800" cy="586740"/>
          </a:xfrm>
        </p:grpSpPr>
        <p:sp>
          <p:nvSpPr>
            <p:cNvPr name="Freeform 44" id="44"/>
            <p:cNvSpPr/>
            <p:nvPr/>
          </p:nvSpPr>
          <p:spPr>
            <a:xfrm flipH="false" flipV="false" rot="0">
              <a:off x="0" y="0"/>
              <a:ext cx="10972800" cy="586740"/>
            </a:xfrm>
            <a:custGeom>
              <a:avLst/>
              <a:gdLst/>
              <a:ahLst/>
              <a:cxnLst/>
              <a:rect r="r" b="b" t="t" l="l"/>
              <a:pathLst>
                <a:path h="586740" w="10972800">
                  <a:moveTo>
                    <a:pt x="0" y="0"/>
                  </a:moveTo>
                  <a:lnTo>
                    <a:pt x="10972800" y="0"/>
                  </a:lnTo>
                  <a:lnTo>
                    <a:pt x="10972800" y="586740"/>
                  </a:lnTo>
                  <a:lnTo>
                    <a:pt x="0" y="586740"/>
                  </a:lnTo>
                  <a:close/>
                </a:path>
              </a:pathLst>
            </a:custGeom>
            <a:blipFill>
              <a:blip r:embed="rId3">
                <a:alphaModFix amt="0"/>
              </a:blip>
              <a:stretch>
                <a:fillRect l="0" t="-314395" r="0" b="-314395"/>
              </a:stretch>
            </a:blipFill>
          </p:spPr>
        </p:sp>
        <p:sp>
          <p:nvSpPr>
            <p:cNvPr name="TextBox 45" id="45"/>
            <p:cNvSpPr txBox="true"/>
            <p:nvPr/>
          </p:nvSpPr>
          <p:spPr>
            <a:xfrm>
              <a:off x="0" y="-38100"/>
              <a:ext cx="10972800" cy="624840"/>
            </a:xfrm>
            <a:prstGeom prst="rect">
              <a:avLst/>
            </a:prstGeom>
          </p:spPr>
          <p:txBody>
            <a:bodyPr anchor="ctr" rtlCol="false" tIns="0" lIns="0" bIns="0" rIns="0"/>
            <a:lstStyle/>
            <a:p>
              <a:pPr algn="l">
                <a:lnSpc>
                  <a:spcPts val="1800"/>
                </a:lnSpc>
              </a:pPr>
              <a:r>
                <a:rPr lang="en-US" sz="1500">
                  <a:solidFill>
                    <a:srgbClr val="35448A"/>
                  </a:solidFill>
                  <a:latin typeface="Calibri (MS)"/>
                  <a:ea typeface="Calibri (MS)"/>
                  <a:cs typeface="Calibri (MS)"/>
                  <a:sym typeface="Calibri (MS)"/>
                </a:rPr>
                <a:t>InmoScore · Week 5</a:t>
              </a:r>
            </a:p>
          </p:txBody>
        </p:sp>
      </p:grpSp>
      <p:grpSp>
        <p:nvGrpSpPr>
          <p:cNvPr name="Group 46" id="46"/>
          <p:cNvGrpSpPr/>
          <p:nvPr/>
        </p:nvGrpSpPr>
        <p:grpSpPr>
          <a:xfrm rot="0">
            <a:off x="17048988" y="9738360"/>
            <a:ext cx="548640" cy="411480"/>
            <a:chOff x="0" y="0"/>
            <a:chExt cx="731520" cy="548640"/>
          </a:xfrm>
        </p:grpSpPr>
        <p:sp>
          <p:nvSpPr>
            <p:cNvPr name="Freeform 47" id="47"/>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48" id="48"/>
          <p:cNvGrpSpPr/>
          <p:nvPr/>
        </p:nvGrpSpPr>
        <p:grpSpPr>
          <a:xfrm rot="0">
            <a:off x="17048988" y="9709785"/>
            <a:ext cx="548640" cy="440055"/>
            <a:chOff x="0" y="0"/>
            <a:chExt cx="731520" cy="586740"/>
          </a:xfrm>
        </p:grpSpPr>
        <p:sp>
          <p:nvSpPr>
            <p:cNvPr name="Freeform 49" id="49"/>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50" id="50"/>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35448A"/>
                  </a:solidFill>
                  <a:latin typeface="Calibri (MS)"/>
                  <a:ea typeface="Calibri (MS)"/>
                  <a:cs typeface="Calibri (MS)"/>
                  <a:sym typeface="Calibri (MS)"/>
                </a:rPr>
                <a:t>3</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9FBFC"/>
        </a:solidFill>
      </p:bgPr>
    </p:bg>
    <p:spTree>
      <p:nvGrpSpPr>
        <p:cNvPr id="1" name=""/>
        <p:cNvGrpSpPr/>
        <p:nvPr/>
      </p:nvGrpSpPr>
      <p:grpSpPr>
        <a:xfrm>
          <a:off x="0" y="0"/>
          <a:ext cx="0" cy="0"/>
          <a:chOff x="0" y="0"/>
          <a:chExt cx="0" cy="0"/>
        </a:xfrm>
      </p:grpSpPr>
      <p:grpSp>
        <p:nvGrpSpPr>
          <p:cNvPr name="Group 2" id="2"/>
          <p:cNvGrpSpPr/>
          <p:nvPr/>
        </p:nvGrpSpPr>
        <p:grpSpPr>
          <a:xfrm rot="0">
            <a:off x="822960" y="480060"/>
            <a:ext cx="13716000" cy="480060"/>
            <a:chOff x="0" y="0"/>
            <a:chExt cx="18288000" cy="640080"/>
          </a:xfrm>
        </p:grpSpPr>
        <p:sp>
          <p:nvSpPr>
            <p:cNvPr name="Freeform 3" id="3"/>
            <p:cNvSpPr/>
            <p:nvPr/>
          </p:nvSpPr>
          <p:spPr>
            <a:xfrm flipH="false" flipV="false" rot="0">
              <a:off x="0" y="0"/>
              <a:ext cx="18288000" cy="640080"/>
            </a:xfrm>
            <a:custGeom>
              <a:avLst/>
              <a:gdLst/>
              <a:ahLst/>
              <a:cxnLst/>
              <a:rect r="r" b="b" t="t" l="l"/>
              <a:pathLst>
                <a:path h="640080" w="18288000">
                  <a:moveTo>
                    <a:pt x="0" y="0"/>
                  </a:moveTo>
                  <a:lnTo>
                    <a:pt x="18288000" y="0"/>
                  </a:lnTo>
                  <a:lnTo>
                    <a:pt x="18288000" y="640080"/>
                  </a:lnTo>
                  <a:lnTo>
                    <a:pt x="0" y="640080"/>
                  </a:lnTo>
                  <a:close/>
                </a:path>
              </a:pathLst>
            </a:custGeom>
            <a:blipFill>
              <a:blip r:embed="rId2">
                <a:alphaModFix amt="0"/>
              </a:blip>
              <a:stretch>
                <a:fillRect l="0" t="-506327" r="0" b="-506329"/>
              </a:stretch>
            </a:blipFill>
          </p:spPr>
        </p:sp>
      </p:grpSp>
      <p:grpSp>
        <p:nvGrpSpPr>
          <p:cNvPr name="Group 4" id="4"/>
          <p:cNvGrpSpPr/>
          <p:nvPr/>
        </p:nvGrpSpPr>
        <p:grpSpPr>
          <a:xfrm rot="0">
            <a:off x="822960" y="451485"/>
            <a:ext cx="13716000" cy="508635"/>
            <a:chOff x="0" y="0"/>
            <a:chExt cx="18288000" cy="678180"/>
          </a:xfrm>
        </p:grpSpPr>
        <p:sp>
          <p:nvSpPr>
            <p:cNvPr name="Freeform 5" id="5"/>
            <p:cNvSpPr/>
            <p:nvPr/>
          </p:nvSpPr>
          <p:spPr>
            <a:xfrm flipH="false" flipV="false" rot="0">
              <a:off x="0" y="0"/>
              <a:ext cx="18288000" cy="678180"/>
            </a:xfrm>
            <a:custGeom>
              <a:avLst/>
              <a:gdLst/>
              <a:ahLst/>
              <a:cxnLst/>
              <a:rect r="r" b="b" t="t" l="l"/>
              <a:pathLst>
                <a:path h="678180" w="18288000">
                  <a:moveTo>
                    <a:pt x="0" y="0"/>
                  </a:moveTo>
                  <a:lnTo>
                    <a:pt x="18288000" y="0"/>
                  </a:lnTo>
                  <a:lnTo>
                    <a:pt x="18288000" y="678180"/>
                  </a:lnTo>
                  <a:lnTo>
                    <a:pt x="0" y="678180"/>
                  </a:lnTo>
                  <a:close/>
                </a:path>
              </a:pathLst>
            </a:custGeom>
            <a:blipFill>
              <a:blip r:embed="rId3">
                <a:alphaModFix amt="0"/>
              </a:blip>
              <a:stretch>
                <a:fillRect l="0" t="-475439" r="0" b="-475439"/>
              </a:stretch>
            </a:blipFill>
          </p:spPr>
        </p:sp>
        <p:sp>
          <p:nvSpPr>
            <p:cNvPr name="TextBox 6" id="6"/>
            <p:cNvSpPr txBox="true"/>
            <p:nvPr/>
          </p:nvSpPr>
          <p:spPr>
            <a:xfrm>
              <a:off x="0" y="-38100"/>
              <a:ext cx="18288000" cy="716280"/>
            </a:xfrm>
            <a:prstGeom prst="rect">
              <a:avLst/>
            </a:prstGeom>
          </p:spPr>
          <p:txBody>
            <a:bodyPr anchor="ctr" rtlCol="false" tIns="0" lIns="0" bIns="0" rIns="0"/>
            <a:lstStyle/>
            <a:p>
              <a:pPr algn="l">
                <a:lnSpc>
                  <a:spcPts val="2160"/>
                </a:lnSpc>
              </a:pPr>
              <a:r>
                <a:rPr lang="en-US" b="true" sz="1800" spc="225">
                  <a:solidFill>
                    <a:srgbClr val="9495A2"/>
                  </a:solidFill>
                  <a:latin typeface="Calibri (MS) Bold"/>
                  <a:ea typeface="Calibri (MS) Bold"/>
                  <a:cs typeface="Calibri (MS) Bold"/>
                  <a:sym typeface="Calibri (MS) Bold"/>
                </a:rPr>
                <a:t>PROJECT PROPOSAL</a:t>
              </a:r>
            </a:p>
          </p:txBody>
        </p:sp>
      </p:grpSp>
      <p:grpSp>
        <p:nvGrpSpPr>
          <p:cNvPr name="Group 7" id="7"/>
          <p:cNvGrpSpPr/>
          <p:nvPr/>
        </p:nvGrpSpPr>
        <p:grpSpPr>
          <a:xfrm rot="0">
            <a:off x="822960" y="932688"/>
            <a:ext cx="16184880" cy="960120"/>
            <a:chOff x="0" y="0"/>
            <a:chExt cx="21579840" cy="1280160"/>
          </a:xfrm>
        </p:grpSpPr>
        <p:sp>
          <p:nvSpPr>
            <p:cNvPr name="Freeform 8" id="8"/>
            <p:cNvSpPr/>
            <p:nvPr/>
          </p:nvSpPr>
          <p:spPr>
            <a:xfrm flipH="false" flipV="false" rot="0">
              <a:off x="0" y="0"/>
              <a:ext cx="21579839" cy="1280160"/>
            </a:xfrm>
            <a:custGeom>
              <a:avLst/>
              <a:gdLst/>
              <a:ahLst/>
              <a:cxnLst/>
              <a:rect r="r" b="b" t="t" l="l"/>
              <a:pathLst>
                <a:path h="1280160" w="21579839">
                  <a:moveTo>
                    <a:pt x="0" y="0"/>
                  </a:moveTo>
                  <a:lnTo>
                    <a:pt x="21579839" y="0"/>
                  </a:lnTo>
                  <a:lnTo>
                    <a:pt x="21579839" y="1280160"/>
                  </a:lnTo>
                  <a:lnTo>
                    <a:pt x="0" y="1280160"/>
                  </a:lnTo>
                  <a:close/>
                </a:path>
              </a:pathLst>
            </a:custGeom>
            <a:blipFill>
              <a:blip r:embed="rId2">
                <a:alphaModFix amt="0"/>
              </a:blip>
              <a:stretch>
                <a:fillRect l="0" t="-278234" r="0" b="-278233"/>
              </a:stretch>
            </a:blipFill>
          </p:spPr>
        </p:sp>
      </p:grpSp>
      <p:grpSp>
        <p:nvGrpSpPr>
          <p:cNvPr name="Group 9" id="9"/>
          <p:cNvGrpSpPr/>
          <p:nvPr/>
        </p:nvGrpSpPr>
        <p:grpSpPr>
          <a:xfrm rot="0">
            <a:off x="822960" y="918400"/>
            <a:ext cx="16184880" cy="974407"/>
            <a:chOff x="0" y="0"/>
            <a:chExt cx="21579840" cy="1299210"/>
          </a:xfrm>
        </p:grpSpPr>
        <p:sp>
          <p:nvSpPr>
            <p:cNvPr name="Freeform 10" id="10"/>
            <p:cNvSpPr/>
            <p:nvPr/>
          </p:nvSpPr>
          <p:spPr>
            <a:xfrm flipH="false" flipV="false" rot="0">
              <a:off x="0" y="0"/>
              <a:ext cx="21579839" cy="1299210"/>
            </a:xfrm>
            <a:custGeom>
              <a:avLst/>
              <a:gdLst/>
              <a:ahLst/>
              <a:cxnLst/>
              <a:rect r="r" b="b" t="t" l="l"/>
              <a:pathLst>
                <a:path h="1299210" w="21579839">
                  <a:moveTo>
                    <a:pt x="0" y="0"/>
                  </a:moveTo>
                  <a:lnTo>
                    <a:pt x="21579839" y="0"/>
                  </a:lnTo>
                  <a:lnTo>
                    <a:pt x="21579839" y="1299210"/>
                  </a:lnTo>
                  <a:lnTo>
                    <a:pt x="0" y="1299210"/>
                  </a:lnTo>
                  <a:close/>
                </a:path>
              </a:pathLst>
            </a:custGeom>
            <a:blipFill>
              <a:blip r:embed="rId3">
                <a:alphaModFix amt="0"/>
              </a:blip>
              <a:stretch>
                <a:fillRect l="0" t="-273645" r="0" b="-273645"/>
              </a:stretch>
            </a:blipFill>
          </p:spPr>
        </p:sp>
        <p:sp>
          <p:nvSpPr>
            <p:cNvPr name="TextBox 11" id="11"/>
            <p:cNvSpPr txBox="true"/>
            <p:nvPr/>
          </p:nvSpPr>
          <p:spPr>
            <a:xfrm>
              <a:off x="0" y="-19050"/>
              <a:ext cx="21579840" cy="1318260"/>
            </a:xfrm>
            <a:prstGeom prst="rect">
              <a:avLst/>
            </a:prstGeom>
          </p:spPr>
          <p:txBody>
            <a:bodyPr anchor="ctr" rtlCol="false" tIns="0" lIns="0" bIns="0" rIns="0"/>
            <a:lstStyle/>
            <a:p>
              <a:pPr algn="l">
                <a:lnSpc>
                  <a:spcPts val="5400"/>
                </a:lnSpc>
              </a:pPr>
              <a:r>
                <a:rPr lang="en-US" sz="4500" b="true">
                  <a:solidFill>
                    <a:srgbClr val="0F1017"/>
                  </a:solidFill>
                  <a:latin typeface="Cambria Bold"/>
                  <a:ea typeface="Cambria Bold"/>
                  <a:cs typeface="Cambria Bold"/>
                  <a:sym typeface="Cambria Bold"/>
                </a:rPr>
                <a:t>Target Users &amp; Expected Value</a:t>
              </a:r>
            </a:p>
          </p:txBody>
        </p:sp>
      </p:grpSp>
      <p:grpSp>
        <p:nvGrpSpPr>
          <p:cNvPr name="Group 12" id="12"/>
          <p:cNvGrpSpPr/>
          <p:nvPr/>
        </p:nvGrpSpPr>
        <p:grpSpPr>
          <a:xfrm rot="0">
            <a:off x="822960" y="2331720"/>
            <a:ext cx="8092440" cy="6446520"/>
            <a:chOff x="0" y="0"/>
            <a:chExt cx="10789920" cy="8595360"/>
          </a:xfrm>
        </p:grpSpPr>
        <p:sp>
          <p:nvSpPr>
            <p:cNvPr name="Freeform 13" id="13"/>
            <p:cNvSpPr/>
            <p:nvPr/>
          </p:nvSpPr>
          <p:spPr>
            <a:xfrm flipH="false" flipV="false" rot="0">
              <a:off x="0" y="0"/>
              <a:ext cx="10789920" cy="8595360"/>
            </a:xfrm>
            <a:custGeom>
              <a:avLst/>
              <a:gdLst/>
              <a:ahLst/>
              <a:cxnLst/>
              <a:rect r="r" b="b" t="t" l="l"/>
              <a:pathLst>
                <a:path h="8595360" w="10789920">
                  <a:moveTo>
                    <a:pt x="0" y="182880"/>
                  </a:moveTo>
                  <a:cubicBezTo>
                    <a:pt x="0" y="81915"/>
                    <a:pt x="81915" y="0"/>
                    <a:pt x="182880" y="0"/>
                  </a:cubicBezTo>
                  <a:lnTo>
                    <a:pt x="10607040" y="0"/>
                  </a:lnTo>
                  <a:cubicBezTo>
                    <a:pt x="10708005" y="0"/>
                    <a:pt x="10789920" y="81915"/>
                    <a:pt x="10789920" y="182880"/>
                  </a:cubicBezTo>
                  <a:lnTo>
                    <a:pt x="10789920" y="8412480"/>
                  </a:lnTo>
                  <a:cubicBezTo>
                    <a:pt x="10789920" y="8513445"/>
                    <a:pt x="10708005" y="8595360"/>
                    <a:pt x="10607040" y="8595360"/>
                  </a:cubicBezTo>
                  <a:lnTo>
                    <a:pt x="182880" y="8595360"/>
                  </a:lnTo>
                  <a:cubicBezTo>
                    <a:pt x="81915" y="8595360"/>
                    <a:pt x="0" y="8513445"/>
                    <a:pt x="0" y="8412480"/>
                  </a:cubicBezTo>
                  <a:close/>
                </a:path>
              </a:pathLst>
            </a:custGeom>
            <a:solidFill>
              <a:srgbClr val="A0AAE7"/>
            </a:solidFill>
          </p:spPr>
        </p:sp>
      </p:grpSp>
      <p:grpSp>
        <p:nvGrpSpPr>
          <p:cNvPr name="Group 14" id="14"/>
          <p:cNvGrpSpPr/>
          <p:nvPr/>
        </p:nvGrpSpPr>
        <p:grpSpPr>
          <a:xfrm rot="0">
            <a:off x="1234440" y="2674620"/>
            <a:ext cx="7269480" cy="548640"/>
            <a:chOff x="0" y="0"/>
            <a:chExt cx="9692640" cy="731520"/>
          </a:xfrm>
        </p:grpSpPr>
        <p:sp>
          <p:nvSpPr>
            <p:cNvPr name="Freeform 15" id="15"/>
            <p:cNvSpPr/>
            <p:nvPr/>
          </p:nvSpPr>
          <p:spPr>
            <a:xfrm flipH="false" flipV="false" rot="0">
              <a:off x="0" y="0"/>
              <a:ext cx="9692640" cy="731520"/>
            </a:xfrm>
            <a:custGeom>
              <a:avLst/>
              <a:gdLst/>
              <a:ahLst/>
              <a:cxnLst/>
              <a:rect r="r" b="b" t="t" l="l"/>
              <a:pathLst>
                <a:path h="731520" w="9692640">
                  <a:moveTo>
                    <a:pt x="0" y="0"/>
                  </a:moveTo>
                  <a:lnTo>
                    <a:pt x="9692640" y="0"/>
                  </a:lnTo>
                  <a:lnTo>
                    <a:pt x="9692640" y="731520"/>
                  </a:lnTo>
                  <a:lnTo>
                    <a:pt x="0" y="731520"/>
                  </a:lnTo>
                  <a:close/>
                </a:path>
              </a:pathLst>
            </a:custGeom>
            <a:blipFill>
              <a:blip r:embed="rId2">
                <a:alphaModFix amt="0"/>
              </a:blip>
              <a:stretch>
                <a:fillRect l="0" t="-207996" r="0" b="-207998"/>
              </a:stretch>
            </a:blipFill>
          </p:spPr>
        </p:sp>
      </p:grpSp>
      <p:grpSp>
        <p:nvGrpSpPr>
          <p:cNvPr name="Group 16" id="16"/>
          <p:cNvGrpSpPr/>
          <p:nvPr/>
        </p:nvGrpSpPr>
        <p:grpSpPr>
          <a:xfrm rot="0">
            <a:off x="1234440" y="2638901"/>
            <a:ext cx="7269480" cy="584359"/>
            <a:chOff x="0" y="0"/>
            <a:chExt cx="9692640" cy="779145"/>
          </a:xfrm>
        </p:grpSpPr>
        <p:sp>
          <p:nvSpPr>
            <p:cNvPr name="Freeform 17" id="17"/>
            <p:cNvSpPr/>
            <p:nvPr/>
          </p:nvSpPr>
          <p:spPr>
            <a:xfrm flipH="false" flipV="false" rot="0">
              <a:off x="0" y="0"/>
              <a:ext cx="9692640" cy="779145"/>
            </a:xfrm>
            <a:custGeom>
              <a:avLst/>
              <a:gdLst/>
              <a:ahLst/>
              <a:cxnLst/>
              <a:rect r="r" b="b" t="t" l="l"/>
              <a:pathLst>
                <a:path h="779145" w="9692640">
                  <a:moveTo>
                    <a:pt x="0" y="0"/>
                  </a:moveTo>
                  <a:lnTo>
                    <a:pt x="9692640" y="0"/>
                  </a:lnTo>
                  <a:lnTo>
                    <a:pt x="9692640" y="779145"/>
                  </a:lnTo>
                  <a:lnTo>
                    <a:pt x="0" y="779145"/>
                  </a:lnTo>
                  <a:close/>
                </a:path>
              </a:pathLst>
            </a:custGeom>
            <a:blipFill>
              <a:blip r:embed="rId3">
                <a:alphaModFix amt="0"/>
              </a:blip>
              <a:stretch>
                <a:fillRect l="0" t="-192395" r="0" b="-192395"/>
              </a:stretch>
            </a:blipFill>
          </p:spPr>
        </p:sp>
        <p:sp>
          <p:nvSpPr>
            <p:cNvPr name="TextBox 18" id="18"/>
            <p:cNvSpPr txBox="true"/>
            <p:nvPr/>
          </p:nvSpPr>
          <p:spPr>
            <a:xfrm>
              <a:off x="0" y="-47625"/>
              <a:ext cx="9692640" cy="826770"/>
            </a:xfrm>
            <a:prstGeom prst="rect">
              <a:avLst/>
            </a:prstGeom>
          </p:spPr>
          <p:txBody>
            <a:bodyPr anchor="ctr" rtlCol="false" tIns="0" lIns="0" bIns="0" rIns="0"/>
            <a:lstStyle/>
            <a:p>
              <a:pPr algn="l">
                <a:lnSpc>
                  <a:spcPts val="2520"/>
                </a:lnSpc>
              </a:pPr>
              <a:r>
                <a:rPr lang="en-US" sz="2100" b="true">
                  <a:solidFill>
                    <a:srgbClr val="35448A"/>
                  </a:solidFill>
                  <a:latin typeface="Calibri (MS) Bold"/>
                  <a:ea typeface="Calibri (MS) Bold"/>
                  <a:cs typeface="Calibri (MS) Bold"/>
                  <a:sym typeface="Calibri (MS) Bold"/>
                </a:rPr>
                <a:t>Target Users</a:t>
              </a:r>
            </a:p>
          </p:txBody>
        </p:sp>
      </p:grpSp>
      <p:grpSp>
        <p:nvGrpSpPr>
          <p:cNvPr name="Group 19" id="19"/>
          <p:cNvGrpSpPr/>
          <p:nvPr/>
        </p:nvGrpSpPr>
        <p:grpSpPr>
          <a:xfrm rot="0">
            <a:off x="1234440" y="3291840"/>
            <a:ext cx="7269480" cy="5212080"/>
            <a:chOff x="0" y="0"/>
            <a:chExt cx="9692640" cy="6949440"/>
          </a:xfrm>
        </p:grpSpPr>
        <p:sp>
          <p:nvSpPr>
            <p:cNvPr name="Freeform 20" id="20"/>
            <p:cNvSpPr/>
            <p:nvPr/>
          </p:nvSpPr>
          <p:spPr>
            <a:xfrm flipH="false" flipV="false" rot="0">
              <a:off x="0" y="0"/>
              <a:ext cx="9692640" cy="6949440"/>
            </a:xfrm>
            <a:custGeom>
              <a:avLst/>
              <a:gdLst/>
              <a:ahLst/>
              <a:cxnLst/>
              <a:rect r="r" b="b" t="t" l="l"/>
              <a:pathLst>
                <a:path h="6949440" w="9692640">
                  <a:moveTo>
                    <a:pt x="0" y="0"/>
                  </a:moveTo>
                  <a:lnTo>
                    <a:pt x="9692640" y="0"/>
                  </a:lnTo>
                  <a:lnTo>
                    <a:pt x="9692640" y="6949440"/>
                  </a:lnTo>
                  <a:lnTo>
                    <a:pt x="0" y="6949440"/>
                  </a:lnTo>
                  <a:close/>
                </a:path>
              </a:pathLst>
            </a:custGeom>
            <a:blipFill>
              <a:blip r:embed="rId2">
                <a:alphaModFix amt="0"/>
              </a:blip>
              <a:stretch>
                <a:fillRect l="-42055" t="0" r="-42055" b="0"/>
              </a:stretch>
            </a:blipFill>
          </p:spPr>
        </p:sp>
      </p:grpSp>
      <p:grpSp>
        <p:nvGrpSpPr>
          <p:cNvPr name="Group 21" id="21"/>
          <p:cNvGrpSpPr/>
          <p:nvPr/>
        </p:nvGrpSpPr>
        <p:grpSpPr>
          <a:xfrm rot="0">
            <a:off x="1234440" y="3213259"/>
            <a:ext cx="7269480" cy="5290661"/>
            <a:chOff x="0" y="0"/>
            <a:chExt cx="9692640" cy="7054215"/>
          </a:xfrm>
        </p:grpSpPr>
        <p:sp>
          <p:nvSpPr>
            <p:cNvPr name="Freeform 22" id="22"/>
            <p:cNvSpPr/>
            <p:nvPr/>
          </p:nvSpPr>
          <p:spPr>
            <a:xfrm flipH="false" flipV="false" rot="0">
              <a:off x="0" y="0"/>
              <a:ext cx="9692640" cy="7054215"/>
            </a:xfrm>
            <a:custGeom>
              <a:avLst/>
              <a:gdLst/>
              <a:ahLst/>
              <a:cxnLst/>
              <a:rect r="r" b="b" t="t" l="l"/>
              <a:pathLst>
                <a:path h="7054215" w="9692640">
                  <a:moveTo>
                    <a:pt x="0" y="0"/>
                  </a:moveTo>
                  <a:lnTo>
                    <a:pt x="9692640" y="0"/>
                  </a:lnTo>
                  <a:lnTo>
                    <a:pt x="9692640" y="7054215"/>
                  </a:lnTo>
                  <a:lnTo>
                    <a:pt x="0" y="7054215"/>
                  </a:lnTo>
                  <a:close/>
                </a:path>
              </a:pathLst>
            </a:custGeom>
            <a:blipFill>
              <a:blip r:embed="rId3">
                <a:alphaModFix amt="0"/>
              </a:blip>
              <a:stretch>
                <a:fillRect l="-43378" t="0" r="-43378" b="0"/>
              </a:stretch>
            </a:blipFill>
          </p:spPr>
        </p:sp>
        <p:sp>
          <p:nvSpPr>
            <p:cNvPr name="TextBox 23" id="23"/>
            <p:cNvSpPr txBox="true"/>
            <p:nvPr/>
          </p:nvSpPr>
          <p:spPr>
            <a:xfrm>
              <a:off x="0" y="-104775"/>
              <a:ext cx="9692640" cy="7158990"/>
            </a:xfrm>
            <a:prstGeom prst="rect">
              <a:avLst/>
            </a:prstGeom>
          </p:spPr>
          <p:txBody>
            <a:bodyPr anchor="ctr" rtlCol="false" tIns="0" lIns="0" bIns="0" rIns="0"/>
            <a:lstStyle/>
            <a:p>
              <a:pPr algn="l">
                <a:lnSpc>
                  <a:spcPts val="3159"/>
                </a:lnSpc>
              </a:pPr>
              <a:r>
                <a:rPr lang="en-US" sz="2025" b="true">
                  <a:solidFill>
                    <a:srgbClr val="0F1017"/>
                  </a:solidFill>
                  <a:latin typeface="Calibri (MS) Bold"/>
                  <a:ea typeface="Calibri (MS) Bold"/>
                  <a:cs typeface="Calibri (MS) Bold"/>
                  <a:sym typeface="Calibri (MS) Bold"/>
                </a:rPr>
                <a:t>Usuario principal: </a:t>
              </a:r>
              <a:r>
                <a:rPr lang="en-US" sz="2025">
                  <a:solidFill>
                    <a:srgbClr val="0F1017"/>
                  </a:solidFill>
                  <a:latin typeface="Calibri (MS)"/>
                  <a:ea typeface="Calibri (MS)"/>
                  <a:cs typeface="Calibri (MS)"/>
                  <a:sym typeface="Calibri (MS)"/>
                </a:rPr>
                <a:t>personas naturales que buscan comprar su primera vivienda o cambiar de vivienda en Lima Metropolitana (no inversionistas).</a:t>
              </a:r>
            </a:p>
            <a:p>
              <a:pPr algn="l">
                <a:lnSpc>
                  <a:spcPts val="3159"/>
                </a:lnSpc>
              </a:pPr>
            </a:p>
            <a:p>
              <a:pPr algn="l">
                <a:lnSpc>
                  <a:spcPts val="3159"/>
                </a:lnSpc>
              </a:pPr>
              <a:r>
                <a:rPr lang="en-US" sz="2025" b="true">
                  <a:solidFill>
                    <a:srgbClr val="0F1017"/>
                  </a:solidFill>
                  <a:latin typeface="Calibri (MS) Bold"/>
                  <a:ea typeface="Calibri (MS) Bold"/>
                  <a:cs typeface="Calibri (MS) Bold"/>
                  <a:sym typeface="Calibri (MS) Bold"/>
                </a:rPr>
                <a:t>Usuarios secundarios (expansión futura): </a:t>
              </a:r>
              <a:r>
                <a:rPr lang="en-US" sz="2025">
                  <a:solidFill>
                    <a:srgbClr val="0F1017"/>
                  </a:solidFill>
                  <a:latin typeface="Calibri (MS)"/>
                  <a:ea typeface="Calibri (MS)"/>
                  <a:cs typeface="Calibri (MS)"/>
                  <a:sym typeface="Calibri (MS)"/>
                </a:rPr>
                <a:t>constructoras e inmobiliarias confiables interesadas en diferenciarse mediante un score de confiabilidad transparente.</a:t>
              </a:r>
            </a:p>
          </p:txBody>
        </p:sp>
      </p:grpSp>
      <p:grpSp>
        <p:nvGrpSpPr>
          <p:cNvPr name="Group 24" id="24"/>
          <p:cNvGrpSpPr/>
          <p:nvPr/>
        </p:nvGrpSpPr>
        <p:grpSpPr>
          <a:xfrm rot="0">
            <a:off x="9326880" y="2331720"/>
            <a:ext cx="8161020" cy="6446520"/>
            <a:chOff x="0" y="0"/>
            <a:chExt cx="10881360" cy="8595360"/>
          </a:xfrm>
        </p:grpSpPr>
        <p:sp>
          <p:nvSpPr>
            <p:cNvPr name="Freeform 25" id="25"/>
            <p:cNvSpPr/>
            <p:nvPr/>
          </p:nvSpPr>
          <p:spPr>
            <a:xfrm flipH="false" flipV="false" rot="0">
              <a:off x="0" y="0"/>
              <a:ext cx="10881360" cy="8595360"/>
            </a:xfrm>
            <a:custGeom>
              <a:avLst/>
              <a:gdLst/>
              <a:ahLst/>
              <a:cxnLst/>
              <a:rect r="r" b="b" t="t" l="l"/>
              <a:pathLst>
                <a:path h="8595360" w="10881360">
                  <a:moveTo>
                    <a:pt x="0" y="182880"/>
                  </a:moveTo>
                  <a:cubicBezTo>
                    <a:pt x="0" y="81915"/>
                    <a:pt x="81915" y="0"/>
                    <a:pt x="182880" y="0"/>
                  </a:cubicBezTo>
                  <a:lnTo>
                    <a:pt x="10698480" y="0"/>
                  </a:lnTo>
                  <a:cubicBezTo>
                    <a:pt x="10799445" y="0"/>
                    <a:pt x="10881360" y="81915"/>
                    <a:pt x="10881360" y="182880"/>
                  </a:cubicBezTo>
                  <a:lnTo>
                    <a:pt x="10881360" y="8412480"/>
                  </a:lnTo>
                  <a:cubicBezTo>
                    <a:pt x="10881360" y="8513445"/>
                    <a:pt x="10799445" y="8595360"/>
                    <a:pt x="10698480" y="8595360"/>
                  </a:cubicBezTo>
                  <a:lnTo>
                    <a:pt x="182880" y="8595360"/>
                  </a:lnTo>
                  <a:cubicBezTo>
                    <a:pt x="81915" y="8595360"/>
                    <a:pt x="0" y="8513445"/>
                    <a:pt x="0" y="8412480"/>
                  </a:cubicBezTo>
                  <a:close/>
                </a:path>
              </a:pathLst>
            </a:custGeom>
            <a:solidFill>
              <a:srgbClr val="2B3D9C"/>
            </a:solidFill>
          </p:spPr>
        </p:sp>
      </p:grpSp>
      <p:grpSp>
        <p:nvGrpSpPr>
          <p:cNvPr name="Group 26" id="26"/>
          <p:cNvGrpSpPr/>
          <p:nvPr/>
        </p:nvGrpSpPr>
        <p:grpSpPr>
          <a:xfrm rot="0">
            <a:off x="9738360" y="2674620"/>
            <a:ext cx="7269480" cy="548640"/>
            <a:chOff x="0" y="0"/>
            <a:chExt cx="9692640" cy="731520"/>
          </a:xfrm>
        </p:grpSpPr>
        <p:sp>
          <p:nvSpPr>
            <p:cNvPr name="Freeform 27" id="27"/>
            <p:cNvSpPr/>
            <p:nvPr/>
          </p:nvSpPr>
          <p:spPr>
            <a:xfrm flipH="false" flipV="false" rot="0">
              <a:off x="0" y="0"/>
              <a:ext cx="9692640" cy="731520"/>
            </a:xfrm>
            <a:custGeom>
              <a:avLst/>
              <a:gdLst/>
              <a:ahLst/>
              <a:cxnLst/>
              <a:rect r="r" b="b" t="t" l="l"/>
              <a:pathLst>
                <a:path h="731520" w="9692640">
                  <a:moveTo>
                    <a:pt x="0" y="0"/>
                  </a:moveTo>
                  <a:lnTo>
                    <a:pt x="9692640" y="0"/>
                  </a:lnTo>
                  <a:lnTo>
                    <a:pt x="9692640" y="731520"/>
                  </a:lnTo>
                  <a:lnTo>
                    <a:pt x="0" y="731520"/>
                  </a:lnTo>
                  <a:close/>
                </a:path>
              </a:pathLst>
            </a:custGeom>
            <a:blipFill>
              <a:blip r:embed="rId2">
                <a:alphaModFix amt="0"/>
              </a:blip>
              <a:stretch>
                <a:fillRect l="0" t="-207996" r="0" b="-207998"/>
              </a:stretch>
            </a:blipFill>
          </p:spPr>
        </p:sp>
      </p:grpSp>
      <p:grpSp>
        <p:nvGrpSpPr>
          <p:cNvPr name="Group 28" id="28"/>
          <p:cNvGrpSpPr/>
          <p:nvPr/>
        </p:nvGrpSpPr>
        <p:grpSpPr>
          <a:xfrm rot="0">
            <a:off x="9738360" y="2638901"/>
            <a:ext cx="7269480" cy="584359"/>
            <a:chOff x="0" y="0"/>
            <a:chExt cx="9692640" cy="779145"/>
          </a:xfrm>
        </p:grpSpPr>
        <p:sp>
          <p:nvSpPr>
            <p:cNvPr name="Freeform 29" id="29"/>
            <p:cNvSpPr/>
            <p:nvPr/>
          </p:nvSpPr>
          <p:spPr>
            <a:xfrm flipH="false" flipV="false" rot="0">
              <a:off x="0" y="0"/>
              <a:ext cx="9692640" cy="779145"/>
            </a:xfrm>
            <a:custGeom>
              <a:avLst/>
              <a:gdLst/>
              <a:ahLst/>
              <a:cxnLst/>
              <a:rect r="r" b="b" t="t" l="l"/>
              <a:pathLst>
                <a:path h="779145" w="9692640">
                  <a:moveTo>
                    <a:pt x="0" y="0"/>
                  </a:moveTo>
                  <a:lnTo>
                    <a:pt x="9692640" y="0"/>
                  </a:lnTo>
                  <a:lnTo>
                    <a:pt x="9692640" y="779145"/>
                  </a:lnTo>
                  <a:lnTo>
                    <a:pt x="0" y="779145"/>
                  </a:lnTo>
                  <a:close/>
                </a:path>
              </a:pathLst>
            </a:custGeom>
            <a:blipFill>
              <a:blip r:embed="rId3">
                <a:alphaModFix amt="0"/>
              </a:blip>
              <a:stretch>
                <a:fillRect l="0" t="-192395" r="0" b="-192395"/>
              </a:stretch>
            </a:blipFill>
          </p:spPr>
        </p:sp>
        <p:sp>
          <p:nvSpPr>
            <p:cNvPr name="TextBox 30" id="30"/>
            <p:cNvSpPr txBox="true"/>
            <p:nvPr/>
          </p:nvSpPr>
          <p:spPr>
            <a:xfrm>
              <a:off x="0" y="-47625"/>
              <a:ext cx="9692640" cy="826770"/>
            </a:xfrm>
            <a:prstGeom prst="rect">
              <a:avLst/>
            </a:prstGeom>
          </p:spPr>
          <p:txBody>
            <a:bodyPr anchor="ctr" rtlCol="false" tIns="0" lIns="0" bIns="0" rIns="0"/>
            <a:lstStyle/>
            <a:p>
              <a:pPr algn="l">
                <a:lnSpc>
                  <a:spcPts val="2520"/>
                </a:lnSpc>
              </a:pPr>
              <a:r>
                <a:rPr lang="en-US" sz="2100" b="true">
                  <a:solidFill>
                    <a:srgbClr val="F9FBFC"/>
                  </a:solidFill>
                  <a:latin typeface="Calibri (MS) Bold"/>
                  <a:ea typeface="Calibri (MS) Bold"/>
                  <a:cs typeface="Calibri (MS) Bold"/>
                  <a:sym typeface="Calibri (MS) Bold"/>
                </a:rPr>
                <a:t>Expected Value</a:t>
              </a:r>
            </a:p>
          </p:txBody>
        </p:sp>
      </p:grpSp>
      <p:grpSp>
        <p:nvGrpSpPr>
          <p:cNvPr name="Group 31" id="31"/>
          <p:cNvGrpSpPr/>
          <p:nvPr/>
        </p:nvGrpSpPr>
        <p:grpSpPr>
          <a:xfrm rot="0">
            <a:off x="9738360" y="3291840"/>
            <a:ext cx="7269480" cy="1508760"/>
            <a:chOff x="0" y="0"/>
            <a:chExt cx="9692640" cy="2011680"/>
          </a:xfrm>
        </p:grpSpPr>
        <p:sp>
          <p:nvSpPr>
            <p:cNvPr name="Freeform 32" id="32"/>
            <p:cNvSpPr/>
            <p:nvPr/>
          </p:nvSpPr>
          <p:spPr>
            <a:xfrm flipH="false" flipV="false" rot="0">
              <a:off x="0" y="0"/>
              <a:ext cx="9692640" cy="2011680"/>
            </a:xfrm>
            <a:custGeom>
              <a:avLst/>
              <a:gdLst/>
              <a:ahLst/>
              <a:cxnLst/>
              <a:rect r="r" b="b" t="t" l="l"/>
              <a:pathLst>
                <a:path h="2011680" w="9692640">
                  <a:moveTo>
                    <a:pt x="0" y="0"/>
                  </a:moveTo>
                  <a:lnTo>
                    <a:pt x="9692640" y="0"/>
                  </a:lnTo>
                  <a:lnTo>
                    <a:pt x="9692640" y="2011680"/>
                  </a:lnTo>
                  <a:lnTo>
                    <a:pt x="0" y="2011680"/>
                  </a:lnTo>
                  <a:close/>
                </a:path>
              </a:pathLst>
            </a:custGeom>
            <a:blipFill>
              <a:blip r:embed="rId2">
                <a:alphaModFix amt="0"/>
              </a:blip>
              <a:stretch>
                <a:fillRect l="0" t="-43816" r="0" b="-43817"/>
              </a:stretch>
            </a:blipFill>
          </p:spPr>
        </p:sp>
      </p:grpSp>
      <p:grpSp>
        <p:nvGrpSpPr>
          <p:cNvPr name="Group 33" id="33"/>
          <p:cNvGrpSpPr/>
          <p:nvPr/>
        </p:nvGrpSpPr>
        <p:grpSpPr>
          <a:xfrm rot="0">
            <a:off x="9738360" y="3227546"/>
            <a:ext cx="7269480" cy="1573054"/>
            <a:chOff x="0" y="0"/>
            <a:chExt cx="9692640" cy="2097405"/>
          </a:xfrm>
        </p:grpSpPr>
        <p:sp>
          <p:nvSpPr>
            <p:cNvPr name="Freeform 34" id="34"/>
            <p:cNvSpPr/>
            <p:nvPr/>
          </p:nvSpPr>
          <p:spPr>
            <a:xfrm flipH="false" flipV="false" rot="0">
              <a:off x="0" y="0"/>
              <a:ext cx="9692640" cy="2097405"/>
            </a:xfrm>
            <a:custGeom>
              <a:avLst/>
              <a:gdLst/>
              <a:ahLst/>
              <a:cxnLst/>
              <a:rect r="r" b="b" t="t" l="l"/>
              <a:pathLst>
                <a:path h="2097405" w="9692640">
                  <a:moveTo>
                    <a:pt x="0" y="0"/>
                  </a:moveTo>
                  <a:lnTo>
                    <a:pt x="9692640" y="0"/>
                  </a:lnTo>
                  <a:lnTo>
                    <a:pt x="9692640" y="2097405"/>
                  </a:lnTo>
                  <a:lnTo>
                    <a:pt x="0" y="2097405"/>
                  </a:lnTo>
                  <a:close/>
                </a:path>
              </a:pathLst>
            </a:custGeom>
            <a:blipFill>
              <a:blip r:embed="rId3">
                <a:alphaModFix amt="0"/>
              </a:blip>
              <a:stretch>
                <a:fillRect l="0" t="-40045" r="0" b="-40045"/>
              </a:stretch>
            </a:blipFill>
          </p:spPr>
        </p:sp>
        <p:sp>
          <p:nvSpPr>
            <p:cNvPr name="TextBox 35" id="35"/>
            <p:cNvSpPr txBox="true"/>
            <p:nvPr/>
          </p:nvSpPr>
          <p:spPr>
            <a:xfrm>
              <a:off x="0" y="-85725"/>
              <a:ext cx="9692640" cy="2183130"/>
            </a:xfrm>
            <a:prstGeom prst="rect">
              <a:avLst/>
            </a:prstGeom>
          </p:spPr>
          <p:txBody>
            <a:bodyPr anchor="ctr" rtlCol="false" tIns="0" lIns="0" bIns="0" rIns="0"/>
            <a:lstStyle/>
            <a:p>
              <a:pPr algn="l">
                <a:lnSpc>
                  <a:spcPts val="2700"/>
                </a:lnSpc>
              </a:pPr>
              <a:r>
                <a:rPr lang="en-US" sz="1875" b="true">
                  <a:solidFill>
                    <a:srgbClr val="F9FBFC"/>
                  </a:solidFill>
                  <a:latin typeface="Calibri (MS) Bold"/>
                  <a:ea typeface="Calibri (MS) Bold"/>
                  <a:cs typeface="Calibri (MS) Bold"/>
                  <a:sym typeface="Calibri (MS) Bold"/>
                </a:rPr>
                <a:t>Para el comprador: </a:t>
              </a:r>
              <a:r>
                <a:rPr lang="en-US" sz="1875">
                  <a:solidFill>
                    <a:srgbClr val="F9FBFC"/>
                  </a:solidFill>
                  <a:latin typeface="Calibri (MS)"/>
                  <a:ea typeface="Calibri (MS)"/>
                  <a:cs typeface="Calibri (MS)"/>
                  <a:sym typeface="Calibri (MS)"/>
                </a:rPr>
                <a:t>contraste del precio pedido contra 24 148 transacciones cerradas y el índice de zona de 47 distritos.</a:t>
              </a:r>
            </a:p>
          </p:txBody>
        </p:sp>
      </p:grpSp>
      <p:grpSp>
        <p:nvGrpSpPr>
          <p:cNvPr name="Group 36" id="36"/>
          <p:cNvGrpSpPr/>
          <p:nvPr/>
        </p:nvGrpSpPr>
        <p:grpSpPr>
          <a:xfrm rot="0">
            <a:off x="9738360" y="4869180"/>
            <a:ext cx="7269480" cy="1508760"/>
            <a:chOff x="0" y="0"/>
            <a:chExt cx="9692640" cy="2011680"/>
          </a:xfrm>
        </p:grpSpPr>
        <p:sp>
          <p:nvSpPr>
            <p:cNvPr name="Freeform 37" id="37"/>
            <p:cNvSpPr/>
            <p:nvPr/>
          </p:nvSpPr>
          <p:spPr>
            <a:xfrm flipH="false" flipV="false" rot="0">
              <a:off x="0" y="0"/>
              <a:ext cx="9692640" cy="2011680"/>
            </a:xfrm>
            <a:custGeom>
              <a:avLst/>
              <a:gdLst/>
              <a:ahLst/>
              <a:cxnLst/>
              <a:rect r="r" b="b" t="t" l="l"/>
              <a:pathLst>
                <a:path h="2011680" w="9692640">
                  <a:moveTo>
                    <a:pt x="0" y="0"/>
                  </a:moveTo>
                  <a:lnTo>
                    <a:pt x="9692640" y="0"/>
                  </a:lnTo>
                  <a:lnTo>
                    <a:pt x="9692640" y="2011680"/>
                  </a:lnTo>
                  <a:lnTo>
                    <a:pt x="0" y="2011680"/>
                  </a:lnTo>
                  <a:close/>
                </a:path>
              </a:pathLst>
            </a:custGeom>
            <a:blipFill>
              <a:blip r:embed="rId2">
                <a:alphaModFix amt="0"/>
              </a:blip>
              <a:stretch>
                <a:fillRect l="0" t="-43816" r="0" b="-43817"/>
              </a:stretch>
            </a:blipFill>
          </p:spPr>
        </p:sp>
      </p:grpSp>
      <p:grpSp>
        <p:nvGrpSpPr>
          <p:cNvPr name="Group 38" id="38"/>
          <p:cNvGrpSpPr/>
          <p:nvPr/>
        </p:nvGrpSpPr>
        <p:grpSpPr>
          <a:xfrm rot="0">
            <a:off x="9738360" y="4804886"/>
            <a:ext cx="7269480" cy="1573054"/>
            <a:chOff x="0" y="0"/>
            <a:chExt cx="9692640" cy="2097405"/>
          </a:xfrm>
        </p:grpSpPr>
        <p:sp>
          <p:nvSpPr>
            <p:cNvPr name="Freeform 39" id="39"/>
            <p:cNvSpPr/>
            <p:nvPr/>
          </p:nvSpPr>
          <p:spPr>
            <a:xfrm flipH="false" flipV="false" rot="0">
              <a:off x="0" y="0"/>
              <a:ext cx="9692640" cy="2097405"/>
            </a:xfrm>
            <a:custGeom>
              <a:avLst/>
              <a:gdLst/>
              <a:ahLst/>
              <a:cxnLst/>
              <a:rect r="r" b="b" t="t" l="l"/>
              <a:pathLst>
                <a:path h="2097405" w="9692640">
                  <a:moveTo>
                    <a:pt x="0" y="0"/>
                  </a:moveTo>
                  <a:lnTo>
                    <a:pt x="9692640" y="0"/>
                  </a:lnTo>
                  <a:lnTo>
                    <a:pt x="9692640" y="2097405"/>
                  </a:lnTo>
                  <a:lnTo>
                    <a:pt x="0" y="2097405"/>
                  </a:lnTo>
                  <a:close/>
                </a:path>
              </a:pathLst>
            </a:custGeom>
            <a:blipFill>
              <a:blip r:embed="rId3">
                <a:alphaModFix amt="0"/>
              </a:blip>
              <a:stretch>
                <a:fillRect l="0" t="-40045" r="0" b="-40045"/>
              </a:stretch>
            </a:blipFill>
          </p:spPr>
        </p:sp>
        <p:sp>
          <p:nvSpPr>
            <p:cNvPr name="TextBox 40" id="40"/>
            <p:cNvSpPr txBox="true"/>
            <p:nvPr/>
          </p:nvSpPr>
          <p:spPr>
            <a:xfrm>
              <a:off x="0" y="-85725"/>
              <a:ext cx="9692640" cy="2183130"/>
            </a:xfrm>
            <a:prstGeom prst="rect">
              <a:avLst/>
            </a:prstGeom>
          </p:spPr>
          <p:txBody>
            <a:bodyPr anchor="ctr" rtlCol="false" tIns="0" lIns="0" bIns="0" rIns="0"/>
            <a:lstStyle/>
            <a:p>
              <a:pPr algn="l">
                <a:lnSpc>
                  <a:spcPts val="2700"/>
                </a:lnSpc>
              </a:pPr>
              <a:r>
                <a:rPr lang="en-US" sz="1875" b="true">
                  <a:solidFill>
                    <a:srgbClr val="F9FBFC"/>
                  </a:solidFill>
                  <a:latin typeface="Calibri (MS) Bold"/>
                  <a:ea typeface="Calibri (MS) Bold"/>
                  <a:cs typeface="Calibri (MS) Bold"/>
                  <a:sym typeface="Calibri (MS) Bold"/>
                </a:rPr>
                <a:t>Para el mercado: </a:t>
              </a:r>
              <a:r>
                <a:rPr lang="en-US" sz="1875">
                  <a:solidFill>
                    <a:srgbClr val="F9FBFC"/>
                  </a:solidFill>
                  <a:latin typeface="Calibri (MS)"/>
                  <a:ea typeface="Calibri (MS)"/>
                  <a:cs typeface="Calibri (MS)"/>
                  <a:sym typeface="Calibri (MS)"/>
                </a:rPr>
                <a:t>expone el historial de 460 promotores registrados ante el Fondo MIVIVIENDA.</a:t>
              </a:r>
            </a:p>
          </p:txBody>
        </p:sp>
      </p:grpSp>
      <p:grpSp>
        <p:nvGrpSpPr>
          <p:cNvPr name="Group 41" id="41"/>
          <p:cNvGrpSpPr/>
          <p:nvPr/>
        </p:nvGrpSpPr>
        <p:grpSpPr>
          <a:xfrm rot="0">
            <a:off x="9738360" y="6446520"/>
            <a:ext cx="7269480" cy="1508760"/>
            <a:chOff x="0" y="0"/>
            <a:chExt cx="9692640" cy="2011680"/>
          </a:xfrm>
        </p:grpSpPr>
        <p:sp>
          <p:nvSpPr>
            <p:cNvPr name="Freeform 42" id="42"/>
            <p:cNvSpPr/>
            <p:nvPr/>
          </p:nvSpPr>
          <p:spPr>
            <a:xfrm flipH="false" flipV="false" rot="0">
              <a:off x="0" y="0"/>
              <a:ext cx="9692640" cy="2011680"/>
            </a:xfrm>
            <a:custGeom>
              <a:avLst/>
              <a:gdLst/>
              <a:ahLst/>
              <a:cxnLst/>
              <a:rect r="r" b="b" t="t" l="l"/>
              <a:pathLst>
                <a:path h="2011680" w="9692640">
                  <a:moveTo>
                    <a:pt x="0" y="0"/>
                  </a:moveTo>
                  <a:lnTo>
                    <a:pt x="9692640" y="0"/>
                  </a:lnTo>
                  <a:lnTo>
                    <a:pt x="9692640" y="2011680"/>
                  </a:lnTo>
                  <a:lnTo>
                    <a:pt x="0" y="2011680"/>
                  </a:lnTo>
                  <a:close/>
                </a:path>
              </a:pathLst>
            </a:custGeom>
            <a:blipFill>
              <a:blip r:embed="rId2">
                <a:alphaModFix amt="0"/>
              </a:blip>
              <a:stretch>
                <a:fillRect l="0" t="-43816" r="0" b="-43817"/>
              </a:stretch>
            </a:blipFill>
          </p:spPr>
        </p:sp>
      </p:grpSp>
      <p:grpSp>
        <p:nvGrpSpPr>
          <p:cNvPr name="Group 43" id="43"/>
          <p:cNvGrpSpPr/>
          <p:nvPr/>
        </p:nvGrpSpPr>
        <p:grpSpPr>
          <a:xfrm rot="0">
            <a:off x="9738360" y="6382226"/>
            <a:ext cx="7269480" cy="1573054"/>
            <a:chOff x="0" y="0"/>
            <a:chExt cx="9692640" cy="2097405"/>
          </a:xfrm>
        </p:grpSpPr>
        <p:sp>
          <p:nvSpPr>
            <p:cNvPr name="Freeform 44" id="44"/>
            <p:cNvSpPr/>
            <p:nvPr/>
          </p:nvSpPr>
          <p:spPr>
            <a:xfrm flipH="false" flipV="false" rot="0">
              <a:off x="0" y="0"/>
              <a:ext cx="9692640" cy="2097405"/>
            </a:xfrm>
            <a:custGeom>
              <a:avLst/>
              <a:gdLst/>
              <a:ahLst/>
              <a:cxnLst/>
              <a:rect r="r" b="b" t="t" l="l"/>
              <a:pathLst>
                <a:path h="2097405" w="9692640">
                  <a:moveTo>
                    <a:pt x="0" y="0"/>
                  </a:moveTo>
                  <a:lnTo>
                    <a:pt x="9692640" y="0"/>
                  </a:lnTo>
                  <a:lnTo>
                    <a:pt x="9692640" y="2097405"/>
                  </a:lnTo>
                  <a:lnTo>
                    <a:pt x="0" y="2097405"/>
                  </a:lnTo>
                  <a:close/>
                </a:path>
              </a:pathLst>
            </a:custGeom>
            <a:blipFill>
              <a:blip r:embed="rId3">
                <a:alphaModFix amt="0"/>
              </a:blip>
              <a:stretch>
                <a:fillRect l="0" t="-40045" r="0" b="-40045"/>
              </a:stretch>
            </a:blipFill>
          </p:spPr>
        </p:sp>
        <p:sp>
          <p:nvSpPr>
            <p:cNvPr name="TextBox 45" id="45"/>
            <p:cNvSpPr txBox="true"/>
            <p:nvPr/>
          </p:nvSpPr>
          <p:spPr>
            <a:xfrm>
              <a:off x="0" y="-85725"/>
              <a:ext cx="9692640" cy="2183130"/>
            </a:xfrm>
            <a:prstGeom prst="rect">
              <a:avLst/>
            </a:prstGeom>
          </p:spPr>
          <p:txBody>
            <a:bodyPr anchor="ctr" rtlCol="false" tIns="0" lIns="0" bIns="0" rIns="0"/>
            <a:lstStyle/>
            <a:p>
              <a:pPr algn="l">
                <a:lnSpc>
                  <a:spcPts val="2700"/>
                </a:lnSpc>
              </a:pPr>
              <a:r>
                <a:rPr lang="en-US" sz="1875" b="true">
                  <a:solidFill>
                    <a:srgbClr val="F9FBFC"/>
                  </a:solidFill>
                  <a:latin typeface="Calibri (MS) Bold"/>
                  <a:ea typeface="Calibri (MS) Bold"/>
                  <a:cs typeface="Calibri (MS) Bold"/>
                  <a:sym typeface="Calibri (MS) Bold"/>
                </a:rPr>
                <a:t>Para el curso: </a:t>
              </a:r>
              <a:r>
                <a:rPr lang="en-US" sz="1875">
                  <a:solidFill>
                    <a:srgbClr val="F9FBFC"/>
                  </a:solidFill>
                  <a:latin typeface="Calibri (MS)"/>
                  <a:ea typeface="Calibri (MS)"/>
                  <a:cs typeface="Calibri (MS)"/>
                  <a:sym typeface="Calibri (MS)"/>
                </a:rPr>
                <a:t>seis fuentes públicas integradas en un feature store de 27 variables, reproducible con scripts.</a:t>
              </a:r>
            </a:p>
          </p:txBody>
        </p:sp>
      </p:grpSp>
      <p:grpSp>
        <p:nvGrpSpPr>
          <p:cNvPr name="Group 46" id="46"/>
          <p:cNvGrpSpPr/>
          <p:nvPr/>
        </p:nvGrpSpPr>
        <p:grpSpPr>
          <a:xfrm rot="0">
            <a:off x="685800" y="9738360"/>
            <a:ext cx="8229600" cy="411480"/>
            <a:chOff x="0" y="0"/>
            <a:chExt cx="10972800" cy="548640"/>
          </a:xfrm>
        </p:grpSpPr>
        <p:sp>
          <p:nvSpPr>
            <p:cNvPr name="Freeform 47" id="47"/>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48" id="48"/>
          <p:cNvGrpSpPr/>
          <p:nvPr/>
        </p:nvGrpSpPr>
        <p:grpSpPr>
          <a:xfrm rot="0">
            <a:off x="685800" y="9709785"/>
            <a:ext cx="8229600" cy="440055"/>
            <a:chOff x="0" y="0"/>
            <a:chExt cx="10972800" cy="586740"/>
          </a:xfrm>
        </p:grpSpPr>
        <p:sp>
          <p:nvSpPr>
            <p:cNvPr name="Freeform 49" id="49"/>
            <p:cNvSpPr/>
            <p:nvPr/>
          </p:nvSpPr>
          <p:spPr>
            <a:xfrm flipH="false" flipV="false" rot="0">
              <a:off x="0" y="0"/>
              <a:ext cx="10972800" cy="586740"/>
            </a:xfrm>
            <a:custGeom>
              <a:avLst/>
              <a:gdLst/>
              <a:ahLst/>
              <a:cxnLst/>
              <a:rect r="r" b="b" t="t" l="l"/>
              <a:pathLst>
                <a:path h="586740" w="10972800">
                  <a:moveTo>
                    <a:pt x="0" y="0"/>
                  </a:moveTo>
                  <a:lnTo>
                    <a:pt x="10972800" y="0"/>
                  </a:lnTo>
                  <a:lnTo>
                    <a:pt x="10972800" y="586740"/>
                  </a:lnTo>
                  <a:lnTo>
                    <a:pt x="0" y="586740"/>
                  </a:lnTo>
                  <a:close/>
                </a:path>
              </a:pathLst>
            </a:custGeom>
            <a:blipFill>
              <a:blip r:embed="rId3">
                <a:alphaModFix amt="0"/>
              </a:blip>
              <a:stretch>
                <a:fillRect l="0" t="-314395" r="0" b="-314395"/>
              </a:stretch>
            </a:blipFill>
          </p:spPr>
        </p:sp>
        <p:sp>
          <p:nvSpPr>
            <p:cNvPr name="TextBox 50" id="50"/>
            <p:cNvSpPr txBox="true"/>
            <p:nvPr/>
          </p:nvSpPr>
          <p:spPr>
            <a:xfrm>
              <a:off x="0" y="-38100"/>
              <a:ext cx="10972800" cy="624840"/>
            </a:xfrm>
            <a:prstGeom prst="rect">
              <a:avLst/>
            </a:prstGeom>
          </p:spPr>
          <p:txBody>
            <a:bodyPr anchor="ctr" rtlCol="false" tIns="0" lIns="0" bIns="0" rIns="0"/>
            <a:lstStyle/>
            <a:p>
              <a:pPr algn="l">
                <a:lnSpc>
                  <a:spcPts val="1800"/>
                </a:lnSpc>
              </a:pPr>
              <a:r>
                <a:rPr lang="en-US" sz="1500">
                  <a:solidFill>
                    <a:srgbClr val="35448A"/>
                  </a:solidFill>
                  <a:latin typeface="Calibri (MS)"/>
                  <a:ea typeface="Calibri (MS)"/>
                  <a:cs typeface="Calibri (MS)"/>
                  <a:sym typeface="Calibri (MS)"/>
                </a:rPr>
                <a:t>InmoScore · Week 5</a:t>
              </a:r>
            </a:p>
          </p:txBody>
        </p:sp>
      </p:grpSp>
      <p:grpSp>
        <p:nvGrpSpPr>
          <p:cNvPr name="Group 51" id="51"/>
          <p:cNvGrpSpPr/>
          <p:nvPr/>
        </p:nvGrpSpPr>
        <p:grpSpPr>
          <a:xfrm rot="0">
            <a:off x="17048988" y="9738360"/>
            <a:ext cx="548640" cy="411480"/>
            <a:chOff x="0" y="0"/>
            <a:chExt cx="731520" cy="548640"/>
          </a:xfrm>
        </p:grpSpPr>
        <p:sp>
          <p:nvSpPr>
            <p:cNvPr name="Freeform 52" id="52"/>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53" id="53"/>
          <p:cNvGrpSpPr/>
          <p:nvPr/>
        </p:nvGrpSpPr>
        <p:grpSpPr>
          <a:xfrm rot="0">
            <a:off x="17048988" y="9709785"/>
            <a:ext cx="548640" cy="440055"/>
            <a:chOff x="0" y="0"/>
            <a:chExt cx="731520" cy="586740"/>
          </a:xfrm>
        </p:grpSpPr>
        <p:sp>
          <p:nvSpPr>
            <p:cNvPr name="Freeform 54" id="54"/>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55" id="55"/>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35448A"/>
                  </a:solidFill>
                  <a:latin typeface="Calibri (MS)"/>
                  <a:ea typeface="Calibri (MS)"/>
                  <a:cs typeface="Calibri (MS)"/>
                  <a:sym typeface="Calibri (MS)"/>
                </a:rPr>
                <a:t>4</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9FBFC"/>
        </a:solidFill>
      </p:bgPr>
    </p:bg>
    <p:spTree>
      <p:nvGrpSpPr>
        <p:cNvPr id="1" name=""/>
        <p:cNvGrpSpPr/>
        <p:nvPr/>
      </p:nvGrpSpPr>
      <p:grpSpPr>
        <a:xfrm>
          <a:off x="0" y="0"/>
          <a:ext cx="0" cy="0"/>
          <a:chOff x="0" y="0"/>
          <a:chExt cx="0" cy="0"/>
        </a:xfrm>
      </p:grpSpPr>
      <p:grpSp>
        <p:nvGrpSpPr>
          <p:cNvPr name="Group 2" id="2"/>
          <p:cNvGrpSpPr/>
          <p:nvPr/>
        </p:nvGrpSpPr>
        <p:grpSpPr>
          <a:xfrm rot="0">
            <a:off x="822960" y="480060"/>
            <a:ext cx="13716000" cy="480060"/>
            <a:chOff x="0" y="0"/>
            <a:chExt cx="18288000" cy="640080"/>
          </a:xfrm>
        </p:grpSpPr>
        <p:sp>
          <p:nvSpPr>
            <p:cNvPr name="Freeform 3" id="3"/>
            <p:cNvSpPr/>
            <p:nvPr/>
          </p:nvSpPr>
          <p:spPr>
            <a:xfrm flipH="false" flipV="false" rot="0">
              <a:off x="0" y="0"/>
              <a:ext cx="18288000" cy="640080"/>
            </a:xfrm>
            <a:custGeom>
              <a:avLst/>
              <a:gdLst/>
              <a:ahLst/>
              <a:cxnLst/>
              <a:rect r="r" b="b" t="t" l="l"/>
              <a:pathLst>
                <a:path h="640080" w="18288000">
                  <a:moveTo>
                    <a:pt x="0" y="0"/>
                  </a:moveTo>
                  <a:lnTo>
                    <a:pt x="18288000" y="0"/>
                  </a:lnTo>
                  <a:lnTo>
                    <a:pt x="18288000" y="640080"/>
                  </a:lnTo>
                  <a:lnTo>
                    <a:pt x="0" y="640080"/>
                  </a:lnTo>
                  <a:close/>
                </a:path>
              </a:pathLst>
            </a:custGeom>
            <a:blipFill>
              <a:blip r:embed="rId2">
                <a:alphaModFix amt="0"/>
              </a:blip>
              <a:stretch>
                <a:fillRect l="0" t="-506327" r="0" b="-506329"/>
              </a:stretch>
            </a:blipFill>
          </p:spPr>
        </p:sp>
      </p:grpSp>
      <p:grpSp>
        <p:nvGrpSpPr>
          <p:cNvPr name="Group 4" id="4"/>
          <p:cNvGrpSpPr/>
          <p:nvPr/>
        </p:nvGrpSpPr>
        <p:grpSpPr>
          <a:xfrm rot="0">
            <a:off x="822960" y="451485"/>
            <a:ext cx="13716000" cy="508635"/>
            <a:chOff x="0" y="0"/>
            <a:chExt cx="18288000" cy="678180"/>
          </a:xfrm>
        </p:grpSpPr>
        <p:sp>
          <p:nvSpPr>
            <p:cNvPr name="Freeform 5" id="5"/>
            <p:cNvSpPr/>
            <p:nvPr/>
          </p:nvSpPr>
          <p:spPr>
            <a:xfrm flipH="false" flipV="false" rot="0">
              <a:off x="0" y="0"/>
              <a:ext cx="18288000" cy="678180"/>
            </a:xfrm>
            <a:custGeom>
              <a:avLst/>
              <a:gdLst/>
              <a:ahLst/>
              <a:cxnLst/>
              <a:rect r="r" b="b" t="t" l="l"/>
              <a:pathLst>
                <a:path h="678180" w="18288000">
                  <a:moveTo>
                    <a:pt x="0" y="0"/>
                  </a:moveTo>
                  <a:lnTo>
                    <a:pt x="18288000" y="0"/>
                  </a:lnTo>
                  <a:lnTo>
                    <a:pt x="18288000" y="678180"/>
                  </a:lnTo>
                  <a:lnTo>
                    <a:pt x="0" y="678180"/>
                  </a:lnTo>
                  <a:close/>
                </a:path>
              </a:pathLst>
            </a:custGeom>
            <a:blipFill>
              <a:blip r:embed="rId3">
                <a:alphaModFix amt="0"/>
              </a:blip>
              <a:stretch>
                <a:fillRect l="0" t="-475439" r="0" b="-475439"/>
              </a:stretch>
            </a:blipFill>
          </p:spPr>
        </p:sp>
        <p:sp>
          <p:nvSpPr>
            <p:cNvPr name="TextBox 6" id="6"/>
            <p:cNvSpPr txBox="true"/>
            <p:nvPr/>
          </p:nvSpPr>
          <p:spPr>
            <a:xfrm>
              <a:off x="0" y="-38100"/>
              <a:ext cx="18288000" cy="716280"/>
            </a:xfrm>
            <a:prstGeom prst="rect">
              <a:avLst/>
            </a:prstGeom>
          </p:spPr>
          <p:txBody>
            <a:bodyPr anchor="ctr" rtlCol="false" tIns="0" lIns="0" bIns="0" rIns="0"/>
            <a:lstStyle/>
            <a:p>
              <a:pPr algn="l">
                <a:lnSpc>
                  <a:spcPts val="2160"/>
                </a:lnSpc>
              </a:pPr>
              <a:r>
                <a:rPr lang="en-US" b="true" sz="1800" spc="225">
                  <a:solidFill>
                    <a:srgbClr val="35448A"/>
                  </a:solidFill>
                  <a:latin typeface="Calibri (MS) Bold"/>
                  <a:ea typeface="Calibri (MS) Bold"/>
                  <a:cs typeface="Calibri (MS) Bold"/>
                  <a:sym typeface="Calibri (MS) Bold"/>
                </a:rPr>
                <a:t>PROJECT PROPOSAL</a:t>
              </a:r>
            </a:p>
          </p:txBody>
        </p:sp>
      </p:grpSp>
      <p:grpSp>
        <p:nvGrpSpPr>
          <p:cNvPr name="Group 7" id="7"/>
          <p:cNvGrpSpPr/>
          <p:nvPr/>
        </p:nvGrpSpPr>
        <p:grpSpPr>
          <a:xfrm rot="0">
            <a:off x="822960" y="932688"/>
            <a:ext cx="16184880" cy="960120"/>
            <a:chOff x="0" y="0"/>
            <a:chExt cx="21579840" cy="1280160"/>
          </a:xfrm>
        </p:grpSpPr>
        <p:sp>
          <p:nvSpPr>
            <p:cNvPr name="Freeform 8" id="8"/>
            <p:cNvSpPr/>
            <p:nvPr/>
          </p:nvSpPr>
          <p:spPr>
            <a:xfrm flipH="false" flipV="false" rot="0">
              <a:off x="0" y="0"/>
              <a:ext cx="21579839" cy="1280160"/>
            </a:xfrm>
            <a:custGeom>
              <a:avLst/>
              <a:gdLst/>
              <a:ahLst/>
              <a:cxnLst/>
              <a:rect r="r" b="b" t="t" l="l"/>
              <a:pathLst>
                <a:path h="1280160" w="21579839">
                  <a:moveTo>
                    <a:pt x="0" y="0"/>
                  </a:moveTo>
                  <a:lnTo>
                    <a:pt x="21579839" y="0"/>
                  </a:lnTo>
                  <a:lnTo>
                    <a:pt x="21579839" y="1280160"/>
                  </a:lnTo>
                  <a:lnTo>
                    <a:pt x="0" y="1280160"/>
                  </a:lnTo>
                  <a:close/>
                </a:path>
              </a:pathLst>
            </a:custGeom>
            <a:blipFill>
              <a:blip r:embed="rId2">
                <a:alphaModFix amt="0"/>
              </a:blip>
              <a:stretch>
                <a:fillRect l="0" t="-278234" r="0" b="-278233"/>
              </a:stretch>
            </a:blipFill>
          </p:spPr>
        </p:sp>
      </p:grpSp>
      <p:grpSp>
        <p:nvGrpSpPr>
          <p:cNvPr name="Group 9" id="9"/>
          <p:cNvGrpSpPr/>
          <p:nvPr/>
        </p:nvGrpSpPr>
        <p:grpSpPr>
          <a:xfrm rot="0">
            <a:off x="822960" y="918400"/>
            <a:ext cx="16184880" cy="974407"/>
            <a:chOff x="0" y="0"/>
            <a:chExt cx="21579840" cy="1299210"/>
          </a:xfrm>
        </p:grpSpPr>
        <p:sp>
          <p:nvSpPr>
            <p:cNvPr name="Freeform 10" id="10"/>
            <p:cNvSpPr/>
            <p:nvPr/>
          </p:nvSpPr>
          <p:spPr>
            <a:xfrm flipH="false" flipV="false" rot="0">
              <a:off x="0" y="0"/>
              <a:ext cx="21579839" cy="1299210"/>
            </a:xfrm>
            <a:custGeom>
              <a:avLst/>
              <a:gdLst/>
              <a:ahLst/>
              <a:cxnLst/>
              <a:rect r="r" b="b" t="t" l="l"/>
              <a:pathLst>
                <a:path h="1299210" w="21579839">
                  <a:moveTo>
                    <a:pt x="0" y="0"/>
                  </a:moveTo>
                  <a:lnTo>
                    <a:pt x="21579839" y="0"/>
                  </a:lnTo>
                  <a:lnTo>
                    <a:pt x="21579839" y="1299210"/>
                  </a:lnTo>
                  <a:lnTo>
                    <a:pt x="0" y="1299210"/>
                  </a:lnTo>
                  <a:close/>
                </a:path>
              </a:pathLst>
            </a:custGeom>
            <a:blipFill>
              <a:blip r:embed="rId3">
                <a:alphaModFix amt="0"/>
              </a:blip>
              <a:stretch>
                <a:fillRect l="0" t="-273645" r="0" b="-273645"/>
              </a:stretch>
            </a:blipFill>
          </p:spPr>
        </p:sp>
        <p:sp>
          <p:nvSpPr>
            <p:cNvPr name="TextBox 11" id="11"/>
            <p:cNvSpPr txBox="true"/>
            <p:nvPr/>
          </p:nvSpPr>
          <p:spPr>
            <a:xfrm>
              <a:off x="0" y="-19050"/>
              <a:ext cx="21579840" cy="1318260"/>
            </a:xfrm>
            <a:prstGeom prst="rect">
              <a:avLst/>
            </a:prstGeom>
          </p:spPr>
          <p:txBody>
            <a:bodyPr anchor="ctr" rtlCol="false" tIns="0" lIns="0" bIns="0" rIns="0"/>
            <a:lstStyle/>
            <a:p>
              <a:pPr algn="l">
                <a:lnSpc>
                  <a:spcPts val="5400"/>
                </a:lnSpc>
              </a:pPr>
              <a:r>
                <a:rPr lang="en-US" sz="4500" b="true">
                  <a:solidFill>
                    <a:srgbClr val="0F1017"/>
                  </a:solidFill>
                  <a:latin typeface="Cambria Bold"/>
                  <a:ea typeface="Cambria Bold"/>
                  <a:cs typeface="Cambria Bold"/>
                  <a:sym typeface="Cambria Bold"/>
                </a:rPr>
                <a:t>Initial Product Scope</a:t>
              </a:r>
            </a:p>
          </p:txBody>
        </p:sp>
      </p:grpSp>
      <p:grpSp>
        <p:nvGrpSpPr>
          <p:cNvPr name="Group 12" id="12"/>
          <p:cNvGrpSpPr/>
          <p:nvPr/>
        </p:nvGrpSpPr>
        <p:grpSpPr>
          <a:xfrm rot="0">
            <a:off x="822960" y="2125980"/>
            <a:ext cx="15087600" cy="548640"/>
            <a:chOff x="0" y="0"/>
            <a:chExt cx="20116800" cy="731520"/>
          </a:xfrm>
        </p:grpSpPr>
        <p:sp>
          <p:nvSpPr>
            <p:cNvPr name="Freeform 13" id="13"/>
            <p:cNvSpPr/>
            <p:nvPr/>
          </p:nvSpPr>
          <p:spPr>
            <a:xfrm flipH="false" flipV="false" rot="0">
              <a:off x="0" y="0"/>
              <a:ext cx="20116800" cy="731520"/>
            </a:xfrm>
            <a:custGeom>
              <a:avLst/>
              <a:gdLst/>
              <a:ahLst/>
              <a:cxnLst/>
              <a:rect r="r" b="b" t="t" l="l"/>
              <a:pathLst>
                <a:path h="731520" w="20116800">
                  <a:moveTo>
                    <a:pt x="0" y="0"/>
                  </a:moveTo>
                  <a:lnTo>
                    <a:pt x="20116800" y="0"/>
                  </a:lnTo>
                  <a:lnTo>
                    <a:pt x="20116800" y="731520"/>
                  </a:lnTo>
                  <a:lnTo>
                    <a:pt x="0" y="731520"/>
                  </a:lnTo>
                  <a:close/>
                </a:path>
              </a:pathLst>
            </a:custGeom>
            <a:blipFill>
              <a:blip r:embed="rId2">
                <a:alphaModFix amt="0"/>
              </a:blip>
              <a:stretch>
                <a:fillRect l="0" t="-485465" r="0" b="-485467"/>
              </a:stretch>
            </a:blipFill>
          </p:spPr>
        </p:sp>
      </p:grpSp>
      <p:grpSp>
        <p:nvGrpSpPr>
          <p:cNvPr name="Group 14" id="14"/>
          <p:cNvGrpSpPr/>
          <p:nvPr/>
        </p:nvGrpSpPr>
        <p:grpSpPr>
          <a:xfrm rot="0">
            <a:off x="822960" y="2090261"/>
            <a:ext cx="15087600" cy="584359"/>
            <a:chOff x="0" y="0"/>
            <a:chExt cx="20116800" cy="779145"/>
          </a:xfrm>
        </p:grpSpPr>
        <p:sp>
          <p:nvSpPr>
            <p:cNvPr name="Freeform 15" id="15"/>
            <p:cNvSpPr/>
            <p:nvPr/>
          </p:nvSpPr>
          <p:spPr>
            <a:xfrm flipH="false" flipV="false" rot="0">
              <a:off x="0" y="0"/>
              <a:ext cx="20116800" cy="779145"/>
            </a:xfrm>
            <a:custGeom>
              <a:avLst/>
              <a:gdLst/>
              <a:ahLst/>
              <a:cxnLst/>
              <a:rect r="r" b="b" t="t" l="l"/>
              <a:pathLst>
                <a:path h="779145" w="20116800">
                  <a:moveTo>
                    <a:pt x="0" y="0"/>
                  </a:moveTo>
                  <a:lnTo>
                    <a:pt x="20116800" y="0"/>
                  </a:lnTo>
                  <a:lnTo>
                    <a:pt x="20116800" y="779145"/>
                  </a:lnTo>
                  <a:lnTo>
                    <a:pt x="0" y="779145"/>
                  </a:lnTo>
                  <a:close/>
                </a:path>
              </a:pathLst>
            </a:custGeom>
            <a:blipFill>
              <a:blip r:embed="rId3">
                <a:alphaModFix amt="0"/>
              </a:blip>
              <a:stretch>
                <a:fillRect l="0" t="-453085" r="0" b="-453085"/>
              </a:stretch>
            </a:blipFill>
          </p:spPr>
        </p:sp>
        <p:sp>
          <p:nvSpPr>
            <p:cNvPr name="TextBox 16" id="16"/>
            <p:cNvSpPr txBox="true"/>
            <p:nvPr/>
          </p:nvSpPr>
          <p:spPr>
            <a:xfrm>
              <a:off x="0" y="-47625"/>
              <a:ext cx="20116800" cy="826770"/>
            </a:xfrm>
            <a:prstGeom prst="rect">
              <a:avLst/>
            </a:prstGeom>
          </p:spPr>
          <p:txBody>
            <a:bodyPr anchor="ctr" rtlCol="false" tIns="0" lIns="0" bIns="0" rIns="0"/>
            <a:lstStyle/>
            <a:p>
              <a:pPr algn="l">
                <a:lnSpc>
                  <a:spcPts val="2520"/>
                </a:lnSpc>
              </a:pPr>
              <a:r>
                <a:rPr lang="en-US" sz="2100" b="true">
                  <a:solidFill>
                    <a:srgbClr val="0F1017"/>
                  </a:solidFill>
                  <a:latin typeface="Calibri (MS) Bold"/>
                  <a:ea typeface="Calibri (MS) Bold"/>
                  <a:cs typeface="Calibri (MS) Bold"/>
                  <a:sym typeface="Calibri (MS) Bold"/>
                </a:rPr>
                <a:t>Alternativas de solución consideradas</a:t>
              </a:r>
            </a:p>
          </p:txBody>
        </p:sp>
      </p:grpSp>
      <p:grpSp>
        <p:nvGrpSpPr>
          <p:cNvPr name="Group 17" id="17"/>
          <p:cNvGrpSpPr/>
          <p:nvPr/>
        </p:nvGrpSpPr>
        <p:grpSpPr>
          <a:xfrm rot="0">
            <a:off x="822960" y="2743200"/>
            <a:ext cx="5349240" cy="2057400"/>
            <a:chOff x="0" y="0"/>
            <a:chExt cx="7132320" cy="2743200"/>
          </a:xfrm>
        </p:grpSpPr>
        <p:sp>
          <p:nvSpPr>
            <p:cNvPr name="Freeform 18" id="18"/>
            <p:cNvSpPr/>
            <p:nvPr/>
          </p:nvSpPr>
          <p:spPr>
            <a:xfrm flipH="false" flipV="false" rot="0">
              <a:off x="0" y="0"/>
              <a:ext cx="7132320" cy="2743200"/>
            </a:xfrm>
            <a:custGeom>
              <a:avLst/>
              <a:gdLst/>
              <a:ahLst/>
              <a:cxnLst/>
              <a:rect r="r" b="b" t="t" l="l"/>
              <a:pathLst>
                <a:path h="2743200" w="7132320">
                  <a:moveTo>
                    <a:pt x="0" y="182880"/>
                  </a:moveTo>
                  <a:cubicBezTo>
                    <a:pt x="0" y="81915"/>
                    <a:pt x="81915" y="0"/>
                    <a:pt x="182880" y="0"/>
                  </a:cubicBezTo>
                  <a:lnTo>
                    <a:pt x="6949440" y="0"/>
                  </a:lnTo>
                  <a:cubicBezTo>
                    <a:pt x="7050405" y="0"/>
                    <a:pt x="7132320" y="81915"/>
                    <a:pt x="7132320" y="182880"/>
                  </a:cubicBezTo>
                  <a:lnTo>
                    <a:pt x="7132320" y="2560320"/>
                  </a:lnTo>
                  <a:cubicBezTo>
                    <a:pt x="7132320" y="2661285"/>
                    <a:pt x="7050405" y="2743200"/>
                    <a:pt x="6949440" y="2743200"/>
                  </a:cubicBezTo>
                  <a:lnTo>
                    <a:pt x="182880" y="2743200"/>
                  </a:lnTo>
                  <a:cubicBezTo>
                    <a:pt x="81915" y="2743200"/>
                    <a:pt x="0" y="2661285"/>
                    <a:pt x="0" y="2560320"/>
                  </a:cubicBezTo>
                  <a:close/>
                </a:path>
              </a:pathLst>
            </a:custGeom>
            <a:solidFill>
              <a:srgbClr val="2B3D9C"/>
            </a:solidFill>
          </p:spPr>
        </p:sp>
      </p:grpSp>
      <p:grpSp>
        <p:nvGrpSpPr>
          <p:cNvPr name="Group 19" id="19"/>
          <p:cNvGrpSpPr/>
          <p:nvPr/>
        </p:nvGrpSpPr>
        <p:grpSpPr>
          <a:xfrm rot="0">
            <a:off x="1097280" y="2948940"/>
            <a:ext cx="4800600" cy="685800"/>
            <a:chOff x="0" y="0"/>
            <a:chExt cx="6400800" cy="914400"/>
          </a:xfrm>
        </p:grpSpPr>
        <p:sp>
          <p:nvSpPr>
            <p:cNvPr name="Freeform 20" id="20"/>
            <p:cNvSpPr/>
            <p:nvPr/>
          </p:nvSpPr>
          <p:spPr>
            <a:xfrm flipH="false" flipV="false" rot="0">
              <a:off x="0" y="0"/>
              <a:ext cx="6400800" cy="914400"/>
            </a:xfrm>
            <a:custGeom>
              <a:avLst/>
              <a:gdLst/>
              <a:ahLst/>
              <a:cxnLst/>
              <a:rect r="r" b="b" t="t" l="l"/>
              <a:pathLst>
                <a:path h="914400" w="6400800">
                  <a:moveTo>
                    <a:pt x="0" y="0"/>
                  </a:moveTo>
                  <a:lnTo>
                    <a:pt x="6400800" y="0"/>
                  </a:lnTo>
                  <a:lnTo>
                    <a:pt x="6400800" y="914400"/>
                  </a:lnTo>
                  <a:lnTo>
                    <a:pt x="0" y="914400"/>
                  </a:lnTo>
                  <a:close/>
                </a:path>
              </a:pathLst>
            </a:custGeom>
            <a:blipFill>
              <a:blip r:embed="rId2">
                <a:alphaModFix amt="0"/>
              </a:blip>
              <a:stretch>
                <a:fillRect l="0" t="-86300" r="0" b="-86301"/>
              </a:stretch>
            </a:blipFill>
          </p:spPr>
        </p:sp>
      </p:grpSp>
      <p:grpSp>
        <p:nvGrpSpPr>
          <p:cNvPr name="Group 21" id="21"/>
          <p:cNvGrpSpPr/>
          <p:nvPr/>
        </p:nvGrpSpPr>
        <p:grpSpPr>
          <a:xfrm rot="0">
            <a:off x="1097280" y="2913221"/>
            <a:ext cx="4800600" cy="721519"/>
            <a:chOff x="0" y="0"/>
            <a:chExt cx="6400800" cy="962025"/>
          </a:xfrm>
        </p:grpSpPr>
        <p:sp>
          <p:nvSpPr>
            <p:cNvPr name="Freeform 22" id="22"/>
            <p:cNvSpPr/>
            <p:nvPr/>
          </p:nvSpPr>
          <p:spPr>
            <a:xfrm flipH="false" flipV="false" rot="0">
              <a:off x="0" y="0"/>
              <a:ext cx="6400800" cy="962025"/>
            </a:xfrm>
            <a:custGeom>
              <a:avLst/>
              <a:gdLst/>
              <a:ahLst/>
              <a:cxnLst/>
              <a:rect r="r" b="b" t="t" l="l"/>
              <a:pathLst>
                <a:path h="962025" w="6400800">
                  <a:moveTo>
                    <a:pt x="0" y="0"/>
                  </a:moveTo>
                  <a:lnTo>
                    <a:pt x="6400800" y="0"/>
                  </a:lnTo>
                  <a:lnTo>
                    <a:pt x="6400800" y="962025"/>
                  </a:lnTo>
                  <a:lnTo>
                    <a:pt x="0" y="962025"/>
                  </a:lnTo>
                  <a:close/>
                </a:path>
              </a:pathLst>
            </a:custGeom>
            <a:blipFill>
              <a:blip r:embed="rId3">
                <a:alphaModFix amt="0"/>
              </a:blip>
              <a:stretch>
                <a:fillRect l="0" t="-79643" r="0" b="-79643"/>
              </a:stretch>
            </a:blipFill>
          </p:spPr>
        </p:sp>
        <p:sp>
          <p:nvSpPr>
            <p:cNvPr name="TextBox 23" id="23"/>
            <p:cNvSpPr txBox="true"/>
            <p:nvPr/>
          </p:nvSpPr>
          <p:spPr>
            <a:xfrm>
              <a:off x="0" y="-47625"/>
              <a:ext cx="6400800" cy="1009650"/>
            </a:xfrm>
            <a:prstGeom prst="rect">
              <a:avLst/>
            </a:prstGeom>
          </p:spPr>
          <p:txBody>
            <a:bodyPr anchor="ctr" rtlCol="false" tIns="0" lIns="0" bIns="0" rIns="0"/>
            <a:lstStyle/>
            <a:p>
              <a:pPr algn="l">
                <a:lnSpc>
                  <a:spcPts val="2340"/>
                </a:lnSpc>
              </a:pPr>
              <a:r>
                <a:rPr lang="en-US" sz="1950" b="true">
                  <a:solidFill>
                    <a:srgbClr val="F9FBFC"/>
                  </a:solidFill>
                  <a:latin typeface="Calibri (MS) Bold"/>
                  <a:ea typeface="Calibri (MS) Bold"/>
                  <a:cs typeface="Calibri (MS) Bold"/>
                  <a:sym typeface="Calibri (MS) Bold"/>
                </a:rPr>
                <a:t>Visualización geoespacial estática</a:t>
              </a:r>
            </a:p>
          </p:txBody>
        </p:sp>
      </p:grpSp>
      <p:grpSp>
        <p:nvGrpSpPr>
          <p:cNvPr name="Group 24" id="24"/>
          <p:cNvGrpSpPr/>
          <p:nvPr/>
        </p:nvGrpSpPr>
        <p:grpSpPr>
          <a:xfrm rot="0">
            <a:off x="1097280" y="3634740"/>
            <a:ext cx="4800600" cy="1097280"/>
            <a:chOff x="0" y="0"/>
            <a:chExt cx="6400800" cy="1463040"/>
          </a:xfrm>
        </p:grpSpPr>
        <p:sp>
          <p:nvSpPr>
            <p:cNvPr name="Freeform 25" id="25"/>
            <p:cNvSpPr/>
            <p:nvPr/>
          </p:nvSpPr>
          <p:spPr>
            <a:xfrm flipH="false" flipV="false" rot="0">
              <a:off x="0" y="0"/>
              <a:ext cx="6400800" cy="1463040"/>
            </a:xfrm>
            <a:custGeom>
              <a:avLst/>
              <a:gdLst/>
              <a:ahLst/>
              <a:cxnLst/>
              <a:rect r="r" b="b" t="t" l="l"/>
              <a:pathLst>
                <a:path h="1463040" w="6400800">
                  <a:moveTo>
                    <a:pt x="0" y="0"/>
                  </a:moveTo>
                  <a:lnTo>
                    <a:pt x="6400800" y="0"/>
                  </a:lnTo>
                  <a:lnTo>
                    <a:pt x="6400800" y="1463040"/>
                  </a:lnTo>
                  <a:lnTo>
                    <a:pt x="0" y="1463040"/>
                  </a:lnTo>
                  <a:close/>
                </a:path>
              </a:pathLst>
            </a:custGeom>
            <a:blipFill>
              <a:blip r:embed="rId2">
                <a:alphaModFix amt="0"/>
              </a:blip>
              <a:stretch>
                <a:fillRect l="0" t="-35187" r="0" b="-35188"/>
              </a:stretch>
            </a:blipFill>
          </p:spPr>
        </p:sp>
      </p:grpSp>
      <p:grpSp>
        <p:nvGrpSpPr>
          <p:cNvPr name="Group 26" id="26"/>
          <p:cNvGrpSpPr/>
          <p:nvPr/>
        </p:nvGrpSpPr>
        <p:grpSpPr>
          <a:xfrm rot="0">
            <a:off x="1097280" y="3606165"/>
            <a:ext cx="4800600" cy="1125855"/>
            <a:chOff x="0" y="0"/>
            <a:chExt cx="6400800" cy="1501140"/>
          </a:xfrm>
        </p:grpSpPr>
        <p:sp>
          <p:nvSpPr>
            <p:cNvPr name="Freeform 27" id="27"/>
            <p:cNvSpPr/>
            <p:nvPr/>
          </p:nvSpPr>
          <p:spPr>
            <a:xfrm flipH="false" flipV="false" rot="0">
              <a:off x="0" y="0"/>
              <a:ext cx="6400800" cy="1501140"/>
            </a:xfrm>
            <a:custGeom>
              <a:avLst/>
              <a:gdLst/>
              <a:ahLst/>
              <a:cxnLst/>
              <a:rect r="r" b="b" t="t" l="l"/>
              <a:pathLst>
                <a:path h="1501140" w="6400800">
                  <a:moveTo>
                    <a:pt x="0" y="0"/>
                  </a:moveTo>
                  <a:lnTo>
                    <a:pt x="6400800" y="0"/>
                  </a:lnTo>
                  <a:lnTo>
                    <a:pt x="6400800" y="1501140"/>
                  </a:lnTo>
                  <a:lnTo>
                    <a:pt x="0" y="1501140"/>
                  </a:lnTo>
                  <a:close/>
                </a:path>
              </a:pathLst>
            </a:custGeom>
            <a:blipFill>
              <a:blip r:embed="rId3">
                <a:alphaModFix amt="0"/>
              </a:blip>
              <a:stretch>
                <a:fillRect l="0" t="-33083" r="0" b="-33083"/>
              </a:stretch>
            </a:blipFill>
          </p:spPr>
        </p:sp>
        <p:sp>
          <p:nvSpPr>
            <p:cNvPr name="TextBox 28" id="28"/>
            <p:cNvSpPr txBox="true"/>
            <p:nvPr/>
          </p:nvSpPr>
          <p:spPr>
            <a:xfrm>
              <a:off x="0" y="-38100"/>
              <a:ext cx="6400800" cy="1539240"/>
            </a:xfrm>
            <a:prstGeom prst="rect">
              <a:avLst/>
            </a:prstGeom>
          </p:spPr>
          <p:txBody>
            <a:bodyPr anchor="ctr" rtlCol="false" tIns="0" lIns="0" bIns="0" rIns="0"/>
            <a:lstStyle/>
            <a:p>
              <a:pPr algn="l">
                <a:lnSpc>
                  <a:spcPts val="2070"/>
                </a:lnSpc>
              </a:pPr>
              <a:r>
                <a:rPr lang="en-US" sz="1725">
                  <a:solidFill>
                    <a:srgbClr val="F9FBFC"/>
                  </a:solidFill>
                  <a:latin typeface="Calibri (MS)"/>
                  <a:ea typeface="Calibri (MS)"/>
                  <a:cs typeface="Calibri (MS)"/>
                  <a:sym typeface="Calibri (MS)"/>
                </a:rPr>
                <a:t>Descartada: pasiva, no se adapta al usuario.</a:t>
              </a:r>
            </a:p>
          </p:txBody>
        </p:sp>
      </p:grpSp>
      <p:grpSp>
        <p:nvGrpSpPr>
          <p:cNvPr name="Group 29" id="29"/>
          <p:cNvGrpSpPr/>
          <p:nvPr/>
        </p:nvGrpSpPr>
        <p:grpSpPr>
          <a:xfrm rot="0">
            <a:off x="6446520" y="2743200"/>
            <a:ext cx="5349240" cy="2057400"/>
            <a:chOff x="0" y="0"/>
            <a:chExt cx="7132320" cy="2743200"/>
          </a:xfrm>
        </p:grpSpPr>
        <p:sp>
          <p:nvSpPr>
            <p:cNvPr name="Freeform 30" id="30"/>
            <p:cNvSpPr/>
            <p:nvPr/>
          </p:nvSpPr>
          <p:spPr>
            <a:xfrm flipH="false" flipV="false" rot="0">
              <a:off x="0" y="0"/>
              <a:ext cx="7132320" cy="2743200"/>
            </a:xfrm>
            <a:custGeom>
              <a:avLst/>
              <a:gdLst/>
              <a:ahLst/>
              <a:cxnLst/>
              <a:rect r="r" b="b" t="t" l="l"/>
              <a:pathLst>
                <a:path h="2743200" w="7132320">
                  <a:moveTo>
                    <a:pt x="0" y="182880"/>
                  </a:moveTo>
                  <a:cubicBezTo>
                    <a:pt x="0" y="81915"/>
                    <a:pt x="81915" y="0"/>
                    <a:pt x="182880" y="0"/>
                  </a:cubicBezTo>
                  <a:lnTo>
                    <a:pt x="6949440" y="0"/>
                  </a:lnTo>
                  <a:cubicBezTo>
                    <a:pt x="7050405" y="0"/>
                    <a:pt x="7132320" y="81915"/>
                    <a:pt x="7132320" y="182880"/>
                  </a:cubicBezTo>
                  <a:lnTo>
                    <a:pt x="7132320" y="2560320"/>
                  </a:lnTo>
                  <a:cubicBezTo>
                    <a:pt x="7132320" y="2661285"/>
                    <a:pt x="7050405" y="2743200"/>
                    <a:pt x="6949440" y="2743200"/>
                  </a:cubicBezTo>
                  <a:lnTo>
                    <a:pt x="182880" y="2743200"/>
                  </a:lnTo>
                  <a:cubicBezTo>
                    <a:pt x="81915" y="2743200"/>
                    <a:pt x="0" y="2661285"/>
                    <a:pt x="0" y="2560320"/>
                  </a:cubicBezTo>
                  <a:close/>
                </a:path>
              </a:pathLst>
            </a:custGeom>
            <a:solidFill>
              <a:srgbClr val="2B3D9C"/>
            </a:solidFill>
          </p:spPr>
        </p:sp>
      </p:grpSp>
      <p:grpSp>
        <p:nvGrpSpPr>
          <p:cNvPr name="Group 31" id="31"/>
          <p:cNvGrpSpPr/>
          <p:nvPr/>
        </p:nvGrpSpPr>
        <p:grpSpPr>
          <a:xfrm rot="0">
            <a:off x="6720840" y="2948940"/>
            <a:ext cx="4800600" cy="685800"/>
            <a:chOff x="0" y="0"/>
            <a:chExt cx="6400800" cy="914400"/>
          </a:xfrm>
        </p:grpSpPr>
        <p:sp>
          <p:nvSpPr>
            <p:cNvPr name="Freeform 32" id="32"/>
            <p:cNvSpPr/>
            <p:nvPr/>
          </p:nvSpPr>
          <p:spPr>
            <a:xfrm flipH="false" flipV="false" rot="0">
              <a:off x="0" y="0"/>
              <a:ext cx="6400800" cy="914400"/>
            </a:xfrm>
            <a:custGeom>
              <a:avLst/>
              <a:gdLst/>
              <a:ahLst/>
              <a:cxnLst/>
              <a:rect r="r" b="b" t="t" l="l"/>
              <a:pathLst>
                <a:path h="914400" w="6400800">
                  <a:moveTo>
                    <a:pt x="0" y="0"/>
                  </a:moveTo>
                  <a:lnTo>
                    <a:pt x="6400800" y="0"/>
                  </a:lnTo>
                  <a:lnTo>
                    <a:pt x="6400800" y="914400"/>
                  </a:lnTo>
                  <a:lnTo>
                    <a:pt x="0" y="914400"/>
                  </a:lnTo>
                  <a:close/>
                </a:path>
              </a:pathLst>
            </a:custGeom>
            <a:blipFill>
              <a:blip r:embed="rId2">
                <a:alphaModFix amt="0"/>
              </a:blip>
              <a:stretch>
                <a:fillRect l="0" t="-86300" r="0" b="-86301"/>
              </a:stretch>
            </a:blipFill>
          </p:spPr>
        </p:sp>
      </p:grpSp>
      <p:grpSp>
        <p:nvGrpSpPr>
          <p:cNvPr name="Group 33" id="33"/>
          <p:cNvGrpSpPr/>
          <p:nvPr/>
        </p:nvGrpSpPr>
        <p:grpSpPr>
          <a:xfrm rot="0">
            <a:off x="6720840" y="2913221"/>
            <a:ext cx="4800600" cy="721519"/>
            <a:chOff x="0" y="0"/>
            <a:chExt cx="6400800" cy="962025"/>
          </a:xfrm>
        </p:grpSpPr>
        <p:sp>
          <p:nvSpPr>
            <p:cNvPr name="Freeform 34" id="34"/>
            <p:cNvSpPr/>
            <p:nvPr/>
          </p:nvSpPr>
          <p:spPr>
            <a:xfrm flipH="false" flipV="false" rot="0">
              <a:off x="0" y="0"/>
              <a:ext cx="6400800" cy="962025"/>
            </a:xfrm>
            <a:custGeom>
              <a:avLst/>
              <a:gdLst/>
              <a:ahLst/>
              <a:cxnLst/>
              <a:rect r="r" b="b" t="t" l="l"/>
              <a:pathLst>
                <a:path h="962025" w="6400800">
                  <a:moveTo>
                    <a:pt x="0" y="0"/>
                  </a:moveTo>
                  <a:lnTo>
                    <a:pt x="6400800" y="0"/>
                  </a:lnTo>
                  <a:lnTo>
                    <a:pt x="6400800" y="962025"/>
                  </a:lnTo>
                  <a:lnTo>
                    <a:pt x="0" y="962025"/>
                  </a:lnTo>
                  <a:close/>
                </a:path>
              </a:pathLst>
            </a:custGeom>
            <a:blipFill>
              <a:blip r:embed="rId3">
                <a:alphaModFix amt="0"/>
              </a:blip>
              <a:stretch>
                <a:fillRect l="0" t="-79643" r="0" b="-79643"/>
              </a:stretch>
            </a:blipFill>
          </p:spPr>
        </p:sp>
        <p:sp>
          <p:nvSpPr>
            <p:cNvPr name="TextBox 35" id="35"/>
            <p:cNvSpPr txBox="true"/>
            <p:nvPr/>
          </p:nvSpPr>
          <p:spPr>
            <a:xfrm>
              <a:off x="0" y="-47625"/>
              <a:ext cx="6400800" cy="1009650"/>
            </a:xfrm>
            <a:prstGeom prst="rect">
              <a:avLst/>
            </a:prstGeom>
          </p:spPr>
          <p:txBody>
            <a:bodyPr anchor="ctr" rtlCol="false" tIns="0" lIns="0" bIns="0" rIns="0"/>
            <a:lstStyle/>
            <a:p>
              <a:pPr algn="l">
                <a:lnSpc>
                  <a:spcPts val="2340"/>
                </a:lnSpc>
              </a:pPr>
              <a:r>
                <a:rPr lang="en-US" sz="1950" b="true">
                  <a:solidFill>
                    <a:srgbClr val="F9FBFC"/>
                  </a:solidFill>
                  <a:latin typeface="Calibri (MS) Bold"/>
                  <a:ea typeface="Calibri (MS) Bold"/>
                  <a:cs typeface="Calibri (MS) Bold"/>
                  <a:sym typeface="Calibri (MS) Bold"/>
                </a:rPr>
                <a:t>Asistente conversacional (LLM)</a:t>
              </a:r>
            </a:p>
          </p:txBody>
        </p:sp>
      </p:grpSp>
      <p:grpSp>
        <p:nvGrpSpPr>
          <p:cNvPr name="Group 36" id="36"/>
          <p:cNvGrpSpPr/>
          <p:nvPr/>
        </p:nvGrpSpPr>
        <p:grpSpPr>
          <a:xfrm rot="0">
            <a:off x="6720840" y="3634740"/>
            <a:ext cx="4800600" cy="1097280"/>
            <a:chOff x="0" y="0"/>
            <a:chExt cx="6400800" cy="1463040"/>
          </a:xfrm>
        </p:grpSpPr>
        <p:sp>
          <p:nvSpPr>
            <p:cNvPr name="Freeform 37" id="37"/>
            <p:cNvSpPr/>
            <p:nvPr/>
          </p:nvSpPr>
          <p:spPr>
            <a:xfrm flipH="false" flipV="false" rot="0">
              <a:off x="0" y="0"/>
              <a:ext cx="6400800" cy="1463040"/>
            </a:xfrm>
            <a:custGeom>
              <a:avLst/>
              <a:gdLst/>
              <a:ahLst/>
              <a:cxnLst/>
              <a:rect r="r" b="b" t="t" l="l"/>
              <a:pathLst>
                <a:path h="1463040" w="6400800">
                  <a:moveTo>
                    <a:pt x="0" y="0"/>
                  </a:moveTo>
                  <a:lnTo>
                    <a:pt x="6400800" y="0"/>
                  </a:lnTo>
                  <a:lnTo>
                    <a:pt x="6400800" y="1463040"/>
                  </a:lnTo>
                  <a:lnTo>
                    <a:pt x="0" y="1463040"/>
                  </a:lnTo>
                  <a:close/>
                </a:path>
              </a:pathLst>
            </a:custGeom>
            <a:blipFill>
              <a:blip r:embed="rId2">
                <a:alphaModFix amt="0"/>
              </a:blip>
              <a:stretch>
                <a:fillRect l="0" t="-35187" r="0" b="-35188"/>
              </a:stretch>
            </a:blipFill>
          </p:spPr>
        </p:sp>
      </p:grpSp>
      <p:grpSp>
        <p:nvGrpSpPr>
          <p:cNvPr name="Group 38" id="38"/>
          <p:cNvGrpSpPr/>
          <p:nvPr/>
        </p:nvGrpSpPr>
        <p:grpSpPr>
          <a:xfrm rot="0">
            <a:off x="6720840" y="3606165"/>
            <a:ext cx="4800600" cy="1125855"/>
            <a:chOff x="0" y="0"/>
            <a:chExt cx="6400800" cy="1501140"/>
          </a:xfrm>
        </p:grpSpPr>
        <p:sp>
          <p:nvSpPr>
            <p:cNvPr name="Freeform 39" id="39"/>
            <p:cNvSpPr/>
            <p:nvPr/>
          </p:nvSpPr>
          <p:spPr>
            <a:xfrm flipH="false" flipV="false" rot="0">
              <a:off x="0" y="0"/>
              <a:ext cx="6400800" cy="1501140"/>
            </a:xfrm>
            <a:custGeom>
              <a:avLst/>
              <a:gdLst/>
              <a:ahLst/>
              <a:cxnLst/>
              <a:rect r="r" b="b" t="t" l="l"/>
              <a:pathLst>
                <a:path h="1501140" w="6400800">
                  <a:moveTo>
                    <a:pt x="0" y="0"/>
                  </a:moveTo>
                  <a:lnTo>
                    <a:pt x="6400800" y="0"/>
                  </a:lnTo>
                  <a:lnTo>
                    <a:pt x="6400800" y="1501140"/>
                  </a:lnTo>
                  <a:lnTo>
                    <a:pt x="0" y="1501140"/>
                  </a:lnTo>
                  <a:close/>
                </a:path>
              </a:pathLst>
            </a:custGeom>
            <a:blipFill>
              <a:blip r:embed="rId3">
                <a:alphaModFix amt="0"/>
              </a:blip>
              <a:stretch>
                <a:fillRect l="0" t="-33083" r="0" b="-33083"/>
              </a:stretch>
            </a:blipFill>
          </p:spPr>
        </p:sp>
        <p:sp>
          <p:nvSpPr>
            <p:cNvPr name="TextBox 40" id="40"/>
            <p:cNvSpPr txBox="true"/>
            <p:nvPr/>
          </p:nvSpPr>
          <p:spPr>
            <a:xfrm>
              <a:off x="0" y="-38100"/>
              <a:ext cx="6400800" cy="1539240"/>
            </a:xfrm>
            <a:prstGeom prst="rect">
              <a:avLst/>
            </a:prstGeom>
          </p:spPr>
          <p:txBody>
            <a:bodyPr anchor="ctr" rtlCol="false" tIns="0" lIns="0" bIns="0" rIns="0"/>
            <a:lstStyle/>
            <a:p>
              <a:pPr algn="l">
                <a:lnSpc>
                  <a:spcPts val="2070"/>
                </a:lnSpc>
              </a:pPr>
              <a:r>
                <a:rPr lang="en-US" sz="1725">
                  <a:solidFill>
                    <a:srgbClr val="F9FBFC"/>
                  </a:solidFill>
                  <a:latin typeface="Calibri (MS)"/>
                  <a:ea typeface="Calibri (MS)"/>
                  <a:cs typeface="Calibri (MS)"/>
                  <a:sym typeface="Calibri (MS)"/>
                </a:rPr>
                <a:t>Descartado: no genera ranking accionable ni comparable.</a:t>
              </a:r>
            </a:p>
          </p:txBody>
        </p:sp>
      </p:grpSp>
      <p:grpSp>
        <p:nvGrpSpPr>
          <p:cNvPr name="Group 41" id="41"/>
          <p:cNvGrpSpPr/>
          <p:nvPr/>
        </p:nvGrpSpPr>
        <p:grpSpPr>
          <a:xfrm rot="0">
            <a:off x="12070080" y="2743200"/>
            <a:ext cx="5349240" cy="2057400"/>
            <a:chOff x="0" y="0"/>
            <a:chExt cx="7132320" cy="2743200"/>
          </a:xfrm>
        </p:grpSpPr>
        <p:sp>
          <p:nvSpPr>
            <p:cNvPr name="Freeform 42" id="42"/>
            <p:cNvSpPr/>
            <p:nvPr/>
          </p:nvSpPr>
          <p:spPr>
            <a:xfrm flipH="false" flipV="false" rot="0">
              <a:off x="0" y="0"/>
              <a:ext cx="7132320" cy="2743200"/>
            </a:xfrm>
            <a:custGeom>
              <a:avLst/>
              <a:gdLst/>
              <a:ahLst/>
              <a:cxnLst/>
              <a:rect r="r" b="b" t="t" l="l"/>
              <a:pathLst>
                <a:path h="2743200" w="7132320">
                  <a:moveTo>
                    <a:pt x="0" y="182880"/>
                  </a:moveTo>
                  <a:cubicBezTo>
                    <a:pt x="0" y="81915"/>
                    <a:pt x="81915" y="0"/>
                    <a:pt x="182880" y="0"/>
                  </a:cubicBezTo>
                  <a:lnTo>
                    <a:pt x="6949440" y="0"/>
                  </a:lnTo>
                  <a:cubicBezTo>
                    <a:pt x="7050405" y="0"/>
                    <a:pt x="7132320" y="81915"/>
                    <a:pt x="7132320" y="182880"/>
                  </a:cubicBezTo>
                  <a:lnTo>
                    <a:pt x="7132320" y="2560320"/>
                  </a:lnTo>
                  <a:cubicBezTo>
                    <a:pt x="7132320" y="2661285"/>
                    <a:pt x="7050405" y="2743200"/>
                    <a:pt x="6949440" y="2743200"/>
                  </a:cubicBezTo>
                  <a:lnTo>
                    <a:pt x="182880" y="2743200"/>
                  </a:lnTo>
                  <a:cubicBezTo>
                    <a:pt x="81915" y="2743200"/>
                    <a:pt x="0" y="2661285"/>
                    <a:pt x="0" y="2560320"/>
                  </a:cubicBezTo>
                  <a:close/>
                </a:path>
              </a:pathLst>
            </a:custGeom>
            <a:solidFill>
              <a:srgbClr val="2B3D9C"/>
            </a:solidFill>
          </p:spPr>
        </p:sp>
      </p:grpSp>
      <p:grpSp>
        <p:nvGrpSpPr>
          <p:cNvPr name="Group 43" id="43"/>
          <p:cNvGrpSpPr/>
          <p:nvPr/>
        </p:nvGrpSpPr>
        <p:grpSpPr>
          <a:xfrm rot="0">
            <a:off x="12344400" y="2948940"/>
            <a:ext cx="4800600" cy="685800"/>
            <a:chOff x="0" y="0"/>
            <a:chExt cx="6400800" cy="914400"/>
          </a:xfrm>
        </p:grpSpPr>
        <p:sp>
          <p:nvSpPr>
            <p:cNvPr name="Freeform 44" id="44"/>
            <p:cNvSpPr/>
            <p:nvPr/>
          </p:nvSpPr>
          <p:spPr>
            <a:xfrm flipH="false" flipV="false" rot="0">
              <a:off x="0" y="0"/>
              <a:ext cx="6400800" cy="914400"/>
            </a:xfrm>
            <a:custGeom>
              <a:avLst/>
              <a:gdLst/>
              <a:ahLst/>
              <a:cxnLst/>
              <a:rect r="r" b="b" t="t" l="l"/>
              <a:pathLst>
                <a:path h="914400" w="6400800">
                  <a:moveTo>
                    <a:pt x="0" y="0"/>
                  </a:moveTo>
                  <a:lnTo>
                    <a:pt x="6400800" y="0"/>
                  </a:lnTo>
                  <a:lnTo>
                    <a:pt x="6400800" y="914400"/>
                  </a:lnTo>
                  <a:lnTo>
                    <a:pt x="0" y="914400"/>
                  </a:lnTo>
                  <a:close/>
                </a:path>
              </a:pathLst>
            </a:custGeom>
            <a:blipFill>
              <a:blip r:embed="rId2">
                <a:alphaModFix amt="0"/>
              </a:blip>
              <a:stretch>
                <a:fillRect l="0" t="-86300" r="0" b="-86301"/>
              </a:stretch>
            </a:blipFill>
          </p:spPr>
        </p:sp>
      </p:grpSp>
      <p:grpSp>
        <p:nvGrpSpPr>
          <p:cNvPr name="Group 45" id="45"/>
          <p:cNvGrpSpPr/>
          <p:nvPr/>
        </p:nvGrpSpPr>
        <p:grpSpPr>
          <a:xfrm rot="0">
            <a:off x="12344400" y="2913221"/>
            <a:ext cx="4800600" cy="721519"/>
            <a:chOff x="0" y="0"/>
            <a:chExt cx="6400800" cy="962025"/>
          </a:xfrm>
        </p:grpSpPr>
        <p:sp>
          <p:nvSpPr>
            <p:cNvPr name="Freeform 46" id="46"/>
            <p:cNvSpPr/>
            <p:nvPr/>
          </p:nvSpPr>
          <p:spPr>
            <a:xfrm flipH="false" flipV="false" rot="0">
              <a:off x="0" y="0"/>
              <a:ext cx="6400800" cy="962025"/>
            </a:xfrm>
            <a:custGeom>
              <a:avLst/>
              <a:gdLst/>
              <a:ahLst/>
              <a:cxnLst/>
              <a:rect r="r" b="b" t="t" l="l"/>
              <a:pathLst>
                <a:path h="962025" w="6400800">
                  <a:moveTo>
                    <a:pt x="0" y="0"/>
                  </a:moveTo>
                  <a:lnTo>
                    <a:pt x="6400800" y="0"/>
                  </a:lnTo>
                  <a:lnTo>
                    <a:pt x="6400800" y="962025"/>
                  </a:lnTo>
                  <a:lnTo>
                    <a:pt x="0" y="962025"/>
                  </a:lnTo>
                  <a:close/>
                </a:path>
              </a:pathLst>
            </a:custGeom>
            <a:blipFill>
              <a:blip r:embed="rId3">
                <a:alphaModFix amt="0"/>
              </a:blip>
              <a:stretch>
                <a:fillRect l="0" t="-79643" r="0" b="-79643"/>
              </a:stretch>
            </a:blipFill>
          </p:spPr>
        </p:sp>
        <p:sp>
          <p:nvSpPr>
            <p:cNvPr name="TextBox 47" id="47"/>
            <p:cNvSpPr txBox="true"/>
            <p:nvPr/>
          </p:nvSpPr>
          <p:spPr>
            <a:xfrm>
              <a:off x="0" y="-47625"/>
              <a:ext cx="6400800" cy="1009650"/>
            </a:xfrm>
            <a:prstGeom prst="rect">
              <a:avLst/>
            </a:prstGeom>
          </p:spPr>
          <p:txBody>
            <a:bodyPr anchor="ctr" rtlCol="false" tIns="0" lIns="0" bIns="0" rIns="0"/>
            <a:lstStyle/>
            <a:p>
              <a:pPr algn="l">
                <a:lnSpc>
                  <a:spcPts val="2340"/>
                </a:lnSpc>
              </a:pPr>
              <a:r>
                <a:rPr lang="en-US" sz="1950" b="true">
                  <a:solidFill>
                    <a:srgbClr val="F9FBFC"/>
                  </a:solidFill>
                  <a:latin typeface="Calibri (MS) Bold"/>
                  <a:ea typeface="Calibri (MS) Bold"/>
                  <a:cs typeface="Calibri (MS) Bold"/>
                  <a:sym typeface="Calibri (MS) Bold"/>
                </a:rPr>
                <a:t>InmoScore (elegida)</a:t>
              </a:r>
            </a:p>
          </p:txBody>
        </p:sp>
      </p:grpSp>
      <p:grpSp>
        <p:nvGrpSpPr>
          <p:cNvPr name="Group 48" id="48"/>
          <p:cNvGrpSpPr/>
          <p:nvPr/>
        </p:nvGrpSpPr>
        <p:grpSpPr>
          <a:xfrm rot="0">
            <a:off x="12344400" y="3634740"/>
            <a:ext cx="4800600" cy="1097280"/>
            <a:chOff x="0" y="0"/>
            <a:chExt cx="6400800" cy="1463040"/>
          </a:xfrm>
        </p:grpSpPr>
        <p:sp>
          <p:nvSpPr>
            <p:cNvPr name="Freeform 49" id="49"/>
            <p:cNvSpPr/>
            <p:nvPr/>
          </p:nvSpPr>
          <p:spPr>
            <a:xfrm flipH="false" flipV="false" rot="0">
              <a:off x="0" y="0"/>
              <a:ext cx="6400800" cy="1463040"/>
            </a:xfrm>
            <a:custGeom>
              <a:avLst/>
              <a:gdLst/>
              <a:ahLst/>
              <a:cxnLst/>
              <a:rect r="r" b="b" t="t" l="l"/>
              <a:pathLst>
                <a:path h="1463040" w="6400800">
                  <a:moveTo>
                    <a:pt x="0" y="0"/>
                  </a:moveTo>
                  <a:lnTo>
                    <a:pt x="6400800" y="0"/>
                  </a:lnTo>
                  <a:lnTo>
                    <a:pt x="6400800" y="1463040"/>
                  </a:lnTo>
                  <a:lnTo>
                    <a:pt x="0" y="1463040"/>
                  </a:lnTo>
                  <a:close/>
                </a:path>
              </a:pathLst>
            </a:custGeom>
            <a:blipFill>
              <a:blip r:embed="rId2">
                <a:alphaModFix amt="0"/>
              </a:blip>
              <a:stretch>
                <a:fillRect l="0" t="-35187" r="0" b="-35188"/>
              </a:stretch>
            </a:blipFill>
          </p:spPr>
        </p:sp>
      </p:grpSp>
      <p:grpSp>
        <p:nvGrpSpPr>
          <p:cNvPr name="Group 50" id="50"/>
          <p:cNvGrpSpPr/>
          <p:nvPr/>
        </p:nvGrpSpPr>
        <p:grpSpPr>
          <a:xfrm rot="0">
            <a:off x="12344400" y="3606165"/>
            <a:ext cx="4800600" cy="1125855"/>
            <a:chOff x="0" y="0"/>
            <a:chExt cx="6400800" cy="1501140"/>
          </a:xfrm>
        </p:grpSpPr>
        <p:sp>
          <p:nvSpPr>
            <p:cNvPr name="Freeform 51" id="51"/>
            <p:cNvSpPr/>
            <p:nvPr/>
          </p:nvSpPr>
          <p:spPr>
            <a:xfrm flipH="false" flipV="false" rot="0">
              <a:off x="0" y="0"/>
              <a:ext cx="6400800" cy="1501140"/>
            </a:xfrm>
            <a:custGeom>
              <a:avLst/>
              <a:gdLst/>
              <a:ahLst/>
              <a:cxnLst/>
              <a:rect r="r" b="b" t="t" l="l"/>
              <a:pathLst>
                <a:path h="1501140" w="6400800">
                  <a:moveTo>
                    <a:pt x="0" y="0"/>
                  </a:moveTo>
                  <a:lnTo>
                    <a:pt x="6400800" y="0"/>
                  </a:lnTo>
                  <a:lnTo>
                    <a:pt x="6400800" y="1501140"/>
                  </a:lnTo>
                  <a:lnTo>
                    <a:pt x="0" y="1501140"/>
                  </a:lnTo>
                  <a:close/>
                </a:path>
              </a:pathLst>
            </a:custGeom>
            <a:blipFill>
              <a:blip r:embed="rId3">
                <a:alphaModFix amt="0"/>
              </a:blip>
              <a:stretch>
                <a:fillRect l="0" t="-33083" r="0" b="-33083"/>
              </a:stretch>
            </a:blipFill>
          </p:spPr>
        </p:sp>
        <p:sp>
          <p:nvSpPr>
            <p:cNvPr name="TextBox 52" id="52"/>
            <p:cNvSpPr txBox="true"/>
            <p:nvPr/>
          </p:nvSpPr>
          <p:spPr>
            <a:xfrm>
              <a:off x="0" y="-38100"/>
              <a:ext cx="6400800" cy="1539240"/>
            </a:xfrm>
            <a:prstGeom prst="rect">
              <a:avLst/>
            </a:prstGeom>
          </p:spPr>
          <p:txBody>
            <a:bodyPr anchor="ctr" rtlCol="false" tIns="0" lIns="0" bIns="0" rIns="0"/>
            <a:lstStyle/>
            <a:p>
              <a:pPr algn="l">
                <a:lnSpc>
                  <a:spcPts val="2070"/>
                </a:lnSpc>
              </a:pPr>
              <a:r>
                <a:rPr lang="en-US" sz="1725">
                  <a:solidFill>
                    <a:srgbClr val="F9FBFC"/>
                  </a:solidFill>
                  <a:latin typeface="Calibri (MS)"/>
                  <a:ea typeface="Calibri (MS)"/>
                  <a:cs typeface="Calibri (MS)"/>
                  <a:sym typeface="Calibri (MS)"/>
                </a:rPr>
                <a:t>Combina predicción real con recomendación personalizada explicable.</a:t>
              </a:r>
            </a:p>
          </p:txBody>
        </p:sp>
      </p:grpSp>
      <p:grpSp>
        <p:nvGrpSpPr>
          <p:cNvPr name="Group 53" id="53"/>
          <p:cNvGrpSpPr/>
          <p:nvPr/>
        </p:nvGrpSpPr>
        <p:grpSpPr>
          <a:xfrm rot="0">
            <a:off x="822960" y="5143500"/>
            <a:ext cx="8092440" cy="3703320"/>
            <a:chOff x="0" y="0"/>
            <a:chExt cx="10789920" cy="4937760"/>
          </a:xfrm>
        </p:grpSpPr>
        <p:sp>
          <p:nvSpPr>
            <p:cNvPr name="Freeform 54" id="54"/>
            <p:cNvSpPr/>
            <p:nvPr/>
          </p:nvSpPr>
          <p:spPr>
            <a:xfrm flipH="false" flipV="false" rot="0">
              <a:off x="0" y="0"/>
              <a:ext cx="10789920" cy="4937760"/>
            </a:xfrm>
            <a:custGeom>
              <a:avLst/>
              <a:gdLst/>
              <a:ahLst/>
              <a:cxnLst/>
              <a:rect r="r" b="b" t="t" l="l"/>
              <a:pathLst>
                <a:path h="4937760" w="10789920">
                  <a:moveTo>
                    <a:pt x="0" y="182880"/>
                  </a:moveTo>
                  <a:cubicBezTo>
                    <a:pt x="0" y="81915"/>
                    <a:pt x="81915" y="0"/>
                    <a:pt x="182880" y="0"/>
                  </a:cubicBezTo>
                  <a:lnTo>
                    <a:pt x="10607040" y="0"/>
                  </a:lnTo>
                  <a:cubicBezTo>
                    <a:pt x="10708005" y="0"/>
                    <a:pt x="10789920" y="81915"/>
                    <a:pt x="10789920" y="182880"/>
                  </a:cubicBezTo>
                  <a:lnTo>
                    <a:pt x="10789920" y="4754880"/>
                  </a:lnTo>
                  <a:cubicBezTo>
                    <a:pt x="10789920" y="4855845"/>
                    <a:pt x="10708005" y="4937760"/>
                    <a:pt x="10607040" y="4937760"/>
                  </a:cubicBezTo>
                  <a:lnTo>
                    <a:pt x="182880" y="4937760"/>
                  </a:lnTo>
                  <a:cubicBezTo>
                    <a:pt x="81915" y="4937760"/>
                    <a:pt x="0" y="4855845"/>
                    <a:pt x="0" y="4754880"/>
                  </a:cubicBezTo>
                  <a:close/>
                </a:path>
              </a:pathLst>
            </a:custGeom>
            <a:solidFill>
              <a:srgbClr val="9495A2"/>
            </a:solidFill>
          </p:spPr>
        </p:sp>
      </p:grpSp>
      <p:grpSp>
        <p:nvGrpSpPr>
          <p:cNvPr name="Group 55" id="55"/>
          <p:cNvGrpSpPr/>
          <p:nvPr/>
        </p:nvGrpSpPr>
        <p:grpSpPr>
          <a:xfrm rot="0">
            <a:off x="1234440" y="5417820"/>
            <a:ext cx="7269480" cy="480060"/>
            <a:chOff x="0" y="0"/>
            <a:chExt cx="9692640" cy="640080"/>
          </a:xfrm>
        </p:grpSpPr>
        <p:sp>
          <p:nvSpPr>
            <p:cNvPr name="Freeform 56" id="56"/>
            <p:cNvSpPr/>
            <p:nvPr/>
          </p:nvSpPr>
          <p:spPr>
            <a:xfrm flipH="false" flipV="false" rot="0">
              <a:off x="0" y="0"/>
              <a:ext cx="9692640" cy="640080"/>
            </a:xfrm>
            <a:custGeom>
              <a:avLst/>
              <a:gdLst/>
              <a:ahLst/>
              <a:cxnLst/>
              <a:rect r="r" b="b" t="t" l="l"/>
              <a:pathLst>
                <a:path h="640080" w="9692640">
                  <a:moveTo>
                    <a:pt x="0" y="0"/>
                  </a:moveTo>
                  <a:lnTo>
                    <a:pt x="9692640" y="0"/>
                  </a:lnTo>
                  <a:lnTo>
                    <a:pt x="9692640" y="640080"/>
                  </a:lnTo>
                  <a:lnTo>
                    <a:pt x="0" y="640080"/>
                  </a:lnTo>
                  <a:close/>
                </a:path>
              </a:pathLst>
            </a:custGeom>
            <a:blipFill>
              <a:blip r:embed="rId2">
                <a:alphaModFix amt="0"/>
              </a:blip>
              <a:stretch>
                <a:fillRect l="0" t="-244853" r="0" b="-244855"/>
              </a:stretch>
            </a:blipFill>
          </p:spPr>
        </p:sp>
      </p:grpSp>
      <p:grpSp>
        <p:nvGrpSpPr>
          <p:cNvPr name="Group 57" id="57"/>
          <p:cNvGrpSpPr/>
          <p:nvPr/>
        </p:nvGrpSpPr>
        <p:grpSpPr>
          <a:xfrm rot="0">
            <a:off x="1234440" y="5382101"/>
            <a:ext cx="7269480" cy="515779"/>
            <a:chOff x="0" y="0"/>
            <a:chExt cx="9692640" cy="687705"/>
          </a:xfrm>
        </p:grpSpPr>
        <p:sp>
          <p:nvSpPr>
            <p:cNvPr name="Freeform 58" id="58"/>
            <p:cNvSpPr/>
            <p:nvPr/>
          </p:nvSpPr>
          <p:spPr>
            <a:xfrm flipH="false" flipV="false" rot="0">
              <a:off x="0" y="0"/>
              <a:ext cx="9692640" cy="687705"/>
            </a:xfrm>
            <a:custGeom>
              <a:avLst/>
              <a:gdLst/>
              <a:ahLst/>
              <a:cxnLst/>
              <a:rect r="r" b="b" t="t" l="l"/>
              <a:pathLst>
                <a:path h="687705" w="9692640">
                  <a:moveTo>
                    <a:pt x="0" y="0"/>
                  </a:moveTo>
                  <a:lnTo>
                    <a:pt x="9692640" y="0"/>
                  </a:lnTo>
                  <a:lnTo>
                    <a:pt x="9692640" y="687705"/>
                  </a:lnTo>
                  <a:lnTo>
                    <a:pt x="0" y="687705"/>
                  </a:lnTo>
                  <a:close/>
                </a:path>
              </a:pathLst>
            </a:custGeom>
            <a:blipFill>
              <a:blip r:embed="rId3">
                <a:alphaModFix amt="0"/>
              </a:blip>
              <a:stretch>
                <a:fillRect l="0" t="-224625" r="0" b="-224625"/>
              </a:stretch>
            </a:blipFill>
          </p:spPr>
        </p:sp>
        <p:sp>
          <p:nvSpPr>
            <p:cNvPr name="TextBox 59" id="59"/>
            <p:cNvSpPr txBox="true"/>
            <p:nvPr/>
          </p:nvSpPr>
          <p:spPr>
            <a:xfrm>
              <a:off x="0" y="-47625"/>
              <a:ext cx="9692640" cy="735330"/>
            </a:xfrm>
            <a:prstGeom prst="rect">
              <a:avLst/>
            </a:prstGeom>
          </p:spPr>
          <p:txBody>
            <a:bodyPr anchor="ctr" rtlCol="false" tIns="0" lIns="0" bIns="0" rIns="0"/>
            <a:lstStyle/>
            <a:p>
              <a:pPr algn="l">
                <a:lnSpc>
                  <a:spcPts val="2340"/>
                </a:lnSpc>
              </a:pPr>
              <a:r>
                <a:rPr lang="en-US" sz="1950" b="true">
                  <a:solidFill>
                    <a:srgbClr val="F9FBFC"/>
                  </a:solidFill>
                  <a:latin typeface="Calibri (MS) Bold"/>
                  <a:ea typeface="Calibri (MS) Bold"/>
                  <a:cs typeface="Calibri (MS) Bold"/>
                  <a:sym typeface="Calibri (MS) Bold"/>
                </a:rPr>
                <a:t>Dentro del alcance (MVP)</a:t>
              </a:r>
            </a:p>
          </p:txBody>
        </p:sp>
      </p:grpSp>
      <p:grpSp>
        <p:nvGrpSpPr>
          <p:cNvPr name="Group 60" id="60"/>
          <p:cNvGrpSpPr/>
          <p:nvPr/>
        </p:nvGrpSpPr>
        <p:grpSpPr>
          <a:xfrm rot="0">
            <a:off x="1234440" y="5966460"/>
            <a:ext cx="7269480" cy="2743200"/>
            <a:chOff x="0" y="0"/>
            <a:chExt cx="9692640" cy="3657600"/>
          </a:xfrm>
        </p:grpSpPr>
        <p:sp>
          <p:nvSpPr>
            <p:cNvPr name="Freeform 61" id="61"/>
            <p:cNvSpPr/>
            <p:nvPr/>
          </p:nvSpPr>
          <p:spPr>
            <a:xfrm flipH="false" flipV="false" rot="0">
              <a:off x="0" y="0"/>
              <a:ext cx="9692640" cy="3657600"/>
            </a:xfrm>
            <a:custGeom>
              <a:avLst/>
              <a:gdLst/>
              <a:ahLst/>
              <a:cxnLst/>
              <a:rect r="r" b="b" t="t" l="l"/>
              <a:pathLst>
                <a:path h="3657600" w="9692640">
                  <a:moveTo>
                    <a:pt x="0" y="0"/>
                  </a:moveTo>
                  <a:lnTo>
                    <a:pt x="9692640" y="0"/>
                  </a:lnTo>
                  <a:lnTo>
                    <a:pt x="9692640" y="3657600"/>
                  </a:lnTo>
                  <a:lnTo>
                    <a:pt x="0" y="3657600"/>
                  </a:lnTo>
                  <a:close/>
                </a:path>
              </a:pathLst>
            </a:custGeom>
            <a:blipFill>
              <a:blip r:embed="rId2">
                <a:alphaModFix amt="0"/>
              </a:blip>
              <a:stretch>
                <a:fillRect l="0" t="-1599" r="0" b="-1599"/>
              </a:stretch>
            </a:blipFill>
          </p:spPr>
        </p:sp>
      </p:grpSp>
      <p:grpSp>
        <p:nvGrpSpPr>
          <p:cNvPr name="Group 62" id="62"/>
          <p:cNvGrpSpPr/>
          <p:nvPr/>
        </p:nvGrpSpPr>
        <p:grpSpPr>
          <a:xfrm rot="0">
            <a:off x="1234440" y="5937885"/>
            <a:ext cx="7269480" cy="2771775"/>
            <a:chOff x="0" y="0"/>
            <a:chExt cx="9692640" cy="3695700"/>
          </a:xfrm>
        </p:grpSpPr>
        <p:sp>
          <p:nvSpPr>
            <p:cNvPr name="Freeform 63" id="63"/>
            <p:cNvSpPr/>
            <p:nvPr/>
          </p:nvSpPr>
          <p:spPr>
            <a:xfrm flipH="false" flipV="false" rot="0">
              <a:off x="0" y="0"/>
              <a:ext cx="9692640" cy="3695700"/>
            </a:xfrm>
            <a:custGeom>
              <a:avLst/>
              <a:gdLst/>
              <a:ahLst/>
              <a:cxnLst/>
              <a:rect r="r" b="b" t="t" l="l"/>
              <a:pathLst>
                <a:path h="3695700" w="9692640">
                  <a:moveTo>
                    <a:pt x="0" y="0"/>
                  </a:moveTo>
                  <a:lnTo>
                    <a:pt x="9692640" y="0"/>
                  </a:lnTo>
                  <a:lnTo>
                    <a:pt x="9692640" y="3695700"/>
                  </a:lnTo>
                  <a:lnTo>
                    <a:pt x="0" y="3695700"/>
                  </a:lnTo>
                  <a:close/>
                </a:path>
              </a:pathLst>
            </a:custGeom>
            <a:blipFill>
              <a:blip r:embed="rId3">
                <a:alphaModFix amt="0"/>
              </a:blip>
              <a:stretch>
                <a:fillRect l="0" t="-1103" r="0" b="-1103"/>
              </a:stretch>
            </a:blipFill>
          </p:spPr>
        </p:sp>
        <p:sp>
          <p:nvSpPr>
            <p:cNvPr name="TextBox 64" id="64"/>
            <p:cNvSpPr txBox="true"/>
            <p:nvPr/>
          </p:nvSpPr>
          <p:spPr>
            <a:xfrm>
              <a:off x="0" y="-38100"/>
              <a:ext cx="9692640" cy="3733800"/>
            </a:xfrm>
            <a:prstGeom prst="rect">
              <a:avLst/>
            </a:prstGeom>
          </p:spPr>
          <p:txBody>
            <a:bodyPr anchor="ctr" rtlCol="false" tIns="0" lIns="0" bIns="0" rIns="0"/>
            <a:lstStyle/>
            <a:p>
              <a:pPr algn="l" marL="380048" indent="-126682" lvl="2">
                <a:lnSpc>
                  <a:spcPts val="2160"/>
                </a:lnSpc>
                <a:buFont typeface="Arial"/>
                <a:buChar char="⚬"/>
              </a:pPr>
              <a:r>
                <a:rPr lang="en-US" sz="1800">
                  <a:solidFill>
                    <a:srgbClr val="F9FBFC"/>
                  </a:solidFill>
                  <a:latin typeface="Calibri (MS)"/>
                  <a:ea typeface="Calibri (MS)"/>
                  <a:cs typeface="Calibri (MS)"/>
                  <a:sym typeface="Calibri (MS)"/>
                </a:rPr>
                <a:t>Lima Metropolitana</a:t>
              </a:r>
            </a:p>
            <a:p>
              <a:pPr algn="l" marL="380048" indent="-126682" lvl="2">
                <a:lnSpc>
                  <a:spcPts val="2160"/>
                </a:lnSpc>
                <a:buFont typeface="Arial"/>
                <a:buChar char="⚬"/>
              </a:pPr>
              <a:r>
                <a:rPr lang="en-US" sz="1800">
                  <a:solidFill>
                    <a:srgbClr val="F9FBFC"/>
                  </a:solidFill>
                  <a:latin typeface="Calibri (MS)"/>
                  <a:ea typeface="Calibri (MS)"/>
                  <a:cs typeface="Calibri (MS)"/>
                  <a:sym typeface="Calibri (MS)"/>
                </a:rPr>
                <a:t>Motor de valoración (precio + oportunidad)</a:t>
              </a:r>
            </a:p>
            <a:p>
              <a:pPr algn="l" marL="380048" indent="-126682" lvl="2">
                <a:lnSpc>
                  <a:spcPts val="2160"/>
                </a:lnSpc>
                <a:buFont typeface="Arial"/>
                <a:buChar char="⚬"/>
              </a:pPr>
              <a:r>
                <a:rPr lang="en-US" sz="1800">
                  <a:solidFill>
                    <a:srgbClr val="F9FBFC"/>
                  </a:solidFill>
                  <a:latin typeface="Calibri (MS)"/>
                  <a:ea typeface="Calibri (MS)"/>
                  <a:cs typeface="Calibri (MS)"/>
                  <a:sym typeface="Calibri (MS)"/>
                </a:rPr>
                <a:t>Índice compuesto de zona</a:t>
              </a:r>
            </a:p>
            <a:p>
              <a:pPr algn="l" marL="380048" indent="-126682" lvl="2">
                <a:lnSpc>
                  <a:spcPts val="2160"/>
                </a:lnSpc>
                <a:buFont typeface="Arial"/>
                <a:buChar char="⚬"/>
              </a:pPr>
              <a:r>
                <a:rPr lang="en-US" sz="1800">
                  <a:solidFill>
                    <a:srgbClr val="F9FBFC"/>
                  </a:solidFill>
                  <a:latin typeface="Calibri (MS)"/>
                  <a:ea typeface="Calibri (MS)"/>
                  <a:cs typeface="Calibri (MS)"/>
                  <a:sym typeface="Calibri (MS)"/>
                </a:rPr>
                <a:t>Motor de recomendación personalizado</a:t>
              </a:r>
            </a:p>
            <a:p>
              <a:pPr algn="l" marL="380048" indent="-126682" lvl="2">
                <a:lnSpc>
                  <a:spcPts val="2160"/>
                </a:lnSpc>
                <a:buFont typeface="Arial"/>
                <a:buChar char="⚬"/>
              </a:pPr>
              <a:r>
                <a:rPr lang="en-US" sz="1800">
                  <a:solidFill>
                    <a:srgbClr val="F9FBFC"/>
                  </a:solidFill>
                  <a:latin typeface="Calibri (MS)"/>
                  <a:ea typeface="Calibri (MS)"/>
                  <a:cs typeface="Calibri (MS)"/>
                  <a:sym typeface="Calibri (MS)"/>
                </a:rPr>
                <a:t>Prototipo funcional desplegado</a:t>
              </a:r>
            </a:p>
          </p:txBody>
        </p:sp>
      </p:grpSp>
      <p:grpSp>
        <p:nvGrpSpPr>
          <p:cNvPr name="Group 65" id="65"/>
          <p:cNvGrpSpPr/>
          <p:nvPr/>
        </p:nvGrpSpPr>
        <p:grpSpPr>
          <a:xfrm rot="0">
            <a:off x="9326880" y="5143500"/>
            <a:ext cx="8161020" cy="3703320"/>
            <a:chOff x="0" y="0"/>
            <a:chExt cx="10881360" cy="4937760"/>
          </a:xfrm>
        </p:grpSpPr>
        <p:sp>
          <p:nvSpPr>
            <p:cNvPr name="Freeform 66" id="66"/>
            <p:cNvSpPr/>
            <p:nvPr/>
          </p:nvSpPr>
          <p:spPr>
            <a:xfrm flipH="false" flipV="false" rot="0">
              <a:off x="0" y="0"/>
              <a:ext cx="10881360" cy="4937760"/>
            </a:xfrm>
            <a:custGeom>
              <a:avLst/>
              <a:gdLst/>
              <a:ahLst/>
              <a:cxnLst/>
              <a:rect r="r" b="b" t="t" l="l"/>
              <a:pathLst>
                <a:path h="4937760" w="10881360">
                  <a:moveTo>
                    <a:pt x="0" y="182880"/>
                  </a:moveTo>
                  <a:cubicBezTo>
                    <a:pt x="0" y="81915"/>
                    <a:pt x="81915" y="0"/>
                    <a:pt x="182880" y="0"/>
                  </a:cubicBezTo>
                  <a:lnTo>
                    <a:pt x="10698480" y="0"/>
                  </a:lnTo>
                  <a:cubicBezTo>
                    <a:pt x="10799445" y="0"/>
                    <a:pt x="10881360" y="81915"/>
                    <a:pt x="10881360" y="182880"/>
                  </a:cubicBezTo>
                  <a:lnTo>
                    <a:pt x="10881360" y="4754880"/>
                  </a:lnTo>
                  <a:cubicBezTo>
                    <a:pt x="10881360" y="4855845"/>
                    <a:pt x="10799445" y="4937760"/>
                    <a:pt x="10698480" y="4937760"/>
                  </a:cubicBezTo>
                  <a:lnTo>
                    <a:pt x="182880" y="4937760"/>
                  </a:lnTo>
                  <a:cubicBezTo>
                    <a:pt x="81915" y="4937760"/>
                    <a:pt x="0" y="4855845"/>
                    <a:pt x="0" y="4754880"/>
                  </a:cubicBezTo>
                  <a:close/>
                </a:path>
              </a:pathLst>
            </a:custGeom>
            <a:solidFill>
              <a:srgbClr val="9495A2"/>
            </a:solidFill>
          </p:spPr>
        </p:sp>
      </p:grpSp>
      <p:grpSp>
        <p:nvGrpSpPr>
          <p:cNvPr name="Group 67" id="67"/>
          <p:cNvGrpSpPr/>
          <p:nvPr/>
        </p:nvGrpSpPr>
        <p:grpSpPr>
          <a:xfrm rot="0">
            <a:off x="9738360" y="5417820"/>
            <a:ext cx="7269480" cy="480060"/>
            <a:chOff x="0" y="0"/>
            <a:chExt cx="9692640" cy="640080"/>
          </a:xfrm>
        </p:grpSpPr>
        <p:sp>
          <p:nvSpPr>
            <p:cNvPr name="Freeform 68" id="68"/>
            <p:cNvSpPr/>
            <p:nvPr/>
          </p:nvSpPr>
          <p:spPr>
            <a:xfrm flipH="false" flipV="false" rot="0">
              <a:off x="0" y="0"/>
              <a:ext cx="9692640" cy="640080"/>
            </a:xfrm>
            <a:custGeom>
              <a:avLst/>
              <a:gdLst/>
              <a:ahLst/>
              <a:cxnLst/>
              <a:rect r="r" b="b" t="t" l="l"/>
              <a:pathLst>
                <a:path h="640080" w="9692640">
                  <a:moveTo>
                    <a:pt x="0" y="0"/>
                  </a:moveTo>
                  <a:lnTo>
                    <a:pt x="9692640" y="0"/>
                  </a:lnTo>
                  <a:lnTo>
                    <a:pt x="9692640" y="640080"/>
                  </a:lnTo>
                  <a:lnTo>
                    <a:pt x="0" y="640080"/>
                  </a:lnTo>
                  <a:close/>
                </a:path>
              </a:pathLst>
            </a:custGeom>
            <a:blipFill>
              <a:blip r:embed="rId2">
                <a:alphaModFix amt="0"/>
              </a:blip>
              <a:stretch>
                <a:fillRect l="0" t="-244853" r="0" b="-244855"/>
              </a:stretch>
            </a:blipFill>
          </p:spPr>
        </p:sp>
      </p:grpSp>
      <p:grpSp>
        <p:nvGrpSpPr>
          <p:cNvPr name="Group 69" id="69"/>
          <p:cNvGrpSpPr/>
          <p:nvPr/>
        </p:nvGrpSpPr>
        <p:grpSpPr>
          <a:xfrm rot="0">
            <a:off x="9738360" y="5382101"/>
            <a:ext cx="7269480" cy="515779"/>
            <a:chOff x="0" y="0"/>
            <a:chExt cx="9692640" cy="687705"/>
          </a:xfrm>
        </p:grpSpPr>
        <p:sp>
          <p:nvSpPr>
            <p:cNvPr name="Freeform 70" id="70"/>
            <p:cNvSpPr/>
            <p:nvPr/>
          </p:nvSpPr>
          <p:spPr>
            <a:xfrm flipH="false" flipV="false" rot="0">
              <a:off x="0" y="0"/>
              <a:ext cx="9692640" cy="687705"/>
            </a:xfrm>
            <a:custGeom>
              <a:avLst/>
              <a:gdLst/>
              <a:ahLst/>
              <a:cxnLst/>
              <a:rect r="r" b="b" t="t" l="l"/>
              <a:pathLst>
                <a:path h="687705" w="9692640">
                  <a:moveTo>
                    <a:pt x="0" y="0"/>
                  </a:moveTo>
                  <a:lnTo>
                    <a:pt x="9692640" y="0"/>
                  </a:lnTo>
                  <a:lnTo>
                    <a:pt x="9692640" y="687705"/>
                  </a:lnTo>
                  <a:lnTo>
                    <a:pt x="0" y="687705"/>
                  </a:lnTo>
                  <a:close/>
                </a:path>
              </a:pathLst>
            </a:custGeom>
            <a:blipFill>
              <a:blip r:embed="rId3">
                <a:alphaModFix amt="0"/>
              </a:blip>
              <a:stretch>
                <a:fillRect l="0" t="-224625" r="0" b="-224625"/>
              </a:stretch>
            </a:blipFill>
          </p:spPr>
        </p:sp>
        <p:sp>
          <p:nvSpPr>
            <p:cNvPr name="TextBox 71" id="71"/>
            <p:cNvSpPr txBox="true"/>
            <p:nvPr/>
          </p:nvSpPr>
          <p:spPr>
            <a:xfrm>
              <a:off x="0" y="-47625"/>
              <a:ext cx="9692640" cy="735330"/>
            </a:xfrm>
            <a:prstGeom prst="rect">
              <a:avLst/>
            </a:prstGeom>
          </p:spPr>
          <p:txBody>
            <a:bodyPr anchor="ctr" rtlCol="false" tIns="0" lIns="0" bIns="0" rIns="0"/>
            <a:lstStyle/>
            <a:p>
              <a:pPr algn="l">
                <a:lnSpc>
                  <a:spcPts val="2340"/>
                </a:lnSpc>
              </a:pPr>
              <a:r>
                <a:rPr lang="en-US" sz="1950" b="true">
                  <a:solidFill>
                    <a:srgbClr val="F9FBFC"/>
                  </a:solidFill>
                  <a:latin typeface="Calibri (MS) Bold"/>
                  <a:ea typeface="Calibri (MS) Bold"/>
                  <a:cs typeface="Calibri (MS) Bold"/>
                  <a:sym typeface="Calibri (MS) Bold"/>
                </a:rPr>
                <a:t>Fuera del alcance (esta iteración)</a:t>
              </a:r>
            </a:p>
          </p:txBody>
        </p:sp>
      </p:grpSp>
      <p:grpSp>
        <p:nvGrpSpPr>
          <p:cNvPr name="Group 72" id="72"/>
          <p:cNvGrpSpPr/>
          <p:nvPr/>
        </p:nvGrpSpPr>
        <p:grpSpPr>
          <a:xfrm rot="0">
            <a:off x="9738360" y="5966460"/>
            <a:ext cx="7269480" cy="2743200"/>
            <a:chOff x="0" y="0"/>
            <a:chExt cx="9692640" cy="3657600"/>
          </a:xfrm>
        </p:grpSpPr>
        <p:sp>
          <p:nvSpPr>
            <p:cNvPr name="Freeform 73" id="73"/>
            <p:cNvSpPr/>
            <p:nvPr/>
          </p:nvSpPr>
          <p:spPr>
            <a:xfrm flipH="false" flipV="false" rot="0">
              <a:off x="0" y="0"/>
              <a:ext cx="9692640" cy="3657600"/>
            </a:xfrm>
            <a:custGeom>
              <a:avLst/>
              <a:gdLst/>
              <a:ahLst/>
              <a:cxnLst/>
              <a:rect r="r" b="b" t="t" l="l"/>
              <a:pathLst>
                <a:path h="3657600" w="9692640">
                  <a:moveTo>
                    <a:pt x="0" y="0"/>
                  </a:moveTo>
                  <a:lnTo>
                    <a:pt x="9692640" y="0"/>
                  </a:lnTo>
                  <a:lnTo>
                    <a:pt x="9692640" y="3657600"/>
                  </a:lnTo>
                  <a:lnTo>
                    <a:pt x="0" y="3657600"/>
                  </a:lnTo>
                  <a:close/>
                </a:path>
              </a:pathLst>
            </a:custGeom>
            <a:blipFill>
              <a:blip r:embed="rId2">
                <a:alphaModFix amt="0"/>
              </a:blip>
              <a:stretch>
                <a:fillRect l="0" t="-1599" r="0" b="-1599"/>
              </a:stretch>
            </a:blipFill>
          </p:spPr>
        </p:sp>
      </p:grpSp>
      <p:grpSp>
        <p:nvGrpSpPr>
          <p:cNvPr name="Group 74" id="74"/>
          <p:cNvGrpSpPr/>
          <p:nvPr/>
        </p:nvGrpSpPr>
        <p:grpSpPr>
          <a:xfrm rot="0">
            <a:off x="9738360" y="5937885"/>
            <a:ext cx="7269480" cy="2771775"/>
            <a:chOff x="0" y="0"/>
            <a:chExt cx="9692640" cy="3695700"/>
          </a:xfrm>
        </p:grpSpPr>
        <p:sp>
          <p:nvSpPr>
            <p:cNvPr name="Freeform 75" id="75"/>
            <p:cNvSpPr/>
            <p:nvPr/>
          </p:nvSpPr>
          <p:spPr>
            <a:xfrm flipH="false" flipV="false" rot="0">
              <a:off x="0" y="0"/>
              <a:ext cx="9692640" cy="3695700"/>
            </a:xfrm>
            <a:custGeom>
              <a:avLst/>
              <a:gdLst/>
              <a:ahLst/>
              <a:cxnLst/>
              <a:rect r="r" b="b" t="t" l="l"/>
              <a:pathLst>
                <a:path h="3695700" w="9692640">
                  <a:moveTo>
                    <a:pt x="0" y="0"/>
                  </a:moveTo>
                  <a:lnTo>
                    <a:pt x="9692640" y="0"/>
                  </a:lnTo>
                  <a:lnTo>
                    <a:pt x="9692640" y="3695700"/>
                  </a:lnTo>
                  <a:lnTo>
                    <a:pt x="0" y="3695700"/>
                  </a:lnTo>
                  <a:close/>
                </a:path>
              </a:pathLst>
            </a:custGeom>
            <a:blipFill>
              <a:blip r:embed="rId3">
                <a:alphaModFix amt="0"/>
              </a:blip>
              <a:stretch>
                <a:fillRect l="0" t="-1103" r="0" b="-1103"/>
              </a:stretch>
            </a:blipFill>
          </p:spPr>
        </p:sp>
        <p:sp>
          <p:nvSpPr>
            <p:cNvPr name="TextBox 76" id="76"/>
            <p:cNvSpPr txBox="true"/>
            <p:nvPr/>
          </p:nvSpPr>
          <p:spPr>
            <a:xfrm>
              <a:off x="0" y="-38100"/>
              <a:ext cx="9692640" cy="3733800"/>
            </a:xfrm>
            <a:prstGeom prst="rect">
              <a:avLst/>
            </a:prstGeom>
          </p:spPr>
          <p:txBody>
            <a:bodyPr anchor="ctr" rtlCol="false" tIns="0" lIns="0" bIns="0" rIns="0"/>
            <a:lstStyle/>
            <a:p>
              <a:pPr algn="l" marL="380048" indent="-126682" lvl="2">
                <a:lnSpc>
                  <a:spcPts val="2160"/>
                </a:lnSpc>
                <a:buFont typeface="Arial"/>
                <a:buChar char="⚬"/>
              </a:pPr>
              <a:r>
                <a:rPr lang="en-US" sz="1800">
                  <a:solidFill>
                    <a:srgbClr val="F9FBFC"/>
                  </a:solidFill>
                  <a:latin typeface="Calibri (MS)"/>
                  <a:ea typeface="Calibri (MS)"/>
                  <a:cs typeface="Calibri (MS)"/>
                  <a:sym typeface="Calibri (MS)"/>
                </a:rPr>
                <a:t>Cobertura nacional</a:t>
              </a:r>
            </a:p>
            <a:p>
              <a:pPr algn="l" marL="380048" indent="-126682" lvl="2">
                <a:lnSpc>
                  <a:spcPts val="2160"/>
                </a:lnSpc>
                <a:buFont typeface="Arial"/>
                <a:buChar char="⚬"/>
              </a:pPr>
              <a:r>
                <a:rPr lang="en-US" sz="1800">
                  <a:solidFill>
                    <a:srgbClr val="F9FBFC"/>
                  </a:solidFill>
                  <a:latin typeface="Calibri (MS)"/>
                  <a:ea typeface="Calibri (MS)"/>
                  <a:cs typeface="Calibri (MS)"/>
                  <a:sym typeface="Calibri (MS)"/>
                </a:rPr>
                <a:t>Precalificación real de crédito hipotecario</a:t>
              </a:r>
            </a:p>
            <a:p>
              <a:pPr algn="l" marL="380048" indent="-126682" lvl="2">
                <a:lnSpc>
                  <a:spcPts val="2160"/>
                </a:lnSpc>
                <a:buFont typeface="Arial"/>
                <a:buChar char="⚬"/>
              </a:pPr>
              <a:r>
                <a:rPr lang="en-US" sz="1800">
                  <a:solidFill>
                    <a:srgbClr val="F9FBFC"/>
                  </a:solidFill>
                  <a:latin typeface="Calibri (MS)"/>
                  <a:ea typeface="Calibri (MS)"/>
                  <a:cs typeface="Calibri (MS)"/>
                  <a:sym typeface="Calibri (MS)"/>
                </a:rPr>
                <a:t>Score de constructora con cobertura exhaustiva</a:t>
              </a:r>
            </a:p>
            <a:p>
              <a:pPr algn="l" marL="380048" indent="-126682" lvl="2">
                <a:lnSpc>
                  <a:spcPts val="2160"/>
                </a:lnSpc>
                <a:buFont typeface="Arial"/>
                <a:buChar char="⚬"/>
              </a:pPr>
              <a:r>
                <a:rPr lang="en-US" sz="1800">
                  <a:solidFill>
                    <a:srgbClr val="F9FBFC"/>
                  </a:solidFill>
                  <a:latin typeface="Calibri (MS)"/>
                  <a:ea typeface="Calibri (MS)"/>
                  <a:cs typeface="Calibri (MS)"/>
                  <a:sym typeface="Calibri (MS)"/>
                </a:rPr>
                <a:t>Aprendizaje continuo por feedback implícito</a:t>
              </a:r>
            </a:p>
          </p:txBody>
        </p:sp>
      </p:grpSp>
      <p:grpSp>
        <p:nvGrpSpPr>
          <p:cNvPr name="Group 77" id="77"/>
          <p:cNvGrpSpPr/>
          <p:nvPr/>
        </p:nvGrpSpPr>
        <p:grpSpPr>
          <a:xfrm rot="0">
            <a:off x="685800" y="9738360"/>
            <a:ext cx="8229600" cy="411480"/>
            <a:chOff x="0" y="0"/>
            <a:chExt cx="10972800" cy="548640"/>
          </a:xfrm>
        </p:grpSpPr>
        <p:sp>
          <p:nvSpPr>
            <p:cNvPr name="Freeform 78" id="78"/>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79" id="79"/>
          <p:cNvGrpSpPr/>
          <p:nvPr/>
        </p:nvGrpSpPr>
        <p:grpSpPr>
          <a:xfrm rot="0">
            <a:off x="685800" y="9709785"/>
            <a:ext cx="8229600" cy="440055"/>
            <a:chOff x="0" y="0"/>
            <a:chExt cx="10972800" cy="586740"/>
          </a:xfrm>
        </p:grpSpPr>
        <p:sp>
          <p:nvSpPr>
            <p:cNvPr name="Freeform 80" id="80"/>
            <p:cNvSpPr/>
            <p:nvPr/>
          </p:nvSpPr>
          <p:spPr>
            <a:xfrm flipH="false" flipV="false" rot="0">
              <a:off x="0" y="0"/>
              <a:ext cx="10972800" cy="586740"/>
            </a:xfrm>
            <a:custGeom>
              <a:avLst/>
              <a:gdLst/>
              <a:ahLst/>
              <a:cxnLst/>
              <a:rect r="r" b="b" t="t" l="l"/>
              <a:pathLst>
                <a:path h="586740" w="10972800">
                  <a:moveTo>
                    <a:pt x="0" y="0"/>
                  </a:moveTo>
                  <a:lnTo>
                    <a:pt x="10972800" y="0"/>
                  </a:lnTo>
                  <a:lnTo>
                    <a:pt x="10972800" y="586740"/>
                  </a:lnTo>
                  <a:lnTo>
                    <a:pt x="0" y="586740"/>
                  </a:lnTo>
                  <a:close/>
                </a:path>
              </a:pathLst>
            </a:custGeom>
            <a:blipFill>
              <a:blip r:embed="rId3">
                <a:alphaModFix amt="0"/>
              </a:blip>
              <a:stretch>
                <a:fillRect l="0" t="-314395" r="0" b="-314395"/>
              </a:stretch>
            </a:blipFill>
          </p:spPr>
        </p:sp>
        <p:sp>
          <p:nvSpPr>
            <p:cNvPr name="TextBox 81" id="81"/>
            <p:cNvSpPr txBox="true"/>
            <p:nvPr/>
          </p:nvSpPr>
          <p:spPr>
            <a:xfrm>
              <a:off x="0" y="-38100"/>
              <a:ext cx="10972800" cy="624840"/>
            </a:xfrm>
            <a:prstGeom prst="rect">
              <a:avLst/>
            </a:prstGeom>
          </p:spPr>
          <p:txBody>
            <a:bodyPr anchor="ctr" rtlCol="false" tIns="0" lIns="0" bIns="0" rIns="0"/>
            <a:lstStyle/>
            <a:p>
              <a:pPr algn="l">
                <a:lnSpc>
                  <a:spcPts val="1800"/>
                </a:lnSpc>
              </a:pPr>
              <a:r>
                <a:rPr lang="en-US" sz="1500">
                  <a:solidFill>
                    <a:srgbClr val="35448A"/>
                  </a:solidFill>
                  <a:latin typeface="Calibri (MS)"/>
                  <a:ea typeface="Calibri (MS)"/>
                  <a:cs typeface="Calibri (MS)"/>
                  <a:sym typeface="Calibri (MS)"/>
                </a:rPr>
                <a:t>InmoScore · Week 5</a:t>
              </a:r>
            </a:p>
          </p:txBody>
        </p:sp>
      </p:grpSp>
      <p:grpSp>
        <p:nvGrpSpPr>
          <p:cNvPr name="Group 82" id="82"/>
          <p:cNvGrpSpPr/>
          <p:nvPr/>
        </p:nvGrpSpPr>
        <p:grpSpPr>
          <a:xfrm rot="0">
            <a:off x="17048988" y="9738360"/>
            <a:ext cx="548640" cy="411480"/>
            <a:chOff x="0" y="0"/>
            <a:chExt cx="731520" cy="548640"/>
          </a:xfrm>
        </p:grpSpPr>
        <p:sp>
          <p:nvSpPr>
            <p:cNvPr name="Freeform 83" id="83"/>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84" id="84"/>
          <p:cNvGrpSpPr/>
          <p:nvPr/>
        </p:nvGrpSpPr>
        <p:grpSpPr>
          <a:xfrm rot="0">
            <a:off x="17048988" y="9709785"/>
            <a:ext cx="548640" cy="440055"/>
            <a:chOff x="0" y="0"/>
            <a:chExt cx="731520" cy="586740"/>
          </a:xfrm>
        </p:grpSpPr>
        <p:sp>
          <p:nvSpPr>
            <p:cNvPr name="Freeform 85" id="85"/>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86" id="86"/>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35448A"/>
                  </a:solidFill>
                  <a:latin typeface="Calibri (MS)"/>
                  <a:ea typeface="Calibri (MS)"/>
                  <a:cs typeface="Calibri (MS)"/>
                  <a:sym typeface="Calibri (MS)"/>
                </a:rPr>
                <a:t>5</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2262978" y="274320"/>
            <a:ext cx="13762044" cy="9738360"/>
            <a:chOff x="0" y="0"/>
            <a:chExt cx="18349392" cy="12984480"/>
          </a:xfrm>
        </p:grpSpPr>
        <p:sp>
          <p:nvSpPr>
            <p:cNvPr name="Freeform 3" id="3" descr="canvas_hq.png"/>
            <p:cNvSpPr/>
            <p:nvPr/>
          </p:nvSpPr>
          <p:spPr>
            <a:xfrm flipH="false" flipV="false" rot="0">
              <a:off x="0" y="0"/>
              <a:ext cx="18349340" cy="12984480"/>
            </a:xfrm>
            <a:custGeom>
              <a:avLst/>
              <a:gdLst/>
              <a:ahLst/>
              <a:cxnLst/>
              <a:rect r="r" b="b" t="t" l="l"/>
              <a:pathLst>
                <a:path h="12984480" w="18349340">
                  <a:moveTo>
                    <a:pt x="0" y="0"/>
                  </a:moveTo>
                  <a:lnTo>
                    <a:pt x="18349340" y="0"/>
                  </a:lnTo>
                  <a:lnTo>
                    <a:pt x="18349340" y="12984480"/>
                  </a:lnTo>
                  <a:lnTo>
                    <a:pt x="0" y="12984480"/>
                  </a:lnTo>
                  <a:lnTo>
                    <a:pt x="0" y="0"/>
                  </a:lnTo>
                  <a:close/>
                </a:path>
              </a:pathLst>
            </a:custGeom>
            <a:blipFill>
              <a:blip r:embed="rId2"/>
              <a:stretch>
                <a:fillRect l="0" t="0" r="0" b="0"/>
              </a:stretch>
            </a:blipFill>
          </p:spPr>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9FBFC"/>
        </a:solidFill>
      </p:bgPr>
    </p:bg>
    <p:spTree>
      <p:nvGrpSpPr>
        <p:cNvPr id="1" name=""/>
        <p:cNvGrpSpPr/>
        <p:nvPr/>
      </p:nvGrpSpPr>
      <p:grpSpPr>
        <a:xfrm>
          <a:off x="0" y="0"/>
          <a:ext cx="0" cy="0"/>
          <a:chOff x="0" y="0"/>
          <a:chExt cx="0" cy="0"/>
        </a:xfrm>
      </p:grpSpPr>
      <p:grpSp>
        <p:nvGrpSpPr>
          <p:cNvPr name="Group 2" id="2"/>
          <p:cNvGrpSpPr/>
          <p:nvPr/>
        </p:nvGrpSpPr>
        <p:grpSpPr>
          <a:xfrm rot="0">
            <a:off x="822960" y="480060"/>
            <a:ext cx="13716000" cy="480060"/>
            <a:chOff x="0" y="0"/>
            <a:chExt cx="18288000" cy="640080"/>
          </a:xfrm>
        </p:grpSpPr>
        <p:sp>
          <p:nvSpPr>
            <p:cNvPr name="Freeform 3" id="3"/>
            <p:cNvSpPr/>
            <p:nvPr/>
          </p:nvSpPr>
          <p:spPr>
            <a:xfrm flipH="false" flipV="false" rot="0">
              <a:off x="0" y="0"/>
              <a:ext cx="18288000" cy="640080"/>
            </a:xfrm>
            <a:custGeom>
              <a:avLst/>
              <a:gdLst/>
              <a:ahLst/>
              <a:cxnLst/>
              <a:rect r="r" b="b" t="t" l="l"/>
              <a:pathLst>
                <a:path h="640080" w="18288000">
                  <a:moveTo>
                    <a:pt x="0" y="0"/>
                  </a:moveTo>
                  <a:lnTo>
                    <a:pt x="18288000" y="0"/>
                  </a:lnTo>
                  <a:lnTo>
                    <a:pt x="18288000" y="640080"/>
                  </a:lnTo>
                  <a:lnTo>
                    <a:pt x="0" y="640080"/>
                  </a:lnTo>
                  <a:close/>
                </a:path>
              </a:pathLst>
            </a:custGeom>
            <a:blipFill>
              <a:blip r:embed="rId2">
                <a:alphaModFix amt="0"/>
              </a:blip>
              <a:stretch>
                <a:fillRect l="0" t="-506327" r="0" b="-506329"/>
              </a:stretch>
            </a:blipFill>
          </p:spPr>
        </p:sp>
      </p:grpSp>
      <p:grpSp>
        <p:nvGrpSpPr>
          <p:cNvPr name="Group 4" id="4"/>
          <p:cNvGrpSpPr/>
          <p:nvPr/>
        </p:nvGrpSpPr>
        <p:grpSpPr>
          <a:xfrm rot="0">
            <a:off x="822960" y="451485"/>
            <a:ext cx="13716000" cy="508635"/>
            <a:chOff x="0" y="0"/>
            <a:chExt cx="18288000" cy="678180"/>
          </a:xfrm>
        </p:grpSpPr>
        <p:sp>
          <p:nvSpPr>
            <p:cNvPr name="Freeform 5" id="5"/>
            <p:cNvSpPr/>
            <p:nvPr/>
          </p:nvSpPr>
          <p:spPr>
            <a:xfrm flipH="false" flipV="false" rot="0">
              <a:off x="0" y="0"/>
              <a:ext cx="18288000" cy="678180"/>
            </a:xfrm>
            <a:custGeom>
              <a:avLst/>
              <a:gdLst/>
              <a:ahLst/>
              <a:cxnLst/>
              <a:rect r="r" b="b" t="t" l="l"/>
              <a:pathLst>
                <a:path h="678180" w="18288000">
                  <a:moveTo>
                    <a:pt x="0" y="0"/>
                  </a:moveTo>
                  <a:lnTo>
                    <a:pt x="18288000" y="0"/>
                  </a:lnTo>
                  <a:lnTo>
                    <a:pt x="18288000" y="678180"/>
                  </a:lnTo>
                  <a:lnTo>
                    <a:pt x="0" y="678180"/>
                  </a:lnTo>
                  <a:close/>
                </a:path>
              </a:pathLst>
            </a:custGeom>
            <a:blipFill>
              <a:blip r:embed="rId3">
                <a:alphaModFix amt="0"/>
              </a:blip>
              <a:stretch>
                <a:fillRect l="0" t="-475439" r="0" b="-475439"/>
              </a:stretch>
            </a:blipFill>
          </p:spPr>
        </p:sp>
        <p:sp>
          <p:nvSpPr>
            <p:cNvPr name="TextBox 6" id="6"/>
            <p:cNvSpPr txBox="true"/>
            <p:nvPr/>
          </p:nvSpPr>
          <p:spPr>
            <a:xfrm>
              <a:off x="0" y="-38100"/>
              <a:ext cx="18288000" cy="716280"/>
            </a:xfrm>
            <a:prstGeom prst="rect">
              <a:avLst/>
            </a:prstGeom>
          </p:spPr>
          <p:txBody>
            <a:bodyPr anchor="ctr" rtlCol="false" tIns="0" lIns="0" bIns="0" rIns="0"/>
            <a:lstStyle/>
            <a:p>
              <a:pPr algn="l">
                <a:lnSpc>
                  <a:spcPts val="2160"/>
                </a:lnSpc>
              </a:pPr>
              <a:r>
                <a:rPr lang="en-US" b="true" sz="1800" spc="225">
                  <a:solidFill>
                    <a:srgbClr val="9495A2"/>
                  </a:solidFill>
                  <a:latin typeface="Calibri (MS) Bold"/>
                  <a:ea typeface="Calibri (MS) Bold"/>
                  <a:cs typeface="Calibri (MS) Bold"/>
                  <a:sym typeface="Calibri (MS) Bold"/>
                </a:rPr>
                <a:t>REQUIREMENTS</a:t>
              </a:r>
            </a:p>
          </p:txBody>
        </p:sp>
      </p:grpSp>
      <p:grpSp>
        <p:nvGrpSpPr>
          <p:cNvPr name="Group 7" id="7"/>
          <p:cNvGrpSpPr/>
          <p:nvPr/>
        </p:nvGrpSpPr>
        <p:grpSpPr>
          <a:xfrm rot="0">
            <a:off x="822960" y="932688"/>
            <a:ext cx="16184880" cy="960120"/>
            <a:chOff x="0" y="0"/>
            <a:chExt cx="21579840" cy="1280160"/>
          </a:xfrm>
        </p:grpSpPr>
        <p:sp>
          <p:nvSpPr>
            <p:cNvPr name="Freeform 8" id="8"/>
            <p:cNvSpPr/>
            <p:nvPr/>
          </p:nvSpPr>
          <p:spPr>
            <a:xfrm flipH="false" flipV="false" rot="0">
              <a:off x="0" y="0"/>
              <a:ext cx="21579839" cy="1280160"/>
            </a:xfrm>
            <a:custGeom>
              <a:avLst/>
              <a:gdLst/>
              <a:ahLst/>
              <a:cxnLst/>
              <a:rect r="r" b="b" t="t" l="l"/>
              <a:pathLst>
                <a:path h="1280160" w="21579839">
                  <a:moveTo>
                    <a:pt x="0" y="0"/>
                  </a:moveTo>
                  <a:lnTo>
                    <a:pt x="21579839" y="0"/>
                  </a:lnTo>
                  <a:lnTo>
                    <a:pt x="21579839" y="1280160"/>
                  </a:lnTo>
                  <a:lnTo>
                    <a:pt x="0" y="1280160"/>
                  </a:lnTo>
                  <a:close/>
                </a:path>
              </a:pathLst>
            </a:custGeom>
            <a:blipFill>
              <a:blip r:embed="rId2">
                <a:alphaModFix amt="0"/>
              </a:blip>
              <a:stretch>
                <a:fillRect l="0" t="-278234" r="0" b="-278233"/>
              </a:stretch>
            </a:blipFill>
          </p:spPr>
        </p:sp>
      </p:grpSp>
      <p:grpSp>
        <p:nvGrpSpPr>
          <p:cNvPr name="Group 9" id="9"/>
          <p:cNvGrpSpPr/>
          <p:nvPr/>
        </p:nvGrpSpPr>
        <p:grpSpPr>
          <a:xfrm rot="0">
            <a:off x="822960" y="918400"/>
            <a:ext cx="16184880" cy="974407"/>
            <a:chOff x="0" y="0"/>
            <a:chExt cx="21579840" cy="1299210"/>
          </a:xfrm>
        </p:grpSpPr>
        <p:sp>
          <p:nvSpPr>
            <p:cNvPr name="Freeform 10" id="10"/>
            <p:cNvSpPr/>
            <p:nvPr/>
          </p:nvSpPr>
          <p:spPr>
            <a:xfrm flipH="false" flipV="false" rot="0">
              <a:off x="0" y="0"/>
              <a:ext cx="21579839" cy="1299210"/>
            </a:xfrm>
            <a:custGeom>
              <a:avLst/>
              <a:gdLst/>
              <a:ahLst/>
              <a:cxnLst/>
              <a:rect r="r" b="b" t="t" l="l"/>
              <a:pathLst>
                <a:path h="1299210" w="21579839">
                  <a:moveTo>
                    <a:pt x="0" y="0"/>
                  </a:moveTo>
                  <a:lnTo>
                    <a:pt x="21579839" y="0"/>
                  </a:lnTo>
                  <a:lnTo>
                    <a:pt x="21579839" y="1299210"/>
                  </a:lnTo>
                  <a:lnTo>
                    <a:pt x="0" y="1299210"/>
                  </a:lnTo>
                  <a:close/>
                </a:path>
              </a:pathLst>
            </a:custGeom>
            <a:blipFill>
              <a:blip r:embed="rId3">
                <a:alphaModFix amt="0"/>
              </a:blip>
              <a:stretch>
                <a:fillRect l="0" t="-273645" r="0" b="-273645"/>
              </a:stretch>
            </a:blipFill>
          </p:spPr>
        </p:sp>
        <p:sp>
          <p:nvSpPr>
            <p:cNvPr name="TextBox 11" id="11"/>
            <p:cNvSpPr txBox="true"/>
            <p:nvPr/>
          </p:nvSpPr>
          <p:spPr>
            <a:xfrm>
              <a:off x="0" y="-19050"/>
              <a:ext cx="21579840" cy="1318260"/>
            </a:xfrm>
            <a:prstGeom prst="rect">
              <a:avLst/>
            </a:prstGeom>
          </p:spPr>
          <p:txBody>
            <a:bodyPr anchor="ctr" rtlCol="false" tIns="0" lIns="0" bIns="0" rIns="0"/>
            <a:lstStyle/>
            <a:p>
              <a:pPr algn="l">
                <a:lnSpc>
                  <a:spcPts val="5400"/>
                </a:lnSpc>
              </a:pPr>
              <a:r>
                <a:rPr lang="en-US" sz="4500" b="true">
                  <a:solidFill>
                    <a:srgbClr val="0F1017"/>
                  </a:solidFill>
                  <a:latin typeface="Cambria Bold"/>
                  <a:ea typeface="Cambria Bold"/>
                  <a:cs typeface="Cambria Bold"/>
                  <a:sym typeface="Cambria Bold"/>
                </a:rPr>
                <a:t>Stakeholders &amp; User Needs</a:t>
              </a:r>
            </a:p>
          </p:txBody>
        </p:sp>
      </p:grpSp>
      <p:grpSp>
        <p:nvGrpSpPr>
          <p:cNvPr name="Group 12" id="12"/>
          <p:cNvGrpSpPr/>
          <p:nvPr/>
        </p:nvGrpSpPr>
        <p:grpSpPr>
          <a:xfrm rot="0">
            <a:off x="822960" y="2331720"/>
            <a:ext cx="8092440" cy="6446520"/>
            <a:chOff x="0" y="0"/>
            <a:chExt cx="10789920" cy="8595360"/>
          </a:xfrm>
        </p:grpSpPr>
        <p:sp>
          <p:nvSpPr>
            <p:cNvPr name="Freeform 13" id="13"/>
            <p:cNvSpPr/>
            <p:nvPr/>
          </p:nvSpPr>
          <p:spPr>
            <a:xfrm flipH="false" flipV="false" rot="0">
              <a:off x="0" y="0"/>
              <a:ext cx="10789920" cy="8595360"/>
            </a:xfrm>
            <a:custGeom>
              <a:avLst/>
              <a:gdLst/>
              <a:ahLst/>
              <a:cxnLst/>
              <a:rect r="r" b="b" t="t" l="l"/>
              <a:pathLst>
                <a:path h="8595360" w="10789920">
                  <a:moveTo>
                    <a:pt x="0" y="182880"/>
                  </a:moveTo>
                  <a:cubicBezTo>
                    <a:pt x="0" y="81915"/>
                    <a:pt x="81915" y="0"/>
                    <a:pt x="182880" y="0"/>
                  </a:cubicBezTo>
                  <a:lnTo>
                    <a:pt x="10607040" y="0"/>
                  </a:lnTo>
                  <a:cubicBezTo>
                    <a:pt x="10708005" y="0"/>
                    <a:pt x="10789920" y="81915"/>
                    <a:pt x="10789920" y="182880"/>
                  </a:cubicBezTo>
                  <a:lnTo>
                    <a:pt x="10789920" y="8412480"/>
                  </a:lnTo>
                  <a:cubicBezTo>
                    <a:pt x="10789920" y="8513445"/>
                    <a:pt x="10708005" y="8595360"/>
                    <a:pt x="10607040" y="8595360"/>
                  </a:cubicBezTo>
                  <a:lnTo>
                    <a:pt x="182880" y="8595360"/>
                  </a:lnTo>
                  <a:cubicBezTo>
                    <a:pt x="81915" y="8595360"/>
                    <a:pt x="0" y="8513445"/>
                    <a:pt x="0" y="8412480"/>
                  </a:cubicBezTo>
                  <a:close/>
                </a:path>
              </a:pathLst>
            </a:custGeom>
            <a:solidFill>
              <a:srgbClr val="2B3D9C"/>
            </a:solidFill>
          </p:spPr>
        </p:sp>
      </p:grpSp>
      <p:grpSp>
        <p:nvGrpSpPr>
          <p:cNvPr name="Group 14" id="14"/>
          <p:cNvGrpSpPr/>
          <p:nvPr/>
        </p:nvGrpSpPr>
        <p:grpSpPr>
          <a:xfrm rot="0">
            <a:off x="1234440" y="2674620"/>
            <a:ext cx="7269480" cy="548640"/>
            <a:chOff x="0" y="0"/>
            <a:chExt cx="9692640" cy="731520"/>
          </a:xfrm>
        </p:grpSpPr>
        <p:sp>
          <p:nvSpPr>
            <p:cNvPr name="Freeform 15" id="15"/>
            <p:cNvSpPr/>
            <p:nvPr/>
          </p:nvSpPr>
          <p:spPr>
            <a:xfrm flipH="false" flipV="false" rot="0">
              <a:off x="0" y="0"/>
              <a:ext cx="9692640" cy="731520"/>
            </a:xfrm>
            <a:custGeom>
              <a:avLst/>
              <a:gdLst/>
              <a:ahLst/>
              <a:cxnLst/>
              <a:rect r="r" b="b" t="t" l="l"/>
              <a:pathLst>
                <a:path h="731520" w="9692640">
                  <a:moveTo>
                    <a:pt x="0" y="0"/>
                  </a:moveTo>
                  <a:lnTo>
                    <a:pt x="9692640" y="0"/>
                  </a:lnTo>
                  <a:lnTo>
                    <a:pt x="9692640" y="731520"/>
                  </a:lnTo>
                  <a:lnTo>
                    <a:pt x="0" y="731520"/>
                  </a:lnTo>
                  <a:close/>
                </a:path>
              </a:pathLst>
            </a:custGeom>
            <a:blipFill>
              <a:blip r:embed="rId2">
                <a:alphaModFix amt="0"/>
              </a:blip>
              <a:stretch>
                <a:fillRect l="0" t="-207996" r="0" b="-207998"/>
              </a:stretch>
            </a:blipFill>
          </p:spPr>
        </p:sp>
      </p:grpSp>
      <p:grpSp>
        <p:nvGrpSpPr>
          <p:cNvPr name="Group 16" id="16"/>
          <p:cNvGrpSpPr/>
          <p:nvPr/>
        </p:nvGrpSpPr>
        <p:grpSpPr>
          <a:xfrm rot="0">
            <a:off x="1234440" y="2638901"/>
            <a:ext cx="7269480" cy="584359"/>
            <a:chOff x="0" y="0"/>
            <a:chExt cx="9692640" cy="779145"/>
          </a:xfrm>
        </p:grpSpPr>
        <p:sp>
          <p:nvSpPr>
            <p:cNvPr name="Freeform 17" id="17"/>
            <p:cNvSpPr/>
            <p:nvPr/>
          </p:nvSpPr>
          <p:spPr>
            <a:xfrm flipH="false" flipV="false" rot="0">
              <a:off x="0" y="0"/>
              <a:ext cx="9692640" cy="779145"/>
            </a:xfrm>
            <a:custGeom>
              <a:avLst/>
              <a:gdLst/>
              <a:ahLst/>
              <a:cxnLst/>
              <a:rect r="r" b="b" t="t" l="l"/>
              <a:pathLst>
                <a:path h="779145" w="9692640">
                  <a:moveTo>
                    <a:pt x="0" y="0"/>
                  </a:moveTo>
                  <a:lnTo>
                    <a:pt x="9692640" y="0"/>
                  </a:lnTo>
                  <a:lnTo>
                    <a:pt x="9692640" y="779145"/>
                  </a:lnTo>
                  <a:lnTo>
                    <a:pt x="0" y="779145"/>
                  </a:lnTo>
                  <a:close/>
                </a:path>
              </a:pathLst>
            </a:custGeom>
            <a:blipFill>
              <a:blip r:embed="rId3">
                <a:alphaModFix amt="0"/>
              </a:blip>
              <a:stretch>
                <a:fillRect l="0" t="-192395" r="0" b="-192395"/>
              </a:stretch>
            </a:blipFill>
          </p:spPr>
        </p:sp>
        <p:sp>
          <p:nvSpPr>
            <p:cNvPr name="TextBox 18" id="18"/>
            <p:cNvSpPr txBox="true"/>
            <p:nvPr/>
          </p:nvSpPr>
          <p:spPr>
            <a:xfrm>
              <a:off x="0" y="-47625"/>
              <a:ext cx="9692640" cy="826770"/>
            </a:xfrm>
            <a:prstGeom prst="rect">
              <a:avLst/>
            </a:prstGeom>
          </p:spPr>
          <p:txBody>
            <a:bodyPr anchor="ctr" rtlCol="false" tIns="0" lIns="0" bIns="0" rIns="0"/>
            <a:lstStyle/>
            <a:p>
              <a:pPr algn="l">
                <a:lnSpc>
                  <a:spcPts val="2520"/>
                </a:lnSpc>
              </a:pPr>
              <a:r>
                <a:rPr lang="en-US" sz="2100" b="true">
                  <a:solidFill>
                    <a:srgbClr val="A0AAE7"/>
                  </a:solidFill>
                  <a:latin typeface="Calibri (MS) Bold"/>
                  <a:ea typeface="Calibri (MS) Bold"/>
                  <a:cs typeface="Calibri (MS) Bold"/>
                  <a:sym typeface="Calibri (MS) Bold"/>
                </a:rPr>
                <a:t>Stakeholders</a:t>
              </a:r>
            </a:p>
          </p:txBody>
        </p:sp>
      </p:grpSp>
      <p:grpSp>
        <p:nvGrpSpPr>
          <p:cNvPr name="Group 19" id="19"/>
          <p:cNvGrpSpPr/>
          <p:nvPr/>
        </p:nvGrpSpPr>
        <p:grpSpPr>
          <a:xfrm rot="0">
            <a:off x="1234440" y="3291840"/>
            <a:ext cx="7269480" cy="5212080"/>
            <a:chOff x="0" y="0"/>
            <a:chExt cx="9692640" cy="6949440"/>
          </a:xfrm>
        </p:grpSpPr>
        <p:sp>
          <p:nvSpPr>
            <p:cNvPr name="Freeform 20" id="20"/>
            <p:cNvSpPr/>
            <p:nvPr/>
          </p:nvSpPr>
          <p:spPr>
            <a:xfrm flipH="false" flipV="false" rot="0">
              <a:off x="0" y="0"/>
              <a:ext cx="9692640" cy="6949440"/>
            </a:xfrm>
            <a:custGeom>
              <a:avLst/>
              <a:gdLst/>
              <a:ahLst/>
              <a:cxnLst/>
              <a:rect r="r" b="b" t="t" l="l"/>
              <a:pathLst>
                <a:path h="6949440" w="9692640">
                  <a:moveTo>
                    <a:pt x="0" y="0"/>
                  </a:moveTo>
                  <a:lnTo>
                    <a:pt x="9692640" y="0"/>
                  </a:lnTo>
                  <a:lnTo>
                    <a:pt x="9692640" y="6949440"/>
                  </a:lnTo>
                  <a:lnTo>
                    <a:pt x="0" y="6949440"/>
                  </a:lnTo>
                  <a:close/>
                </a:path>
              </a:pathLst>
            </a:custGeom>
            <a:blipFill>
              <a:blip r:embed="rId2">
                <a:alphaModFix amt="0"/>
              </a:blip>
              <a:stretch>
                <a:fillRect l="-42055" t="0" r="-42055" b="0"/>
              </a:stretch>
            </a:blipFill>
          </p:spPr>
        </p:sp>
      </p:grpSp>
      <p:grpSp>
        <p:nvGrpSpPr>
          <p:cNvPr name="Group 21" id="21"/>
          <p:cNvGrpSpPr/>
          <p:nvPr/>
        </p:nvGrpSpPr>
        <p:grpSpPr>
          <a:xfrm rot="0">
            <a:off x="1234440" y="3256121"/>
            <a:ext cx="7269480" cy="5247799"/>
            <a:chOff x="0" y="0"/>
            <a:chExt cx="9692640" cy="6997065"/>
          </a:xfrm>
        </p:grpSpPr>
        <p:sp>
          <p:nvSpPr>
            <p:cNvPr name="Freeform 22" id="22"/>
            <p:cNvSpPr/>
            <p:nvPr/>
          </p:nvSpPr>
          <p:spPr>
            <a:xfrm flipH="false" flipV="false" rot="0">
              <a:off x="0" y="0"/>
              <a:ext cx="9692640" cy="6997065"/>
            </a:xfrm>
            <a:custGeom>
              <a:avLst/>
              <a:gdLst/>
              <a:ahLst/>
              <a:cxnLst/>
              <a:rect r="r" b="b" t="t" l="l"/>
              <a:pathLst>
                <a:path h="6997065" w="9692640">
                  <a:moveTo>
                    <a:pt x="0" y="0"/>
                  </a:moveTo>
                  <a:lnTo>
                    <a:pt x="9692640" y="0"/>
                  </a:lnTo>
                  <a:lnTo>
                    <a:pt x="9692640" y="6997065"/>
                  </a:lnTo>
                  <a:lnTo>
                    <a:pt x="0" y="6997065"/>
                  </a:lnTo>
                  <a:close/>
                </a:path>
              </a:pathLst>
            </a:custGeom>
            <a:blipFill>
              <a:blip r:embed="rId3">
                <a:alphaModFix amt="0"/>
              </a:blip>
              <a:stretch>
                <a:fillRect l="-42621" t="0" r="-42621" b="0"/>
              </a:stretch>
            </a:blipFill>
          </p:spPr>
        </p:sp>
        <p:sp>
          <p:nvSpPr>
            <p:cNvPr name="TextBox 23" id="23"/>
            <p:cNvSpPr txBox="true"/>
            <p:nvPr/>
          </p:nvSpPr>
          <p:spPr>
            <a:xfrm>
              <a:off x="0" y="-47625"/>
              <a:ext cx="9692640" cy="7044690"/>
            </a:xfrm>
            <a:prstGeom prst="rect">
              <a:avLst/>
            </a:prstGeom>
          </p:spPr>
          <p:txBody>
            <a:bodyPr anchor="ctr" rtlCol="false" tIns="0" lIns="0" bIns="0" rIns="0"/>
            <a:lstStyle/>
            <a:p>
              <a:pPr algn="l" marL="411718" indent="-137239" lvl="2">
                <a:lnSpc>
                  <a:spcPts val="2340"/>
                </a:lnSpc>
                <a:buFont typeface="Arial"/>
                <a:buChar char="⚬"/>
              </a:pPr>
              <a:r>
                <a:rPr lang="en-US" sz="1950">
                  <a:solidFill>
                    <a:srgbClr val="F9FBFC"/>
                  </a:solidFill>
                  <a:latin typeface="Calibri (MS)"/>
                  <a:ea typeface="Calibri (MS)"/>
                  <a:cs typeface="Calibri (MS)"/>
                  <a:sym typeface="Calibri (MS)"/>
                </a:rPr>
                <a:t>Compradores de vivienda propia (usuario final)</a:t>
              </a:r>
            </a:p>
            <a:p>
              <a:pPr algn="l" marL="411718" indent="-137239" lvl="2">
                <a:lnSpc>
                  <a:spcPts val="2340"/>
                </a:lnSpc>
                <a:buFont typeface="Arial"/>
                <a:buChar char="⚬"/>
              </a:pPr>
              <a:r>
                <a:rPr lang="en-US" sz="1950">
                  <a:solidFill>
                    <a:srgbClr val="F9FBFC"/>
                  </a:solidFill>
                  <a:latin typeface="Calibri (MS)"/>
                  <a:ea typeface="Calibri (MS)"/>
                  <a:cs typeface="Calibri (MS)"/>
                  <a:sym typeface="Calibri (MS)"/>
                </a:rPr>
                <a:t>Constructoras e inmobiliarias confiables (beneficiarias indirectas)</a:t>
              </a:r>
            </a:p>
            <a:p>
              <a:pPr algn="l" marL="411718" indent="-137239" lvl="2">
                <a:lnSpc>
                  <a:spcPts val="2340"/>
                </a:lnSpc>
                <a:buFont typeface="Arial"/>
                <a:buChar char="⚬"/>
              </a:pPr>
              <a:r>
                <a:rPr lang="en-US" sz="1950">
                  <a:solidFill>
                    <a:srgbClr val="F9FBFC"/>
                  </a:solidFill>
                  <a:latin typeface="Calibri (MS)"/>
                  <a:ea typeface="Calibri (MS)"/>
                  <a:cs typeface="Calibri (MS)"/>
                  <a:sym typeface="Calibri (MS)"/>
                </a:rPr>
                <a:t>Entidades financieras y bancos (créditos y riesgo crediticio)</a:t>
              </a:r>
            </a:p>
            <a:p>
              <a:pPr algn="l" marL="411718" indent="-137239" lvl="2">
                <a:lnSpc>
                  <a:spcPts val="2340"/>
                </a:lnSpc>
                <a:buFont typeface="Arial"/>
                <a:buChar char="⚬"/>
              </a:pPr>
              <a:r>
                <a:rPr lang="en-US" sz="1950">
                  <a:solidFill>
                    <a:srgbClr val="F9FBFC"/>
                  </a:solidFill>
                  <a:latin typeface="Calibri (MS)"/>
                  <a:ea typeface="Calibri (MS)"/>
                  <a:cs typeface="Calibri (MS)"/>
                  <a:sym typeface="Calibri (MS)"/>
                </a:rPr>
                <a:t>Municipalidades distritales (zonificación y servicios urbanos)</a:t>
              </a:r>
            </a:p>
            <a:p>
              <a:pPr algn="l" marL="411718" indent="-137239" lvl="2">
                <a:lnSpc>
                  <a:spcPts val="2340"/>
                </a:lnSpc>
                <a:buFont typeface="Arial"/>
                <a:buChar char="⚬"/>
              </a:pPr>
              <a:r>
                <a:rPr lang="en-US" sz="1950">
                  <a:solidFill>
                    <a:srgbClr val="F9FBFC"/>
                  </a:solidFill>
                  <a:latin typeface="Calibri (MS)"/>
                  <a:ea typeface="Calibri (MS)"/>
                  <a:cs typeface="Calibri (MS)"/>
                  <a:sym typeface="Calibri (MS)"/>
                </a:rPr>
                <a:t>Policía Nacional del Perú - PNP (datos oficiales de delincuencia)</a:t>
              </a:r>
            </a:p>
            <a:p>
              <a:pPr algn="l" marL="411718" indent="-137239" lvl="2">
                <a:lnSpc>
                  <a:spcPts val="2340"/>
                </a:lnSpc>
                <a:buFont typeface="Arial"/>
                <a:buChar char="⚬"/>
              </a:pPr>
              <a:r>
                <a:rPr lang="en-US" sz="1950">
                  <a:solidFill>
                    <a:srgbClr val="F9FBFC"/>
                  </a:solidFill>
                  <a:latin typeface="Calibri (MS)"/>
                  <a:ea typeface="Calibri (MS)"/>
                  <a:cs typeface="Calibri (MS)"/>
                  <a:sym typeface="Calibri (MS)"/>
                </a:rPr>
                <a:t>Indecopi (fiscalización y récord de sanciones inmobiliarias)</a:t>
              </a:r>
            </a:p>
            <a:p>
              <a:pPr algn="l" marL="411718" indent="-137239" lvl="2">
                <a:lnSpc>
                  <a:spcPts val="2340"/>
                </a:lnSpc>
                <a:buFont typeface="Arial"/>
                <a:buChar char="⚬"/>
              </a:pPr>
              <a:r>
                <a:rPr lang="en-US" sz="1950">
                  <a:solidFill>
                    <a:srgbClr val="F9FBFC"/>
                  </a:solidFill>
                  <a:latin typeface="Calibri (MS)"/>
                  <a:ea typeface="Calibri (MS)"/>
                  <a:cs typeface="Calibri (MS)"/>
                  <a:sym typeface="Calibri (MS)"/>
                </a:rPr>
                <a:t>Juntas vecinales y comunidad local (entorno y ruido barrial)</a:t>
              </a:r>
            </a:p>
            <a:p>
              <a:pPr algn="l" marL="411718" indent="-137239" lvl="2">
                <a:lnSpc>
                  <a:spcPts val="2340"/>
                </a:lnSpc>
                <a:buFont typeface="Arial"/>
                <a:buChar char="⚬"/>
              </a:pPr>
              <a:r>
                <a:rPr lang="en-US" sz="1950">
                  <a:solidFill>
                    <a:srgbClr val="F9FBFC"/>
                  </a:solidFill>
                  <a:latin typeface="Calibri (MS)"/>
                  <a:ea typeface="Calibri (MS)"/>
                  <a:cs typeface="Calibri (MS)"/>
                  <a:sym typeface="Calibri (MS)"/>
                </a:rPr>
                <a:t>Equipo: Denzel, Jyns, Mafer, Lisseth</a:t>
              </a:r>
            </a:p>
            <a:p>
              <a:pPr algn="l" marL="411718" indent="-137239" lvl="2">
                <a:lnSpc>
                  <a:spcPts val="2340"/>
                </a:lnSpc>
                <a:buFont typeface="Arial"/>
                <a:buChar char="⚬"/>
              </a:pPr>
              <a:r>
                <a:rPr lang="en-US" sz="1950">
                  <a:solidFill>
                    <a:srgbClr val="F9FBFC"/>
                  </a:solidFill>
                  <a:latin typeface="Calibri (MS)"/>
                  <a:ea typeface="Calibri (MS)"/>
                  <a:cs typeface="Calibri (MS)"/>
                  <a:sym typeface="Calibri (MS)"/>
                </a:rPr>
                <a:t>Docente / curso DS3022 (sponsor académico)</a:t>
              </a:r>
            </a:p>
          </p:txBody>
        </p:sp>
      </p:grpSp>
      <p:grpSp>
        <p:nvGrpSpPr>
          <p:cNvPr name="Group 24" id="24"/>
          <p:cNvGrpSpPr/>
          <p:nvPr/>
        </p:nvGrpSpPr>
        <p:grpSpPr>
          <a:xfrm rot="0">
            <a:off x="9326880" y="2331720"/>
            <a:ext cx="8161020" cy="6446520"/>
            <a:chOff x="0" y="0"/>
            <a:chExt cx="10881360" cy="8595360"/>
          </a:xfrm>
        </p:grpSpPr>
        <p:sp>
          <p:nvSpPr>
            <p:cNvPr name="Freeform 25" id="25"/>
            <p:cNvSpPr/>
            <p:nvPr/>
          </p:nvSpPr>
          <p:spPr>
            <a:xfrm flipH="false" flipV="false" rot="0">
              <a:off x="0" y="0"/>
              <a:ext cx="10881360" cy="8595360"/>
            </a:xfrm>
            <a:custGeom>
              <a:avLst/>
              <a:gdLst/>
              <a:ahLst/>
              <a:cxnLst/>
              <a:rect r="r" b="b" t="t" l="l"/>
              <a:pathLst>
                <a:path h="8595360" w="10881360">
                  <a:moveTo>
                    <a:pt x="0" y="182880"/>
                  </a:moveTo>
                  <a:cubicBezTo>
                    <a:pt x="0" y="81915"/>
                    <a:pt x="81915" y="0"/>
                    <a:pt x="182880" y="0"/>
                  </a:cubicBezTo>
                  <a:lnTo>
                    <a:pt x="10698480" y="0"/>
                  </a:lnTo>
                  <a:cubicBezTo>
                    <a:pt x="10799445" y="0"/>
                    <a:pt x="10881360" y="81915"/>
                    <a:pt x="10881360" y="182880"/>
                  </a:cubicBezTo>
                  <a:lnTo>
                    <a:pt x="10881360" y="8412480"/>
                  </a:lnTo>
                  <a:cubicBezTo>
                    <a:pt x="10881360" y="8513445"/>
                    <a:pt x="10799445" y="8595360"/>
                    <a:pt x="10698480" y="8595360"/>
                  </a:cubicBezTo>
                  <a:lnTo>
                    <a:pt x="182880" y="8595360"/>
                  </a:lnTo>
                  <a:cubicBezTo>
                    <a:pt x="81915" y="8595360"/>
                    <a:pt x="0" y="8513445"/>
                    <a:pt x="0" y="8412480"/>
                  </a:cubicBezTo>
                  <a:close/>
                </a:path>
              </a:pathLst>
            </a:custGeom>
            <a:solidFill>
              <a:srgbClr val="9495A2"/>
            </a:solidFill>
          </p:spPr>
        </p:sp>
      </p:grpSp>
      <p:grpSp>
        <p:nvGrpSpPr>
          <p:cNvPr name="Group 26" id="26"/>
          <p:cNvGrpSpPr/>
          <p:nvPr/>
        </p:nvGrpSpPr>
        <p:grpSpPr>
          <a:xfrm rot="0">
            <a:off x="9738360" y="2674620"/>
            <a:ext cx="7269480" cy="548640"/>
            <a:chOff x="0" y="0"/>
            <a:chExt cx="9692640" cy="731520"/>
          </a:xfrm>
        </p:grpSpPr>
        <p:sp>
          <p:nvSpPr>
            <p:cNvPr name="Freeform 27" id="27"/>
            <p:cNvSpPr/>
            <p:nvPr/>
          </p:nvSpPr>
          <p:spPr>
            <a:xfrm flipH="false" flipV="false" rot="0">
              <a:off x="0" y="0"/>
              <a:ext cx="9692640" cy="731520"/>
            </a:xfrm>
            <a:custGeom>
              <a:avLst/>
              <a:gdLst/>
              <a:ahLst/>
              <a:cxnLst/>
              <a:rect r="r" b="b" t="t" l="l"/>
              <a:pathLst>
                <a:path h="731520" w="9692640">
                  <a:moveTo>
                    <a:pt x="0" y="0"/>
                  </a:moveTo>
                  <a:lnTo>
                    <a:pt x="9692640" y="0"/>
                  </a:lnTo>
                  <a:lnTo>
                    <a:pt x="9692640" y="731520"/>
                  </a:lnTo>
                  <a:lnTo>
                    <a:pt x="0" y="731520"/>
                  </a:lnTo>
                  <a:close/>
                </a:path>
              </a:pathLst>
            </a:custGeom>
            <a:blipFill>
              <a:blip r:embed="rId2">
                <a:alphaModFix amt="0"/>
              </a:blip>
              <a:stretch>
                <a:fillRect l="0" t="-207996" r="0" b="-207998"/>
              </a:stretch>
            </a:blipFill>
          </p:spPr>
        </p:sp>
      </p:grpSp>
      <p:grpSp>
        <p:nvGrpSpPr>
          <p:cNvPr name="Group 28" id="28"/>
          <p:cNvGrpSpPr/>
          <p:nvPr/>
        </p:nvGrpSpPr>
        <p:grpSpPr>
          <a:xfrm rot="0">
            <a:off x="9738360" y="2638901"/>
            <a:ext cx="7269480" cy="584359"/>
            <a:chOff x="0" y="0"/>
            <a:chExt cx="9692640" cy="779145"/>
          </a:xfrm>
        </p:grpSpPr>
        <p:sp>
          <p:nvSpPr>
            <p:cNvPr name="Freeform 29" id="29"/>
            <p:cNvSpPr/>
            <p:nvPr/>
          </p:nvSpPr>
          <p:spPr>
            <a:xfrm flipH="false" flipV="false" rot="0">
              <a:off x="0" y="0"/>
              <a:ext cx="9692640" cy="779145"/>
            </a:xfrm>
            <a:custGeom>
              <a:avLst/>
              <a:gdLst/>
              <a:ahLst/>
              <a:cxnLst/>
              <a:rect r="r" b="b" t="t" l="l"/>
              <a:pathLst>
                <a:path h="779145" w="9692640">
                  <a:moveTo>
                    <a:pt x="0" y="0"/>
                  </a:moveTo>
                  <a:lnTo>
                    <a:pt x="9692640" y="0"/>
                  </a:lnTo>
                  <a:lnTo>
                    <a:pt x="9692640" y="779145"/>
                  </a:lnTo>
                  <a:lnTo>
                    <a:pt x="0" y="779145"/>
                  </a:lnTo>
                  <a:close/>
                </a:path>
              </a:pathLst>
            </a:custGeom>
            <a:blipFill>
              <a:blip r:embed="rId3">
                <a:alphaModFix amt="0"/>
              </a:blip>
              <a:stretch>
                <a:fillRect l="0" t="-192395" r="0" b="-192395"/>
              </a:stretch>
            </a:blipFill>
          </p:spPr>
        </p:sp>
        <p:sp>
          <p:nvSpPr>
            <p:cNvPr name="TextBox 30" id="30"/>
            <p:cNvSpPr txBox="true"/>
            <p:nvPr/>
          </p:nvSpPr>
          <p:spPr>
            <a:xfrm>
              <a:off x="0" y="-47625"/>
              <a:ext cx="9692640" cy="826770"/>
            </a:xfrm>
            <a:prstGeom prst="rect">
              <a:avLst/>
            </a:prstGeom>
          </p:spPr>
          <p:txBody>
            <a:bodyPr anchor="ctr" rtlCol="false" tIns="0" lIns="0" bIns="0" rIns="0"/>
            <a:lstStyle/>
            <a:p>
              <a:pPr algn="l">
                <a:lnSpc>
                  <a:spcPts val="2520"/>
                </a:lnSpc>
              </a:pPr>
              <a:r>
                <a:rPr lang="en-US" sz="2100" b="true">
                  <a:solidFill>
                    <a:srgbClr val="F9FBFC"/>
                  </a:solidFill>
                  <a:latin typeface="Calibri (MS) Bold"/>
                  <a:ea typeface="Calibri (MS) Bold"/>
                  <a:cs typeface="Calibri (MS) Bold"/>
                  <a:sym typeface="Calibri (MS) Bold"/>
                </a:rPr>
                <a:t>User Needs</a:t>
              </a:r>
            </a:p>
          </p:txBody>
        </p:sp>
      </p:grpSp>
      <p:grpSp>
        <p:nvGrpSpPr>
          <p:cNvPr name="Group 31" id="31"/>
          <p:cNvGrpSpPr/>
          <p:nvPr/>
        </p:nvGrpSpPr>
        <p:grpSpPr>
          <a:xfrm rot="0">
            <a:off x="9738360" y="3291840"/>
            <a:ext cx="7269480" cy="5486400"/>
            <a:chOff x="0" y="0"/>
            <a:chExt cx="9692640" cy="7315200"/>
          </a:xfrm>
        </p:grpSpPr>
        <p:sp>
          <p:nvSpPr>
            <p:cNvPr name="Freeform 32" id="32"/>
            <p:cNvSpPr/>
            <p:nvPr/>
          </p:nvSpPr>
          <p:spPr>
            <a:xfrm flipH="false" flipV="false" rot="0">
              <a:off x="0" y="0"/>
              <a:ext cx="9692640" cy="7315200"/>
            </a:xfrm>
            <a:custGeom>
              <a:avLst/>
              <a:gdLst/>
              <a:ahLst/>
              <a:cxnLst/>
              <a:rect r="r" b="b" t="t" l="l"/>
              <a:pathLst>
                <a:path h="7315200" w="9692640">
                  <a:moveTo>
                    <a:pt x="0" y="0"/>
                  </a:moveTo>
                  <a:lnTo>
                    <a:pt x="9692640" y="0"/>
                  </a:lnTo>
                  <a:lnTo>
                    <a:pt x="9692640" y="7315200"/>
                  </a:lnTo>
                  <a:lnTo>
                    <a:pt x="0" y="7315200"/>
                  </a:lnTo>
                  <a:close/>
                </a:path>
              </a:pathLst>
            </a:custGeom>
            <a:blipFill>
              <a:blip r:embed="rId2">
                <a:alphaModFix amt="0"/>
              </a:blip>
              <a:stretch>
                <a:fillRect l="-46900" t="0" r="-46900" b="0"/>
              </a:stretch>
            </a:blipFill>
          </p:spPr>
        </p:sp>
      </p:grpSp>
      <p:grpSp>
        <p:nvGrpSpPr>
          <p:cNvPr name="Group 33" id="33"/>
          <p:cNvGrpSpPr/>
          <p:nvPr/>
        </p:nvGrpSpPr>
        <p:grpSpPr>
          <a:xfrm rot="0">
            <a:off x="9738360" y="3263265"/>
            <a:ext cx="7269480" cy="5514975"/>
            <a:chOff x="0" y="0"/>
            <a:chExt cx="9692640" cy="7353300"/>
          </a:xfrm>
        </p:grpSpPr>
        <p:sp>
          <p:nvSpPr>
            <p:cNvPr name="Freeform 34" id="34"/>
            <p:cNvSpPr/>
            <p:nvPr/>
          </p:nvSpPr>
          <p:spPr>
            <a:xfrm flipH="false" flipV="false" rot="0">
              <a:off x="0" y="0"/>
              <a:ext cx="9692640" cy="7353300"/>
            </a:xfrm>
            <a:custGeom>
              <a:avLst/>
              <a:gdLst/>
              <a:ahLst/>
              <a:cxnLst/>
              <a:rect r="r" b="b" t="t" l="l"/>
              <a:pathLst>
                <a:path h="7353300" w="9692640">
                  <a:moveTo>
                    <a:pt x="0" y="0"/>
                  </a:moveTo>
                  <a:lnTo>
                    <a:pt x="9692640" y="0"/>
                  </a:lnTo>
                  <a:lnTo>
                    <a:pt x="9692640" y="7353300"/>
                  </a:lnTo>
                  <a:lnTo>
                    <a:pt x="0" y="7353300"/>
                  </a:lnTo>
                  <a:close/>
                </a:path>
              </a:pathLst>
            </a:custGeom>
            <a:blipFill>
              <a:blip r:embed="rId3">
                <a:alphaModFix amt="0"/>
              </a:blip>
              <a:stretch>
                <a:fillRect l="-47337" t="0" r="-47337" b="0"/>
              </a:stretch>
            </a:blipFill>
          </p:spPr>
        </p:sp>
        <p:sp>
          <p:nvSpPr>
            <p:cNvPr name="TextBox 35" id="35"/>
            <p:cNvSpPr txBox="true"/>
            <p:nvPr/>
          </p:nvSpPr>
          <p:spPr>
            <a:xfrm>
              <a:off x="0" y="-38100"/>
              <a:ext cx="9692640" cy="7391400"/>
            </a:xfrm>
            <a:prstGeom prst="rect">
              <a:avLst/>
            </a:prstGeom>
          </p:spPr>
          <p:txBody>
            <a:bodyPr anchor="ctr" rtlCol="false" tIns="0" lIns="0" bIns="0" rIns="0"/>
            <a:lstStyle/>
            <a:p>
              <a:pPr algn="l" marL="395883" indent="-131961" lvl="2">
                <a:lnSpc>
                  <a:spcPts val="2250"/>
                </a:lnSpc>
                <a:buFont typeface="Arial"/>
                <a:buChar char="⚬"/>
              </a:pPr>
              <a:r>
                <a:rPr lang="en-US" sz="1875">
                  <a:solidFill>
                    <a:srgbClr val="F9FBFC"/>
                  </a:solidFill>
                  <a:latin typeface="Calibri (MS)"/>
                  <a:ea typeface="Calibri (MS)"/>
                  <a:cs typeface="Calibri (MS)"/>
                  <a:sym typeface="Calibri (MS)"/>
                </a:rPr>
                <a:t>Contrastar el precio pedido contra ventas cerradas de la misma zona</a:t>
              </a:r>
            </a:p>
            <a:p>
              <a:pPr algn="l" marL="395883" indent="-131961" lvl="2">
                <a:lnSpc>
                  <a:spcPts val="2250"/>
                </a:lnSpc>
                <a:buFont typeface="Arial"/>
                <a:buChar char="⚬"/>
              </a:pPr>
              <a:r>
                <a:rPr lang="en-US" sz="1875">
                  <a:solidFill>
                    <a:srgbClr val="F9FBFC"/>
                  </a:solidFill>
                  <a:latin typeface="Calibri (MS)"/>
                  <a:ea typeface="Calibri (MS)"/>
                  <a:cs typeface="Calibri (MS)"/>
                  <a:sym typeface="Calibri (MS)"/>
                </a:rPr>
                <a:t>Medir seguridad, equipamiento urbano y nivel de ingreso del entorno</a:t>
              </a:r>
            </a:p>
            <a:p>
              <a:pPr algn="l" marL="395883" indent="-131961" lvl="2">
                <a:lnSpc>
                  <a:spcPts val="2250"/>
                </a:lnSpc>
                <a:buFont typeface="Arial"/>
                <a:buChar char="⚬"/>
              </a:pPr>
              <a:r>
                <a:rPr lang="en-US" sz="1875">
                  <a:solidFill>
                    <a:srgbClr val="F9FBFC"/>
                  </a:solidFill>
                  <a:latin typeface="Calibri (MS)"/>
                  <a:ea typeface="Calibri (MS)"/>
                  <a:cs typeface="Calibri (MS)"/>
                  <a:sym typeface="Calibri (MS)"/>
                </a:rPr>
                <a:t>Revisar cuántos proyectos ha entregado la constructora</a:t>
              </a:r>
            </a:p>
            <a:p>
              <a:pPr algn="l" marL="395883" indent="-131961" lvl="2">
                <a:lnSpc>
                  <a:spcPts val="2250"/>
                </a:lnSpc>
                <a:buFont typeface="Arial"/>
                <a:buChar char="⚬"/>
              </a:pPr>
              <a:r>
                <a:rPr lang="en-US" sz="1875">
                  <a:solidFill>
                    <a:srgbClr val="F9FBFC"/>
                  </a:solidFill>
                  <a:latin typeface="Calibri (MS)"/>
                  <a:ea typeface="Calibri (MS)"/>
                  <a:cs typeface="Calibri (MS)"/>
                  <a:sym typeface="Calibri (MS)"/>
                </a:rPr>
                <a:t>Ordenar la oferta según ingreso, ahorro y prioridades propias</a:t>
              </a:r>
            </a:p>
            <a:p>
              <a:pPr algn="l" marL="395883" indent="-131961" lvl="2">
                <a:lnSpc>
                  <a:spcPts val="2250"/>
                </a:lnSpc>
                <a:buFont typeface="Arial"/>
                <a:buChar char="⚬"/>
              </a:pPr>
              <a:r>
                <a:rPr lang="en-US" sz="1875">
                  <a:solidFill>
                    <a:srgbClr val="F9FBFC"/>
                  </a:solidFill>
                  <a:latin typeface="Calibri (MS)"/>
                  <a:ea typeface="Calibri (MS)"/>
                  <a:cs typeface="Calibri (MS)"/>
                  <a:sym typeface="Calibri (MS)"/>
                </a:rPr>
                <a:t>Ver qué variable pesó en cada recomendación</a:t>
              </a:r>
            </a:p>
          </p:txBody>
        </p:sp>
      </p:grpSp>
      <p:grpSp>
        <p:nvGrpSpPr>
          <p:cNvPr name="Group 36" id="36"/>
          <p:cNvGrpSpPr/>
          <p:nvPr/>
        </p:nvGrpSpPr>
        <p:grpSpPr>
          <a:xfrm rot="0">
            <a:off x="685800" y="9738360"/>
            <a:ext cx="8229600" cy="411480"/>
            <a:chOff x="0" y="0"/>
            <a:chExt cx="10972800" cy="548640"/>
          </a:xfrm>
        </p:grpSpPr>
        <p:sp>
          <p:nvSpPr>
            <p:cNvPr name="Freeform 37" id="37"/>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38" id="38"/>
          <p:cNvGrpSpPr/>
          <p:nvPr/>
        </p:nvGrpSpPr>
        <p:grpSpPr>
          <a:xfrm rot="0">
            <a:off x="685800" y="9709785"/>
            <a:ext cx="8229600" cy="440055"/>
            <a:chOff x="0" y="0"/>
            <a:chExt cx="10972800" cy="586740"/>
          </a:xfrm>
        </p:grpSpPr>
        <p:sp>
          <p:nvSpPr>
            <p:cNvPr name="Freeform 39" id="39"/>
            <p:cNvSpPr/>
            <p:nvPr/>
          </p:nvSpPr>
          <p:spPr>
            <a:xfrm flipH="false" flipV="false" rot="0">
              <a:off x="0" y="0"/>
              <a:ext cx="10972800" cy="586740"/>
            </a:xfrm>
            <a:custGeom>
              <a:avLst/>
              <a:gdLst/>
              <a:ahLst/>
              <a:cxnLst/>
              <a:rect r="r" b="b" t="t" l="l"/>
              <a:pathLst>
                <a:path h="586740" w="10972800">
                  <a:moveTo>
                    <a:pt x="0" y="0"/>
                  </a:moveTo>
                  <a:lnTo>
                    <a:pt x="10972800" y="0"/>
                  </a:lnTo>
                  <a:lnTo>
                    <a:pt x="10972800" y="586740"/>
                  </a:lnTo>
                  <a:lnTo>
                    <a:pt x="0" y="586740"/>
                  </a:lnTo>
                  <a:close/>
                </a:path>
              </a:pathLst>
            </a:custGeom>
            <a:blipFill>
              <a:blip r:embed="rId3">
                <a:alphaModFix amt="0"/>
              </a:blip>
              <a:stretch>
                <a:fillRect l="0" t="-314395" r="0" b="-314395"/>
              </a:stretch>
            </a:blipFill>
          </p:spPr>
        </p:sp>
        <p:sp>
          <p:nvSpPr>
            <p:cNvPr name="TextBox 40" id="40"/>
            <p:cNvSpPr txBox="true"/>
            <p:nvPr/>
          </p:nvSpPr>
          <p:spPr>
            <a:xfrm>
              <a:off x="0" y="-38100"/>
              <a:ext cx="10972800" cy="624840"/>
            </a:xfrm>
            <a:prstGeom prst="rect">
              <a:avLst/>
            </a:prstGeom>
          </p:spPr>
          <p:txBody>
            <a:bodyPr anchor="ctr" rtlCol="false" tIns="0" lIns="0" bIns="0" rIns="0"/>
            <a:lstStyle/>
            <a:p>
              <a:pPr algn="l">
                <a:lnSpc>
                  <a:spcPts val="1800"/>
                </a:lnSpc>
              </a:pPr>
              <a:r>
                <a:rPr lang="en-US" sz="1500">
                  <a:solidFill>
                    <a:srgbClr val="35448A"/>
                  </a:solidFill>
                  <a:latin typeface="Calibri (MS)"/>
                  <a:ea typeface="Calibri (MS)"/>
                  <a:cs typeface="Calibri (MS)"/>
                  <a:sym typeface="Calibri (MS)"/>
                </a:rPr>
                <a:t>InmoScore · Week 5</a:t>
              </a:r>
            </a:p>
          </p:txBody>
        </p:sp>
      </p:grpSp>
      <p:grpSp>
        <p:nvGrpSpPr>
          <p:cNvPr name="Group 41" id="41"/>
          <p:cNvGrpSpPr/>
          <p:nvPr/>
        </p:nvGrpSpPr>
        <p:grpSpPr>
          <a:xfrm rot="0">
            <a:off x="17048988" y="9738360"/>
            <a:ext cx="548640" cy="411480"/>
            <a:chOff x="0" y="0"/>
            <a:chExt cx="731520" cy="548640"/>
          </a:xfrm>
        </p:grpSpPr>
        <p:sp>
          <p:nvSpPr>
            <p:cNvPr name="Freeform 42" id="42"/>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43" id="43"/>
          <p:cNvGrpSpPr/>
          <p:nvPr/>
        </p:nvGrpSpPr>
        <p:grpSpPr>
          <a:xfrm rot="0">
            <a:off x="17048988" y="9709785"/>
            <a:ext cx="548640" cy="440055"/>
            <a:chOff x="0" y="0"/>
            <a:chExt cx="731520" cy="586740"/>
          </a:xfrm>
        </p:grpSpPr>
        <p:sp>
          <p:nvSpPr>
            <p:cNvPr name="Freeform 44" id="44"/>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45" id="45"/>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35448A"/>
                  </a:solidFill>
                  <a:latin typeface="Calibri (MS)"/>
                  <a:ea typeface="Calibri (MS)"/>
                  <a:cs typeface="Calibri (MS)"/>
                  <a:sym typeface="Calibri (MS)"/>
                </a:rPr>
                <a:t>7</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9FBFC"/>
        </a:solidFill>
      </p:bgPr>
    </p:bg>
    <p:spTree>
      <p:nvGrpSpPr>
        <p:cNvPr id="1" name=""/>
        <p:cNvGrpSpPr/>
        <p:nvPr/>
      </p:nvGrpSpPr>
      <p:grpSpPr>
        <a:xfrm>
          <a:off x="0" y="0"/>
          <a:ext cx="0" cy="0"/>
          <a:chOff x="0" y="0"/>
          <a:chExt cx="0" cy="0"/>
        </a:xfrm>
      </p:grpSpPr>
      <p:grpSp>
        <p:nvGrpSpPr>
          <p:cNvPr name="Group 2" id="2"/>
          <p:cNvGrpSpPr/>
          <p:nvPr/>
        </p:nvGrpSpPr>
        <p:grpSpPr>
          <a:xfrm rot="0">
            <a:off x="822960" y="480060"/>
            <a:ext cx="13716000" cy="480060"/>
            <a:chOff x="0" y="0"/>
            <a:chExt cx="18288000" cy="640080"/>
          </a:xfrm>
        </p:grpSpPr>
        <p:sp>
          <p:nvSpPr>
            <p:cNvPr name="Freeform 3" id="3"/>
            <p:cNvSpPr/>
            <p:nvPr/>
          </p:nvSpPr>
          <p:spPr>
            <a:xfrm flipH="false" flipV="false" rot="0">
              <a:off x="0" y="0"/>
              <a:ext cx="18288000" cy="640080"/>
            </a:xfrm>
            <a:custGeom>
              <a:avLst/>
              <a:gdLst/>
              <a:ahLst/>
              <a:cxnLst/>
              <a:rect r="r" b="b" t="t" l="l"/>
              <a:pathLst>
                <a:path h="640080" w="18288000">
                  <a:moveTo>
                    <a:pt x="0" y="0"/>
                  </a:moveTo>
                  <a:lnTo>
                    <a:pt x="18288000" y="0"/>
                  </a:lnTo>
                  <a:lnTo>
                    <a:pt x="18288000" y="640080"/>
                  </a:lnTo>
                  <a:lnTo>
                    <a:pt x="0" y="640080"/>
                  </a:lnTo>
                  <a:close/>
                </a:path>
              </a:pathLst>
            </a:custGeom>
            <a:blipFill>
              <a:blip r:embed="rId2">
                <a:alphaModFix amt="0"/>
              </a:blip>
              <a:stretch>
                <a:fillRect l="0" t="-506327" r="0" b="-506329"/>
              </a:stretch>
            </a:blipFill>
          </p:spPr>
        </p:sp>
      </p:grpSp>
      <p:grpSp>
        <p:nvGrpSpPr>
          <p:cNvPr name="Group 4" id="4"/>
          <p:cNvGrpSpPr/>
          <p:nvPr/>
        </p:nvGrpSpPr>
        <p:grpSpPr>
          <a:xfrm rot="0">
            <a:off x="822960" y="451485"/>
            <a:ext cx="13716000" cy="508635"/>
            <a:chOff x="0" y="0"/>
            <a:chExt cx="18288000" cy="678180"/>
          </a:xfrm>
        </p:grpSpPr>
        <p:sp>
          <p:nvSpPr>
            <p:cNvPr name="Freeform 5" id="5"/>
            <p:cNvSpPr/>
            <p:nvPr/>
          </p:nvSpPr>
          <p:spPr>
            <a:xfrm flipH="false" flipV="false" rot="0">
              <a:off x="0" y="0"/>
              <a:ext cx="18288000" cy="678180"/>
            </a:xfrm>
            <a:custGeom>
              <a:avLst/>
              <a:gdLst/>
              <a:ahLst/>
              <a:cxnLst/>
              <a:rect r="r" b="b" t="t" l="l"/>
              <a:pathLst>
                <a:path h="678180" w="18288000">
                  <a:moveTo>
                    <a:pt x="0" y="0"/>
                  </a:moveTo>
                  <a:lnTo>
                    <a:pt x="18288000" y="0"/>
                  </a:lnTo>
                  <a:lnTo>
                    <a:pt x="18288000" y="678180"/>
                  </a:lnTo>
                  <a:lnTo>
                    <a:pt x="0" y="678180"/>
                  </a:lnTo>
                  <a:close/>
                </a:path>
              </a:pathLst>
            </a:custGeom>
            <a:blipFill>
              <a:blip r:embed="rId3">
                <a:alphaModFix amt="0"/>
              </a:blip>
              <a:stretch>
                <a:fillRect l="0" t="-475439" r="0" b="-475439"/>
              </a:stretch>
            </a:blipFill>
          </p:spPr>
        </p:sp>
        <p:sp>
          <p:nvSpPr>
            <p:cNvPr name="TextBox 6" id="6"/>
            <p:cNvSpPr txBox="true"/>
            <p:nvPr/>
          </p:nvSpPr>
          <p:spPr>
            <a:xfrm>
              <a:off x="0" y="-38100"/>
              <a:ext cx="18288000" cy="716280"/>
            </a:xfrm>
            <a:prstGeom prst="rect">
              <a:avLst/>
            </a:prstGeom>
          </p:spPr>
          <p:txBody>
            <a:bodyPr anchor="ctr" rtlCol="false" tIns="0" lIns="0" bIns="0" rIns="0"/>
            <a:lstStyle/>
            <a:p>
              <a:pPr algn="l">
                <a:lnSpc>
                  <a:spcPts val="2160"/>
                </a:lnSpc>
              </a:pPr>
              <a:r>
                <a:rPr lang="en-US" b="true" sz="1800" spc="225">
                  <a:solidFill>
                    <a:srgbClr val="9495A2"/>
                  </a:solidFill>
                  <a:latin typeface="Calibri (MS) Bold"/>
                  <a:ea typeface="Calibri (MS) Bold"/>
                  <a:cs typeface="Calibri (MS) Bold"/>
                  <a:sym typeface="Calibri (MS) Bold"/>
                </a:rPr>
                <a:t>REQUIREMENTS</a:t>
              </a:r>
            </a:p>
          </p:txBody>
        </p:sp>
      </p:grpSp>
      <p:grpSp>
        <p:nvGrpSpPr>
          <p:cNvPr name="Group 7" id="7"/>
          <p:cNvGrpSpPr/>
          <p:nvPr/>
        </p:nvGrpSpPr>
        <p:grpSpPr>
          <a:xfrm rot="0">
            <a:off x="822960" y="932688"/>
            <a:ext cx="16184880" cy="960120"/>
            <a:chOff x="0" y="0"/>
            <a:chExt cx="21579840" cy="1280160"/>
          </a:xfrm>
        </p:grpSpPr>
        <p:sp>
          <p:nvSpPr>
            <p:cNvPr name="Freeform 8" id="8"/>
            <p:cNvSpPr/>
            <p:nvPr/>
          </p:nvSpPr>
          <p:spPr>
            <a:xfrm flipH="false" flipV="false" rot="0">
              <a:off x="0" y="0"/>
              <a:ext cx="21579839" cy="1280160"/>
            </a:xfrm>
            <a:custGeom>
              <a:avLst/>
              <a:gdLst/>
              <a:ahLst/>
              <a:cxnLst/>
              <a:rect r="r" b="b" t="t" l="l"/>
              <a:pathLst>
                <a:path h="1280160" w="21579839">
                  <a:moveTo>
                    <a:pt x="0" y="0"/>
                  </a:moveTo>
                  <a:lnTo>
                    <a:pt x="21579839" y="0"/>
                  </a:lnTo>
                  <a:lnTo>
                    <a:pt x="21579839" y="1280160"/>
                  </a:lnTo>
                  <a:lnTo>
                    <a:pt x="0" y="1280160"/>
                  </a:lnTo>
                  <a:close/>
                </a:path>
              </a:pathLst>
            </a:custGeom>
            <a:blipFill>
              <a:blip r:embed="rId2">
                <a:alphaModFix amt="0"/>
              </a:blip>
              <a:stretch>
                <a:fillRect l="0" t="-278234" r="0" b="-278233"/>
              </a:stretch>
            </a:blipFill>
          </p:spPr>
        </p:sp>
      </p:grpSp>
      <p:grpSp>
        <p:nvGrpSpPr>
          <p:cNvPr name="Group 9" id="9"/>
          <p:cNvGrpSpPr/>
          <p:nvPr/>
        </p:nvGrpSpPr>
        <p:grpSpPr>
          <a:xfrm rot="0">
            <a:off x="822960" y="918400"/>
            <a:ext cx="16184880" cy="974407"/>
            <a:chOff x="0" y="0"/>
            <a:chExt cx="21579840" cy="1299210"/>
          </a:xfrm>
        </p:grpSpPr>
        <p:sp>
          <p:nvSpPr>
            <p:cNvPr name="Freeform 10" id="10"/>
            <p:cNvSpPr/>
            <p:nvPr/>
          </p:nvSpPr>
          <p:spPr>
            <a:xfrm flipH="false" flipV="false" rot="0">
              <a:off x="0" y="0"/>
              <a:ext cx="21579839" cy="1299210"/>
            </a:xfrm>
            <a:custGeom>
              <a:avLst/>
              <a:gdLst/>
              <a:ahLst/>
              <a:cxnLst/>
              <a:rect r="r" b="b" t="t" l="l"/>
              <a:pathLst>
                <a:path h="1299210" w="21579839">
                  <a:moveTo>
                    <a:pt x="0" y="0"/>
                  </a:moveTo>
                  <a:lnTo>
                    <a:pt x="21579839" y="0"/>
                  </a:lnTo>
                  <a:lnTo>
                    <a:pt x="21579839" y="1299210"/>
                  </a:lnTo>
                  <a:lnTo>
                    <a:pt x="0" y="1299210"/>
                  </a:lnTo>
                  <a:close/>
                </a:path>
              </a:pathLst>
            </a:custGeom>
            <a:blipFill>
              <a:blip r:embed="rId3">
                <a:alphaModFix amt="0"/>
              </a:blip>
              <a:stretch>
                <a:fillRect l="0" t="-273645" r="0" b="-273645"/>
              </a:stretch>
            </a:blipFill>
          </p:spPr>
        </p:sp>
        <p:sp>
          <p:nvSpPr>
            <p:cNvPr name="TextBox 11" id="11"/>
            <p:cNvSpPr txBox="true"/>
            <p:nvPr/>
          </p:nvSpPr>
          <p:spPr>
            <a:xfrm>
              <a:off x="0" y="-19050"/>
              <a:ext cx="21579840" cy="1318260"/>
            </a:xfrm>
            <a:prstGeom prst="rect">
              <a:avLst/>
            </a:prstGeom>
          </p:spPr>
          <p:txBody>
            <a:bodyPr anchor="ctr" rtlCol="false" tIns="0" lIns="0" bIns="0" rIns="0"/>
            <a:lstStyle/>
            <a:p>
              <a:pPr algn="l">
                <a:lnSpc>
                  <a:spcPts val="5400"/>
                </a:lnSpc>
              </a:pPr>
              <a:r>
                <a:rPr lang="en-US" sz="4500" b="true">
                  <a:solidFill>
                    <a:srgbClr val="0F1017"/>
                  </a:solidFill>
                  <a:latin typeface="Cambria Bold"/>
                  <a:ea typeface="Cambria Bold"/>
                  <a:cs typeface="Cambria Bold"/>
                  <a:sym typeface="Cambria Bold"/>
                </a:rPr>
                <a:t>Functional Requirements</a:t>
              </a:r>
            </a:p>
          </p:txBody>
        </p:sp>
      </p:grpSp>
      <p:grpSp>
        <p:nvGrpSpPr>
          <p:cNvPr name="Group 12" id="12"/>
          <p:cNvGrpSpPr/>
          <p:nvPr/>
        </p:nvGrpSpPr>
        <p:grpSpPr>
          <a:xfrm rot="0">
            <a:off x="822960" y="2263140"/>
            <a:ext cx="8161020" cy="987552"/>
            <a:chOff x="0" y="0"/>
            <a:chExt cx="10881360" cy="1316736"/>
          </a:xfrm>
        </p:grpSpPr>
        <p:sp>
          <p:nvSpPr>
            <p:cNvPr name="Freeform 13" id="13"/>
            <p:cNvSpPr/>
            <p:nvPr/>
          </p:nvSpPr>
          <p:spPr>
            <a:xfrm flipH="false" flipV="false" rot="0">
              <a:off x="0" y="0"/>
              <a:ext cx="10881360" cy="1316736"/>
            </a:xfrm>
            <a:custGeom>
              <a:avLst/>
              <a:gdLst/>
              <a:ahLst/>
              <a:cxnLst/>
              <a:rect r="r" b="b" t="t" l="l"/>
              <a:pathLst>
                <a:path h="1316736" w="10881360">
                  <a:moveTo>
                    <a:pt x="0" y="182880"/>
                  </a:moveTo>
                  <a:cubicBezTo>
                    <a:pt x="0" y="81915"/>
                    <a:pt x="81915" y="0"/>
                    <a:pt x="182880" y="0"/>
                  </a:cubicBezTo>
                  <a:lnTo>
                    <a:pt x="10698480" y="0"/>
                  </a:lnTo>
                  <a:cubicBezTo>
                    <a:pt x="10799445" y="0"/>
                    <a:pt x="10881360" y="81915"/>
                    <a:pt x="10881360" y="182880"/>
                  </a:cubicBezTo>
                  <a:lnTo>
                    <a:pt x="10881360" y="1133856"/>
                  </a:lnTo>
                  <a:cubicBezTo>
                    <a:pt x="10881360" y="1234821"/>
                    <a:pt x="10799445" y="1316736"/>
                    <a:pt x="10698480" y="1316736"/>
                  </a:cubicBezTo>
                  <a:lnTo>
                    <a:pt x="182880" y="1316736"/>
                  </a:lnTo>
                  <a:cubicBezTo>
                    <a:pt x="81915" y="1316736"/>
                    <a:pt x="0" y="1234821"/>
                    <a:pt x="0" y="1133856"/>
                  </a:cubicBezTo>
                  <a:close/>
                </a:path>
              </a:pathLst>
            </a:custGeom>
            <a:solidFill>
              <a:srgbClr val="9495A2"/>
            </a:solidFill>
          </p:spPr>
        </p:sp>
      </p:grpSp>
      <p:grpSp>
        <p:nvGrpSpPr>
          <p:cNvPr name="Group 14" id="14"/>
          <p:cNvGrpSpPr/>
          <p:nvPr/>
        </p:nvGrpSpPr>
        <p:grpSpPr>
          <a:xfrm rot="0">
            <a:off x="1028700" y="2372868"/>
            <a:ext cx="1234440" cy="768096"/>
            <a:chOff x="0" y="0"/>
            <a:chExt cx="1645920" cy="1024128"/>
          </a:xfrm>
        </p:grpSpPr>
        <p:sp>
          <p:nvSpPr>
            <p:cNvPr name="Freeform 15" id="15"/>
            <p:cNvSpPr/>
            <p:nvPr/>
          </p:nvSpPr>
          <p:spPr>
            <a:xfrm flipH="false" flipV="false" rot="0">
              <a:off x="0" y="0"/>
              <a:ext cx="1645920" cy="1024128"/>
            </a:xfrm>
            <a:custGeom>
              <a:avLst/>
              <a:gdLst/>
              <a:ahLst/>
              <a:cxnLst/>
              <a:rect r="r" b="b" t="t" l="l"/>
              <a:pathLst>
                <a:path h="1024128" w="1645920">
                  <a:moveTo>
                    <a:pt x="0" y="0"/>
                  </a:moveTo>
                  <a:lnTo>
                    <a:pt x="1645920" y="0"/>
                  </a:lnTo>
                  <a:lnTo>
                    <a:pt x="1645920" y="1024128"/>
                  </a:lnTo>
                  <a:lnTo>
                    <a:pt x="0" y="1024128"/>
                  </a:lnTo>
                  <a:close/>
                </a:path>
              </a:pathLst>
            </a:custGeom>
            <a:blipFill>
              <a:blip r:embed="rId2">
                <a:alphaModFix amt="0"/>
              </a:blip>
              <a:stretch>
                <a:fillRect l="-29888" t="0" r="-29888" b="0"/>
              </a:stretch>
            </a:blipFill>
          </p:spPr>
        </p:sp>
      </p:grpSp>
      <p:grpSp>
        <p:nvGrpSpPr>
          <p:cNvPr name="Group 16" id="16"/>
          <p:cNvGrpSpPr/>
          <p:nvPr/>
        </p:nvGrpSpPr>
        <p:grpSpPr>
          <a:xfrm rot="0">
            <a:off x="1028700" y="2344293"/>
            <a:ext cx="1234440" cy="796671"/>
            <a:chOff x="0" y="0"/>
            <a:chExt cx="1645920" cy="1062228"/>
          </a:xfrm>
        </p:grpSpPr>
        <p:sp>
          <p:nvSpPr>
            <p:cNvPr name="Freeform 17" id="17"/>
            <p:cNvSpPr/>
            <p:nvPr/>
          </p:nvSpPr>
          <p:spPr>
            <a:xfrm flipH="false" flipV="false" rot="0">
              <a:off x="0" y="0"/>
              <a:ext cx="1645920" cy="1062228"/>
            </a:xfrm>
            <a:custGeom>
              <a:avLst/>
              <a:gdLst/>
              <a:ahLst/>
              <a:cxnLst/>
              <a:rect r="r" b="b" t="t" l="l"/>
              <a:pathLst>
                <a:path h="1062228" w="1645920">
                  <a:moveTo>
                    <a:pt x="0" y="0"/>
                  </a:moveTo>
                  <a:lnTo>
                    <a:pt x="1645920" y="0"/>
                  </a:lnTo>
                  <a:lnTo>
                    <a:pt x="1645920" y="1062228"/>
                  </a:lnTo>
                  <a:lnTo>
                    <a:pt x="0" y="1062228"/>
                  </a:lnTo>
                  <a:close/>
                </a:path>
              </a:pathLst>
            </a:custGeom>
            <a:blipFill>
              <a:blip r:embed="rId3">
                <a:alphaModFix amt="0"/>
              </a:blip>
              <a:stretch>
                <a:fillRect l="-32803" t="0" r="-32803" b="0"/>
              </a:stretch>
            </a:blipFill>
          </p:spPr>
        </p:sp>
        <p:sp>
          <p:nvSpPr>
            <p:cNvPr name="TextBox 18" id="18"/>
            <p:cNvSpPr txBox="true"/>
            <p:nvPr/>
          </p:nvSpPr>
          <p:spPr>
            <a:xfrm>
              <a:off x="0" y="-38100"/>
              <a:ext cx="1645920" cy="1100328"/>
            </a:xfrm>
            <a:prstGeom prst="rect">
              <a:avLst/>
            </a:prstGeom>
          </p:spPr>
          <p:txBody>
            <a:bodyPr anchor="ctr" rtlCol="false" tIns="0" lIns="0" bIns="0" rIns="0"/>
            <a:lstStyle/>
            <a:p>
              <a:pPr algn="l">
                <a:lnSpc>
                  <a:spcPts val="2160"/>
                </a:lnSpc>
              </a:pPr>
              <a:r>
                <a:rPr lang="en-US" sz="1800" b="true">
                  <a:solidFill>
                    <a:srgbClr val="F9FBFC"/>
                  </a:solidFill>
                  <a:latin typeface="Calibri (MS) Bold"/>
                  <a:ea typeface="Calibri (MS) Bold"/>
                  <a:cs typeface="Calibri (MS) Bold"/>
                  <a:sym typeface="Calibri (MS) Bold"/>
                </a:rPr>
                <a:t>RF-01</a:t>
              </a:r>
            </a:p>
          </p:txBody>
        </p:sp>
      </p:grpSp>
      <p:grpSp>
        <p:nvGrpSpPr>
          <p:cNvPr name="Group 19" id="19"/>
          <p:cNvGrpSpPr/>
          <p:nvPr/>
        </p:nvGrpSpPr>
        <p:grpSpPr>
          <a:xfrm rot="0">
            <a:off x="2331720" y="2345436"/>
            <a:ext cx="6377940" cy="822960"/>
            <a:chOff x="0" y="0"/>
            <a:chExt cx="8503920" cy="1097280"/>
          </a:xfrm>
        </p:grpSpPr>
        <p:sp>
          <p:nvSpPr>
            <p:cNvPr name="Freeform 20" id="20"/>
            <p:cNvSpPr/>
            <p:nvPr/>
          </p:nvSpPr>
          <p:spPr>
            <a:xfrm flipH="false" flipV="false" rot="0">
              <a:off x="0" y="0"/>
              <a:ext cx="8503920" cy="1097280"/>
            </a:xfrm>
            <a:custGeom>
              <a:avLst/>
              <a:gdLst/>
              <a:ahLst/>
              <a:cxnLst/>
              <a:rect r="r" b="b" t="t" l="l"/>
              <a:pathLst>
                <a:path h="1097280" w="8503920">
                  <a:moveTo>
                    <a:pt x="0" y="0"/>
                  </a:moveTo>
                  <a:lnTo>
                    <a:pt x="8503920" y="0"/>
                  </a:lnTo>
                  <a:lnTo>
                    <a:pt x="8503920" y="1097280"/>
                  </a:lnTo>
                  <a:lnTo>
                    <a:pt x="0" y="1097280"/>
                  </a:lnTo>
                  <a:close/>
                </a:path>
              </a:pathLst>
            </a:custGeom>
            <a:blipFill>
              <a:blip r:embed="rId2">
                <a:alphaModFix amt="0"/>
              </a:blip>
              <a:stretch>
                <a:fillRect l="0" t="-100903" r="0" b="-100903"/>
              </a:stretch>
            </a:blipFill>
          </p:spPr>
        </p:sp>
      </p:grpSp>
      <p:grpSp>
        <p:nvGrpSpPr>
          <p:cNvPr name="Group 21" id="21"/>
          <p:cNvGrpSpPr/>
          <p:nvPr/>
        </p:nvGrpSpPr>
        <p:grpSpPr>
          <a:xfrm rot="0">
            <a:off x="2331720" y="2324005"/>
            <a:ext cx="6377940" cy="844391"/>
            <a:chOff x="0" y="0"/>
            <a:chExt cx="8503920" cy="1125855"/>
          </a:xfrm>
        </p:grpSpPr>
        <p:sp>
          <p:nvSpPr>
            <p:cNvPr name="Freeform 22" id="22"/>
            <p:cNvSpPr/>
            <p:nvPr/>
          </p:nvSpPr>
          <p:spPr>
            <a:xfrm flipH="false" flipV="false" rot="0">
              <a:off x="0" y="0"/>
              <a:ext cx="8503920" cy="1125855"/>
            </a:xfrm>
            <a:custGeom>
              <a:avLst/>
              <a:gdLst/>
              <a:ahLst/>
              <a:cxnLst/>
              <a:rect r="r" b="b" t="t" l="l"/>
              <a:pathLst>
                <a:path h="1125855" w="8503920">
                  <a:moveTo>
                    <a:pt x="0" y="0"/>
                  </a:moveTo>
                  <a:lnTo>
                    <a:pt x="8503920" y="0"/>
                  </a:lnTo>
                  <a:lnTo>
                    <a:pt x="8503920" y="1125855"/>
                  </a:lnTo>
                  <a:lnTo>
                    <a:pt x="0" y="1125855"/>
                  </a:lnTo>
                  <a:close/>
                </a:path>
              </a:pathLst>
            </a:custGeom>
            <a:blipFill>
              <a:blip r:embed="rId3">
                <a:alphaModFix amt="0"/>
              </a:blip>
              <a:stretch>
                <a:fillRect l="0" t="-97176" r="0" b="-97176"/>
              </a:stretch>
            </a:blipFill>
          </p:spPr>
        </p:sp>
        <p:sp>
          <p:nvSpPr>
            <p:cNvPr name="TextBox 23" id="23"/>
            <p:cNvSpPr txBox="true"/>
            <p:nvPr/>
          </p:nvSpPr>
          <p:spPr>
            <a:xfrm>
              <a:off x="0" y="-28575"/>
              <a:ext cx="8503920" cy="1154430"/>
            </a:xfrm>
            <a:prstGeom prst="rect">
              <a:avLst/>
            </a:prstGeom>
          </p:spPr>
          <p:txBody>
            <a:bodyPr anchor="ctr" rtlCol="false" tIns="0" lIns="0" bIns="0" rIns="0"/>
            <a:lstStyle/>
            <a:p>
              <a:pPr algn="l">
                <a:lnSpc>
                  <a:spcPts val="1980"/>
                </a:lnSpc>
              </a:pPr>
              <a:r>
                <a:rPr lang="en-US" sz="1650">
                  <a:solidFill>
                    <a:srgbClr val="F9FBFC"/>
                  </a:solidFill>
                  <a:latin typeface="Calibri (MS)"/>
                  <a:ea typeface="Calibri (MS)"/>
                  <a:cs typeface="Calibri (MS)"/>
                  <a:sym typeface="Calibri (MS)"/>
                </a:rPr>
                <a:t>Recolectar y normalizar listados inmobiliarios desde portales públicos.</a:t>
              </a:r>
            </a:p>
          </p:txBody>
        </p:sp>
      </p:grpSp>
      <p:grpSp>
        <p:nvGrpSpPr>
          <p:cNvPr name="Group 24" id="24"/>
          <p:cNvGrpSpPr/>
          <p:nvPr/>
        </p:nvGrpSpPr>
        <p:grpSpPr>
          <a:xfrm rot="0">
            <a:off x="822960" y="3332988"/>
            <a:ext cx="8161020" cy="987552"/>
            <a:chOff x="0" y="0"/>
            <a:chExt cx="10881360" cy="1316736"/>
          </a:xfrm>
        </p:grpSpPr>
        <p:sp>
          <p:nvSpPr>
            <p:cNvPr name="Freeform 25" id="25"/>
            <p:cNvSpPr/>
            <p:nvPr/>
          </p:nvSpPr>
          <p:spPr>
            <a:xfrm flipH="false" flipV="false" rot="0">
              <a:off x="0" y="0"/>
              <a:ext cx="10881360" cy="1316736"/>
            </a:xfrm>
            <a:custGeom>
              <a:avLst/>
              <a:gdLst/>
              <a:ahLst/>
              <a:cxnLst/>
              <a:rect r="r" b="b" t="t" l="l"/>
              <a:pathLst>
                <a:path h="1316736" w="10881360">
                  <a:moveTo>
                    <a:pt x="0" y="182880"/>
                  </a:moveTo>
                  <a:cubicBezTo>
                    <a:pt x="0" y="81915"/>
                    <a:pt x="81915" y="0"/>
                    <a:pt x="182880" y="0"/>
                  </a:cubicBezTo>
                  <a:lnTo>
                    <a:pt x="10698480" y="0"/>
                  </a:lnTo>
                  <a:cubicBezTo>
                    <a:pt x="10799445" y="0"/>
                    <a:pt x="10881360" y="81915"/>
                    <a:pt x="10881360" y="182880"/>
                  </a:cubicBezTo>
                  <a:lnTo>
                    <a:pt x="10881360" y="1133856"/>
                  </a:lnTo>
                  <a:cubicBezTo>
                    <a:pt x="10881360" y="1234821"/>
                    <a:pt x="10799445" y="1316736"/>
                    <a:pt x="10698480" y="1316736"/>
                  </a:cubicBezTo>
                  <a:lnTo>
                    <a:pt x="182880" y="1316736"/>
                  </a:lnTo>
                  <a:cubicBezTo>
                    <a:pt x="81915" y="1316736"/>
                    <a:pt x="0" y="1234821"/>
                    <a:pt x="0" y="1133856"/>
                  </a:cubicBezTo>
                  <a:close/>
                </a:path>
              </a:pathLst>
            </a:custGeom>
            <a:solidFill>
              <a:srgbClr val="9495A2"/>
            </a:solidFill>
          </p:spPr>
        </p:sp>
      </p:grpSp>
      <p:grpSp>
        <p:nvGrpSpPr>
          <p:cNvPr name="Group 26" id="26"/>
          <p:cNvGrpSpPr/>
          <p:nvPr/>
        </p:nvGrpSpPr>
        <p:grpSpPr>
          <a:xfrm rot="0">
            <a:off x="1028700" y="3442716"/>
            <a:ext cx="1234440" cy="768096"/>
            <a:chOff x="0" y="0"/>
            <a:chExt cx="1645920" cy="1024128"/>
          </a:xfrm>
        </p:grpSpPr>
        <p:sp>
          <p:nvSpPr>
            <p:cNvPr name="Freeform 27" id="27"/>
            <p:cNvSpPr/>
            <p:nvPr/>
          </p:nvSpPr>
          <p:spPr>
            <a:xfrm flipH="false" flipV="false" rot="0">
              <a:off x="0" y="0"/>
              <a:ext cx="1645920" cy="1024128"/>
            </a:xfrm>
            <a:custGeom>
              <a:avLst/>
              <a:gdLst/>
              <a:ahLst/>
              <a:cxnLst/>
              <a:rect r="r" b="b" t="t" l="l"/>
              <a:pathLst>
                <a:path h="1024128" w="1645920">
                  <a:moveTo>
                    <a:pt x="0" y="0"/>
                  </a:moveTo>
                  <a:lnTo>
                    <a:pt x="1645920" y="0"/>
                  </a:lnTo>
                  <a:lnTo>
                    <a:pt x="1645920" y="1024128"/>
                  </a:lnTo>
                  <a:lnTo>
                    <a:pt x="0" y="1024128"/>
                  </a:lnTo>
                  <a:close/>
                </a:path>
              </a:pathLst>
            </a:custGeom>
            <a:blipFill>
              <a:blip r:embed="rId2">
                <a:alphaModFix amt="0"/>
              </a:blip>
              <a:stretch>
                <a:fillRect l="-29888" t="0" r="-29888" b="0"/>
              </a:stretch>
            </a:blipFill>
          </p:spPr>
        </p:sp>
      </p:grpSp>
      <p:grpSp>
        <p:nvGrpSpPr>
          <p:cNvPr name="Group 28" id="28"/>
          <p:cNvGrpSpPr/>
          <p:nvPr/>
        </p:nvGrpSpPr>
        <p:grpSpPr>
          <a:xfrm rot="0">
            <a:off x="1028700" y="3414141"/>
            <a:ext cx="1234440" cy="796671"/>
            <a:chOff x="0" y="0"/>
            <a:chExt cx="1645920" cy="1062228"/>
          </a:xfrm>
        </p:grpSpPr>
        <p:sp>
          <p:nvSpPr>
            <p:cNvPr name="Freeform 29" id="29"/>
            <p:cNvSpPr/>
            <p:nvPr/>
          </p:nvSpPr>
          <p:spPr>
            <a:xfrm flipH="false" flipV="false" rot="0">
              <a:off x="0" y="0"/>
              <a:ext cx="1645920" cy="1062228"/>
            </a:xfrm>
            <a:custGeom>
              <a:avLst/>
              <a:gdLst/>
              <a:ahLst/>
              <a:cxnLst/>
              <a:rect r="r" b="b" t="t" l="l"/>
              <a:pathLst>
                <a:path h="1062228" w="1645920">
                  <a:moveTo>
                    <a:pt x="0" y="0"/>
                  </a:moveTo>
                  <a:lnTo>
                    <a:pt x="1645920" y="0"/>
                  </a:lnTo>
                  <a:lnTo>
                    <a:pt x="1645920" y="1062228"/>
                  </a:lnTo>
                  <a:lnTo>
                    <a:pt x="0" y="1062228"/>
                  </a:lnTo>
                  <a:close/>
                </a:path>
              </a:pathLst>
            </a:custGeom>
            <a:blipFill>
              <a:blip r:embed="rId3">
                <a:alphaModFix amt="0"/>
              </a:blip>
              <a:stretch>
                <a:fillRect l="-32803" t="0" r="-32803" b="0"/>
              </a:stretch>
            </a:blipFill>
          </p:spPr>
        </p:sp>
        <p:sp>
          <p:nvSpPr>
            <p:cNvPr name="TextBox 30" id="30"/>
            <p:cNvSpPr txBox="true"/>
            <p:nvPr/>
          </p:nvSpPr>
          <p:spPr>
            <a:xfrm>
              <a:off x="0" y="-38100"/>
              <a:ext cx="1645920" cy="1100328"/>
            </a:xfrm>
            <a:prstGeom prst="rect">
              <a:avLst/>
            </a:prstGeom>
          </p:spPr>
          <p:txBody>
            <a:bodyPr anchor="ctr" rtlCol="false" tIns="0" lIns="0" bIns="0" rIns="0"/>
            <a:lstStyle/>
            <a:p>
              <a:pPr algn="l">
                <a:lnSpc>
                  <a:spcPts val="2160"/>
                </a:lnSpc>
              </a:pPr>
              <a:r>
                <a:rPr lang="en-US" sz="1800" b="true">
                  <a:solidFill>
                    <a:srgbClr val="F9FBFC"/>
                  </a:solidFill>
                  <a:latin typeface="Calibri (MS) Bold"/>
                  <a:ea typeface="Calibri (MS) Bold"/>
                  <a:cs typeface="Calibri (MS) Bold"/>
                  <a:sym typeface="Calibri (MS) Bold"/>
                </a:rPr>
                <a:t>RF-02</a:t>
              </a:r>
            </a:p>
          </p:txBody>
        </p:sp>
      </p:grpSp>
      <p:grpSp>
        <p:nvGrpSpPr>
          <p:cNvPr name="Group 31" id="31"/>
          <p:cNvGrpSpPr/>
          <p:nvPr/>
        </p:nvGrpSpPr>
        <p:grpSpPr>
          <a:xfrm rot="0">
            <a:off x="2331720" y="3415284"/>
            <a:ext cx="6377940" cy="822960"/>
            <a:chOff x="0" y="0"/>
            <a:chExt cx="8503920" cy="1097280"/>
          </a:xfrm>
        </p:grpSpPr>
        <p:sp>
          <p:nvSpPr>
            <p:cNvPr name="Freeform 32" id="32"/>
            <p:cNvSpPr/>
            <p:nvPr/>
          </p:nvSpPr>
          <p:spPr>
            <a:xfrm flipH="false" flipV="false" rot="0">
              <a:off x="0" y="0"/>
              <a:ext cx="8503920" cy="1097280"/>
            </a:xfrm>
            <a:custGeom>
              <a:avLst/>
              <a:gdLst/>
              <a:ahLst/>
              <a:cxnLst/>
              <a:rect r="r" b="b" t="t" l="l"/>
              <a:pathLst>
                <a:path h="1097280" w="8503920">
                  <a:moveTo>
                    <a:pt x="0" y="0"/>
                  </a:moveTo>
                  <a:lnTo>
                    <a:pt x="8503920" y="0"/>
                  </a:lnTo>
                  <a:lnTo>
                    <a:pt x="8503920" y="1097280"/>
                  </a:lnTo>
                  <a:lnTo>
                    <a:pt x="0" y="1097280"/>
                  </a:lnTo>
                  <a:close/>
                </a:path>
              </a:pathLst>
            </a:custGeom>
            <a:blipFill>
              <a:blip r:embed="rId2">
                <a:alphaModFix amt="0"/>
              </a:blip>
              <a:stretch>
                <a:fillRect l="0" t="-100903" r="0" b="-100903"/>
              </a:stretch>
            </a:blipFill>
          </p:spPr>
        </p:sp>
      </p:grpSp>
      <p:grpSp>
        <p:nvGrpSpPr>
          <p:cNvPr name="Group 33" id="33"/>
          <p:cNvGrpSpPr/>
          <p:nvPr/>
        </p:nvGrpSpPr>
        <p:grpSpPr>
          <a:xfrm rot="0">
            <a:off x="2331720" y="3393853"/>
            <a:ext cx="6377940" cy="844391"/>
            <a:chOff x="0" y="0"/>
            <a:chExt cx="8503920" cy="1125855"/>
          </a:xfrm>
        </p:grpSpPr>
        <p:sp>
          <p:nvSpPr>
            <p:cNvPr name="Freeform 34" id="34"/>
            <p:cNvSpPr/>
            <p:nvPr/>
          </p:nvSpPr>
          <p:spPr>
            <a:xfrm flipH="false" flipV="false" rot="0">
              <a:off x="0" y="0"/>
              <a:ext cx="8503920" cy="1125855"/>
            </a:xfrm>
            <a:custGeom>
              <a:avLst/>
              <a:gdLst/>
              <a:ahLst/>
              <a:cxnLst/>
              <a:rect r="r" b="b" t="t" l="l"/>
              <a:pathLst>
                <a:path h="1125855" w="8503920">
                  <a:moveTo>
                    <a:pt x="0" y="0"/>
                  </a:moveTo>
                  <a:lnTo>
                    <a:pt x="8503920" y="0"/>
                  </a:lnTo>
                  <a:lnTo>
                    <a:pt x="8503920" y="1125855"/>
                  </a:lnTo>
                  <a:lnTo>
                    <a:pt x="0" y="1125855"/>
                  </a:lnTo>
                  <a:close/>
                </a:path>
              </a:pathLst>
            </a:custGeom>
            <a:blipFill>
              <a:blip r:embed="rId3">
                <a:alphaModFix amt="0"/>
              </a:blip>
              <a:stretch>
                <a:fillRect l="0" t="-97176" r="0" b="-97176"/>
              </a:stretch>
            </a:blipFill>
          </p:spPr>
        </p:sp>
        <p:sp>
          <p:nvSpPr>
            <p:cNvPr name="TextBox 35" id="35"/>
            <p:cNvSpPr txBox="true"/>
            <p:nvPr/>
          </p:nvSpPr>
          <p:spPr>
            <a:xfrm>
              <a:off x="0" y="-28575"/>
              <a:ext cx="8503920" cy="1154430"/>
            </a:xfrm>
            <a:prstGeom prst="rect">
              <a:avLst/>
            </a:prstGeom>
          </p:spPr>
          <p:txBody>
            <a:bodyPr anchor="ctr" rtlCol="false" tIns="0" lIns="0" bIns="0" rIns="0"/>
            <a:lstStyle/>
            <a:p>
              <a:pPr algn="l">
                <a:lnSpc>
                  <a:spcPts val="1980"/>
                </a:lnSpc>
              </a:pPr>
              <a:r>
                <a:rPr lang="en-US" sz="1650">
                  <a:solidFill>
                    <a:srgbClr val="F9FBFC"/>
                  </a:solidFill>
                  <a:latin typeface="Calibri (MS)"/>
                  <a:ea typeface="Calibri (MS)"/>
                  <a:cs typeface="Calibri (MS)"/>
                  <a:sym typeface="Calibri (MS)"/>
                </a:rPr>
                <a:t>Calcular distancia a puntos de interés cercanos (colegios, parques, transporte).</a:t>
              </a:r>
            </a:p>
          </p:txBody>
        </p:sp>
      </p:grpSp>
      <p:grpSp>
        <p:nvGrpSpPr>
          <p:cNvPr name="Group 36" id="36"/>
          <p:cNvGrpSpPr/>
          <p:nvPr/>
        </p:nvGrpSpPr>
        <p:grpSpPr>
          <a:xfrm rot="0">
            <a:off x="822960" y="4402836"/>
            <a:ext cx="8161020" cy="987552"/>
            <a:chOff x="0" y="0"/>
            <a:chExt cx="10881360" cy="1316736"/>
          </a:xfrm>
        </p:grpSpPr>
        <p:sp>
          <p:nvSpPr>
            <p:cNvPr name="Freeform 37" id="37"/>
            <p:cNvSpPr/>
            <p:nvPr/>
          </p:nvSpPr>
          <p:spPr>
            <a:xfrm flipH="false" flipV="false" rot="0">
              <a:off x="0" y="0"/>
              <a:ext cx="10881360" cy="1316736"/>
            </a:xfrm>
            <a:custGeom>
              <a:avLst/>
              <a:gdLst/>
              <a:ahLst/>
              <a:cxnLst/>
              <a:rect r="r" b="b" t="t" l="l"/>
              <a:pathLst>
                <a:path h="1316736" w="10881360">
                  <a:moveTo>
                    <a:pt x="0" y="182880"/>
                  </a:moveTo>
                  <a:cubicBezTo>
                    <a:pt x="0" y="81915"/>
                    <a:pt x="81915" y="0"/>
                    <a:pt x="182880" y="0"/>
                  </a:cubicBezTo>
                  <a:lnTo>
                    <a:pt x="10698480" y="0"/>
                  </a:lnTo>
                  <a:cubicBezTo>
                    <a:pt x="10799445" y="0"/>
                    <a:pt x="10881360" y="81915"/>
                    <a:pt x="10881360" y="182880"/>
                  </a:cubicBezTo>
                  <a:lnTo>
                    <a:pt x="10881360" y="1133856"/>
                  </a:lnTo>
                  <a:cubicBezTo>
                    <a:pt x="10881360" y="1234821"/>
                    <a:pt x="10799445" y="1316736"/>
                    <a:pt x="10698480" y="1316736"/>
                  </a:cubicBezTo>
                  <a:lnTo>
                    <a:pt x="182880" y="1316736"/>
                  </a:lnTo>
                  <a:cubicBezTo>
                    <a:pt x="81915" y="1316736"/>
                    <a:pt x="0" y="1234821"/>
                    <a:pt x="0" y="1133856"/>
                  </a:cubicBezTo>
                  <a:close/>
                </a:path>
              </a:pathLst>
            </a:custGeom>
            <a:solidFill>
              <a:srgbClr val="9495A2"/>
            </a:solidFill>
          </p:spPr>
        </p:sp>
      </p:grpSp>
      <p:grpSp>
        <p:nvGrpSpPr>
          <p:cNvPr name="Group 38" id="38"/>
          <p:cNvGrpSpPr/>
          <p:nvPr/>
        </p:nvGrpSpPr>
        <p:grpSpPr>
          <a:xfrm rot="0">
            <a:off x="1028700" y="4512564"/>
            <a:ext cx="1234440" cy="768096"/>
            <a:chOff x="0" y="0"/>
            <a:chExt cx="1645920" cy="1024128"/>
          </a:xfrm>
        </p:grpSpPr>
        <p:sp>
          <p:nvSpPr>
            <p:cNvPr name="Freeform 39" id="39"/>
            <p:cNvSpPr/>
            <p:nvPr/>
          </p:nvSpPr>
          <p:spPr>
            <a:xfrm flipH="false" flipV="false" rot="0">
              <a:off x="0" y="0"/>
              <a:ext cx="1645920" cy="1024128"/>
            </a:xfrm>
            <a:custGeom>
              <a:avLst/>
              <a:gdLst/>
              <a:ahLst/>
              <a:cxnLst/>
              <a:rect r="r" b="b" t="t" l="l"/>
              <a:pathLst>
                <a:path h="1024128" w="1645920">
                  <a:moveTo>
                    <a:pt x="0" y="0"/>
                  </a:moveTo>
                  <a:lnTo>
                    <a:pt x="1645920" y="0"/>
                  </a:lnTo>
                  <a:lnTo>
                    <a:pt x="1645920" y="1024128"/>
                  </a:lnTo>
                  <a:lnTo>
                    <a:pt x="0" y="1024128"/>
                  </a:lnTo>
                  <a:close/>
                </a:path>
              </a:pathLst>
            </a:custGeom>
            <a:blipFill>
              <a:blip r:embed="rId2">
                <a:alphaModFix amt="0"/>
              </a:blip>
              <a:stretch>
                <a:fillRect l="-29888" t="0" r="-29888" b="0"/>
              </a:stretch>
            </a:blipFill>
          </p:spPr>
        </p:sp>
      </p:grpSp>
      <p:grpSp>
        <p:nvGrpSpPr>
          <p:cNvPr name="Group 40" id="40"/>
          <p:cNvGrpSpPr/>
          <p:nvPr/>
        </p:nvGrpSpPr>
        <p:grpSpPr>
          <a:xfrm rot="0">
            <a:off x="1028700" y="4483989"/>
            <a:ext cx="1234440" cy="796671"/>
            <a:chOff x="0" y="0"/>
            <a:chExt cx="1645920" cy="1062228"/>
          </a:xfrm>
        </p:grpSpPr>
        <p:sp>
          <p:nvSpPr>
            <p:cNvPr name="Freeform 41" id="41"/>
            <p:cNvSpPr/>
            <p:nvPr/>
          </p:nvSpPr>
          <p:spPr>
            <a:xfrm flipH="false" flipV="false" rot="0">
              <a:off x="0" y="0"/>
              <a:ext cx="1645920" cy="1062228"/>
            </a:xfrm>
            <a:custGeom>
              <a:avLst/>
              <a:gdLst/>
              <a:ahLst/>
              <a:cxnLst/>
              <a:rect r="r" b="b" t="t" l="l"/>
              <a:pathLst>
                <a:path h="1062228" w="1645920">
                  <a:moveTo>
                    <a:pt x="0" y="0"/>
                  </a:moveTo>
                  <a:lnTo>
                    <a:pt x="1645920" y="0"/>
                  </a:lnTo>
                  <a:lnTo>
                    <a:pt x="1645920" y="1062228"/>
                  </a:lnTo>
                  <a:lnTo>
                    <a:pt x="0" y="1062228"/>
                  </a:lnTo>
                  <a:close/>
                </a:path>
              </a:pathLst>
            </a:custGeom>
            <a:blipFill>
              <a:blip r:embed="rId3">
                <a:alphaModFix amt="0"/>
              </a:blip>
              <a:stretch>
                <a:fillRect l="-32803" t="0" r="-32803" b="0"/>
              </a:stretch>
            </a:blipFill>
          </p:spPr>
        </p:sp>
        <p:sp>
          <p:nvSpPr>
            <p:cNvPr name="TextBox 42" id="42"/>
            <p:cNvSpPr txBox="true"/>
            <p:nvPr/>
          </p:nvSpPr>
          <p:spPr>
            <a:xfrm>
              <a:off x="0" y="-38100"/>
              <a:ext cx="1645920" cy="1100328"/>
            </a:xfrm>
            <a:prstGeom prst="rect">
              <a:avLst/>
            </a:prstGeom>
          </p:spPr>
          <p:txBody>
            <a:bodyPr anchor="ctr" rtlCol="false" tIns="0" lIns="0" bIns="0" rIns="0"/>
            <a:lstStyle/>
            <a:p>
              <a:pPr algn="l">
                <a:lnSpc>
                  <a:spcPts val="2160"/>
                </a:lnSpc>
              </a:pPr>
              <a:r>
                <a:rPr lang="en-US" sz="1800" b="true">
                  <a:solidFill>
                    <a:srgbClr val="F9FBFC"/>
                  </a:solidFill>
                  <a:latin typeface="Calibri (MS) Bold"/>
                  <a:ea typeface="Calibri (MS) Bold"/>
                  <a:cs typeface="Calibri (MS) Bold"/>
                  <a:sym typeface="Calibri (MS) Bold"/>
                </a:rPr>
                <a:t>RF-03</a:t>
              </a:r>
            </a:p>
          </p:txBody>
        </p:sp>
      </p:grpSp>
      <p:grpSp>
        <p:nvGrpSpPr>
          <p:cNvPr name="Group 43" id="43"/>
          <p:cNvGrpSpPr/>
          <p:nvPr/>
        </p:nvGrpSpPr>
        <p:grpSpPr>
          <a:xfrm rot="0">
            <a:off x="2331720" y="4485132"/>
            <a:ext cx="6377940" cy="822960"/>
            <a:chOff x="0" y="0"/>
            <a:chExt cx="8503920" cy="1097280"/>
          </a:xfrm>
        </p:grpSpPr>
        <p:sp>
          <p:nvSpPr>
            <p:cNvPr name="Freeform 44" id="44"/>
            <p:cNvSpPr/>
            <p:nvPr/>
          </p:nvSpPr>
          <p:spPr>
            <a:xfrm flipH="false" flipV="false" rot="0">
              <a:off x="0" y="0"/>
              <a:ext cx="8503920" cy="1097280"/>
            </a:xfrm>
            <a:custGeom>
              <a:avLst/>
              <a:gdLst/>
              <a:ahLst/>
              <a:cxnLst/>
              <a:rect r="r" b="b" t="t" l="l"/>
              <a:pathLst>
                <a:path h="1097280" w="8503920">
                  <a:moveTo>
                    <a:pt x="0" y="0"/>
                  </a:moveTo>
                  <a:lnTo>
                    <a:pt x="8503920" y="0"/>
                  </a:lnTo>
                  <a:lnTo>
                    <a:pt x="8503920" y="1097280"/>
                  </a:lnTo>
                  <a:lnTo>
                    <a:pt x="0" y="1097280"/>
                  </a:lnTo>
                  <a:close/>
                </a:path>
              </a:pathLst>
            </a:custGeom>
            <a:blipFill>
              <a:blip r:embed="rId2">
                <a:alphaModFix amt="0"/>
              </a:blip>
              <a:stretch>
                <a:fillRect l="0" t="-100903" r="0" b="-100903"/>
              </a:stretch>
            </a:blipFill>
          </p:spPr>
        </p:sp>
      </p:grpSp>
      <p:grpSp>
        <p:nvGrpSpPr>
          <p:cNvPr name="Group 45" id="45"/>
          <p:cNvGrpSpPr/>
          <p:nvPr/>
        </p:nvGrpSpPr>
        <p:grpSpPr>
          <a:xfrm rot="0">
            <a:off x="2331720" y="4463701"/>
            <a:ext cx="6377940" cy="844391"/>
            <a:chOff x="0" y="0"/>
            <a:chExt cx="8503920" cy="1125855"/>
          </a:xfrm>
        </p:grpSpPr>
        <p:sp>
          <p:nvSpPr>
            <p:cNvPr name="Freeform 46" id="46"/>
            <p:cNvSpPr/>
            <p:nvPr/>
          </p:nvSpPr>
          <p:spPr>
            <a:xfrm flipH="false" flipV="false" rot="0">
              <a:off x="0" y="0"/>
              <a:ext cx="8503920" cy="1125855"/>
            </a:xfrm>
            <a:custGeom>
              <a:avLst/>
              <a:gdLst/>
              <a:ahLst/>
              <a:cxnLst/>
              <a:rect r="r" b="b" t="t" l="l"/>
              <a:pathLst>
                <a:path h="1125855" w="8503920">
                  <a:moveTo>
                    <a:pt x="0" y="0"/>
                  </a:moveTo>
                  <a:lnTo>
                    <a:pt x="8503920" y="0"/>
                  </a:lnTo>
                  <a:lnTo>
                    <a:pt x="8503920" y="1125855"/>
                  </a:lnTo>
                  <a:lnTo>
                    <a:pt x="0" y="1125855"/>
                  </a:lnTo>
                  <a:close/>
                </a:path>
              </a:pathLst>
            </a:custGeom>
            <a:blipFill>
              <a:blip r:embed="rId3">
                <a:alphaModFix amt="0"/>
              </a:blip>
              <a:stretch>
                <a:fillRect l="0" t="-97176" r="0" b="-97176"/>
              </a:stretch>
            </a:blipFill>
          </p:spPr>
        </p:sp>
        <p:sp>
          <p:nvSpPr>
            <p:cNvPr name="TextBox 47" id="47"/>
            <p:cNvSpPr txBox="true"/>
            <p:nvPr/>
          </p:nvSpPr>
          <p:spPr>
            <a:xfrm>
              <a:off x="0" y="-28575"/>
              <a:ext cx="8503920" cy="1154430"/>
            </a:xfrm>
            <a:prstGeom prst="rect">
              <a:avLst/>
            </a:prstGeom>
          </p:spPr>
          <p:txBody>
            <a:bodyPr anchor="ctr" rtlCol="false" tIns="0" lIns="0" bIns="0" rIns="0"/>
            <a:lstStyle/>
            <a:p>
              <a:pPr algn="l">
                <a:lnSpc>
                  <a:spcPts val="1980"/>
                </a:lnSpc>
              </a:pPr>
              <a:r>
                <a:rPr lang="en-US" sz="1650">
                  <a:solidFill>
                    <a:srgbClr val="F9FBFC"/>
                  </a:solidFill>
                  <a:latin typeface="Calibri (MS)"/>
                  <a:ea typeface="Calibri (MS)"/>
                  <a:cs typeface="Calibri (MS)"/>
                  <a:sym typeface="Calibri (MS)"/>
                </a:rPr>
                <a:t>Generar predicted_price_soles mediante un modelo de valoración.</a:t>
              </a:r>
            </a:p>
          </p:txBody>
        </p:sp>
      </p:grpSp>
      <p:grpSp>
        <p:nvGrpSpPr>
          <p:cNvPr name="Group 48" id="48"/>
          <p:cNvGrpSpPr/>
          <p:nvPr/>
        </p:nvGrpSpPr>
        <p:grpSpPr>
          <a:xfrm rot="0">
            <a:off x="822960" y="5472684"/>
            <a:ext cx="8161020" cy="987552"/>
            <a:chOff x="0" y="0"/>
            <a:chExt cx="10881360" cy="1316736"/>
          </a:xfrm>
        </p:grpSpPr>
        <p:sp>
          <p:nvSpPr>
            <p:cNvPr name="Freeform 49" id="49"/>
            <p:cNvSpPr/>
            <p:nvPr/>
          </p:nvSpPr>
          <p:spPr>
            <a:xfrm flipH="false" flipV="false" rot="0">
              <a:off x="0" y="0"/>
              <a:ext cx="10881360" cy="1316736"/>
            </a:xfrm>
            <a:custGeom>
              <a:avLst/>
              <a:gdLst/>
              <a:ahLst/>
              <a:cxnLst/>
              <a:rect r="r" b="b" t="t" l="l"/>
              <a:pathLst>
                <a:path h="1316736" w="10881360">
                  <a:moveTo>
                    <a:pt x="0" y="182880"/>
                  </a:moveTo>
                  <a:cubicBezTo>
                    <a:pt x="0" y="81915"/>
                    <a:pt x="81915" y="0"/>
                    <a:pt x="182880" y="0"/>
                  </a:cubicBezTo>
                  <a:lnTo>
                    <a:pt x="10698480" y="0"/>
                  </a:lnTo>
                  <a:cubicBezTo>
                    <a:pt x="10799445" y="0"/>
                    <a:pt x="10881360" y="81915"/>
                    <a:pt x="10881360" y="182880"/>
                  </a:cubicBezTo>
                  <a:lnTo>
                    <a:pt x="10881360" y="1133856"/>
                  </a:lnTo>
                  <a:cubicBezTo>
                    <a:pt x="10881360" y="1234821"/>
                    <a:pt x="10799445" y="1316736"/>
                    <a:pt x="10698480" y="1316736"/>
                  </a:cubicBezTo>
                  <a:lnTo>
                    <a:pt x="182880" y="1316736"/>
                  </a:lnTo>
                  <a:cubicBezTo>
                    <a:pt x="81915" y="1316736"/>
                    <a:pt x="0" y="1234821"/>
                    <a:pt x="0" y="1133856"/>
                  </a:cubicBezTo>
                  <a:close/>
                </a:path>
              </a:pathLst>
            </a:custGeom>
            <a:solidFill>
              <a:srgbClr val="9495A2"/>
            </a:solidFill>
          </p:spPr>
        </p:sp>
      </p:grpSp>
      <p:grpSp>
        <p:nvGrpSpPr>
          <p:cNvPr name="Group 50" id="50"/>
          <p:cNvGrpSpPr/>
          <p:nvPr/>
        </p:nvGrpSpPr>
        <p:grpSpPr>
          <a:xfrm rot="0">
            <a:off x="1028700" y="5582412"/>
            <a:ext cx="1234440" cy="768096"/>
            <a:chOff x="0" y="0"/>
            <a:chExt cx="1645920" cy="1024128"/>
          </a:xfrm>
        </p:grpSpPr>
        <p:sp>
          <p:nvSpPr>
            <p:cNvPr name="Freeform 51" id="51"/>
            <p:cNvSpPr/>
            <p:nvPr/>
          </p:nvSpPr>
          <p:spPr>
            <a:xfrm flipH="false" flipV="false" rot="0">
              <a:off x="0" y="0"/>
              <a:ext cx="1645920" cy="1024128"/>
            </a:xfrm>
            <a:custGeom>
              <a:avLst/>
              <a:gdLst/>
              <a:ahLst/>
              <a:cxnLst/>
              <a:rect r="r" b="b" t="t" l="l"/>
              <a:pathLst>
                <a:path h="1024128" w="1645920">
                  <a:moveTo>
                    <a:pt x="0" y="0"/>
                  </a:moveTo>
                  <a:lnTo>
                    <a:pt x="1645920" y="0"/>
                  </a:lnTo>
                  <a:lnTo>
                    <a:pt x="1645920" y="1024128"/>
                  </a:lnTo>
                  <a:lnTo>
                    <a:pt x="0" y="1024128"/>
                  </a:lnTo>
                  <a:close/>
                </a:path>
              </a:pathLst>
            </a:custGeom>
            <a:blipFill>
              <a:blip r:embed="rId2">
                <a:alphaModFix amt="0"/>
              </a:blip>
              <a:stretch>
                <a:fillRect l="-29888" t="0" r="-29888" b="0"/>
              </a:stretch>
            </a:blipFill>
          </p:spPr>
        </p:sp>
      </p:grpSp>
      <p:grpSp>
        <p:nvGrpSpPr>
          <p:cNvPr name="Group 52" id="52"/>
          <p:cNvGrpSpPr/>
          <p:nvPr/>
        </p:nvGrpSpPr>
        <p:grpSpPr>
          <a:xfrm rot="0">
            <a:off x="1028700" y="5553837"/>
            <a:ext cx="1234440" cy="796671"/>
            <a:chOff x="0" y="0"/>
            <a:chExt cx="1645920" cy="1062228"/>
          </a:xfrm>
        </p:grpSpPr>
        <p:sp>
          <p:nvSpPr>
            <p:cNvPr name="Freeform 53" id="53"/>
            <p:cNvSpPr/>
            <p:nvPr/>
          </p:nvSpPr>
          <p:spPr>
            <a:xfrm flipH="false" flipV="false" rot="0">
              <a:off x="0" y="0"/>
              <a:ext cx="1645920" cy="1062228"/>
            </a:xfrm>
            <a:custGeom>
              <a:avLst/>
              <a:gdLst/>
              <a:ahLst/>
              <a:cxnLst/>
              <a:rect r="r" b="b" t="t" l="l"/>
              <a:pathLst>
                <a:path h="1062228" w="1645920">
                  <a:moveTo>
                    <a:pt x="0" y="0"/>
                  </a:moveTo>
                  <a:lnTo>
                    <a:pt x="1645920" y="0"/>
                  </a:lnTo>
                  <a:lnTo>
                    <a:pt x="1645920" y="1062228"/>
                  </a:lnTo>
                  <a:lnTo>
                    <a:pt x="0" y="1062228"/>
                  </a:lnTo>
                  <a:close/>
                </a:path>
              </a:pathLst>
            </a:custGeom>
            <a:blipFill>
              <a:blip r:embed="rId3">
                <a:alphaModFix amt="0"/>
              </a:blip>
              <a:stretch>
                <a:fillRect l="-32803" t="0" r="-32803" b="0"/>
              </a:stretch>
            </a:blipFill>
          </p:spPr>
        </p:sp>
        <p:sp>
          <p:nvSpPr>
            <p:cNvPr name="TextBox 54" id="54"/>
            <p:cNvSpPr txBox="true"/>
            <p:nvPr/>
          </p:nvSpPr>
          <p:spPr>
            <a:xfrm>
              <a:off x="0" y="-38100"/>
              <a:ext cx="1645920" cy="1100328"/>
            </a:xfrm>
            <a:prstGeom prst="rect">
              <a:avLst/>
            </a:prstGeom>
          </p:spPr>
          <p:txBody>
            <a:bodyPr anchor="ctr" rtlCol="false" tIns="0" lIns="0" bIns="0" rIns="0"/>
            <a:lstStyle/>
            <a:p>
              <a:pPr algn="l">
                <a:lnSpc>
                  <a:spcPts val="2160"/>
                </a:lnSpc>
              </a:pPr>
              <a:r>
                <a:rPr lang="en-US" sz="1800" b="true">
                  <a:solidFill>
                    <a:srgbClr val="F9FBFC"/>
                  </a:solidFill>
                  <a:latin typeface="Calibri (MS) Bold"/>
                  <a:ea typeface="Calibri (MS) Bold"/>
                  <a:cs typeface="Calibri (MS) Bold"/>
                  <a:sym typeface="Calibri (MS) Bold"/>
                </a:rPr>
                <a:t>RF-04</a:t>
              </a:r>
            </a:p>
          </p:txBody>
        </p:sp>
      </p:grpSp>
      <p:grpSp>
        <p:nvGrpSpPr>
          <p:cNvPr name="Group 55" id="55"/>
          <p:cNvGrpSpPr/>
          <p:nvPr/>
        </p:nvGrpSpPr>
        <p:grpSpPr>
          <a:xfrm rot="0">
            <a:off x="2331720" y="5554980"/>
            <a:ext cx="6377940" cy="822960"/>
            <a:chOff x="0" y="0"/>
            <a:chExt cx="8503920" cy="1097280"/>
          </a:xfrm>
        </p:grpSpPr>
        <p:sp>
          <p:nvSpPr>
            <p:cNvPr name="Freeform 56" id="56"/>
            <p:cNvSpPr/>
            <p:nvPr/>
          </p:nvSpPr>
          <p:spPr>
            <a:xfrm flipH="false" flipV="false" rot="0">
              <a:off x="0" y="0"/>
              <a:ext cx="8503920" cy="1097280"/>
            </a:xfrm>
            <a:custGeom>
              <a:avLst/>
              <a:gdLst/>
              <a:ahLst/>
              <a:cxnLst/>
              <a:rect r="r" b="b" t="t" l="l"/>
              <a:pathLst>
                <a:path h="1097280" w="8503920">
                  <a:moveTo>
                    <a:pt x="0" y="0"/>
                  </a:moveTo>
                  <a:lnTo>
                    <a:pt x="8503920" y="0"/>
                  </a:lnTo>
                  <a:lnTo>
                    <a:pt x="8503920" y="1097280"/>
                  </a:lnTo>
                  <a:lnTo>
                    <a:pt x="0" y="1097280"/>
                  </a:lnTo>
                  <a:close/>
                </a:path>
              </a:pathLst>
            </a:custGeom>
            <a:blipFill>
              <a:blip r:embed="rId2">
                <a:alphaModFix amt="0"/>
              </a:blip>
              <a:stretch>
                <a:fillRect l="0" t="-100903" r="0" b="-100903"/>
              </a:stretch>
            </a:blipFill>
          </p:spPr>
        </p:sp>
      </p:grpSp>
      <p:grpSp>
        <p:nvGrpSpPr>
          <p:cNvPr name="Group 57" id="57"/>
          <p:cNvGrpSpPr/>
          <p:nvPr/>
        </p:nvGrpSpPr>
        <p:grpSpPr>
          <a:xfrm rot="0">
            <a:off x="2331720" y="5533549"/>
            <a:ext cx="6377940" cy="844391"/>
            <a:chOff x="0" y="0"/>
            <a:chExt cx="8503920" cy="1125855"/>
          </a:xfrm>
        </p:grpSpPr>
        <p:sp>
          <p:nvSpPr>
            <p:cNvPr name="Freeform 58" id="58"/>
            <p:cNvSpPr/>
            <p:nvPr/>
          </p:nvSpPr>
          <p:spPr>
            <a:xfrm flipH="false" flipV="false" rot="0">
              <a:off x="0" y="0"/>
              <a:ext cx="8503920" cy="1125855"/>
            </a:xfrm>
            <a:custGeom>
              <a:avLst/>
              <a:gdLst/>
              <a:ahLst/>
              <a:cxnLst/>
              <a:rect r="r" b="b" t="t" l="l"/>
              <a:pathLst>
                <a:path h="1125855" w="8503920">
                  <a:moveTo>
                    <a:pt x="0" y="0"/>
                  </a:moveTo>
                  <a:lnTo>
                    <a:pt x="8503920" y="0"/>
                  </a:lnTo>
                  <a:lnTo>
                    <a:pt x="8503920" y="1125855"/>
                  </a:lnTo>
                  <a:lnTo>
                    <a:pt x="0" y="1125855"/>
                  </a:lnTo>
                  <a:close/>
                </a:path>
              </a:pathLst>
            </a:custGeom>
            <a:blipFill>
              <a:blip r:embed="rId3">
                <a:alphaModFix amt="0"/>
              </a:blip>
              <a:stretch>
                <a:fillRect l="0" t="-97176" r="0" b="-97176"/>
              </a:stretch>
            </a:blipFill>
          </p:spPr>
        </p:sp>
        <p:sp>
          <p:nvSpPr>
            <p:cNvPr name="TextBox 59" id="59"/>
            <p:cNvSpPr txBox="true"/>
            <p:nvPr/>
          </p:nvSpPr>
          <p:spPr>
            <a:xfrm>
              <a:off x="0" y="-28575"/>
              <a:ext cx="8503920" cy="1154430"/>
            </a:xfrm>
            <a:prstGeom prst="rect">
              <a:avLst/>
            </a:prstGeom>
          </p:spPr>
          <p:txBody>
            <a:bodyPr anchor="ctr" rtlCol="false" tIns="0" lIns="0" bIns="0" rIns="0"/>
            <a:lstStyle/>
            <a:p>
              <a:pPr algn="l">
                <a:lnSpc>
                  <a:spcPts val="1980"/>
                </a:lnSpc>
              </a:pPr>
              <a:r>
                <a:rPr lang="en-US" sz="1650">
                  <a:solidFill>
                    <a:srgbClr val="F9FBFC"/>
                  </a:solidFill>
                  <a:latin typeface="Calibri (MS)"/>
                  <a:ea typeface="Calibri (MS)"/>
                  <a:cs typeface="Calibri (MS)"/>
                  <a:sym typeface="Calibri (MS)"/>
                </a:rPr>
                <a:t>Calcular opportunity_score (precio publicado vs. estimado).</a:t>
              </a:r>
            </a:p>
          </p:txBody>
        </p:sp>
      </p:grpSp>
      <p:grpSp>
        <p:nvGrpSpPr>
          <p:cNvPr name="Group 60" id="60"/>
          <p:cNvGrpSpPr/>
          <p:nvPr/>
        </p:nvGrpSpPr>
        <p:grpSpPr>
          <a:xfrm rot="0">
            <a:off x="822960" y="6542532"/>
            <a:ext cx="8161020" cy="987552"/>
            <a:chOff x="0" y="0"/>
            <a:chExt cx="10881360" cy="1316736"/>
          </a:xfrm>
        </p:grpSpPr>
        <p:sp>
          <p:nvSpPr>
            <p:cNvPr name="Freeform 61" id="61"/>
            <p:cNvSpPr/>
            <p:nvPr/>
          </p:nvSpPr>
          <p:spPr>
            <a:xfrm flipH="false" flipV="false" rot="0">
              <a:off x="0" y="0"/>
              <a:ext cx="10881360" cy="1316736"/>
            </a:xfrm>
            <a:custGeom>
              <a:avLst/>
              <a:gdLst/>
              <a:ahLst/>
              <a:cxnLst/>
              <a:rect r="r" b="b" t="t" l="l"/>
              <a:pathLst>
                <a:path h="1316736" w="10881360">
                  <a:moveTo>
                    <a:pt x="0" y="182880"/>
                  </a:moveTo>
                  <a:cubicBezTo>
                    <a:pt x="0" y="81915"/>
                    <a:pt x="81915" y="0"/>
                    <a:pt x="182880" y="0"/>
                  </a:cubicBezTo>
                  <a:lnTo>
                    <a:pt x="10698480" y="0"/>
                  </a:lnTo>
                  <a:cubicBezTo>
                    <a:pt x="10799445" y="0"/>
                    <a:pt x="10881360" y="81915"/>
                    <a:pt x="10881360" y="182880"/>
                  </a:cubicBezTo>
                  <a:lnTo>
                    <a:pt x="10881360" y="1133856"/>
                  </a:lnTo>
                  <a:cubicBezTo>
                    <a:pt x="10881360" y="1234821"/>
                    <a:pt x="10799445" y="1316736"/>
                    <a:pt x="10698480" y="1316736"/>
                  </a:cubicBezTo>
                  <a:lnTo>
                    <a:pt x="182880" y="1316736"/>
                  </a:lnTo>
                  <a:cubicBezTo>
                    <a:pt x="81915" y="1316736"/>
                    <a:pt x="0" y="1234821"/>
                    <a:pt x="0" y="1133856"/>
                  </a:cubicBezTo>
                  <a:close/>
                </a:path>
              </a:pathLst>
            </a:custGeom>
            <a:solidFill>
              <a:srgbClr val="9495A2"/>
            </a:solidFill>
          </p:spPr>
        </p:sp>
      </p:grpSp>
      <p:grpSp>
        <p:nvGrpSpPr>
          <p:cNvPr name="Group 62" id="62"/>
          <p:cNvGrpSpPr/>
          <p:nvPr/>
        </p:nvGrpSpPr>
        <p:grpSpPr>
          <a:xfrm rot="0">
            <a:off x="1028700" y="6652260"/>
            <a:ext cx="1234440" cy="768096"/>
            <a:chOff x="0" y="0"/>
            <a:chExt cx="1645920" cy="1024128"/>
          </a:xfrm>
        </p:grpSpPr>
        <p:sp>
          <p:nvSpPr>
            <p:cNvPr name="Freeform 63" id="63"/>
            <p:cNvSpPr/>
            <p:nvPr/>
          </p:nvSpPr>
          <p:spPr>
            <a:xfrm flipH="false" flipV="false" rot="0">
              <a:off x="0" y="0"/>
              <a:ext cx="1645920" cy="1024128"/>
            </a:xfrm>
            <a:custGeom>
              <a:avLst/>
              <a:gdLst/>
              <a:ahLst/>
              <a:cxnLst/>
              <a:rect r="r" b="b" t="t" l="l"/>
              <a:pathLst>
                <a:path h="1024128" w="1645920">
                  <a:moveTo>
                    <a:pt x="0" y="0"/>
                  </a:moveTo>
                  <a:lnTo>
                    <a:pt x="1645920" y="0"/>
                  </a:lnTo>
                  <a:lnTo>
                    <a:pt x="1645920" y="1024128"/>
                  </a:lnTo>
                  <a:lnTo>
                    <a:pt x="0" y="1024128"/>
                  </a:lnTo>
                  <a:close/>
                </a:path>
              </a:pathLst>
            </a:custGeom>
            <a:blipFill>
              <a:blip r:embed="rId2">
                <a:alphaModFix amt="0"/>
              </a:blip>
              <a:stretch>
                <a:fillRect l="-29888" t="0" r="-29888" b="0"/>
              </a:stretch>
            </a:blipFill>
          </p:spPr>
        </p:sp>
      </p:grpSp>
      <p:grpSp>
        <p:nvGrpSpPr>
          <p:cNvPr name="Group 64" id="64"/>
          <p:cNvGrpSpPr/>
          <p:nvPr/>
        </p:nvGrpSpPr>
        <p:grpSpPr>
          <a:xfrm rot="0">
            <a:off x="1028700" y="6623685"/>
            <a:ext cx="1234440" cy="796671"/>
            <a:chOff x="0" y="0"/>
            <a:chExt cx="1645920" cy="1062228"/>
          </a:xfrm>
        </p:grpSpPr>
        <p:sp>
          <p:nvSpPr>
            <p:cNvPr name="Freeform 65" id="65"/>
            <p:cNvSpPr/>
            <p:nvPr/>
          </p:nvSpPr>
          <p:spPr>
            <a:xfrm flipH="false" flipV="false" rot="0">
              <a:off x="0" y="0"/>
              <a:ext cx="1645920" cy="1062228"/>
            </a:xfrm>
            <a:custGeom>
              <a:avLst/>
              <a:gdLst/>
              <a:ahLst/>
              <a:cxnLst/>
              <a:rect r="r" b="b" t="t" l="l"/>
              <a:pathLst>
                <a:path h="1062228" w="1645920">
                  <a:moveTo>
                    <a:pt x="0" y="0"/>
                  </a:moveTo>
                  <a:lnTo>
                    <a:pt x="1645920" y="0"/>
                  </a:lnTo>
                  <a:lnTo>
                    <a:pt x="1645920" y="1062228"/>
                  </a:lnTo>
                  <a:lnTo>
                    <a:pt x="0" y="1062228"/>
                  </a:lnTo>
                  <a:close/>
                </a:path>
              </a:pathLst>
            </a:custGeom>
            <a:blipFill>
              <a:blip r:embed="rId3">
                <a:alphaModFix amt="0"/>
              </a:blip>
              <a:stretch>
                <a:fillRect l="-32803" t="0" r="-32803" b="0"/>
              </a:stretch>
            </a:blipFill>
          </p:spPr>
        </p:sp>
        <p:sp>
          <p:nvSpPr>
            <p:cNvPr name="TextBox 66" id="66"/>
            <p:cNvSpPr txBox="true"/>
            <p:nvPr/>
          </p:nvSpPr>
          <p:spPr>
            <a:xfrm>
              <a:off x="0" y="-38100"/>
              <a:ext cx="1645920" cy="1100328"/>
            </a:xfrm>
            <a:prstGeom prst="rect">
              <a:avLst/>
            </a:prstGeom>
          </p:spPr>
          <p:txBody>
            <a:bodyPr anchor="ctr" rtlCol="false" tIns="0" lIns="0" bIns="0" rIns="0"/>
            <a:lstStyle/>
            <a:p>
              <a:pPr algn="l">
                <a:lnSpc>
                  <a:spcPts val="2160"/>
                </a:lnSpc>
              </a:pPr>
              <a:r>
                <a:rPr lang="en-US" sz="1800" b="true">
                  <a:solidFill>
                    <a:srgbClr val="F9FBFC"/>
                  </a:solidFill>
                  <a:latin typeface="Calibri (MS) Bold"/>
                  <a:ea typeface="Calibri (MS) Bold"/>
                  <a:cs typeface="Calibri (MS) Bold"/>
                  <a:sym typeface="Calibri (MS) Bold"/>
                </a:rPr>
                <a:t>RF-05</a:t>
              </a:r>
            </a:p>
          </p:txBody>
        </p:sp>
      </p:grpSp>
      <p:grpSp>
        <p:nvGrpSpPr>
          <p:cNvPr name="Group 67" id="67"/>
          <p:cNvGrpSpPr/>
          <p:nvPr/>
        </p:nvGrpSpPr>
        <p:grpSpPr>
          <a:xfrm rot="0">
            <a:off x="2331720" y="6624828"/>
            <a:ext cx="6377940" cy="822960"/>
            <a:chOff x="0" y="0"/>
            <a:chExt cx="8503920" cy="1097280"/>
          </a:xfrm>
        </p:grpSpPr>
        <p:sp>
          <p:nvSpPr>
            <p:cNvPr name="Freeform 68" id="68"/>
            <p:cNvSpPr/>
            <p:nvPr/>
          </p:nvSpPr>
          <p:spPr>
            <a:xfrm flipH="false" flipV="false" rot="0">
              <a:off x="0" y="0"/>
              <a:ext cx="8503920" cy="1097280"/>
            </a:xfrm>
            <a:custGeom>
              <a:avLst/>
              <a:gdLst/>
              <a:ahLst/>
              <a:cxnLst/>
              <a:rect r="r" b="b" t="t" l="l"/>
              <a:pathLst>
                <a:path h="1097280" w="8503920">
                  <a:moveTo>
                    <a:pt x="0" y="0"/>
                  </a:moveTo>
                  <a:lnTo>
                    <a:pt x="8503920" y="0"/>
                  </a:lnTo>
                  <a:lnTo>
                    <a:pt x="8503920" y="1097280"/>
                  </a:lnTo>
                  <a:lnTo>
                    <a:pt x="0" y="1097280"/>
                  </a:lnTo>
                  <a:close/>
                </a:path>
              </a:pathLst>
            </a:custGeom>
            <a:blipFill>
              <a:blip r:embed="rId2">
                <a:alphaModFix amt="0"/>
              </a:blip>
              <a:stretch>
                <a:fillRect l="0" t="-100903" r="0" b="-100903"/>
              </a:stretch>
            </a:blipFill>
          </p:spPr>
        </p:sp>
      </p:grpSp>
      <p:grpSp>
        <p:nvGrpSpPr>
          <p:cNvPr name="Group 69" id="69"/>
          <p:cNvGrpSpPr/>
          <p:nvPr/>
        </p:nvGrpSpPr>
        <p:grpSpPr>
          <a:xfrm rot="0">
            <a:off x="2331720" y="6603397"/>
            <a:ext cx="6377940" cy="844391"/>
            <a:chOff x="0" y="0"/>
            <a:chExt cx="8503920" cy="1125855"/>
          </a:xfrm>
        </p:grpSpPr>
        <p:sp>
          <p:nvSpPr>
            <p:cNvPr name="Freeform 70" id="70"/>
            <p:cNvSpPr/>
            <p:nvPr/>
          </p:nvSpPr>
          <p:spPr>
            <a:xfrm flipH="false" flipV="false" rot="0">
              <a:off x="0" y="0"/>
              <a:ext cx="8503920" cy="1125855"/>
            </a:xfrm>
            <a:custGeom>
              <a:avLst/>
              <a:gdLst/>
              <a:ahLst/>
              <a:cxnLst/>
              <a:rect r="r" b="b" t="t" l="l"/>
              <a:pathLst>
                <a:path h="1125855" w="8503920">
                  <a:moveTo>
                    <a:pt x="0" y="0"/>
                  </a:moveTo>
                  <a:lnTo>
                    <a:pt x="8503920" y="0"/>
                  </a:lnTo>
                  <a:lnTo>
                    <a:pt x="8503920" y="1125855"/>
                  </a:lnTo>
                  <a:lnTo>
                    <a:pt x="0" y="1125855"/>
                  </a:lnTo>
                  <a:close/>
                </a:path>
              </a:pathLst>
            </a:custGeom>
            <a:blipFill>
              <a:blip r:embed="rId3">
                <a:alphaModFix amt="0"/>
              </a:blip>
              <a:stretch>
                <a:fillRect l="0" t="-97176" r="0" b="-97176"/>
              </a:stretch>
            </a:blipFill>
          </p:spPr>
        </p:sp>
        <p:sp>
          <p:nvSpPr>
            <p:cNvPr name="TextBox 71" id="71"/>
            <p:cNvSpPr txBox="true"/>
            <p:nvPr/>
          </p:nvSpPr>
          <p:spPr>
            <a:xfrm>
              <a:off x="0" y="-28575"/>
              <a:ext cx="8503920" cy="1154430"/>
            </a:xfrm>
            <a:prstGeom prst="rect">
              <a:avLst/>
            </a:prstGeom>
          </p:spPr>
          <p:txBody>
            <a:bodyPr anchor="ctr" rtlCol="false" tIns="0" lIns="0" bIns="0" rIns="0"/>
            <a:lstStyle/>
            <a:p>
              <a:pPr algn="l">
                <a:lnSpc>
                  <a:spcPts val="1980"/>
                </a:lnSpc>
              </a:pPr>
              <a:r>
                <a:rPr lang="en-US" sz="1650">
                  <a:solidFill>
                    <a:srgbClr val="F9FBFC"/>
                  </a:solidFill>
                  <a:latin typeface="Calibri (MS)"/>
                  <a:ea typeface="Calibri (MS)"/>
                  <a:cs typeface="Calibri (MS)"/>
                  <a:sym typeface="Calibri (MS)"/>
                </a:rPr>
                <a:t>Generar visual_quality_score con un modelo de visión por computadora.</a:t>
              </a:r>
            </a:p>
          </p:txBody>
        </p:sp>
      </p:grpSp>
      <p:grpSp>
        <p:nvGrpSpPr>
          <p:cNvPr name="Group 72" id="72"/>
          <p:cNvGrpSpPr/>
          <p:nvPr/>
        </p:nvGrpSpPr>
        <p:grpSpPr>
          <a:xfrm rot="0">
            <a:off x="822960" y="7612380"/>
            <a:ext cx="8161020" cy="987552"/>
            <a:chOff x="0" y="0"/>
            <a:chExt cx="10881360" cy="1316736"/>
          </a:xfrm>
        </p:grpSpPr>
        <p:sp>
          <p:nvSpPr>
            <p:cNvPr name="Freeform 73" id="73"/>
            <p:cNvSpPr/>
            <p:nvPr/>
          </p:nvSpPr>
          <p:spPr>
            <a:xfrm flipH="false" flipV="false" rot="0">
              <a:off x="0" y="0"/>
              <a:ext cx="10881360" cy="1316736"/>
            </a:xfrm>
            <a:custGeom>
              <a:avLst/>
              <a:gdLst/>
              <a:ahLst/>
              <a:cxnLst/>
              <a:rect r="r" b="b" t="t" l="l"/>
              <a:pathLst>
                <a:path h="1316736" w="10881360">
                  <a:moveTo>
                    <a:pt x="0" y="182880"/>
                  </a:moveTo>
                  <a:cubicBezTo>
                    <a:pt x="0" y="81915"/>
                    <a:pt x="81915" y="0"/>
                    <a:pt x="182880" y="0"/>
                  </a:cubicBezTo>
                  <a:lnTo>
                    <a:pt x="10698480" y="0"/>
                  </a:lnTo>
                  <a:cubicBezTo>
                    <a:pt x="10799445" y="0"/>
                    <a:pt x="10881360" y="81915"/>
                    <a:pt x="10881360" y="182880"/>
                  </a:cubicBezTo>
                  <a:lnTo>
                    <a:pt x="10881360" y="1133856"/>
                  </a:lnTo>
                  <a:cubicBezTo>
                    <a:pt x="10881360" y="1234821"/>
                    <a:pt x="10799445" y="1316736"/>
                    <a:pt x="10698480" y="1316736"/>
                  </a:cubicBezTo>
                  <a:lnTo>
                    <a:pt x="182880" y="1316736"/>
                  </a:lnTo>
                  <a:cubicBezTo>
                    <a:pt x="81915" y="1316736"/>
                    <a:pt x="0" y="1234821"/>
                    <a:pt x="0" y="1133856"/>
                  </a:cubicBezTo>
                  <a:close/>
                </a:path>
              </a:pathLst>
            </a:custGeom>
            <a:solidFill>
              <a:srgbClr val="9495A2"/>
            </a:solidFill>
          </p:spPr>
        </p:sp>
      </p:grpSp>
      <p:grpSp>
        <p:nvGrpSpPr>
          <p:cNvPr name="Group 74" id="74"/>
          <p:cNvGrpSpPr/>
          <p:nvPr/>
        </p:nvGrpSpPr>
        <p:grpSpPr>
          <a:xfrm rot="0">
            <a:off x="1028700" y="7722108"/>
            <a:ext cx="1234440" cy="768096"/>
            <a:chOff x="0" y="0"/>
            <a:chExt cx="1645920" cy="1024128"/>
          </a:xfrm>
        </p:grpSpPr>
        <p:sp>
          <p:nvSpPr>
            <p:cNvPr name="Freeform 75" id="75"/>
            <p:cNvSpPr/>
            <p:nvPr/>
          </p:nvSpPr>
          <p:spPr>
            <a:xfrm flipH="false" flipV="false" rot="0">
              <a:off x="0" y="0"/>
              <a:ext cx="1645920" cy="1024128"/>
            </a:xfrm>
            <a:custGeom>
              <a:avLst/>
              <a:gdLst/>
              <a:ahLst/>
              <a:cxnLst/>
              <a:rect r="r" b="b" t="t" l="l"/>
              <a:pathLst>
                <a:path h="1024128" w="1645920">
                  <a:moveTo>
                    <a:pt x="0" y="0"/>
                  </a:moveTo>
                  <a:lnTo>
                    <a:pt x="1645920" y="0"/>
                  </a:lnTo>
                  <a:lnTo>
                    <a:pt x="1645920" y="1024128"/>
                  </a:lnTo>
                  <a:lnTo>
                    <a:pt x="0" y="1024128"/>
                  </a:lnTo>
                  <a:close/>
                </a:path>
              </a:pathLst>
            </a:custGeom>
            <a:blipFill>
              <a:blip r:embed="rId2">
                <a:alphaModFix amt="0"/>
              </a:blip>
              <a:stretch>
                <a:fillRect l="-29888" t="0" r="-29888" b="0"/>
              </a:stretch>
            </a:blipFill>
          </p:spPr>
        </p:sp>
      </p:grpSp>
      <p:grpSp>
        <p:nvGrpSpPr>
          <p:cNvPr name="Group 76" id="76"/>
          <p:cNvGrpSpPr/>
          <p:nvPr/>
        </p:nvGrpSpPr>
        <p:grpSpPr>
          <a:xfrm rot="0">
            <a:off x="1028700" y="7693533"/>
            <a:ext cx="1234440" cy="796671"/>
            <a:chOff x="0" y="0"/>
            <a:chExt cx="1645920" cy="1062228"/>
          </a:xfrm>
        </p:grpSpPr>
        <p:sp>
          <p:nvSpPr>
            <p:cNvPr name="Freeform 77" id="77"/>
            <p:cNvSpPr/>
            <p:nvPr/>
          </p:nvSpPr>
          <p:spPr>
            <a:xfrm flipH="false" flipV="false" rot="0">
              <a:off x="0" y="0"/>
              <a:ext cx="1645920" cy="1062228"/>
            </a:xfrm>
            <a:custGeom>
              <a:avLst/>
              <a:gdLst/>
              <a:ahLst/>
              <a:cxnLst/>
              <a:rect r="r" b="b" t="t" l="l"/>
              <a:pathLst>
                <a:path h="1062228" w="1645920">
                  <a:moveTo>
                    <a:pt x="0" y="0"/>
                  </a:moveTo>
                  <a:lnTo>
                    <a:pt x="1645920" y="0"/>
                  </a:lnTo>
                  <a:lnTo>
                    <a:pt x="1645920" y="1062228"/>
                  </a:lnTo>
                  <a:lnTo>
                    <a:pt x="0" y="1062228"/>
                  </a:lnTo>
                  <a:close/>
                </a:path>
              </a:pathLst>
            </a:custGeom>
            <a:blipFill>
              <a:blip r:embed="rId3">
                <a:alphaModFix amt="0"/>
              </a:blip>
              <a:stretch>
                <a:fillRect l="-32803" t="0" r="-32803" b="0"/>
              </a:stretch>
            </a:blipFill>
          </p:spPr>
        </p:sp>
        <p:sp>
          <p:nvSpPr>
            <p:cNvPr name="TextBox 78" id="78"/>
            <p:cNvSpPr txBox="true"/>
            <p:nvPr/>
          </p:nvSpPr>
          <p:spPr>
            <a:xfrm>
              <a:off x="0" y="-38100"/>
              <a:ext cx="1645920" cy="1100328"/>
            </a:xfrm>
            <a:prstGeom prst="rect">
              <a:avLst/>
            </a:prstGeom>
          </p:spPr>
          <p:txBody>
            <a:bodyPr anchor="ctr" rtlCol="false" tIns="0" lIns="0" bIns="0" rIns="0"/>
            <a:lstStyle/>
            <a:p>
              <a:pPr algn="l">
                <a:lnSpc>
                  <a:spcPts val="2160"/>
                </a:lnSpc>
              </a:pPr>
              <a:r>
                <a:rPr lang="en-US" sz="1800" b="true">
                  <a:solidFill>
                    <a:srgbClr val="F9FBFC"/>
                  </a:solidFill>
                  <a:latin typeface="Calibri (MS) Bold"/>
                  <a:ea typeface="Calibri (MS) Bold"/>
                  <a:cs typeface="Calibri (MS) Bold"/>
                  <a:sym typeface="Calibri (MS) Bold"/>
                </a:rPr>
                <a:t>RF-06</a:t>
              </a:r>
            </a:p>
          </p:txBody>
        </p:sp>
      </p:grpSp>
      <p:grpSp>
        <p:nvGrpSpPr>
          <p:cNvPr name="Group 79" id="79"/>
          <p:cNvGrpSpPr/>
          <p:nvPr/>
        </p:nvGrpSpPr>
        <p:grpSpPr>
          <a:xfrm rot="0">
            <a:off x="2331720" y="7694676"/>
            <a:ext cx="6377940" cy="822960"/>
            <a:chOff x="0" y="0"/>
            <a:chExt cx="8503920" cy="1097280"/>
          </a:xfrm>
        </p:grpSpPr>
        <p:sp>
          <p:nvSpPr>
            <p:cNvPr name="Freeform 80" id="80"/>
            <p:cNvSpPr/>
            <p:nvPr/>
          </p:nvSpPr>
          <p:spPr>
            <a:xfrm flipH="false" flipV="false" rot="0">
              <a:off x="0" y="0"/>
              <a:ext cx="8503920" cy="1097280"/>
            </a:xfrm>
            <a:custGeom>
              <a:avLst/>
              <a:gdLst/>
              <a:ahLst/>
              <a:cxnLst/>
              <a:rect r="r" b="b" t="t" l="l"/>
              <a:pathLst>
                <a:path h="1097280" w="8503920">
                  <a:moveTo>
                    <a:pt x="0" y="0"/>
                  </a:moveTo>
                  <a:lnTo>
                    <a:pt x="8503920" y="0"/>
                  </a:lnTo>
                  <a:lnTo>
                    <a:pt x="8503920" y="1097280"/>
                  </a:lnTo>
                  <a:lnTo>
                    <a:pt x="0" y="1097280"/>
                  </a:lnTo>
                  <a:close/>
                </a:path>
              </a:pathLst>
            </a:custGeom>
            <a:blipFill>
              <a:blip r:embed="rId2">
                <a:alphaModFix amt="0"/>
              </a:blip>
              <a:stretch>
                <a:fillRect l="0" t="-100903" r="0" b="-100903"/>
              </a:stretch>
            </a:blipFill>
          </p:spPr>
        </p:sp>
      </p:grpSp>
      <p:grpSp>
        <p:nvGrpSpPr>
          <p:cNvPr name="Group 81" id="81"/>
          <p:cNvGrpSpPr/>
          <p:nvPr/>
        </p:nvGrpSpPr>
        <p:grpSpPr>
          <a:xfrm rot="0">
            <a:off x="2331720" y="7673245"/>
            <a:ext cx="6377940" cy="844391"/>
            <a:chOff x="0" y="0"/>
            <a:chExt cx="8503920" cy="1125855"/>
          </a:xfrm>
        </p:grpSpPr>
        <p:sp>
          <p:nvSpPr>
            <p:cNvPr name="Freeform 82" id="82"/>
            <p:cNvSpPr/>
            <p:nvPr/>
          </p:nvSpPr>
          <p:spPr>
            <a:xfrm flipH="false" flipV="false" rot="0">
              <a:off x="0" y="0"/>
              <a:ext cx="8503920" cy="1125855"/>
            </a:xfrm>
            <a:custGeom>
              <a:avLst/>
              <a:gdLst/>
              <a:ahLst/>
              <a:cxnLst/>
              <a:rect r="r" b="b" t="t" l="l"/>
              <a:pathLst>
                <a:path h="1125855" w="8503920">
                  <a:moveTo>
                    <a:pt x="0" y="0"/>
                  </a:moveTo>
                  <a:lnTo>
                    <a:pt x="8503920" y="0"/>
                  </a:lnTo>
                  <a:lnTo>
                    <a:pt x="8503920" y="1125855"/>
                  </a:lnTo>
                  <a:lnTo>
                    <a:pt x="0" y="1125855"/>
                  </a:lnTo>
                  <a:close/>
                </a:path>
              </a:pathLst>
            </a:custGeom>
            <a:blipFill>
              <a:blip r:embed="rId3">
                <a:alphaModFix amt="0"/>
              </a:blip>
              <a:stretch>
                <a:fillRect l="0" t="-97176" r="0" b="-97176"/>
              </a:stretch>
            </a:blipFill>
          </p:spPr>
        </p:sp>
        <p:sp>
          <p:nvSpPr>
            <p:cNvPr name="TextBox 83" id="83"/>
            <p:cNvSpPr txBox="true"/>
            <p:nvPr/>
          </p:nvSpPr>
          <p:spPr>
            <a:xfrm>
              <a:off x="0" y="-28575"/>
              <a:ext cx="8503920" cy="1154430"/>
            </a:xfrm>
            <a:prstGeom prst="rect">
              <a:avLst/>
            </a:prstGeom>
          </p:spPr>
          <p:txBody>
            <a:bodyPr anchor="ctr" rtlCol="false" tIns="0" lIns="0" bIns="0" rIns="0"/>
            <a:lstStyle/>
            <a:p>
              <a:pPr algn="l">
                <a:lnSpc>
                  <a:spcPts val="1980"/>
                </a:lnSpc>
              </a:pPr>
              <a:r>
                <a:rPr lang="en-US" sz="1650">
                  <a:solidFill>
                    <a:srgbClr val="F9FBFC"/>
                  </a:solidFill>
                  <a:latin typeface="Calibri (MS)"/>
                  <a:ea typeface="Calibri (MS)"/>
                  <a:cs typeface="Calibri (MS)"/>
                  <a:sym typeface="Calibri (MS)"/>
                </a:rPr>
                <a:t>Calcular zone_composite_index (seguridad + conveniencia + visual).</a:t>
              </a:r>
            </a:p>
          </p:txBody>
        </p:sp>
      </p:grpSp>
      <p:grpSp>
        <p:nvGrpSpPr>
          <p:cNvPr name="Group 84" id="84"/>
          <p:cNvGrpSpPr/>
          <p:nvPr/>
        </p:nvGrpSpPr>
        <p:grpSpPr>
          <a:xfrm rot="0">
            <a:off x="9258300" y="2263140"/>
            <a:ext cx="8161020" cy="987552"/>
            <a:chOff x="0" y="0"/>
            <a:chExt cx="10881360" cy="1316736"/>
          </a:xfrm>
        </p:grpSpPr>
        <p:sp>
          <p:nvSpPr>
            <p:cNvPr name="Freeform 85" id="85"/>
            <p:cNvSpPr/>
            <p:nvPr/>
          </p:nvSpPr>
          <p:spPr>
            <a:xfrm flipH="false" flipV="false" rot="0">
              <a:off x="0" y="0"/>
              <a:ext cx="10881360" cy="1316736"/>
            </a:xfrm>
            <a:custGeom>
              <a:avLst/>
              <a:gdLst/>
              <a:ahLst/>
              <a:cxnLst/>
              <a:rect r="r" b="b" t="t" l="l"/>
              <a:pathLst>
                <a:path h="1316736" w="10881360">
                  <a:moveTo>
                    <a:pt x="0" y="182880"/>
                  </a:moveTo>
                  <a:cubicBezTo>
                    <a:pt x="0" y="81915"/>
                    <a:pt x="81915" y="0"/>
                    <a:pt x="182880" y="0"/>
                  </a:cubicBezTo>
                  <a:lnTo>
                    <a:pt x="10698480" y="0"/>
                  </a:lnTo>
                  <a:cubicBezTo>
                    <a:pt x="10799445" y="0"/>
                    <a:pt x="10881360" y="81915"/>
                    <a:pt x="10881360" y="182880"/>
                  </a:cubicBezTo>
                  <a:lnTo>
                    <a:pt x="10881360" y="1133856"/>
                  </a:lnTo>
                  <a:cubicBezTo>
                    <a:pt x="10881360" y="1234821"/>
                    <a:pt x="10799445" y="1316736"/>
                    <a:pt x="10698480" y="1316736"/>
                  </a:cubicBezTo>
                  <a:lnTo>
                    <a:pt x="182880" y="1316736"/>
                  </a:lnTo>
                  <a:cubicBezTo>
                    <a:pt x="81915" y="1316736"/>
                    <a:pt x="0" y="1234821"/>
                    <a:pt x="0" y="1133856"/>
                  </a:cubicBezTo>
                  <a:close/>
                </a:path>
              </a:pathLst>
            </a:custGeom>
            <a:solidFill>
              <a:srgbClr val="9495A2"/>
            </a:solidFill>
          </p:spPr>
        </p:sp>
      </p:grpSp>
      <p:grpSp>
        <p:nvGrpSpPr>
          <p:cNvPr name="Group 86" id="86"/>
          <p:cNvGrpSpPr/>
          <p:nvPr/>
        </p:nvGrpSpPr>
        <p:grpSpPr>
          <a:xfrm rot="0">
            <a:off x="9464040" y="2372868"/>
            <a:ext cx="1234440" cy="768096"/>
            <a:chOff x="0" y="0"/>
            <a:chExt cx="1645920" cy="1024128"/>
          </a:xfrm>
        </p:grpSpPr>
        <p:sp>
          <p:nvSpPr>
            <p:cNvPr name="Freeform 87" id="87"/>
            <p:cNvSpPr/>
            <p:nvPr/>
          </p:nvSpPr>
          <p:spPr>
            <a:xfrm flipH="false" flipV="false" rot="0">
              <a:off x="0" y="0"/>
              <a:ext cx="1645920" cy="1024128"/>
            </a:xfrm>
            <a:custGeom>
              <a:avLst/>
              <a:gdLst/>
              <a:ahLst/>
              <a:cxnLst/>
              <a:rect r="r" b="b" t="t" l="l"/>
              <a:pathLst>
                <a:path h="1024128" w="1645920">
                  <a:moveTo>
                    <a:pt x="0" y="0"/>
                  </a:moveTo>
                  <a:lnTo>
                    <a:pt x="1645920" y="0"/>
                  </a:lnTo>
                  <a:lnTo>
                    <a:pt x="1645920" y="1024128"/>
                  </a:lnTo>
                  <a:lnTo>
                    <a:pt x="0" y="1024128"/>
                  </a:lnTo>
                  <a:close/>
                </a:path>
              </a:pathLst>
            </a:custGeom>
            <a:blipFill>
              <a:blip r:embed="rId2">
                <a:alphaModFix amt="0"/>
              </a:blip>
              <a:stretch>
                <a:fillRect l="-29888" t="0" r="-29888" b="0"/>
              </a:stretch>
            </a:blipFill>
          </p:spPr>
        </p:sp>
      </p:grpSp>
      <p:grpSp>
        <p:nvGrpSpPr>
          <p:cNvPr name="Group 88" id="88"/>
          <p:cNvGrpSpPr/>
          <p:nvPr/>
        </p:nvGrpSpPr>
        <p:grpSpPr>
          <a:xfrm rot="0">
            <a:off x="9464040" y="2344293"/>
            <a:ext cx="1234440" cy="796671"/>
            <a:chOff x="0" y="0"/>
            <a:chExt cx="1645920" cy="1062228"/>
          </a:xfrm>
        </p:grpSpPr>
        <p:sp>
          <p:nvSpPr>
            <p:cNvPr name="Freeform 89" id="89"/>
            <p:cNvSpPr/>
            <p:nvPr/>
          </p:nvSpPr>
          <p:spPr>
            <a:xfrm flipH="false" flipV="false" rot="0">
              <a:off x="0" y="0"/>
              <a:ext cx="1645920" cy="1062228"/>
            </a:xfrm>
            <a:custGeom>
              <a:avLst/>
              <a:gdLst/>
              <a:ahLst/>
              <a:cxnLst/>
              <a:rect r="r" b="b" t="t" l="l"/>
              <a:pathLst>
                <a:path h="1062228" w="1645920">
                  <a:moveTo>
                    <a:pt x="0" y="0"/>
                  </a:moveTo>
                  <a:lnTo>
                    <a:pt x="1645920" y="0"/>
                  </a:lnTo>
                  <a:lnTo>
                    <a:pt x="1645920" y="1062228"/>
                  </a:lnTo>
                  <a:lnTo>
                    <a:pt x="0" y="1062228"/>
                  </a:lnTo>
                  <a:close/>
                </a:path>
              </a:pathLst>
            </a:custGeom>
            <a:blipFill>
              <a:blip r:embed="rId3">
                <a:alphaModFix amt="0"/>
              </a:blip>
              <a:stretch>
                <a:fillRect l="-32803" t="0" r="-32803" b="0"/>
              </a:stretch>
            </a:blipFill>
          </p:spPr>
        </p:sp>
        <p:sp>
          <p:nvSpPr>
            <p:cNvPr name="TextBox 90" id="90"/>
            <p:cNvSpPr txBox="true"/>
            <p:nvPr/>
          </p:nvSpPr>
          <p:spPr>
            <a:xfrm>
              <a:off x="0" y="-38100"/>
              <a:ext cx="1645920" cy="1100328"/>
            </a:xfrm>
            <a:prstGeom prst="rect">
              <a:avLst/>
            </a:prstGeom>
          </p:spPr>
          <p:txBody>
            <a:bodyPr anchor="ctr" rtlCol="false" tIns="0" lIns="0" bIns="0" rIns="0"/>
            <a:lstStyle/>
            <a:p>
              <a:pPr algn="l">
                <a:lnSpc>
                  <a:spcPts val="2160"/>
                </a:lnSpc>
              </a:pPr>
              <a:r>
                <a:rPr lang="en-US" sz="1800" b="true">
                  <a:solidFill>
                    <a:srgbClr val="F9FBFC"/>
                  </a:solidFill>
                  <a:latin typeface="Calibri (MS) Bold"/>
                  <a:ea typeface="Calibri (MS) Bold"/>
                  <a:cs typeface="Calibri (MS) Bold"/>
                  <a:sym typeface="Calibri (MS) Bold"/>
                </a:rPr>
                <a:t>RF-07</a:t>
              </a:r>
            </a:p>
          </p:txBody>
        </p:sp>
      </p:grpSp>
      <p:grpSp>
        <p:nvGrpSpPr>
          <p:cNvPr name="Group 91" id="91"/>
          <p:cNvGrpSpPr/>
          <p:nvPr/>
        </p:nvGrpSpPr>
        <p:grpSpPr>
          <a:xfrm rot="0">
            <a:off x="10767060" y="2345436"/>
            <a:ext cx="6377940" cy="822960"/>
            <a:chOff x="0" y="0"/>
            <a:chExt cx="8503920" cy="1097280"/>
          </a:xfrm>
        </p:grpSpPr>
        <p:sp>
          <p:nvSpPr>
            <p:cNvPr name="Freeform 92" id="92"/>
            <p:cNvSpPr/>
            <p:nvPr/>
          </p:nvSpPr>
          <p:spPr>
            <a:xfrm flipH="false" flipV="false" rot="0">
              <a:off x="0" y="0"/>
              <a:ext cx="8503920" cy="1097280"/>
            </a:xfrm>
            <a:custGeom>
              <a:avLst/>
              <a:gdLst/>
              <a:ahLst/>
              <a:cxnLst/>
              <a:rect r="r" b="b" t="t" l="l"/>
              <a:pathLst>
                <a:path h="1097280" w="8503920">
                  <a:moveTo>
                    <a:pt x="0" y="0"/>
                  </a:moveTo>
                  <a:lnTo>
                    <a:pt x="8503920" y="0"/>
                  </a:lnTo>
                  <a:lnTo>
                    <a:pt x="8503920" y="1097280"/>
                  </a:lnTo>
                  <a:lnTo>
                    <a:pt x="0" y="1097280"/>
                  </a:lnTo>
                  <a:close/>
                </a:path>
              </a:pathLst>
            </a:custGeom>
            <a:blipFill>
              <a:blip r:embed="rId2">
                <a:alphaModFix amt="0"/>
              </a:blip>
              <a:stretch>
                <a:fillRect l="0" t="-100903" r="0" b="-100903"/>
              </a:stretch>
            </a:blipFill>
          </p:spPr>
        </p:sp>
      </p:grpSp>
      <p:grpSp>
        <p:nvGrpSpPr>
          <p:cNvPr name="Group 93" id="93"/>
          <p:cNvGrpSpPr/>
          <p:nvPr/>
        </p:nvGrpSpPr>
        <p:grpSpPr>
          <a:xfrm rot="0">
            <a:off x="10767060" y="2324005"/>
            <a:ext cx="6377940" cy="844391"/>
            <a:chOff x="0" y="0"/>
            <a:chExt cx="8503920" cy="1125855"/>
          </a:xfrm>
        </p:grpSpPr>
        <p:sp>
          <p:nvSpPr>
            <p:cNvPr name="Freeform 94" id="94"/>
            <p:cNvSpPr/>
            <p:nvPr/>
          </p:nvSpPr>
          <p:spPr>
            <a:xfrm flipH="false" flipV="false" rot="0">
              <a:off x="0" y="0"/>
              <a:ext cx="8503920" cy="1125855"/>
            </a:xfrm>
            <a:custGeom>
              <a:avLst/>
              <a:gdLst/>
              <a:ahLst/>
              <a:cxnLst/>
              <a:rect r="r" b="b" t="t" l="l"/>
              <a:pathLst>
                <a:path h="1125855" w="8503920">
                  <a:moveTo>
                    <a:pt x="0" y="0"/>
                  </a:moveTo>
                  <a:lnTo>
                    <a:pt x="8503920" y="0"/>
                  </a:lnTo>
                  <a:lnTo>
                    <a:pt x="8503920" y="1125855"/>
                  </a:lnTo>
                  <a:lnTo>
                    <a:pt x="0" y="1125855"/>
                  </a:lnTo>
                  <a:close/>
                </a:path>
              </a:pathLst>
            </a:custGeom>
            <a:blipFill>
              <a:blip r:embed="rId3">
                <a:alphaModFix amt="0"/>
              </a:blip>
              <a:stretch>
                <a:fillRect l="0" t="-97176" r="0" b="-97176"/>
              </a:stretch>
            </a:blipFill>
          </p:spPr>
        </p:sp>
        <p:sp>
          <p:nvSpPr>
            <p:cNvPr name="TextBox 95" id="95"/>
            <p:cNvSpPr txBox="true"/>
            <p:nvPr/>
          </p:nvSpPr>
          <p:spPr>
            <a:xfrm>
              <a:off x="0" y="-28575"/>
              <a:ext cx="8503920" cy="1154430"/>
            </a:xfrm>
            <a:prstGeom prst="rect">
              <a:avLst/>
            </a:prstGeom>
          </p:spPr>
          <p:txBody>
            <a:bodyPr anchor="ctr" rtlCol="false" tIns="0" lIns="0" bIns="0" rIns="0"/>
            <a:lstStyle/>
            <a:p>
              <a:pPr algn="l">
                <a:lnSpc>
                  <a:spcPts val="1980"/>
                </a:lnSpc>
              </a:pPr>
              <a:r>
                <a:rPr lang="en-US" sz="1650">
                  <a:solidFill>
                    <a:srgbClr val="F9FBFC"/>
                  </a:solidFill>
                  <a:latin typeface="Calibri (MS)"/>
                  <a:ea typeface="Calibri (MS)"/>
                  <a:cs typeface="Calibri (MS)"/>
                  <a:sym typeface="Calibri (MS)"/>
                </a:rPr>
                <a:t>Calcular constructora_reliability_score.</a:t>
              </a:r>
            </a:p>
          </p:txBody>
        </p:sp>
      </p:grpSp>
      <p:grpSp>
        <p:nvGrpSpPr>
          <p:cNvPr name="Group 96" id="96"/>
          <p:cNvGrpSpPr/>
          <p:nvPr/>
        </p:nvGrpSpPr>
        <p:grpSpPr>
          <a:xfrm rot="0">
            <a:off x="9258300" y="3332988"/>
            <a:ext cx="8161020" cy="987552"/>
            <a:chOff x="0" y="0"/>
            <a:chExt cx="10881360" cy="1316736"/>
          </a:xfrm>
        </p:grpSpPr>
        <p:sp>
          <p:nvSpPr>
            <p:cNvPr name="Freeform 97" id="97"/>
            <p:cNvSpPr/>
            <p:nvPr/>
          </p:nvSpPr>
          <p:spPr>
            <a:xfrm flipH="false" flipV="false" rot="0">
              <a:off x="0" y="0"/>
              <a:ext cx="10881360" cy="1316736"/>
            </a:xfrm>
            <a:custGeom>
              <a:avLst/>
              <a:gdLst/>
              <a:ahLst/>
              <a:cxnLst/>
              <a:rect r="r" b="b" t="t" l="l"/>
              <a:pathLst>
                <a:path h="1316736" w="10881360">
                  <a:moveTo>
                    <a:pt x="0" y="182880"/>
                  </a:moveTo>
                  <a:cubicBezTo>
                    <a:pt x="0" y="81915"/>
                    <a:pt x="81915" y="0"/>
                    <a:pt x="182880" y="0"/>
                  </a:cubicBezTo>
                  <a:lnTo>
                    <a:pt x="10698480" y="0"/>
                  </a:lnTo>
                  <a:cubicBezTo>
                    <a:pt x="10799445" y="0"/>
                    <a:pt x="10881360" y="81915"/>
                    <a:pt x="10881360" y="182880"/>
                  </a:cubicBezTo>
                  <a:lnTo>
                    <a:pt x="10881360" y="1133856"/>
                  </a:lnTo>
                  <a:cubicBezTo>
                    <a:pt x="10881360" y="1234821"/>
                    <a:pt x="10799445" y="1316736"/>
                    <a:pt x="10698480" y="1316736"/>
                  </a:cubicBezTo>
                  <a:lnTo>
                    <a:pt x="182880" y="1316736"/>
                  </a:lnTo>
                  <a:cubicBezTo>
                    <a:pt x="81915" y="1316736"/>
                    <a:pt x="0" y="1234821"/>
                    <a:pt x="0" y="1133856"/>
                  </a:cubicBezTo>
                  <a:close/>
                </a:path>
              </a:pathLst>
            </a:custGeom>
            <a:solidFill>
              <a:srgbClr val="9495A2"/>
            </a:solidFill>
          </p:spPr>
        </p:sp>
      </p:grpSp>
      <p:grpSp>
        <p:nvGrpSpPr>
          <p:cNvPr name="Group 98" id="98"/>
          <p:cNvGrpSpPr/>
          <p:nvPr/>
        </p:nvGrpSpPr>
        <p:grpSpPr>
          <a:xfrm rot="0">
            <a:off x="9464040" y="3442716"/>
            <a:ext cx="1234440" cy="768096"/>
            <a:chOff x="0" y="0"/>
            <a:chExt cx="1645920" cy="1024128"/>
          </a:xfrm>
        </p:grpSpPr>
        <p:sp>
          <p:nvSpPr>
            <p:cNvPr name="Freeform 99" id="99"/>
            <p:cNvSpPr/>
            <p:nvPr/>
          </p:nvSpPr>
          <p:spPr>
            <a:xfrm flipH="false" flipV="false" rot="0">
              <a:off x="0" y="0"/>
              <a:ext cx="1645920" cy="1024128"/>
            </a:xfrm>
            <a:custGeom>
              <a:avLst/>
              <a:gdLst/>
              <a:ahLst/>
              <a:cxnLst/>
              <a:rect r="r" b="b" t="t" l="l"/>
              <a:pathLst>
                <a:path h="1024128" w="1645920">
                  <a:moveTo>
                    <a:pt x="0" y="0"/>
                  </a:moveTo>
                  <a:lnTo>
                    <a:pt x="1645920" y="0"/>
                  </a:lnTo>
                  <a:lnTo>
                    <a:pt x="1645920" y="1024128"/>
                  </a:lnTo>
                  <a:lnTo>
                    <a:pt x="0" y="1024128"/>
                  </a:lnTo>
                  <a:close/>
                </a:path>
              </a:pathLst>
            </a:custGeom>
            <a:blipFill>
              <a:blip r:embed="rId2">
                <a:alphaModFix amt="0"/>
              </a:blip>
              <a:stretch>
                <a:fillRect l="-29888" t="0" r="-29888" b="0"/>
              </a:stretch>
            </a:blipFill>
          </p:spPr>
        </p:sp>
      </p:grpSp>
      <p:grpSp>
        <p:nvGrpSpPr>
          <p:cNvPr name="Group 100" id="100"/>
          <p:cNvGrpSpPr/>
          <p:nvPr/>
        </p:nvGrpSpPr>
        <p:grpSpPr>
          <a:xfrm rot="0">
            <a:off x="9464040" y="3414141"/>
            <a:ext cx="1234440" cy="796671"/>
            <a:chOff x="0" y="0"/>
            <a:chExt cx="1645920" cy="1062228"/>
          </a:xfrm>
        </p:grpSpPr>
        <p:sp>
          <p:nvSpPr>
            <p:cNvPr name="Freeform 101" id="101"/>
            <p:cNvSpPr/>
            <p:nvPr/>
          </p:nvSpPr>
          <p:spPr>
            <a:xfrm flipH="false" flipV="false" rot="0">
              <a:off x="0" y="0"/>
              <a:ext cx="1645920" cy="1062228"/>
            </a:xfrm>
            <a:custGeom>
              <a:avLst/>
              <a:gdLst/>
              <a:ahLst/>
              <a:cxnLst/>
              <a:rect r="r" b="b" t="t" l="l"/>
              <a:pathLst>
                <a:path h="1062228" w="1645920">
                  <a:moveTo>
                    <a:pt x="0" y="0"/>
                  </a:moveTo>
                  <a:lnTo>
                    <a:pt x="1645920" y="0"/>
                  </a:lnTo>
                  <a:lnTo>
                    <a:pt x="1645920" y="1062228"/>
                  </a:lnTo>
                  <a:lnTo>
                    <a:pt x="0" y="1062228"/>
                  </a:lnTo>
                  <a:close/>
                </a:path>
              </a:pathLst>
            </a:custGeom>
            <a:blipFill>
              <a:blip r:embed="rId3">
                <a:alphaModFix amt="0"/>
              </a:blip>
              <a:stretch>
                <a:fillRect l="-32803" t="0" r="-32803" b="0"/>
              </a:stretch>
            </a:blipFill>
          </p:spPr>
        </p:sp>
        <p:sp>
          <p:nvSpPr>
            <p:cNvPr name="TextBox 102" id="102"/>
            <p:cNvSpPr txBox="true"/>
            <p:nvPr/>
          </p:nvSpPr>
          <p:spPr>
            <a:xfrm>
              <a:off x="0" y="-38100"/>
              <a:ext cx="1645920" cy="1100328"/>
            </a:xfrm>
            <a:prstGeom prst="rect">
              <a:avLst/>
            </a:prstGeom>
          </p:spPr>
          <p:txBody>
            <a:bodyPr anchor="ctr" rtlCol="false" tIns="0" lIns="0" bIns="0" rIns="0"/>
            <a:lstStyle/>
            <a:p>
              <a:pPr algn="l">
                <a:lnSpc>
                  <a:spcPts val="2160"/>
                </a:lnSpc>
              </a:pPr>
              <a:r>
                <a:rPr lang="en-US" sz="1800" b="true">
                  <a:solidFill>
                    <a:srgbClr val="F9FBFC"/>
                  </a:solidFill>
                  <a:latin typeface="Calibri (MS) Bold"/>
                  <a:ea typeface="Calibri (MS) Bold"/>
                  <a:cs typeface="Calibri (MS) Bold"/>
                  <a:sym typeface="Calibri (MS) Bold"/>
                </a:rPr>
                <a:t>RF-08</a:t>
              </a:r>
            </a:p>
          </p:txBody>
        </p:sp>
      </p:grpSp>
      <p:grpSp>
        <p:nvGrpSpPr>
          <p:cNvPr name="Group 103" id="103"/>
          <p:cNvGrpSpPr/>
          <p:nvPr/>
        </p:nvGrpSpPr>
        <p:grpSpPr>
          <a:xfrm rot="0">
            <a:off x="10767060" y="3415284"/>
            <a:ext cx="6377940" cy="822960"/>
            <a:chOff x="0" y="0"/>
            <a:chExt cx="8503920" cy="1097280"/>
          </a:xfrm>
        </p:grpSpPr>
        <p:sp>
          <p:nvSpPr>
            <p:cNvPr name="Freeform 104" id="104"/>
            <p:cNvSpPr/>
            <p:nvPr/>
          </p:nvSpPr>
          <p:spPr>
            <a:xfrm flipH="false" flipV="false" rot="0">
              <a:off x="0" y="0"/>
              <a:ext cx="8503920" cy="1097280"/>
            </a:xfrm>
            <a:custGeom>
              <a:avLst/>
              <a:gdLst/>
              <a:ahLst/>
              <a:cxnLst/>
              <a:rect r="r" b="b" t="t" l="l"/>
              <a:pathLst>
                <a:path h="1097280" w="8503920">
                  <a:moveTo>
                    <a:pt x="0" y="0"/>
                  </a:moveTo>
                  <a:lnTo>
                    <a:pt x="8503920" y="0"/>
                  </a:lnTo>
                  <a:lnTo>
                    <a:pt x="8503920" y="1097280"/>
                  </a:lnTo>
                  <a:lnTo>
                    <a:pt x="0" y="1097280"/>
                  </a:lnTo>
                  <a:close/>
                </a:path>
              </a:pathLst>
            </a:custGeom>
            <a:blipFill>
              <a:blip r:embed="rId2">
                <a:alphaModFix amt="0"/>
              </a:blip>
              <a:stretch>
                <a:fillRect l="0" t="-100903" r="0" b="-100903"/>
              </a:stretch>
            </a:blipFill>
          </p:spPr>
        </p:sp>
      </p:grpSp>
      <p:grpSp>
        <p:nvGrpSpPr>
          <p:cNvPr name="Group 105" id="105"/>
          <p:cNvGrpSpPr/>
          <p:nvPr/>
        </p:nvGrpSpPr>
        <p:grpSpPr>
          <a:xfrm rot="0">
            <a:off x="10767060" y="3393853"/>
            <a:ext cx="6377940" cy="844391"/>
            <a:chOff x="0" y="0"/>
            <a:chExt cx="8503920" cy="1125855"/>
          </a:xfrm>
        </p:grpSpPr>
        <p:sp>
          <p:nvSpPr>
            <p:cNvPr name="Freeform 106" id="106"/>
            <p:cNvSpPr/>
            <p:nvPr/>
          </p:nvSpPr>
          <p:spPr>
            <a:xfrm flipH="false" flipV="false" rot="0">
              <a:off x="0" y="0"/>
              <a:ext cx="8503920" cy="1125855"/>
            </a:xfrm>
            <a:custGeom>
              <a:avLst/>
              <a:gdLst/>
              <a:ahLst/>
              <a:cxnLst/>
              <a:rect r="r" b="b" t="t" l="l"/>
              <a:pathLst>
                <a:path h="1125855" w="8503920">
                  <a:moveTo>
                    <a:pt x="0" y="0"/>
                  </a:moveTo>
                  <a:lnTo>
                    <a:pt x="8503920" y="0"/>
                  </a:lnTo>
                  <a:lnTo>
                    <a:pt x="8503920" y="1125855"/>
                  </a:lnTo>
                  <a:lnTo>
                    <a:pt x="0" y="1125855"/>
                  </a:lnTo>
                  <a:close/>
                </a:path>
              </a:pathLst>
            </a:custGeom>
            <a:blipFill>
              <a:blip r:embed="rId3">
                <a:alphaModFix amt="0"/>
              </a:blip>
              <a:stretch>
                <a:fillRect l="0" t="-97176" r="0" b="-97176"/>
              </a:stretch>
            </a:blipFill>
          </p:spPr>
        </p:sp>
        <p:sp>
          <p:nvSpPr>
            <p:cNvPr name="TextBox 107" id="107"/>
            <p:cNvSpPr txBox="true"/>
            <p:nvPr/>
          </p:nvSpPr>
          <p:spPr>
            <a:xfrm>
              <a:off x="0" y="-28575"/>
              <a:ext cx="8503920" cy="1154430"/>
            </a:xfrm>
            <a:prstGeom prst="rect">
              <a:avLst/>
            </a:prstGeom>
          </p:spPr>
          <p:txBody>
            <a:bodyPr anchor="ctr" rtlCol="false" tIns="0" lIns="0" bIns="0" rIns="0"/>
            <a:lstStyle/>
            <a:p>
              <a:pPr algn="l">
                <a:lnSpc>
                  <a:spcPts val="1980"/>
                </a:lnSpc>
              </a:pPr>
              <a:r>
                <a:rPr lang="en-US" sz="1650">
                  <a:solidFill>
                    <a:srgbClr val="F9FBFC"/>
                  </a:solidFill>
                  <a:latin typeface="Calibri (MS)"/>
                  <a:ea typeface="Calibri (MS)"/>
                  <a:cs typeface="Calibri (MS)"/>
                  <a:sym typeface="Calibri (MS)"/>
                </a:rPr>
                <a:t>Permitir ingresar perfil financiero del usuario.</a:t>
              </a:r>
            </a:p>
          </p:txBody>
        </p:sp>
      </p:grpSp>
      <p:grpSp>
        <p:nvGrpSpPr>
          <p:cNvPr name="Group 108" id="108"/>
          <p:cNvGrpSpPr/>
          <p:nvPr/>
        </p:nvGrpSpPr>
        <p:grpSpPr>
          <a:xfrm rot="0">
            <a:off x="9258300" y="4402836"/>
            <a:ext cx="8161020" cy="987552"/>
            <a:chOff x="0" y="0"/>
            <a:chExt cx="10881360" cy="1316736"/>
          </a:xfrm>
        </p:grpSpPr>
        <p:sp>
          <p:nvSpPr>
            <p:cNvPr name="Freeform 109" id="109"/>
            <p:cNvSpPr/>
            <p:nvPr/>
          </p:nvSpPr>
          <p:spPr>
            <a:xfrm flipH="false" flipV="false" rot="0">
              <a:off x="0" y="0"/>
              <a:ext cx="10881360" cy="1316736"/>
            </a:xfrm>
            <a:custGeom>
              <a:avLst/>
              <a:gdLst/>
              <a:ahLst/>
              <a:cxnLst/>
              <a:rect r="r" b="b" t="t" l="l"/>
              <a:pathLst>
                <a:path h="1316736" w="10881360">
                  <a:moveTo>
                    <a:pt x="0" y="182880"/>
                  </a:moveTo>
                  <a:cubicBezTo>
                    <a:pt x="0" y="81915"/>
                    <a:pt x="81915" y="0"/>
                    <a:pt x="182880" y="0"/>
                  </a:cubicBezTo>
                  <a:lnTo>
                    <a:pt x="10698480" y="0"/>
                  </a:lnTo>
                  <a:cubicBezTo>
                    <a:pt x="10799445" y="0"/>
                    <a:pt x="10881360" y="81915"/>
                    <a:pt x="10881360" y="182880"/>
                  </a:cubicBezTo>
                  <a:lnTo>
                    <a:pt x="10881360" y="1133856"/>
                  </a:lnTo>
                  <a:cubicBezTo>
                    <a:pt x="10881360" y="1234821"/>
                    <a:pt x="10799445" y="1316736"/>
                    <a:pt x="10698480" y="1316736"/>
                  </a:cubicBezTo>
                  <a:lnTo>
                    <a:pt x="182880" y="1316736"/>
                  </a:lnTo>
                  <a:cubicBezTo>
                    <a:pt x="81915" y="1316736"/>
                    <a:pt x="0" y="1234821"/>
                    <a:pt x="0" y="1133856"/>
                  </a:cubicBezTo>
                  <a:close/>
                </a:path>
              </a:pathLst>
            </a:custGeom>
            <a:solidFill>
              <a:srgbClr val="9495A2"/>
            </a:solidFill>
          </p:spPr>
        </p:sp>
      </p:grpSp>
      <p:grpSp>
        <p:nvGrpSpPr>
          <p:cNvPr name="Group 110" id="110"/>
          <p:cNvGrpSpPr/>
          <p:nvPr/>
        </p:nvGrpSpPr>
        <p:grpSpPr>
          <a:xfrm rot="0">
            <a:off x="9464040" y="4512564"/>
            <a:ext cx="1234440" cy="768096"/>
            <a:chOff x="0" y="0"/>
            <a:chExt cx="1645920" cy="1024128"/>
          </a:xfrm>
        </p:grpSpPr>
        <p:sp>
          <p:nvSpPr>
            <p:cNvPr name="Freeform 111" id="111"/>
            <p:cNvSpPr/>
            <p:nvPr/>
          </p:nvSpPr>
          <p:spPr>
            <a:xfrm flipH="false" flipV="false" rot="0">
              <a:off x="0" y="0"/>
              <a:ext cx="1645920" cy="1024128"/>
            </a:xfrm>
            <a:custGeom>
              <a:avLst/>
              <a:gdLst/>
              <a:ahLst/>
              <a:cxnLst/>
              <a:rect r="r" b="b" t="t" l="l"/>
              <a:pathLst>
                <a:path h="1024128" w="1645920">
                  <a:moveTo>
                    <a:pt x="0" y="0"/>
                  </a:moveTo>
                  <a:lnTo>
                    <a:pt x="1645920" y="0"/>
                  </a:lnTo>
                  <a:lnTo>
                    <a:pt x="1645920" y="1024128"/>
                  </a:lnTo>
                  <a:lnTo>
                    <a:pt x="0" y="1024128"/>
                  </a:lnTo>
                  <a:close/>
                </a:path>
              </a:pathLst>
            </a:custGeom>
            <a:blipFill>
              <a:blip r:embed="rId2">
                <a:alphaModFix amt="0"/>
              </a:blip>
              <a:stretch>
                <a:fillRect l="-29888" t="0" r="-29888" b="0"/>
              </a:stretch>
            </a:blipFill>
          </p:spPr>
        </p:sp>
      </p:grpSp>
      <p:grpSp>
        <p:nvGrpSpPr>
          <p:cNvPr name="Group 112" id="112"/>
          <p:cNvGrpSpPr/>
          <p:nvPr/>
        </p:nvGrpSpPr>
        <p:grpSpPr>
          <a:xfrm rot="0">
            <a:off x="9464040" y="4483989"/>
            <a:ext cx="1234440" cy="796671"/>
            <a:chOff x="0" y="0"/>
            <a:chExt cx="1645920" cy="1062228"/>
          </a:xfrm>
        </p:grpSpPr>
        <p:sp>
          <p:nvSpPr>
            <p:cNvPr name="Freeform 113" id="113"/>
            <p:cNvSpPr/>
            <p:nvPr/>
          </p:nvSpPr>
          <p:spPr>
            <a:xfrm flipH="false" flipV="false" rot="0">
              <a:off x="0" y="0"/>
              <a:ext cx="1645920" cy="1062228"/>
            </a:xfrm>
            <a:custGeom>
              <a:avLst/>
              <a:gdLst/>
              <a:ahLst/>
              <a:cxnLst/>
              <a:rect r="r" b="b" t="t" l="l"/>
              <a:pathLst>
                <a:path h="1062228" w="1645920">
                  <a:moveTo>
                    <a:pt x="0" y="0"/>
                  </a:moveTo>
                  <a:lnTo>
                    <a:pt x="1645920" y="0"/>
                  </a:lnTo>
                  <a:lnTo>
                    <a:pt x="1645920" y="1062228"/>
                  </a:lnTo>
                  <a:lnTo>
                    <a:pt x="0" y="1062228"/>
                  </a:lnTo>
                  <a:close/>
                </a:path>
              </a:pathLst>
            </a:custGeom>
            <a:blipFill>
              <a:blip r:embed="rId3">
                <a:alphaModFix amt="0"/>
              </a:blip>
              <a:stretch>
                <a:fillRect l="-32803" t="0" r="-32803" b="0"/>
              </a:stretch>
            </a:blipFill>
          </p:spPr>
        </p:sp>
        <p:sp>
          <p:nvSpPr>
            <p:cNvPr name="TextBox 114" id="114"/>
            <p:cNvSpPr txBox="true"/>
            <p:nvPr/>
          </p:nvSpPr>
          <p:spPr>
            <a:xfrm>
              <a:off x="0" y="-38100"/>
              <a:ext cx="1645920" cy="1100328"/>
            </a:xfrm>
            <a:prstGeom prst="rect">
              <a:avLst/>
            </a:prstGeom>
          </p:spPr>
          <p:txBody>
            <a:bodyPr anchor="ctr" rtlCol="false" tIns="0" lIns="0" bIns="0" rIns="0"/>
            <a:lstStyle/>
            <a:p>
              <a:pPr algn="l">
                <a:lnSpc>
                  <a:spcPts val="2160"/>
                </a:lnSpc>
              </a:pPr>
              <a:r>
                <a:rPr lang="en-US" sz="1800" b="true">
                  <a:solidFill>
                    <a:srgbClr val="F9FBFC"/>
                  </a:solidFill>
                  <a:latin typeface="Calibri (MS) Bold"/>
                  <a:ea typeface="Calibri (MS) Bold"/>
                  <a:cs typeface="Calibri (MS) Bold"/>
                  <a:sym typeface="Calibri (MS) Bold"/>
                </a:rPr>
                <a:t>RF-09</a:t>
              </a:r>
            </a:p>
          </p:txBody>
        </p:sp>
      </p:grpSp>
      <p:grpSp>
        <p:nvGrpSpPr>
          <p:cNvPr name="Group 115" id="115"/>
          <p:cNvGrpSpPr/>
          <p:nvPr/>
        </p:nvGrpSpPr>
        <p:grpSpPr>
          <a:xfrm rot="0">
            <a:off x="10767060" y="4485132"/>
            <a:ext cx="6377940" cy="822960"/>
            <a:chOff x="0" y="0"/>
            <a:chExt cx="8503920" cy="1097280"/>
          </a:xfrm>
        </p:grpSpPr>
        <p:sp>
          <p:nvSpPr>
            <p:cNvPr name="Freeform 116" id="116"/>
            <p:cNvSpPr/>
            <p:nvPr/>
          </p:nvSpPr>
          <p:spPr>
            <a:xfrm flipH="false" flipV="false" rot="0">
              <a:off x="0" y="0"/>
              <a:ext cx="8503920" cy="1097280"/>
            </a:xfrm>
            <a:custGeom>
              <a:avLst/>
              <a:gdLst/>
              <a:ahLst/>
              <a:cxnLst/>
              <a:rect r="r" b="b" t="t" l="l"/>
              <a:pathLst>
                <a:path h="1097280" w="8503920">
                  <a:moveTo>
                    <a:pt x="0" y="0"/>
                  </a:moveTo>
                  <a:lnTo>
                    <a:pt x="8503920" y="0"/>
                  </a:lnTo>
                  <a:lnTo>
                    <a:pt x="8503920" y="1097280"/>
                  </a:lnTo>
                  <a:lnTo>
                    <a:pt x="0" y="1097280"/>
                  </a:lnTo>
                  <a:close/>
                </a:path>
              </a:pathLst>
            </a:custGeom>
            <a:blipFill>
              <a:blip r:embed="rId2">
                <a:alphaModFix amt="0"/>
              </a:blip>
              <a:stretch>
                <a:fillRect l="0" t="-100903" r="0" b="-100903"/>
              </a:stretch>
            </a:blipFill>
          </p:spPr>
        </p:sp>
      </p:grpSp>
      <p:grpSp>
        <p:nvGrpSpPr>
          <p:cNvPr name="Group 117" id="117"/>
          <p:cNvGrpSpPr/>
          <p:nvPr/>
        </p:nvGrpSpPr>
        <p:grpSpPr>
          <a:xfrm rot="0">
            <a:off x="10767060" y="4463701"/>
            <a:ext cx="6377940" cy="844391"/>
            <a:chOff x="0" y="0"/>
            <a:chExt cx="8503920" cy="1125855"/>
          </a:xfrm>
        </p:grpSpPr>
        <p:sp>
          <p:nvSpPr>
            <p:cNvPr name="Freeform 118" id="118"/>
            <p:cNvSpPr/>
            <p:nvPr/>
          </p:nvSpPr>
          <p:spPr>
            <a:xfrm flipH="false" flipV="false" rot="0">
              <a:off x="0" y="0"/>
              <a:ext cx="8503920" cy="1125855"/>
            </a:xfrm>
            <a:custGeom>
              <a:avLst/>
              <a:gdLst/>
              <a:ahLst/>
              <a:cxnLst/>
              <a:rect r="r" b="b" t="t" l="l"/>
              <a:pathLst>
                <a:path h="1125855" w="8503920">
                  <a:moveTo>
                    <a:pt x="0" y="0"/>
                  </a:moveTo>
                  <a:lnTo>
                    <a:pt x="8503920" y="0"/>
                  </a:lnTo>
                  <a:lnTo>
                    <a:pt x="8503920" y="1125855"/>
                  </a:lnTo>
                  <a:lnTo>
                    <a:pt x="0" y="1125855"/>
                  </a:lnTo>
                  <a:close/>
                </a:path>
              </a:pathLst>
            </a:custGeom>
            <a:blipFill>
              <a:blip r:embed="rId3">
                <a:alphaModFix amt="0"/>
              </a:blip>
              <a:stretch>
                <a:fillRect l="0" t="-97176" r="0" b="-97176"/>
              </a:stretch>
            </a:blipFill>
          </p:spPr>
        </p:sp>
        <p:sp>
          <p:nvSpPr>
            <p:cNvPr name="TextBox 119" id="119"/>
            <p:cNvSpPr txBox="true"/>
            <p:nvPr/>
          </p:nvSpPr>
          <p:spPr>
            <a:xfrm>
              <a:off x="0" y="-28575"/>
              <a:ext cx="8503920" cy="1154430"/>
            </a:xfrm>
            <a:prstGeom prst="rect">
              <a:avLst/>
            </a:prstGeom>
          </p:spPr>
          <p:txBody>
            <a:bodyPr anchor="ctr" rtlCol="false" tIns="0" lIns="0" bIns="0" rIns="0"/>
            <a:lstStyle/>
            <a:p>
              <a:pPr algn="l">
                <a:lnSpc>
                  <a:spcPts val="1980"/>
                </a:lnSpc>
              </a:pPr>
              <a:r>
                <a:rPr lang="en-US" sz="1650">
                  <a:solidFill>
                    <a:srgbClr val="F9FBFC"/>
                  </a:solidFill>
                  <a:latin typeface="Calibri (MS)"/>
                  <a:ea typeface="Calibri (MS)"/>
                  <a:cs typeface="Calibri (MS)"/>
                  <a:sym typeface="Calibri (MS)"/>
                </a:rPr>
                <a:t>Permitir declarar preferencias de estilo de vida.</a:t>
              </a:r>
            </a:p>
          </p:txBody>
        </p:sp>
      </p:grpSp>
      <p:grpSp>
        <p:nvGrpSpPr>
          <p:cNvPr name="Group 120" id="120"/>
          <p:cNvGrpSpPr/>
          <p:nvPr/>
        </p:nvGrpSpPr>
        <p:grpSpPr>
          <a:xfrm rot="0">
            <a:off x="9258300" y="5472684"/>
            <a:ext cx="8161020" cy="987552"/>
            <a:chOff x="0" y="0"/>
            <a:chExt cx="10881360" cy="1316736"/>
          </a:xfrm>
        </p:grpSpPr>
        <p:sp>
          <p:nvSpPr>
            <p:cNvPr name="Freeform 121" id="121"/>
            <p:cNvSpPr/>
            <p:nvPr/>
          </p:nvSpPr>
          <p:spPr>
            <a:xfrm flipH="false" flipV="false" rot="0">
              <a:off x="0" y="0"/>
              <a:ext cx="10881360" cy="1316736"/>
            </a:xfrm>
            <a:custGeom>
              <a:avLst/>
              <a:gdLst/>
              <a:ahLst/>
              <a:cxnLst/>
              <a:rect r="r" b="b" t="t" l="l"/>
              <a:pathLst>
                <a:path h="1316736" w="10881360">
                  <a:moveTo>
                    <a:pt x="0" y="182880"/>
                  </a:moveTo>
                  <a:cubicBezTo>
                    <a:pt x="0" y="81915"/>
                    <a:pt x="81915" y="0"/>
                    <a:pt x="182880" y="0"/>
                  </a:cubicBezTo>
                  <a:lnTo>
                    <a:pt x="10698480" y="0"/>
                  </a:lnTo>
                  <a:cubicBezTo>
                    <a:pt x="10799445" y="0"/>
                    <a:pt x="10881360" y="81915"/>
                    <a:pt x="10881360" y="182880"/>
                  </a:cubicBezTo>
                  <a:lnTo>
                    <a:pt x="10881360" y="1133856"/>
                  </a:lnTo>
                  <a:cubicBezTo>
                    <a:pt x="10881360" y="1234821"/>
                    <a:pt x="10799445" y="1316736"/>
                    <a:pt x="10698480" y="1316736"/>
                  </a:cubicBezTo>
                  <a:lnTo>
                    <a:pt x="182880" y="1316736"/>
                  </a:lnTo>
                  <a:cubicBezTo>
                    <a:pt x="81915" y="1316736"/>
                    <a:pt x="0" y="1234821"/>
                    <a:pt x="0" y="1133856"/>
                  </a:cubicBezTo>
                  <a:close/>
                </a:path>
              </a:pathLst>
            </a:custGeom>
            <a:solidFill>
              <a:srgbClr val="9495A2"/>
            </a:solidFill>
          </p:spPr>
        </p:sp>
      </p:grpSp>
      <p:grpSp>
        <p:nvGrpSpPr>
          <p:cNvPr name="Group 122" id="122"/>
          <p:cNvGrpSpPr/>
          <p:nvPr/>
        </p:nvGrpSpPr>
        <p:grpSpPr>
          <a:xfrm rot="0">
            <a:off x="9464040" y="5582412"/>
            <a:ext cx="1234440" cy="768096"/>
            <a:chOff x="0" y="0"/>
            <a:chExt cx="1645920" cy="1024128"/>
          </a:xfrm>
        </p:grpSpPr>
        <p:sp>
          <p:nvSpPr>
            <p:cNvPr name="Freeform 123" id="123"/>
            <p:cNvSpPr/>
            <p:nvPr/>
          </p:nvSpPr>
          <p:spPr>
            <a:xfrm flipH="false" flipV="false" rot="0">
              <a:off x="0" y="0"/>
              <a:ext cx="1645920" cy="1024128"/>
            </a:xfrm>
            <a:custGeom>
              <a:avLst/>
              <a:gdLst/>
              <a:ahLst/>
              <a:cxnLst/>
              <a:rect r="r" b="b" t="t" l="l"/>
              <a:pathLst>
                <a:path h="1024128" w="1645920">
                  <a:moveTo>
                    <a:pt x="0" y="0"/>
                  </a:moveTo>
                  <a:lnTo>
                    <a:pt x="1645920" y="0"/>
                  </a:lnTo>
                  <a:lnTo>
                    <a:pt x="1645920" y="1024128"/>
                  </a:lnTo>
                  <a:lnTo>
                    <a:pt x="0" y="1024128"/>
                  </a:lnTo>
                  <a:close/>
                </a:path>
              </a:pathLst>
            </a:custGeom>
            <a:blipFill>
              <a:blip r:embed="rId2">
                <a:alphaModFix amt="0"/>
              </a:blip>
              <a:stretch>
                <a:fillRect l="-29888" t="0" r="-29888" b="0"/>
              </a:stretch>
            </a:blipFill>
          </p:spPr>
        </p:sp>
      </p:grpSp>
      <p:grpSp>
        <p:nvGrpSpPr>
          <p:cNvPr name="Group 124" id="124"/>
          <p:cNvGrpSpPr/>
          <p:nvPr/>
        </p:nvGrpSpPr>
        <p:grpSpPr>
          <a:xfrm rot="0">
            <a:off x="9464040" y="5553837"/>
            <a:ext cx="1234440" cy="796671"/>
            <a:chOff x="0" y="0"/>
            <a:chExt cx="1645920" cy="1062228"/>
          </a:xfrm>
        </p:grpSpPr>
        <p:sp>
          <p:nvSpPr>
            <p:cNvPr name="Freeform 125" id="125"/>
            <p:cNvSpPr/>
            <p:nvPr/>
          </p:nvSpPr>
          <p:spPr>
            <a:xfrm flipH="false" flipV="false" rot="0">
              <a:off x="0" y="0"/>
              <a:ext cx="1645920" cy="1062228"/>
            </a:xfrm>
            <a:custGeom>
              <a:avLst/>
              <a:gdLst/>
              <a:ahLst/>
              <a:cxnLst/>
              <a:rect r="r" b="b" t="t" l="l"/>
              <a:pathLst>
                <a:path h="1062228" w="1645920">
                  <a:moveTo>
                    <a:pt x="0" y="0"/>
                  </a:moveTo>
                  <a:lnTo>
                    <a:pt x="1645920" y="0"/>
                  </a:lnTo>
                  <a:lnTo>
                    <a:pt x="1645920" y="1062228"/>
                  </a:lnTo>
                  <a:lnTo>
                    <a:pt x="0" y="1062228"/>
                  </a:lnTo>
                  <a:close/>
                </a:path>
              </a:pathLst>
            </a:custGeom>
            <a:blipFill>
              <a:blip r:embed="rId3">
                <a:alphaModFix amt="0"/>
              </a:blip>
              <a:stretch>
                <a:fillRect l="-32803" t="0" r="-32803" b="0"/>
              </a:stretch>
            </a:blipFill>
          </p:spPr>
        </p:sp>
        <p:sp>
          <p:nvSpPr>
            <p:cNvPr name="TextBox 126" id="126"/>
            <p:cNvSpPr txBox="true"/>
            <p:nvPr/>
          </p:nvSpPr>
          <p:spPr>
            <a:xfrm>
              <a:off x="0" y="-38100"/>
              <a:ext cx="1645920" cy="1100328"/>
            </a:xfrm>
            <a:prstGeom prst="rect">
              <a:avLst/>
            </a:prstGeom>
          </p:spPr>
          <p:txBody>
            <a:bodyPr anchor="ctr" rtlCol="false" tIns="0" lIns="0" bIns="0" rIns="0"/>
            <a:lstStyle/>
            <a:p>
              <a:pPr algn="l">
                <a:lnSpc>
                  <a:spcPts val="2160"/>
                </a:lnSpc>
              </a:pPr>
              <a:r>
                <a:rPr lang="en-US" sz="1800" b="true">
                  <a:solidFill>
                    <a:srgbClr val="F9FBFC"/>
                  </a:solidFill>
                  <a:latin typeface="Calibri (MS) Bold"/>
                  <a:ea typeface="Calibri (MS) Bold"/>
                  <a:cs typeface="Calibri (MS) Bold"/>
                  <a:sym typeface="Calibri (MS) Bold"/>
                </a:rPr>
                <a:t>RF-10</a:t>
              </a:r>
            </a:p>
          </p:txBody>
        </p:sp>
      </p:grpSp>
      <p:grpSp>
        <p:nvGrpSpPr>
          <p:cNvPr name="Group 127" id="127"/>
          <p:cNvGrpSpPr/>
          <p:nvPr/>
        </p:nvGrpSpPr>
        <p:grpSpPr>
          <a:xfrm rot="0">
            <a:off x="10767060" y="5554980"/>
            <a:ext cx="6377940" cy="822960"/>
            <a:chOff x="0" y="0"/>
            <a:chExt cx="8503920" cy="1097280"/>
          </a:xfrm>
        </p:grpSpPr>
        <p:sp>
          <p:nvSpPr>
            <p:cNvPr name="Freeform 128" id="128"/>
            <p:cNvSpPr/>
            <p:nvPr/>
          </p:nvSpPr>
          <p:spPr>
            <a:xfrm flipH="false" flipV="false" rot="0">
              <a:off x="0" y="0"/>
              <a:ext cx="8503920" cy="1097280"/>
            </a:xfrm>
            <a:custGeom>
              <a:avLst/>
              <a:gdLst/>
              <a:ahLst/>
              <a:cxnLst/>
              <a:rect r="r" b="b" t="t" l="l"/>
              <a:pathLst>
                <a:path h="1097280" w="8503920">
                  <a:moveTo>
                    <a:pt x="0" y="0"/>
                  </a:moveTo>
                  <a:lnTo>
                    <a:pt x="8503920" y="0"/>
                  </a:lnTo>
                  <a:lnTo>
                    <a:pt x="8503920" y="1097280"/>
                  </a:lnTo>
                  <a:lnTo>
                    <a:pt x="0" y="1097280"/>
                  </a:lnTo>
                  <a:close/>
                </a:path>
              </a:pathLst>
            </a:custGeom>
            <a:blipFill>
              <a:blip r:embed="rId2">
                <a:alphaModFix amt="0"/>
              </a:blip>
              <a:stretch>
                <a:fillRect l="0" t="-100903" r="0" b="-100903"/>
              </a:stretch>
            </a:blipFill>
          </p:spPr>
        </p:sp>
      </p:grpSp>
      <p:grpSp>
        <p:nvGrpSpPr>
          <p:cNvPr name="Group 129" id="129"/>
          <p:cNvGrpSpPr/>
          <p:nvPr/>
        </p:nvGrpSpPr>
        <p:grpSpPr>
          <a:xfrm rot="0">
            <a:off x="10767060" y="5533549"/>
            <a:ext cx="6377940" cy="844391"/>
            <a:chOff x="0" y="0"/>
            <a:chExt cx="8503920" cy="1125855"/>
          </a:xfrm>
        </p:grpSpPr>
        <p:sp>
          <p:nvSpPr>
            <p:cNvPr name="Freeform 130" id="130"/>
            <p:cNvSpPr/>
            <p:nvPr/>
          </p:nvSpPr>
          <p:spPr>
            <a:xfrm flipH="false" flipV="false" rot="0">
              <a:off x="0" y="0"/>
              <a:ext cx="8503920" cy="1125855"/>
            </a:xfrm>
            <a:custGeom>
              <a:avLst/>
              <a:gdLst/>
              <a:ahLst/>
              <a:cxnLst/>
              <a:rect r="r" b="b" t="t" l="l"/>
              <a:pathLst>
                <a:path h="1125855" w="8503920">
                  <a:moveTo>
                    <a:pt x="0" y="0"/>
                  </a:moveTo>
                  <a:lnTo>
                    <a:pt x="8503920" y="0"/>
                  </a:lnTo>
                  <a:lnTo>
                    <a:pt x="8503920" y="1125855"/>
                  </a:lnTo>
                  <a:lnTo>
                    <a:pt x="0" y="1125855"/>
                  </a:lnTo>
                  <a:close/>
                </a:path>
              </a:pathLst>
            </a:custGeom>
            <a:blipFill>
              <a:blip r:embed="rId3">
                <a:alphaModFix amt="0"/>
              </a:blip>
              <a:stretch>
                <a:fillRect l="0" t="-97176" r="0" b="-97176"/>
              </a:stretch>
            </a:blipFill>
          </p:spPr>
        </p:sp>
        <p:sp>
          <p:nvSpPr>
            <p:cNvPr name="TextBox 131" id="131"/>
            <p:cNvSpPr txBox="true"/>
            <p:nvPr/>
          </p:nvSpPr>
          <p:spPr>
            <a:xfrm>
              <a:off x="0" y="-28575"/>
              <a:ext cx="8503920" cy="1154430"/>
            </a:xfrm>
            <a:prstGeom prst="rect">
              <a:avLst/>
            </a:prstGeom>
          </p:spPr>
          <p:txBody>
            <a:bodyPr anchor="ctr" rtlCol="false" tIns="0" lIns="0" bIns="0" rIns="0"/>
            <a:lstStyle/>
            <a:p>
              <a:pPr algn="l">
                <a:lnSpc>
                  <a:spcPts val="1980"/>
                </a:lnSpc>
              </a:pPr>
              <a:r>
                <a:rPr lang="en-US" sz="1650">
                  <a:solidFill>
                    <a:srgbClr val="F9FBFC"/>
                  </a:solidFill>
                  <a:latin typeface="Calibri (MS)"/>
                  <a:ea typeface="Calibri (MS)"/>
                  <a:cs typeface="Calibri (MS)"/>
                  <a:sym typeface="Calibri (MS)"/>
                </a:rPr>
                <a:t>Generar ranking personalizado combinando todos los scores.</a:t>
              </a:r>
            </a:p>
          </p:txBody>
        </p:sp>
      </p:grpSp>
      <p:grpSp>
        <p:nvGrpSpPr>
          <p:cNvPr name="Group 132" id="132"/>
          <p:cNvGrpSpPr/>
          <p:nvPr/>
        </p:nvGrpSpPr>
        <p:grpSpPr>
          <a:xfrm rot="0">
            <a:off x="9258300" y="6542532"/>
            <a:ext cx="8161020" cy="987552"/>
            <a:chOff x="0" y="0"/>
            <a:chExt cx="10881360" cy="1316736"/>
          </a:xfrm>
        </p:grpSpPr>
        <p:sp>
          <p:nvSpPr>
            <p:cNvPr name="Freeform 133" id="133"/>
            <p:cNvSpPr/>
            <p:nvPr/>
          </p:nvSpPr>
          <p:spPr>
            <a:xfrm flipH="false" flipV="false" rot="0">
              <a:off x="0" y="0"/>
              <a:ext cx="10881360" cy="1316736"/>
            </a:xfrm>
            <a:custGeom>
              <a:avLst/>
              <a:gdLst/>
              <a:ahLst/>
              <a:cxnLst/>
              <a:rect r="r" b="b" t="t" l="l"/>
              <a:pathLst>
                <a:path h="1316736" w="10881360">
                  <a:moveTo>
                    <a:pt x="0" y="182880"/>
                  </a:moveTo>
                  <a:cubicBezTo>
                    <a:pt x="0" y="81915"/>
                    <a:pt x="81915" y="0"/>
                    <a:pt x="182880" y="0"/>
                  </a:cubicBezTo>
                  <a:lnTo>
                    <a:pt x="10698480" y="0"/>
                  </a:lnTo>
                  <a:cubicBezTo>
                    <a:pt x="10799445" y="0"/>
                    <a:pt x="10881360" y="81915"/>
                    <a:pt x="10881360" y="182880"/>
                  </a:cubicBezTo>
                  <a:lnTo>
                    <a:pt x="10881360" y="1133856"/>
                  </a:lnTo>
                  <a:cubicBezTo>
                    <a:pt x="10881360" y="1234821"/>
                    <a:pt x="10799445" y="1316736"/>
                    <a:pt x="10698480" y="1316736"/>
                  </a:cubicBezTo>
                  <a:lnTo>
                    <a:pt x="182880" y="1316736"/>
                  </a:lnTo>
                  <a:cubicBezTo>
                    <a:pt x="81915" y="1316736"/>
                    <a:pt x="0" y="1234821"/>
                    <a:pt x="0" y="1133856"/>
                  </a:cubicBezTo>
                  <a:close/>
                </a:path>
              </a:pathLst>
            </a:custGeom>
            <a:solidFill>
              <a:srgbClr val="9495A2"/>
            </a:solidFill>
          </p:spPr>
        </p:sp>
      </p:grpSp>
      <p:grpSp>
        <p:nvGrpSpPr>
          <p:cNvPr name="Group 134" id="134"/>
          <p:cNvGrpSpPr/>
          <p:nvPr/>
        </p:nvGrpSpPr>
        <p:grpSpPr>
          <a:xfrm rot="0">
            <a:off x="9464040" y="6652260"/>
            <a:ext cx="1234440" cy="768096"/>
            <a:chOff x="0" y="0"/>
            <a:chExt cx="1645920" cy="1024128"/>
          </a:xfrm>
        </p:grpSpPr>
        <p:sp>
          <p:nvSpPr>
            <p:cNvPr name="Freeform 135" id="135"/>
            <p:cNvSpPr/>
            <p:nvPr/>
          </p:nvSpPr>
          <p:spPr>
            <a:xfrm flipH="false" flipV="false" rot="0">
              <a:off x="0" y="0"/>
              <a:ext cx="1645920" cy="1024128"/>
            </a:xfrm>
            <a:custGeom>
              <a:avLst/>
              <a:gdLst/>
              <a:ahLst/>
              <a:cxnLst/>
              <a:rect r="r" b="b" t="t" l="l"/>
              <a:pathLst>
                <a:path h="1024128" w="1645920">
                  <a:moveTo>
                    <a:pt x="0" y="0"/>
                  </a:moveTo>
                  <a:lnTo>
                    <a:pt x="1645920" y="0"/>
                  </a:lnTo>
                  <a:lnTo>
                    <a:pt x="1645920" y="1024128"/>
                  </a:lnTo>
                  <a:lnTo>
                    <a:pt x="0" y="1024128"/>
                  </a:lnTo>
                  <a:close/>
                </a:path>
              </a:pathLst>
            </a:custGeom>
            <a:blipFill>
              <a:blip r:embed="rId2">
                <a:alphaModFix amt="0"/>
              </a:blip>
              <a:stretch>
                <a:fillRect l="-29888" t="0" r="-29888" b="0"/>
              </a:stretch>
            </a:blipFill>
          </p:spPr>
        </p:sp>
      </p:grpSp>
      <p:grpSp>
        <p:nvGrpSpPr>
          <p:cNvPr name="Group 136" id="136"/>
          <p:cNvGrpSpPr/>
          <p:nvPr/>
        </p:nvGrpSpPr>
        <p:grpSpPr>
          <a:xfrm rot="0">
            <a:off x="9464040" y="6623685"/>
            <a:ext cx="1234440" cy="796671"/>
            <a:chOff x="0" y="0"/>
            <a:chExt cx="1645920" cy="1062228"/>
          </a:xfrm>
        </p:grpSpPr>
        <p:sp>
          <p:nvSpPr>
            <p:cNvPr name="Freeform 137" id="137"/>
            <p:cNvSpPr/>
            <p:nvPr/>
          </p:nvSpPr>
          <p:spPr>
            <a:xfrm flipH="false" flipV="false" rot="0">
              <a:off x="0" y="0"/>
              <a:ext cx="1645920" cy="1062228"/>
            </a:xfrm>
            <a:custGeom>
              <a:avLst/>
              <a:gdLst/>
              <a:ahLst/>
              <a:cxnLst/>
              <a:rect r="r" b="b" t="t" l="l"/>
              <a:pathLst>
                <a:path h="1062228" w="1645920">
                  <a:moveTo>
                    <a:pt x="0" y="0"/>
                  </a:moveTo>
                  <a:lnTo>
                    <a:pt x="1645920" y="0"/>
                  </a:lnTo>
                  <a:lnTo>
                    <a:pt x="1645920" y="1062228"/>
                  </a:lnTo>
                  <a:lnTo>
                    <a:pt x="0" y="1062228"/>
                  </a:lnTo>
                  <a:close/>
                </a:path>
              </a:pathLst>
            </a:custGeom>
            <a:blipFill>
              <a:blip r:embed="rId3">
                <a:alphaModFix amt="0"/>
              </a:blip>
              <a:stretch>
                <a:fillRect l="-32803" t="0" r="-32803" b="0"/>
              </a:stretch>
            </a:blipFill>
          </p:spPr>
        </p:sp>
        <p:sp>
          <p:nvSpPr>
            <p:cNvPr name="TextBox 138" id="138"/>
            <p:cNvSpPr txBox="true"/>
            <p:nvPr/>
          </p:nvSpPr>
          <p:spPr>
            <a:xfrm>
              <a:off x="0" y="-38100"/>
              <a:ext cx="1645920" cy="1100328"/>
            </a:xfrm>
            <a:prstGeom prst="rect">
              <a:avLst/>
            </a:prstGeom>
          </p:spPr>
          <p:txBody>
            <a:bodyPr anchor="ctr" rtlCol="false" tIns="0" lIns="0" bIns="0" rIns="0"/>
            <a:lstStyle/>
            <a:p>
              <a:pPr algn="l">
                <a:lnSpc>
                  <a:spcPts val="2160"/>
                </a:lnSpc>
              </a:pPr>
              <a:r>
                <a:rPr lang="en-US" sz="1800" b="true">
                  <a:solidFill>
                    <a:srgbClr val="F9FBFC"/>
                  </a:solidFill>
                  <a:latin typeface="Calibri (MS) Bold"/>
                  <a:ea typeface="Calibri (MS) Bold"/>
                  <a:cs typeface="Calibri (MS) Bold"/>
                  <a:sym typeface="Calibri (MS) Bold"/>
                </a:rPr>
                <a:t>RF-11</a:t>
              </a:r>
            </a:p>
          </p:txBody>
        </p:sp>
      </p:grpSp>
      <p:grpSp>
        <p:nvGrpSpPr>
          <p:cNvPr name="Group 139" id="139"/>
          <p:cNvGrpSpPr/>
          <p:nvPr/>
        </p:nvGrpSpPr>
        <p:grpSpPr>
          <a:xfrm rot="0">
            <a:off x="10767060" y="6624828"/>
            <a:ext cx="6377940" cy="822960"/>
            <a:chOff x="0" y="0"/>
            <a:chExt cx="8503920" cy="1097280"/>
          </a:xfrm>
        </p:grpSpPr>
        <p:sp>
          <p:nvSpPr>
            <p:cNvPr name="Freeform 140" id="140"/>
            <p:cNvSpPr/>
            <p:nvPr/>
          </p:nvSpPr>
          <p:spPr>
            <a:xfrm flipH="false" flipV="false" rot="0">
              <a:off x="0" y="0"/>
              <a:ext cx="8503920" cy="1097280"/>
            </a:xfrm>
            <a:custGeom>
              <a:avLst/>
              <a:gdLst/>
              <a:ahLst/>
              <a:cxnLst/>
              <a:rect r="r" b="b" t="t" l="l"/>
              <a:pathLst>
                <a:path h="1097280" w="8503920">
                  <a:moveTo>
                    <a:pt x="0" y="0"/>
                  </a:moveTo>
                  <a:lnTo>
                    <a:pt x="8503920" y="0"/>
                  </a:lnTo>
                  <a:lnTo>
                    <a:pt x="8503920" y="1097280"/>
                  </a:lnTo>
                  <a:lnTo>
                    <a:pt x="0" y="1097280"/>
                  </a:lnTo>
                  <a:close/>
                </a:path>
              </a:pathLst>
            </a:custGeom>
            <a:blipFill>
              <a:blip r:embed="rId2">
                <a:alphaModFix amt="0"/>
              </a:blip>
              <a:stretch>
                <a:fillRect l="0" t="-100903" r="0" b="-100903"/>
              </a:stretch>
            </a:blipFill>
          </p:spPr>
        </p:sp>
      </p:grpSp>
      <p:grpSp>
        <p:nvGrpSpPr>
          <p:cNvPr name="Group 141" id="141"/>
          <p:cNvGrpSpPr/>
          <p:nvPr/>
        </p:nvGrpSpPr>
        <p:grpSpPr>
          <a:xfrm rot="0">
            <a:off x="10767060" y="6603397"/>
            <a:ext cx="6377940" cy="844391"/>
            <a:chOff x="0" y="0"/>
            <a:chExt cx="8503920" cy="1125855"/>
          </a:xfrm>
        </p:grpSpPr>
        <p:sp>
          <p:nvSpPr>
            <p:cNvPr name="Freeform 142" id="142"/>
            <p:cNvSpPr/>
            <p:nvPr/>
          </p:nvSpPr>
          <p:spPr>
            <a:xfrm flipH="false" flipV="false" rot="0">
              <a:off x="0" y="0"/>
              <a:ext cx="8503920" cy="1125855"/>
            </a:xfrm>
            <a:custGeom>
              <a:avLst/>
              <a:gdLst/>
              <a:ahLst/>
              <a:cxnLst/>
              <a:rect r="r" b="b" t="t" l="l"/>
              <a:pathLst>
                <a:path h="1125855" w="8503920">
                  <a:moveTo>
                    <a:pt x="0" y="0"/>
                  </a:moveTo>
                  <a:lnTo>
                    <a:pt x="8503920" y="0"/>
                  </a:lnTo>
                  <a:lnTo>
                    <a:pt x="8503920" y="1125855"/>
                  </a:lnTo>
                  <a:lnTo>
                    <a:pt x="0" y="1125855"/>
                  </a:lnTo>
                  <a:close/>
                </a:path>
              </a:pathLst>
            </a:custGeom>
            <a:blipFill>
              <a:blip r:embed="rId3">
                <a:alphaModFix amt="0"/>
              </a:blip>
              <a:stretch>
                <a:fillRect l="0" t="-97176" r="0" b="-97176"/>
              </a:stretch>
            </a:blipFill>
          </p:spPr>
        </p:sp>
        <p:sp>
          <p:nvSpPr>
            <p:cNvPr name="TextBox 143" id="143"/>
            <p:cNvSpPr txBox="true"/>
            <p:nvPr/>
          </p:nvSpPr>
          <p:spPr>
            <a:xfrm>
              <a:off x="0" y="-28575"/>
              <a:ext cx="8503920" cy="1154430"/>
            </a:xfrm>
            <a:prstGeom prst="rect">
              <a:avLst/>
            </a:prstGeom>
          </p:spPr>
          <p:txBody>
            <a:bodyPr anchor="ctr" rtlCol="false" tIns="0" lIns="0" bIns="0" rIns="0"/>
            <a:lstStyle/>
            <a:p>
              <a:pPr algn="l">
                <a:lnSpc>
                  <a:spcPts val="1980"/>
                </a:lnSpc>
              </a:pPr>
              <a:r>
                <a:rPr lang="en-US" sz="1650">
                  <a:solidFill>
                    <a:srgbClr val="F9FBFC"/>
                  </a:solidFill>
                  <a:latin typeface="Calibri (MS)"/>
                  <a:ea typeface="Calibri (MS)"/>
                  <a:cs typeface="Calibri (MS)"/>
                  <a:sym typeface="Calibri (MS)"/>
                </a:rPr>
                <a:t>Explicar en lenguaje natural cada recomendación.</a:t>
              </a:r>
            </a:p>
          </p:txBody>
        </p:sp>
      </p:grpSp>
      <p:grpSp>
        <p:nvGrpSpPr>
          <p:cNvPr name="Group 144" id="144"/>
          <p:cNvGrpSpPr/>
          <p:nvPr/>
        </p:nvGrpSpPr>
        <p:grpSpPr>
          <a:xfrm rot="0">
            <a:off x="9258300" y="7612380"/>
            <a:ext cx="8161020" cy="987552"/>
            <a:chOff x="0" y="0"/>
            <a:chExt cx="10881360" cy="1316736"/>
          </a:xfrm>
        </p:grpSpPr>
        <p:sp>
          <p:nvSpPr>
            <p:cNvPr name="Freeform 145" id="145"/>
            <p:cNvSpPr/>
            <p:nvPr/>
          </p:nvSpPr>
          <p:spPr>
            <a:xfrm flipH="false" flipV="false" rot="0">
              <a:off x="0" y="0"/>
              <a:ext cx="10881360" cy="1316736"/>
            </a:xfrm>
            <a:custGeom>
              <a:avLst/>
              <a:gdLst/>
              <a:ahLst/>
              <a:cxnLst/>
              <a:rect r="r" b="b" t="t" l="l"/>
              <a:pathLst>
                <a:path h="1316736" w="10881360">
                  <a:moveTo>
                    <a:pt x="0" y="182880"/>
                  </a:moveTo>
                  <a:cubicBezTo>
                    <a:pt x="0" y="81915"/>
                    <a:pt x="81915" y="0"/>
                    <a:pt x="182880" y="0"/>
                  </a:cubicBezTo>
                  <a:lnTo>
                    <a:pt x="10698480" y="0"/>
                  </a:lnTo>
                  <a:cubicBezTo>
                    <a:pt x="10799445" y="0"/>
                    <a:pt x="10881360" y="81915"/>
                    <a:pt x="10881360" y="182880"/>
                  </a:cubicBezTo>
                  <a:lnTo>
                    <a:pt x="10881360" y="1133856"/>
                  </a:lnTo>
                  <a:cubicBezTo>
                    <a:pt x="10881360" y="1234821"/>
                    <a:pt x="10799445" y="1316736"/>
                    <a:pt x="10698480" y="1316736"/>
                  </a:cubicBezTo>
                  <a:lnTo>
                    <a:pt x="182880" y="1316736"/>
                  </a:lnTo>
                  <a:cubicBezTo>
                    <a:pt x="81915" y="1316736"/>
                    <a:pt x="0" y="1234821"/>
                    <a:pt x="0" y="1133856"/>
                  </a:cubicBezTo>
                  <a:close/>
                </a:path>
              </a:pathLst>
            </a:custGeom>
            <a:solidFill>
              <a:srgbClr val="9495A2"/>
            </a:solidFill>
          </p:spPr>
        </p:sp>
      </p:grpSp>
      <p:grpSp>
        <p:nvGrpSpPr>
          <p:cNvPr name="Group 146" id="146"/>
          <p:cNvGrpSpPr/>
          <p:nvPr/>
        </p:nvGrpSpPr>
        <p:grpSpPr>
          <a:xfrm rot="0">
            <a:off x="9464040" y="7722108"/>
            <a:ext cx="1234440" cy="768096"/>
            <a:chOff x="0" y="0"/>
            <a:chExt cx="1645920" cy="1024128"/>
          </a:xfrm>
        </p:grpSpPr>
        <p:sp>
          <p:nvSpPr>
            <p:cNvPr name="Freeform 147" id="147"/>
            <p:cNvSpPr/>
            <p:nvPr/>
          </p:nvSpPr>
          <p:spPr>
            <a:xfrm flipH="false" flipV="false" rot="0">
              <a:off x="0" y="0"/>
              <a:ext cx="1645920" cy="1024128"/>
            </a:xfrm>
            <a:custGeom>
              <a:avLst/>
              <a:gdLst/>
              <a:ahLst/>
              <a:cxnLst/>
              <a:rect r="r" b="b" t="t" l="l"/>
              <a:pathLst>
                <a:path h="1024128" w="1645920">
                  <a:moveTo>
                    <a:pt x="0" y="0"/>
                  </a:moveTo>
                  <a:lnTo>
                    <a:pt x="1645920" y="0"/>
                  </a:lnTo>
                  <a:lnTo>
                    <a:pt x="1645920" y="1024128"/>
                  </a:lnTo>
                  <a:lnTo>
                    <a:pt x="0" y="1024128"/>
                  </a:lnTo>
                  <a:close/>
                </a:path>
              </a:pathLst>
            </a:custGeom>
            <a:blipFill>
              <a:blip r:embed="rId2">
                <a:alphaModFix amt="0"/>
              </a:blip>
              <a:stretch>
                <a:fillRect l="-29888" t="0" r="-29888" b="0"/>
              </a:stretch>
            </a:blipFill>
          </p:spPr>
        </p:sp>
      </p:grpSp>
      <p:grpSp>
        <p:nvGrpSpPr>
          <p:cNvPr name="Group 148" id="148"/>
          <p:cNvGrpSpPr/>
          <p:nvPr/>
        </p:nvGrpSpPr>
        <p:grpSpPr>
          <a:xfrm rot="0">
            <a:off x="9464040" y="7693533"/>
            <a:ext cx="1234440" cy="796671"/>
            <a:chOff x="0" y="0"/>
            <a:chExt cx="1645920" cy="1062228"/>
          </a:xfrm>
        </p:grpSpPr>
        <p:sp>
          <p:nvSpPr>
            <p:cNvPr name="Freeform 149" id="149"/>
            <p:cNvSpPr/>
            <p:nvPr/>
          </p:nvSpPr>
          <p:spPr>
            <a:xfrm flipH="false" flipV="false" rot="0">
              <a:off x="0" y="0"/>
              <a:ext cx="1645920" cy="1062228"/>
            </a:xfrm>
            <a:custGeom>
              <a:avLst/>
              <a:gdLst/>
              <a:ahLst/>
              <a:cxnLst/>
              <a:rect r="r" b="b" t="t" l="l"/>
              <a:pathLst>
                <a:path h="1062228" w="1645920">
                  <a:moveTo>
                    <a:pt x="0" y="0"/>
                  </a:moveTo>
                  <a:lnTo>
                    <a:pt x="1645920" y="0"/>
                  </a:lnTo>
                  <a:lnTo>
                    <a:pt x="1645920" y="1062228"/>
                  </a:lnTo>
                  <a:lnTo>
                    <a:pt x="0" y="1062228"/>
                  </a:lnTo>
                  <a:close/>
                </a:path>
              </a:pathLst>
            </a:custGeom>
            <a:blipFill>
              <a:blip r:embed="rId3">
                <a:alphaModFix amt="0"/>
              </a:blip>
              <a:stretch>
                <a:fillRect l="-32803" t="0" r="-32803" b="0"/>
              </a:stretch>
            </a:blipFill>
          </p:spPr>
        </p:sp>
        <p:sp>
          <p:nvSpPr>
            <p:cNvPr name="TextBox 150" id="150"/>
            <p:cNvSpPr txBox="true"/>
            <p:nvPr/>
          </p:nvSpPr>
          <p:spPr>
            <a:xfrm>
              <a:off x="0" y="-38100"/>
              <a:ext cx="1645920" cy="1100328"/>
            </a:xfrm>
            <a:prstGeom prst="rect">
              <a:avLst/>
            </a:prstGeom>
          </p:spPr>
          <p:txBody>
            <a:bodyPr anchor="ctr" rtlCol="false" tIns="0" lIns="0" bIns="0" rIns="0"/>
            <a:lstStyle/>
            <a:p>
              <a:pPr algn="l">
                <a:lnSpc>
                  <a:spcPts val="2160"/>
                </a:lnSpc>
              </a:pPr>
              <a:r>
                <a:rPr lang="en-US" sz="1800" b="true">
                  <a:solidFill>
                    <a:srgbClr val="F9FBFC"/>
                  </a:solidFill>
                  <a:latin typeface="Calibri (MS) Bold"/>
                  <a:ea typeface="Calibri (MS) Bold"/>
                  <a:cs typeface="Calibri (MS) Bold"/>
                  <a:sym typeface="Calibri (MS) Bold"/>
                </a:rPr>
                <a:t>RF-12</a:t>
              </a:r>
            </a:p>
          </p:txBody>
        </p:sp>
      </p:grpSp>
      <p:grpSp>
        <p:nvGrpSpPr>
          <p:cNvPr name="Group 151" id="151"/>
          <p:cNvGrpSpPr/>
          <p:nvPr/>
        </p:nvGrpSpPr>
        <p:grpSpPr>
          <a:xfrm rot="0">
            <a:off x="10767060" y="7694676"/>
            <a:ext cx="6377940" cy="822960"/>
            <a:chOff x="0" y="0"/>
            <a:chExt cx="8503920" cy="1097280"/>
          </a:xfrm>
        </p:grpSpPr>
        <p:sp>
          <p:nvSpPr>
            <p:cNvPr name="Freeform 152" id="152"/>
            <p:cNvSpPr/>
            <p:nvPr/>
          </p:nvSpPr>
          <p:spPr>
            <a:xfrm flipH="false" flipV="false" rot="0">
              <a:off x="0" y="0"/>
              <a:ext cx="8503920" cy="1097280"/>
            </a:xfrm>
            <a:custGeom>
              <a:avLst/>
              <a:gdLst/>
              <a:ahLst/>
              <a:cxnLst/>
              <a:rect r="r" b="b" t="t" l="l"/>
              <a:pathLst>
                <a:path h="1097280" w="8503920">
                  <a:moveTo>
                    <a:pt x="0" y="0"/>
                  </a:moveTo>
                  <a:lnTo>
                    <a:pt x="8503920" y="0"/>
                  </a:lnTo>
                  <a:lnTo>
                    <a:pt x="8503920" y="1097280"/>
                  </a:lnTo>
                  <a:lnTo>
                    <a:pt x="0" y="1097280"/>
                  </a:lnTo>
                  <a:close/>
                </a:path>
              </a:pathLst>
            </a:custGeom>
            <a:blipFill>
              <a:blip r:embed="rId2">
                <a:alphaModFix amt="0"/>
              </a:blip>
              <a:stretch>
                <a:fillRect l="0" t="-100903" r="0" b="-100903"/>
              </a:stretch>
            </a:blipFill>
          </p:spPr>
        </p:sp>
      </p:grpSp>
      <p:grpSp>
        <p:nvGrpSpPr>
          <p:cNvPr name="Group 153" id="153"/>
          <p:cNvGrpSpPr/>
          <p:nvPr/>
        </p:nvGrpSpPr>
        <p:grpSpPr>
          <a:xfrm rot="0">
            <a:off x="10767060" y="7673245"/>
            <a:ext cx="6377940" cy="844391"/>
            <a:chOff x="0" y="0"/>
            <a:chExt cx="8503920" cy="1125855"/>
          </a:xfrm>
        </p:grpSpPr>
        <p:sp>
          <p:nvSpPr>
            <p:cNvPr name="Freeform 154" id="154"/>
            <p:cNvSpPr/>
            <p:nvPr/>
          </p:nvSpPr>
          <p:spPr>
            <a:xfrm flipH="false" flipV="false" rot="0">
              <a:off x="0" y="0"/>
              <a:ext cx="8503920" cy="1125855"/>
            </a:xfrm>
            <a:custGeom>
              <a:avLst/>
              <a:gdLst/>
              <a:ahLst/>
              <a:cxnLst/>
              <a:rect r="r" b="b" t="t" l="l"/>
              <a:pathLst>
                <a:path h="1125855" w="8503920">
                  <a:moveTo>
                    <a:pt x="0" y="0"/>
                  </a:moveTo>
                  <a:lnTo>
                    <a:pt x="8503920" y="0"/>
                  </a:lnTo>
                  <a:lnTo>
                    <a:pt x="8503920" y="1125855"/>
                  </a:lnTo>
                  <a:lnTo>
                    <a:pt x="0" y="1125855"/>
                  </a:lnTo>
                  <a:close/>
                </a:path>
              </a:pathLst>
            </a:custGeom>
            <a:blipFill>
              <a:blip r:embed="rId3">
                <a:alphaModFix amt="0"/>
              </a:blip>
              <a:stretch>
                <a:fillRect l="0" t="-97176" r="0" b="-97176"/>
              </a:stretch>
            </a:blipFill>
          </p:spPr>
        </p:sp>
        <p:sp>
          <p:nvSpPr>
            <p:cNvPr name="TextBox 155" id="155"/>
            <p:cNvSpPr txBox="true"/>
            <p:nvPr/>
          </p:nvSpPr>
          <p:spPr>
            <a:xfrm>
              <a:off x="0" y="-28575"/>
              <a:ext cx="8503920" cy="1154430"/>
            </a:xfrm>
            <a:prstGeom prst="rect">
              <a:avLst/>
            </a:prstGeom>
          </p:spPr>
          <p:txBody>
            <a:bodyPr anchor="ctr" rtlCol="false" tIns="0" lIns="0" bIns="0" rIns="0"/>
            <a:lstStyle/>
            <a:p>
              <a:pPr algn="l">
                <a:lnSpc>
                  <a:spcPts val="1980"/>
                </a:lnSpc>
              </a:pPr>
              <a:r>
                <a:rPr lang="en-US" sz="1650">
                  <a:solidFill>
                    <a:srgbClr val="F9FBFC"/>
                  </a:solidFill>
                  <a:latin typeface="Calibri (MS)"/>
                  <a:ea typeface="Calibri (MS)"/>
                  <a:cs typeface="Calibri (MS)"/>
                  <a:sym typeface="Calibri (MS)"/>
                </a:rPr>
                <a:t>Visualizar las propiedades recomendadas en un mapa interactivo.</a:t>
              </a:r>
            </a:p>
          </p:txBody>
        </p:sp>
      </p:grpSp>
      <p:grpSp>
        <p:nvGrpSpPr>
          <p:cNvPr name="Group 156" id="156"/>
          <p:cNvGrpSpPr/>
          <p:nvPr/>
        </p:nvGrpSpPr>
        <p:grpSpPr>
          <a:xfrm rot="0">
            <a:off x="685800" y="9738360"/>
            <a:ext cx="8229600" cy="411480"/>
            <a:chOff x="0" y="0"/>
            <a:chExt cx="10972800" cy="548640"/>
          </a:xfrm>
        </p:grpSpPr>
        <p:sp>
          <p:nvSpPr>
            <p:cNvPr name="Freeform 157" id="157"/>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158" id="158"/>
          <p:cNvGrpSpPr/>
          <p:nvPr/>
        </p:nvGrpSpPr>
        <p:grpSpPr>
          <a:xfrm rot="0">
            <a:off x="685800" y="9709785"/>
            <a:ext cx="8229600" cy="440055"/>
            <a:chOff x="0" y="0"/>
            <a:chExt cx="10972800" cy="586740"/>
          </a:xfrm>
        </p:grpSpPr>
        <p:sp>
          <p:nvSpPr>
            <p:cNvPr name="Freeform 159" id="159"/>
            <p:cNvSpPr/>
            <p:nvPr/>
          </p:nvSpPr>
          <p:spPr>
            <a:xfrm flipH="false" flipV="false" rot="0">
              <a:off x="0" y="0"/>
              <a:ext cx="10972800" cy="586740"/>
            </a:xfrm>
            <a:custGeom>
              <a:avLst/>
              <a:gdLst/>
              <a:ahLst/>
              <a:cxnLst/>
              <a:rect r="r" b="b" t="t" l="l"/>
              <a:pathLst>
                <a:path h="586740" w="10972800">
                  <a:moveTo>
                    <a:pt x="0" y="0"/>
                  </a:moveTo>
                  <a:lnTo>
                    <a:pt x="10972800" y="0"/>
                  </a:lnTo>
                  <a:lnTo>
                    <a:pt x="10972800" y="586740"/>
                  </a:lnTo>
                  <a:lnTo>
                    <a:pt x="0" y="586740"/>
                  </a:lnTo>
                  <a:close/>
                </a:path>
              </a:pathLst>
            </a:custGeom>
            <a:blipFill>
              <a:blip r:embed="rId3">
                <a:alphaModFix amt="0"/>
              </a:blip>
              <a:stretch>
                <a:fillRect l="0" t="-314395" r="0" b="-314395"/>
              </a:stretch>
            </a:blipFill>
          </p:spPr>
        </p:sp>
        <p:sp>
          <p:nvSpPr>
            <p:cNvPr name="TextBox 160" id="160"/>
            <p:cNvSpPr txBox="true"/>
            <p:nvPr/>
          </p:nvSpPr>
          <p:spPr>
            <a:xfrm>
              <a:off x="0" y="-38100"/>
              <a:ext cx="10972800" cy="624840"/>
            </a:xfrm>
            <a:prstGeom prst="rect">
              <a:avLst/>
            </a:prstGeom>
          </p:spPr>
          <p:txBody>
            <a:bodyPr anchor="ctr" rtlCol="false" tIns="0" lIns="0" bIns="0" rIns="0"/>
            <a:lstStyle/>
            <a:p>
              <a:pPr algn="l">
                <a:lnSpc>
                  <a:spcPts val="1800"/>
                </a:lnSpc>
              </a:pPr>
              <a:r>
                <a:rPr lang="en-US" sz="1500">
                  <a:solidFill>
                    <a:srgbClr val="35448A"/>
                  </a:solidFill>
                  <a:latin typeface="Calibri (MS)"/>
                  <a:ea typeface="Calibri (MS)"/>
                  <a:cs typeface="Calibri (MS)"/>
                  <a:sym typeface="Calibri (MS)"/>
                </a:rPr>
                <a:t>InmoScore · Week 5</a:t>
              </a:r>
            </a:p>
          </p:txBody>
        </p:sp>
      </p:grpSp>
      <p:grpSp>
        <p:nvGrpSpPr>
          <p:cNvPr name="Group 161" id="161"/>
          <p:cNvGrpSpPr/>
          <p:nvPr/>
        </p:nvGrpSpPr>
        <p:grpSpPr>
          <a:xfrm rot="0">
            <a:off x="17048988" y="9738360"/>
            <a:ext cx="548640" cy="411480"/>
            <a:chOff x="0" y="0"/>
            <a:chExt cx="731520" cy="548640"/>
          </a:xfrm>
        </p:grpSpPr>
        <p:sp>
          <p:nvSpPr>
            <p:cNvPr name="Freeform 162" id="162"/>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163" id="163"/>
          <p:cNvGrpSpPr/>
          <p:nvPr/>
        </p:nvGrpSpPr>
        <p:grpSpPr>
          <a:xfrm rot="0">
            <a:off x="17048988" y="9709785"/>
            <a:ext cx="548640" cy="440055"/>
            <a:chOff x="0" y="0"/>
            <a:chExt cx="731520" cy="586740"/>
          </a:xfrm>
        </p:grpSpPr>
        <p:sp>
          <p:nvSpPr>
            <p:cNvPr name="Freeform 164" id="164"/>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165" id="165"/>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35448A"/>
                  </a:solidFill>
                  <a:latin typeface="Calibri (MS)"/>
                  <a:ea typeface="Calibri (MS)"/>
                  <a:cs typeface="Calibri (MS)"/>
                  <a:sym typeface="Calibri (MS)"/>
                </a:rPr>
                <a:t>8</a:t>
              </a:r>
            </a:p>
          </p:txBody>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9FBFC"/>
        </a:solidFill>
      </p:bgPr>
    </p:bg>
    <p:spTree>
      <p:nvGrpSpPr>
        <p:cNvPr id="1" name=""/>
        <p:cNvGrpSpPr/>
        <p:nvPr/>
      </p:nvGrpSpPr>
      <p:grpSpPr>
        <a:xfrm>
          <a:off x="0" y="0"/>
          <a:ext cx="0" cy="0"/>
          <a:chOff x="0" y="0"/>
          <a:chExt cx="0" cy="0"/>
        </a:xfrm>
      </p:grpSpPr>
      <p:grpSp>
        <p:nvGrpSpPr>
          <p:cNvPr name="Group 2" id="2"/>
          <p:cNvGrpSpPr/>
          <p:nvPr/>
        </p:nvGrpSpPr>
        <p:grpSpPr>
          <a:xfrm rot="0">
            <a:off x="822960" y="480060"/>
            <a:ext cx="13716000" cy="480060"/>
            <a:chOff x="0" y="0"/>
            <a:chExt cx="18288000" cy="640080"/>
          </a:xfrm>
        </p:grpSpPr>
        <p:sp>
          <p:nvSpPr>
            <p:cNvPr name="Freeform 3" id="3"/>
            <p:cNvSpPr/>
            <p:nvPr/>
          </p:nvSpPr>
          <p:spPr>
            <a:xfrm flipH="false" flipV="false" rot="0">
              <a:off x="0" y="0"/>
              <a:ext cx="18288000" cy="640080"/>
            </a:xfrm>
            <a:custGeom>
              <a:avLst/>
              <a:gdLst/>
              <a:ahLst/>
              <a:cxnLst/>
              <a:rect r="r" b="b" t="t" l="l"/>
              <a:pathLst>
                <a:path h="640080" w="18288000">
                  <a:moveTo>
                    <a:pt x="0" y="0"/>
                  </a:moveTo>
                  <a:lnTo>
                    <a:pt x="18288000" y="0"/>
                  </a:lnTo>
                  <a:lnTo>
                    <a:pt x="18288000" y="640080"/>
                  </a:lnTo>
                  <a:lnTo>
                    <a:pt x="0" y="640080"/>
                  </a:lnTo>
                  <a:close/>
                </a:path>
              </a:pathLst>
            </a:custGeom>
            <a:blipFill>
              <a:blip r:embed="rId2">
                <a:alphaModFix amt="0"/>
              </a:blip>
              <a:stretch>
                <a:fillRect l="0" t="-506327" r="0" b="-506329"/>
              </a:stretch>
            </a:blipFill>
          </p:spPr>
        </p:sp>
      </p:grpSp>
      <p:grpSp>
        <p:nvGrpSpPr>
          <p:cNvPr name="Group 4" id="4"/>
          <p:cNvGrpSpPr/>
          <p:nvPr/>
        </p:nvGrpSpPr>
        <p:grpSpPr>
          <a:xfrm rot="0">
            <a:off x="822960" y="451485"/>
            <a:ext cx="13716000" cy="508635"/>
            <a:chOff x="0" y="0"/>
            <a:chExt cx="18288000" cy="678180"/>
          </a:xfrm>
        </p:grpSpPr>
        <p:sp>
          <p:nvSpPr>
            <p:cNvPr name="Freeform 5" id="5"/>
            <p:cNvSpPr/>
            <p:nvPr/>
          </p:nvSpPr>
          <p:spPr>
            <a:xfrm flipH="false" flipV="false" rot="0">
              <a:off x="0" y="0"/>
              <a:ext cx="18288000" cy="678180"/>
            </a:xfrm>
            <a:custGeom>
              <a:avLst/>
              <a:gdLst/>
              <a:ahLst/>
              <a:cxnLst/>
              <a:rect r="r" b="b" t="t" l="l"/>
              <a:pathLst>
                <a:path h="678180" w="18288000">
                  <a:moveTo>
                    <a:pt x="0" y="0"/>
                  </a:moveTo>
                  <a:lnTo>
                    <a:pt x="18288000" y="0"/>
                  </a:lnTo>
                  <a:lnTo>
                    <a:pt x="18288000" y="678180"/>
                  </a:lnTo>
                  <a:lnTo>
                    <a:pt x="0" y="678180"/>
                  </a:lnTo>
                  <a:close/>
                </a:path>
              </a:pathLst>
            </a:custGeom>
            <a:blipFill>
              <a:blip r:embed="rId3">
                <a:alphaModFix amt="0"/>
              </a:blip>
              <a:stretch>
                <a:fillRect l="0" t="-475439" r="0" b="-475439"/>
              </a:stretch>
            </a:blipFill>
          </p:spPr>
        </p:sp>
        <p:sp>
          <p:nvSpPr>
            <p:cNvPr name="TextBox 6" id="6"/>
            <p:cNvSpPr txBox="true"/>
            <p:nvPr/>
          </p:nvSpPr>
          <p:spPr>
            <a:xfrm>
              <a:off x="0" y="-38100"/>
              <a:ext cx="18288000" cy="716280"/>
            </a:xfrm>
            <a:prstGeom prst="rect">
              <a:avLst/>
            </a:prstGeom>
          </p:spPr>
          <p:txBody>
            <a:bodyPr anchor="ctr" rtlCol="false" tIns="0" lIns="0" bIns="0" rIns="0"/>
            <a:lstStyle/>
            <a:p>
              <a:pPr algn="l">
                <a:lnSpc>
                  <a:spcPts val="2160"/>
                </a:lnSpc>
              </a:pPr>
              <a:r>
                <a:rPr lang="en-US" b="true" sz="1800" spc="225">
                  <a:solidFill>
                    <a:srgbClr val="35448A"/>
                  </a:solidFill>
                  <a:latin typeface="Calibri (MS) Bold"/>
                  <a:ea typeface="Calibri (MS) Bold"/>
                  <a:cs typeface="Calibri (MS) Bold"/>
                  <a:sym typeface="Calibri (MS) Bold"/>
                </a:rPr>
                <a:t>REQUIREMENTS</a:t>
              </a:r>
            </a:p>
          </p:txBody>
        </p:sp>
      </p:grpSp>
      <p:grpSp>
        <p:nvGrpSpPr>
          <p:cNvPr name="Group 7" id="7"/>
          <p:cNvGrpSpPr/>
          <p:nvPr/>
        </p:nvGrpSpPr>
        <p:grpSpPr>
          <a:xfrm rot="0">
            <a:off x="822960" y="932688"/>
            <a:ext cx="16184880" cy="960120"/>
            <a:chOff x="0" y="0"/>
            <a:chExt cx="21579840" cy="1280160"/>
          </a:xfrm>
        </p:grpSpPr>
        <p:sp>
          <p:nvSpPr>
            <p:cNvPr name="Freeform 8" id="8"/>
            <p:cNvSpPr/>
            <p:nvPr/>
          </p:nvSpPr>
          <p:spPr>
            <a:xfrm flipH="false" flipV="false" rot="0">
              <a:off x="0" y="0"/>
              <a:ext cx="21579839" cy="1280160"/>
            </a:xfrm>
            <a:custGeom>
              <a:avLst/>
              <a:gdLst/>
              <a:ahLst/>
              <a:cxnLst/>
              <a:rect r="r" b="b" t="t" l="l"/>
              <a:pathLst>
                <a:path h="1280160" w="21579839">
                  <a:moveTo>
                    <a:pt x="0" y="0"/>
                  </a:moveTo>
                  <a:lnTo>
                    <a:pt x="21579839" y="0"/>
                  </a:lnTo>
                  <a:lnTo>
                    <a:pt x="21579839" y="1280160"/>
                  </a:lnTo>
                  <a:lnTo>
                    <a:pt x="0" y="1280160"/>
                  </a:lnTo>
                  <a:close/>
                </a:path>
              </a:pathLst>
            </a:custGeom>
            <a:blipFill>
              <a:blip r:embed="rId2">
                <a:alphaModFix amt="0"/>
              </a:blip>
              <a:stretch>
                <a:fillRect l="0" t="-278234" r="0" b="-278233"/>
              </a:stretch>
            </a:blipFill>
          </p:spPr>
        </p:sp>
      </p:grpSp>
      <p:grpSp>
        <p:nvGrpSpPr>
          <p:cNvPr name="Group 9" id="9"/>
          <p:cNvGrpSpPr/>
          <p:nvPr/>
        </p:nvGrpSpPr>
        <p:grpSpPr>
          <a:xfrm rot="0">
            <a:off x="822960" y="918400"/>
            <a:ext cx="16184880" cy="974407"/>
            <a:chOff x="0" y="0"/>
            <a:chExt cx="21579840" cy="1299210"/>
          </a:xfrm>
        </p:grpSpPr>
        <p:sp>
          <p:nvSpPr>
            <p:cNvPr name="Freeform 10" id="10"/>
            <p:cNvSpPr/>
            <p:nvPr/>
          </p:nvSpPr>
          <p:spPr>
            <a:xfrm flipH="false" flipV="false" rot="0">
              <a:off x="0" y="0"/>
              <a:ext cx="21579839" cy="1299210"/>
            </a:xfrm>
            <a:custGeom>
              <a:avLst/>
              <a:gdLst/>
              <a:ahLst/>
              <a:cxnLst/>
              <a:rect r="r" b="b" t="t" l="l"/>
              <a:pathLst>
                <a:path h="1299210" w="21579839">
                  <a:moveTo>
                    <a:pt x="0" y="0"/>
                  </a:moveTo>
                  <a:lnTo>
                    <a:pt x="21579839" y="0"/>
                  </a:lnTo>
                  <a:lnTo>
                    <a:pt x="21579839" y="1299210"/>
                  </a:lnTo>
                  <a:lnTo>
                    <a:pt x="0" y="1299210"/>
                  </a:lnTo>
                  <a:close/>
                </a:path>
              </a:pathLst>
            </a:custGeom>
            <a:blipFill>
              <a:blip r:embed="rId3">
                <a:alphaModFix amt="0"/>
              </a:blip>
              <a:stretch>
                <a:fillRect l="0" t="-273645" r="0" b="-273645"/>
              </a:stretch>
            </a:blipFill>
          </p:spPr>
        </p:sp>
        <p:sp>
          <p:nvSpPr>
            <p:cNvPr name="TextBox 11" id="11"/>
            <p:cNvSpPr txBox="true"/>
            <p:nvPr/>
          </p:nvSpPr>
          <p:spPr>
            <a:xfrm>
              <a:off x="0" y="-19050"/>
              <a:ext cx="21579840" cy="1318260"/>
            </a:xfrm>
            <a:prstGeom prst="rect">
              <a:avLst/>
            </a:prstGeom>
          </p:spPr>
          <p:txBody>
            <a:bodyPr anchor="ctr" rtlCol="false" tIns="0" lIns="0" bIns="0" rIns="0"/>
            <a:lstStyle/>
            <a:p>
              <a:pPr algn="l">
                <a:lnSpc>
                  <a:spcPts val="5400"/>
                </a:lnSpc>
              </a:pPr>
              <a:r>
                <a:rPr lang="en-US" sz="4500" b="true">
                  <a:solidFill>
                    <a:srgbClr val="0F1017"/>
                  </a:solidFill>
                  <a:latin typeface="Cambria Bold"/>
                  <a:ea typeface="Cambria Bold"/>
                  <a:cs typeface="Cambria Bold"/>
                  <a:sym typeface="Cambria Bold"/>
                </a:rPr>
                <a:t>Non-Functional Requirements</a:t>
              </a:r>
            </a:p>
          </p:txBody>
        </p:sp>
      </p:grpSp>
      <p:grpSp>
        <p:nvGrpSpPr>
          <p:cNvPr name="Group 12" id="12"/>
          <p:cNvGrpSpPr/>
          <p:nvPr/>
        </p:nvGrpSpPr>
        <p:grpSpPr>
          <a:xfrm rot="0">
            <a:off x="822960" y="2263140"/>
            <a:ext cx="8161020" cy="1440180"/>
            <a:chOff x="0" y="0"/>
            <a:chExt cx="10881360" cy="1920240"/>
          </a:xfrm>
        </p:grpSpPr>
        <p:sp>
          <p:nvSpPr>
            <p:cNvPr name="Freeform 13" id="13"/>
            <p:cNvSpPr/>
            <p:nvPr/>
          </p:nvSpPr>
          <p:spPr>
            <a:xfrm flipH="false" flipV="false" rot="0">
              <a:off x="0" y="0"/>
              <a:ext cx="10881360" cy="1920240"/>
            </a:xfrm>
            <a:custGeom>
              <a:avLst/>
              <a:gdLst/>
              <a:ahLst/>
              <a:cxnLst/>
              <a:rect r="r" b="b" t="t" l="l"/>
              <a:pathLst>
                <a:path h="1920240" w="10881360">
                  <a:moveTo>
                    <a:pt x="0" y="182880"/>
                  </a:moveTo>
                  <a:cubicBezTo>
                    <a:pt x="0" y="81915"/>
                    <a:pt x="81915" y="0"/>
                    <a:pt x="182880" y="0"/>
                  </a:cubicBezTo>
                  <a:lnTo>
                    <a:pt x="10698480" y="0"/>
                  </a:lnTo>
                  <a:cubicBezTo>
                    <a:pt x="10799445" y="0"/>
                    <a:pt x="10881360" y="81915"/>
                    <a:pt x="10881360" y="182880"/>
                  </a:cubicBezTo>
                  <a:lnTo>
                    <a:pt x="10881360" y="1737360"/>
                  </a:lnTo>
                  <a:cubicBezTo>
                    <a:pt x="10881360" y="1838325"/>
                    <a:pt x="10799445" y="1920240"/>
                    <a:pt x="10698480" y="1920240"/>
                  </a:cubicBezTo>
                  <a:lnTo>
                    <a:pt x="182880" y="1920240"/>
                  </a:lnTo>
                  <a:cubicBezTo>
                    <a:pt x="81915" y="1920240"/>
                    <a:pt x="0" y="1838325"/>
                    <a:pt x="0" y="1737360"/>
                  </a:cubicBezTo>
                  <a:close/>
                </a:path>
              </a:pathLst>
            </a:custGeom>
            <a:solidFill>
              <a:srgbClr val="9495A2"/>
            </a:solidFill>
          </p:spPr>
        </p:sp>
      </p:grpSp>
      <p:grpSp>
        <p:nvGrpSpPr>
          <p:cNvPr name="Group 14" id="14"/>
          <p:cNvGrpSpPr/>
          <p:nvPr/>
        </p:nvGrpSpPr>
        <p:grpSpPr>
          <a:xfrm rot="0">
            <a:off x="1097280" y="2400300"/>
            <a:ext cx="7612380" cy="480060"/>
            <a:chOff x="0" y="0"/>
            <a:chExt cx="10149840" cy="640080"/>
          </a:xfrm>
        </p:grpSpPr>
        <p:sp>
          <p:nvSpPr>
            <p:cNvPr name="Freeform 15" id="15"/>
            <p:cNvSpPr/>
            <p:nvPr/>
          </p:nvSpPr>
          <p:spPr>
            <a:xfrm flipH="false" flipV="false" rot="0">
              <a:off x="0" y="0"/>
              <a:ext cx="10149840" cy="640080"/>
            </a:xfrm>
            <a:custGeom>
              <a:avLst/>
              <a:gdLst/>
              <a:ahLst/>
              <a:cxnLst/>
              <a:rect r="r" b="b" t="t" l="l"/>
              <a:pathLst>
                <a:path h="640080" w="10149840">
                  <a:moveTo>
                    <a:pt x="0" y="0"/>
                  </a:moveTo>
                  <a:lnTo>
                    <a:pt x="10149840" y="0"/>
                  </a:lnTo>
                  <a:lnTo>
                    <a:pt x="10149840" y="640080"/>
                  </a:lnTo>
                  <a:lnTo>
                    <a:pt x="0" y="640080"/>
                  </a:lnTo>
                  <a:close/>
                </a:path>
              </a:pathLst>
            </a:custGeom>
            <a:blipFill>
              <a:blip r:embed="rId2">
                <a:alphaModFix amt="0"/>
              </a:blip>
              <a:stretch>
                <a:fillRect l="0" t="-258761" r="0" b="-258761"/>
              </a:stretch>
            </a:blipFill>
          </p:spPr>
        </p:sp>
      </p:grpSp>
      <p:grpSp>
        <p:nvGrpSpPr>
          <p:cNvPr name="Group 16" id="16"/>
          <p:cNvGrpSpPr/>
          <p:nvPr/>
        </p:nvGrpSpPr>
        <p:grpSpPr>
          <a:xfrm rot="0">
            <a:off x="1097280" y="2371725"/>
            <a:ext cx="7612380" cy="508635"/>
            <a:chOff x="0" y="0"/>
            <a:chExt cx="10149840" cy="678180"/>
          </a:xfrm>
        </p:grpSpPr>
        <p:sp>
          <p:nvSpPr>
            <p:cNvPr name="Freeform 17" id="17"/>
            <p:cNvSpPr/>
            <p:nvPr/>
          </p:nvSpPr>
          <p:spPr>
            <a:xfrm flipH="false" flipV="false" rot="0">
              <a:off x="0" y="0"/>
              <a:ext cx="10149840" cy="678180"/>
            </a:xfrm>
            <a:custGeom>
              <a:avLst/>
              <a:gdLst/>
              <a:ahLst/>
              <a:cxnLst/>
              <a:rect r="r" b="b" t="t" l="l"/>
              <a:pathLst>
                <a:path h="678180" w="10149840">
                  <a:moveTo>
                    <a:pt x="0" y="0"/>
                  </a:moveTo>
                  <a:lnTo>
                    <a:pt x="10149840" y="0"/>
                  </a:lnTo>
                  <a:lnTo>
                    <a:pt x="10149840" y="678180"/>
                  </a:lnTo>
                  <a:lnTo>
                    <a:pt x="0" y="678180"/>
                  </a:lnTo>
                  <a:close/>
                </a:path>
              </a:pathLst>
            </a:custGeom>
            <a:blipFill>
              <a:blip r:embed="rId3">
                <a:alphaModFix amt="0"/>
              </a:blip>
              <a:stretch>
                <a:fillRect l="0" t="-241618" r="0" b="-241618"/>
              </a:stretch>
            </a:blipFill>
          </p:spPr>
        </p:sp>
        <p:sp>
          <p:nvSpPr>
            <p:cNvPr name="TextBox 18" id="18"/>
            <p:cNvSpPr txBox="true"/>
            <p:nvPr/>
          </p:nvSpPr>
          <p:spPr>
            <a:xfrm>
              <a:off x="0" y="-38100"/>
              <a:ext cx="10149840" cy="716280"/>
            </a:xfrm>
            <a:prstGeom prst="rect">
              <a:avLst/>
            </a:prstGeom>
          </p:spPr>
          <p:txBody>
            <a:bodyPr anchor="ctr" rtlCol="false" tIns="0" lIns="0" bIns="0" rIns="0"/>
            <a:lstStyle/>
            <a:p>
              <a:pPr algn="l">
                <a:lnSpc>
                  <a:spcPts val="2250"/>
                </a:lnSpc>
              </a:pPr>
              <a:r>
                <a:rPr lang="en-US" sz="1875" b="true">
                  <a:solidFill>
                    <a:srgbClr val="F9FBFC"/>
                  </a:solidFill>
                  <a:latin typeface="Calibri (MS) Bold"/>
                  <a:ea typeface="Calibri (MS) Bold"/>
                  <a:cs typeface="Calibri (MS) Bold"/>
                  <a:sym typeface="Calibri (MS) Bold"/>
                </a:rPr>
                <a:t>RNF-01 · Rendimiento</a:t>
              </a:r>
            </a:p>
          </p:txBody>
        </p:sp>
      </p:grpSp>
      <p:grpSp>
        <p:nvGrpSpPr>
          <p:cNvPr name="Group 19" id="19"/>
          <p:cNvGrpSpPr/>
          <p:nvPr/>
        </p:nvGrpSpPr>
        <p:grpSpPr>
          <a:xfrm rot="0">
            <a:off x="1097280" y="2880360"/>
            <a:ext cx="7612380" cy="754380"/>
            <a:chOff x="0" y="0"/>
            <a:chExt cx="10149840" cy="1005840"/>
          </a:xfrm>
        </p:grpSpPr>
        <p:sp>
          <p:nvSpPr>
            <p:cNvPr name="Freeform 20" id="20"/>
            <p:cNvSpPr/>
            <p:nvPr/>
          </p:nvSpPr>
          <p:spPr>
            <a:xfrm flipH="false" flipV="false" rot="0">
              <a:off x="0" y="0"/>
              <a:ext cx="10149840" cy="1005840"/>
            </a:xfrm>
            <a:custGeom>
              <a:avLst/>
              <a:gdLst/>
              <a:ahLst/>
              <a:cxnLst/>
              <a:rect r="r" b="b" t="t" l="l"/>
              <a:pathLst>
                <a:path h="1005840" w="10149840">
                  <a:moveTo>
                    <a:pt x="0" y="0"/>
                  </a:moveTo>
                  <a:lnTo>
                    <a:pt x="10149840" y="0"/>
                  </a:lnTo>
                  <a:lnTo>
                    <a:pt x="10149840" y="1005840"/>
                  </a:lnTo>
                  <a:lnTo>
                    <a:pt x="0" y="1005840"/>
                  </a:lnTo>
                  <a:close/>
                </a:path>
              </a:pathLst>
            </a:custGeom>
            <a:blipFill>
              <a:blip r:embed="rId2">
                <a:alphaModFix amt="0"/>
              </a:blip>
              <a:stretch>
                <a:fillRect l="0" t="-146484" r="0" b="-146484"/>
              </a:stretch>
            </a:blipFill>
          </p:spPr>
        </p:sp>
      </p:grpSp>
      <p:grpSp>
        <p:nvGrpSpPr>
          <p:cNvPr name="Group 21" id="21"/>
          <p:cNvGrpSpPr/>
          <p:nvPr/>
        </p:nvGrpSpPr>
        <p:grpSpPr>
          <a:xfrm rot="0">
            <a:off x="1097280" y="2858929"/>
            <a:ext cx="7612380" cy="775811"/>
            <a:chOff x="0" y="0"/>
            <a:chExt cx="10149840" cy="1034415"/>
          </a:xfrm>
        </p:grpSpPr>
        <p:sp>
          <p:nvSpPr>
            <p:cNvPr name="Freeform 22" id="22"/>
            <p:cNvSpPr/>
            <p:nvPr/>
          </p:nvSpPr>
          <p:spPr>
            <a:xfrm flipH="false" flipV="false" rot="0">
              <a:off x="0" y="0"/>
              <a:ext cx="10149840" cy="1034415"/>
            </a:xfrm>
            <a:custGeom>
              <a:avLst/>
              <a:gdLst/>
              <a:ahLst/>
              <a:cxnLst/>
              <a:rect r="r" b="b" t="t" l="l"/>
              <a:pathLst>
                <a:path h="1034415" w="10149840">
                  <a:moveTo>
                    <a:pt x="0" y="0"/>
                  </a:moveTo>
                  <a:lnTo>
                    <a:pt x="10149840" y="0"/>
                  </a:lnTo>
                  <a:lnTo>
                    <a:pt x="10149840" y="1034415"/>
                  </a:lnTo>
                  <a:lnTo>
                    <a:pt x="0" y="1034415"/>
                  </a:lnTo>
                  <a:close/>
                </a:path>
              </a:pathLst>
            </a:custGeom>
            <a:blipFill>
              <a:blip r:embed="rId3">
                <a:alphaModFix amt="0"/>
              </a:blip>
              <a:stretch>
                <a:fillRect l="0" t="-141190" r="0" b="-141190"/>
              </a:stretch>
            </a:blipFill>
          </p:spPr>
        </p:sp>
        <p:sp>
          <p:nvSpPr>
            <p:cNvPr name="TextBox 23" id="23"/>
            <p:cNvSpPr txBox="true"/>
            <p:nvPr/>
          </p:nvSpPr>
          <p:spPr>
            <a:xfrm>
              <a:off x="0" y="-28575"/>
              <a:ext cx="10149840" cy="1062990"/>
            </a:xfrm>
            <a:prstGeom prst="rect">
              <a:avLst/>
            </a:prstGeom>
          </p:spPr>
          <p:txBody>
            <a:bodyPr anchor="ctr" rtlCol="false" tIns="0" lIns="0" bIns="0" rIns="0"/>
            <a:lstStyle/>
            <a:p>
              <a:pPr algn="l">
                <a:lnSpc>
                  <a:spcPts val="1980"/>
                </a:lnSpc>
              </a:pPr>
              <a:r>
                <a:rPr lang="en-US" sz="1650">
                  <a:solidFill>
                    <a:srgbClr val="0F1017"/>
                  </a:solidFill>
                  <a:latin typeface="Calibri (MS)"/>
                  <a:ea typeface="Calibri (MS)"/>
                  <a:cs typeface="Calibri (MS)"/>
                  <a:sym typeface="Calibri (MS)"/>
                </a:rPr>
                <a:t>Ranking generado en menos de 5s tras cambio de preferencias (~5,000 propiedades).</a:t>
              </a:r>
            </a:p>
          </p:txBody>
        </p:sp>
      </p:grpSp>
      <p:grpSp>
        <p:nvGrpSpPr>
          <p:cNvPr name="Group 24" id="24"/>
          <p:cNvGrpSpPr/>
          <p:nvPr/>
        </p:nvGrpSpPr>
        <p:grpSpPr>
          <a:xfrm rot="0">
            <a:off x="822960" y="3840480"/>
            <a:ext cx="8161020" cy="1440180"/>
            <a:chOff x="0" y="0"/>
            <a:chExt cx="10881360" cy="1920240"/>
          </a:xfrm>
        </p:grpSpPr>
        <p:sp>
          <p:nvSpPr>
            <p:cNvPr name="Freeform 25" id="25"/>
            <p:cNvSpPr/>
            <p:nvPr/>
          </p:nvSpPr>
          <p:spPr>
            <a:xfrm flipH="false" flipV="false" rot="0">
              <a:off x="0" y="0"/>
              <a:ext cx="10881360" cy="1920240"/>
            </a:xfrm>
            <a:custGeom>
              <a:avLst/>
              <a:gdLst/>
              <a:ahLst/>
              <a:cxnLst/>
              <a:rect r="r" b="b" t="t" l="l"/>
              <a:pathLst>
                <a:path h="1920240" w="10881360">
                  <a:moveTo>
                    <a:pt x="0" y="182880"/>
                  </a:moveTo>
                  <a:cubicBezTo>
                    <a:pt x="0" y="81915"/>
                    <a:pt x="81915" y="0"/>
                    <a:pt x="182880" y="0"/>
                  </a:cubicBezTo>
                  <a:lnTo>
                    <a:pt x="10698480" y="0"/>
                  </a:lnTo>
                  <a:cubicBezTo>
                    <a:pt x="10799445" y="0"/>
                    <a:pt x="10881360" y="81915"/>
                    <a:pt x="10881360" y="182880"/>
                  </a:cubicBezTo>
                  <a:lnTo>
                    <a:pt x="10881360" y="1737360"/>
                  </a:lnTo>
                  <a:cubicBezTo>
                    <a:pt x="10881360" y="1838325"/>
                    <a:pt x="10799445" y="1920240"/>
                    <a:pt x="10698480" y="1920240"/>
                  </a:cubicBezTo>
                  <a:lnTo>
                    <a:pt x="182880" y="1920240"/>
                  </a:lnTo>
                  <a:cubicBezTo>
                    <a:pt x="81915" y="1920240"/>
                    <a:pt x="0" y="1838325"/>
                    <a:pt x="0" y="1737360"/>
                  </a:cubicBezTo>
                  <a:close/>
                </a:path>
              </a:pathLst>
            </a:custGeom>
            <a:solidFill>
              <a:srgbClr val="9495A2"/>
            </a:solidFill>
          </p:spPr>
        </p:sp>
      </p:grpSp>
      <p:grpSp>
        <p:nvGrpSpPr>
          <p:cNvPr name="Group 26" id="26"/>
          <p:cNvGrpSpPr/>
          <p:nvPr/>
        </p:nvGrpSpPr>
        <p:grpSpPr>
          <a:xfrm rot="0">
            <a:off x="1097280" y="3977640"/>
            <a:ext cx="7612380" cy="480060"/>
            <a:chOff x="0" y="0"/>
            <a:chExt cx="10149840" cy="640080"/>
          </a:xfrm>
        </p:grpSpPr>
        <p:sp>
          <p:nvSpPr>
            <p:cNvPr name="Freeform 27" id="27"/>
            <p:cNvSpPr/>
            <p:nvPr/>
          </p:nvSpPr>
          <p:spPr>
            <a:xfrm flipH="false" flipV="false" rot="0">
              <a:off x="0" y="0"/>
              <a:ext cx="10149840" cy="640080"/>
            </a:xfrm>
            <a:custGeom>
              <a:avLst/>
              <a:gdLst/>
              <a:ahLst/>
              <a:cxnLst/>
              <a:rect r="r" b="b" t="t" l="l"/>
              <a:pathLst>
                <a:path h="640080" w="10149840">
                  <a:moveTo>
                    <a:pt x="0" y="0"/>
                  </a:moveTo>
                  <a:lnTo>
                    <a:pt x="10149840" y="0"/>
                  </a:lnTo>
                  <a:lnTo>
                    <a:pt x="10149840" y="640080"/>
                  </a:lnTo>
                  <a:lnTo>
                    <a:pt x="0" y="640080"/>
                  </a:lnTo>
                  <a:close/>
                </a:path>
              </a:pathLst>
            </a:custGeom>
            <a:blipFill>
              <a:blip r:embed="rId2">
                <a:alphaModFix amt="0"/>
              </a:blip>
              <a:stretch>
                <a:fillRect l="0" t="-258761" r="0" b="-258761"/>
              </a:stretch>
            </a:blipFill>
          </p:spPr>
        </p:sp>
      </p:grpSp>
      <p:grpSp>
        <p:nvGrpSpPr>
          <p:cNvPr name="Group 28" id="28"/>
          <p:cNvGrpSpPr/>
          <p:nvPr/>
        </p:nvGrpSpPr>
        <p:grpSpPr>
          <a:xfrm rot="0">
            <a:off x="1097280" y="3949065"/>
            <a:ext cx="7612380" cy="508635"/>
            <a:chOff x="0" y="0"/>
            <a:chExt cx="10149840" cy="678180"/>
          </a:xfrm>
        </p:grpSpPr>
        <p:sp>
          <p:nvSpPr>
            <p:cNvPr name="Freeform 29" id="29"/>
            <p:cNvSpPr/>
            <p:nvPr/>
          </p:nvSpPr>
          <p:spPr>
            <a:xfrm flipH="false" flipV="false" rot="0">
              <a:off x="0" y="0"/>
              <a:ext cx="10149840" cy="678180"/>
            </a:xfrm>
            <a:custGeom>
              <a:avLst/>
              <a:gdLst/>
              <a:ahLst/>
              <a:cxnLst/>
              <a:rect r="r" b="b" t="t" l="l"/>
              <a:pathLst>
                <a:path h="678180" w="10149840">
                  <a:moveTo>
                    <a:pt x="0" y="0"/>
                  </a:moveTo>
                  <a:lnTo>
                    <a:pt x="10149840" y="0"/>
                  </a:lnTo>
                  <a:lnTo>
                    <a:pt x="10149840" y="678180"/>
                  </a:lnTo>
                  <a:lnTo>
                    <a:pt x="0" y="678180"/>
                  </a:lnTo>
                  <a:close/>
                </a:path>
              </a:pathLst>
            </a:custGeom>
            <a:blipFill>
              <a:blip r:embed="rId3">
                <a:alphaModFix amt="0"/>
              </a:blip>
              <a:stretch>
                <a:fillRect l="0" t="-241618" r="0" b="-241618"/>
              </a:stretch>
            </a:blipFill>
          </p:spPr>
        </p:sp>
        <p:sp>
          <p:nvSpPr>
            <p:cNvPr name="TextBox 30" id="30"/>
            <p:cNvSpPr txBox="true"/>
            <p:nvPr/>
          </p:nvSpPr>
          <p:spPr>
            <a:xfrm>
              <a:off x="0" y="-38100"/>
              <a:ext cx="10149840" cy="716280"/>
            </a:xfrm>
            <a:prstGeom prst="rect">
              <a:avLst/>
            </a:prstGeom>
          </p:spPr>
          <p:txBody>
            <a:bodyPr anchor="ctr" rtlCol="false" tIns="0" lIns="0" bIns="0" rIns="0"/>
            <a:lstStyle/>
            <a:p>
              <a:pPr algn="l">
                <a:lnSpc>
                  <a:spcPts val="2250"/>
                </a:lnSpc>
              </a:pPr>
              <a:r>
                <a:rPr lang="en-US" sz="1875" b="true">
                  <a:solidFill>
                    <a:srgbClr val="0F1017"/>
                  </a:solidFill>
                  <a:latin typeface="Calibri (MS) Bold"/>
                  <a:ea typeface="Calibri (MS) Bold"/>
                  <a:cs typeface="Calibri (MS) Bold"/>
                  <a:sym typeface="Calibri (MS) Bold"/>
                </a:rPr>
                <a:t>RNF-02 · Escalabilidad</a:t>
              </a:r>
            </a:p>
          </p:txBody>
        </p:sp>
      </p:grpSp>
      <p:grpSp>
        <p:nvGrpSpPr>
          <p:cNvPr name="Group 31" id="31"/>
          <p:cNvGrpSpPr/>
          <p:nvPr/>
        </p:nvGrpSpPr>
        <p:grpSpPr>
          <a:xfrm rot="0">
            <a:off x="1097280" y="4457700"/>
            <a:ext cx="7612380" cy="754380"/>
            <a:chOff x="0" y="0"/>
            <a:chExt cx="10149840" cy="1005840"/>
          </a:xfrm>
        </p:grpSpPr>
        <p:sp>
          <p:nvSpPr>
            <p:cNvPr name="Freeform 32" id="32"/>
            <p:cNvSpPr/>
            <p:nvPr/>
          </p:nvSpPr>
          <p:spPr>
            <a:xfrm flipH="false" flipV="false" rot="0">
              <a:off x="0" y="0"/>
              <a:ext cx="10149840" cy="1005840"/>
            </a:xfrm>
            <a:custGeom>
              <a:avLst/>
              <a:gdLst/>
              <a:ahLst/>
              <a:cxnLst/>
              <a:rect r="r" b="b" t="t" l="l"/>
              <a:pathLst>
                <a:path h="1005840" w="10149840">
                  <a:moveTo>
                    <a:pt x="0" y="0"/>
                  </a:moveTo>
                  <a:lnTo>
                    <a:pt x="10149840" y="0"/>
                  </a:lnTo>
                  <a:lnTo>
                    <a:pt x="10149840" y="1005840"/>
                  </a:lnTo>
                  <a:lnTo>
                    <a:pt x="0" y="1005840"/>
                  </a:lnTo>
                  <a:close/>
                </a:path>
              </a:pathLst>
            </a:custGeom>
            <a:blipFill>
              <a:blip r:embed="rId2">
                <a:alphaModFix amt="0"/>
              </a:blip>
              <a:stretch>
                <a:fillRect l="0" t="-146484" r="0" b="-146484"/>
              </a:stretch>
            </a:blipFill>
          </p:spPr>
        </p:sp>
      </p:grpSp>
      <p:grpSp>
        <p:nvGrpSpPr>
          <p:cNvPr name="Group 33" id="33"/>
          <p:cNvGrpSpPr/>
          <p:nvPr/>
        </p:nvGrpSpPr>
        <p:grpSpPr>
          <a:xfrm rot="0">
            <a:off x="1097280" y="4436269"/>
            <a:ext cx="7612380" cy="775811"/>
            <a:chOff x="0" y="0"/>
            <a:chExt cx="10149840" cy="1034415"/>
          </a:xfrm>
        </p:grpSpPr>
        <p:sp>
          <p:nvSpPr>
            <p:cNvPr name="Freeform 34" id="34"/>
            <p:cNvSpPr/>
            <p:nvPr/>
          </p:nvSpPr>
          <p:spPr>
            <a:xfrm flipH="false" flipV="false" rot="0">
              <a:off x="0" y="0"/>
              <a:ext cx="10149840" cy="1034415"/>
            </a:xfrm>
            <a:custGeom>
              <a:avLst/>
              <a:gdLst/>
              <a:ahLst/>
              <a:cxnLst/>
              <a:rect r="r" b="b" t="t" l="l"/>
              <a:pathLst>
                <a:path h="1034415" w="10149840">
                  <a:moveTo>
                    <a:pt x="0" y="0"/>
                  </a:moveTo>
                  <a:lnTo>
                    <a:pt x="10149840" y="0"/>
                  </a:lnTo>
                  <a:lnTo>
                    <a:pt x="10149840" y="1034415"/>
                  </a:lnTo>
                  <a:lnTo>
                    <a:pt x="0" y="1034415"/>
                  </a:lnTo>
                  <a:close/>
                </a:path>
              </a:pathLst>
            </a:custGeom>
            <a:blipFill>
              <a:blip r:embed="rId3">
                <a:alphaModFix amt="0"/>
              </a:blip>
              <a:stretch>
                <a:fillRect l="0" t="-141190" r="0" b="-141190"/>
              </a:stretch>
            </a:blipFill>
          </p:spPr>
        </p:sp>
        <p:sp>
          <p:nvSpPr>
            <p:cNvPr name="TextBox 35" id="35"/>
            <p:cNvSpPr txBox="true"/>
            <p:nvPr/>
          </p:nvSpPr>
          <p:spPr>
            <a:xfrm>
              <a:off x="0" y="-28575"/>
              <a:ext cx="10149840" cy="1062990"/>
            </a:xfrm>
            <a:prstGeom prst="rect">
              <a:avLst/>
            </a:prstGeom>
          </p:spPr>
          <p:txBody>
            <a:bodyPr anchor="ctr" rtlCol="false" tIns="0" lIns="0" bIns="0" rIns="0"/>
            <a:lstStyle/>
            <a:p>
              <a:pPr algn="l">
                <a:lnSpc>
                  <a:spcPts val="1980"/>
                </a:lnSpc>
              </a:pPr>
              <a:r>
                <a:rPr lang="en-US" sz="1650">
                  <a:solidFill>
                    <a:srgbClr val="0F1017"/>
                  </a:solidFill>
                  <a:latin typeface="Calibri (MS)"/>
                  <a:ea typeface="Calibri (MS)"/>
                  <a:cs typeface="Calibri (MS)"/>
                  <a:sym typeface="Calibri (MS)"/>
                </a:rPr>
                <a:t>Soportar nuevos distritos sin rediseño estructural.</a:t>
              </a:r>
            </a:p>
          </p:txBody>
        </p:sp>
      </p:grpSp>
      <p:grpSp>
        <p:nvGrpSpPr>
          <p:cNvPr name="Group 36" id="36"/>
          <p:cNvGrpSpPr/>
          <p:nvPr/>
        </p:nvGrpSpPr>
        <p:grpSpPr>
          <a:xfrm rot="0">
            <a:off x="822960" y="5417820"/>
            <a:ext cx="8161020" cy="1440180"/>
            <a:chOff x="0" y="0"/>
            <a:chExt cx="10881360" cy="1920240"/>
          </a:xfrm>
        </p:grpSpPr>
        <p:sp>
          <p:nvSpPr>
            <p:cNvPr name="Freeform 37" id="37"/>
            <p:cNvSpPr/>
            <p:nvPr/>
          </p:nvSpPr>
          <p:spPr>
            <a:xfrm flipH="false" flipV="false" rot="0">
              <a:off x="0" y="0"/>
              <a:ext cx="10881360" cy="1920240"/>
            </a:xfrm>
            <a:custGeom>
              <a:avLst/>
              <a:gdLst/>
              <a:ahLst/>
              <a:cxnLst/>
              <a:rect r="r" b="b" t="t" l="l"/>
              <a:pathLst>
                <a:path h="1920240" w="10881360">
                  <a:moveTo>
                    <a:pt x="0" y="182880"/>
                  </a:moveTo>
                  <a:cubicBezTo>
                    <a:pt x="0" y="81915"/>
                    <a:pt x="81915" y="0"/>
                    <a:pt x="182880" y="0"/>
                  </a:cubicBezTo>
                  <a:lnTo>
                    <a:pt x="10698480" y="0"/>
                  </a:lnTo>
                  <a:cubicBezTo>
                    <a:pt x="10799445" y="0"/>
                    <a:pt x="10881360" y="81915"/>
                    <a:pt x="10881360" y="182880"/>
                  </a:cubicBezTo>
                  <a:lnTo>
                    <a:pt x="10881360" y="1737360"/>
                  </a:lnTo>
                  <a:cubicBezTo>
                    <a:pt x="10881360" y="1838325"/>
                    <a:pt x="10799445" y="1920240"/>
                    <a:pt x="10698480" y="1920240"/>
                  </a:cubicBezTo>
                  <a:lnTo>
                    <a:pt x="182880" y="1920240"/>
                  </a:lnTo>
                  <a:cubicBezTo>
                    <a:pt x="81915" y="1920240"/>
                    <a:pt x="0" y="1838325"/>
                    <a:pt x="0" y="1737360"/>
                  </a:cubicBezTo>
                  <a:close/>
                </a:path>
              </a:pathLst>
            </a:custGeom>
            <a:solidFill>
              <a:srgbClr val="9495A2"/>
            </a:solidFill>
          </p:spPr>
        </p:sp>
      </p:grpSp>
      <p:grpSp>
        <p:nvGrpSpPr>
          <p:cNvPr name="Group 38" id="38"/>
          <p:cNvGrpSpPr/>
          <p:nvPr/>
        </p:nvGrpSpPr>
        <p:grpSpPr>
          <a:xfrm rot="0">
            <a:off x="1097280" y="5554980"/>
            <a:ext cx="7612380" cy="480060"/>
            <a:chOff x="0" y="0"/>
            <a:chExt cx="10149840" cy="640080"/>
          </a:xfrm>
        </p:grpSpPr>
        <p:sp>
          <p:nvSpPr>
            <p:cNvPr name="Freeform 39" id="39"/>
            <p:cNvSpPr/>
            <p:nvPr/>
          </p:nvSpPr>
          <p:spPr>
            <a:xfrm flipH="false" flipV="false" rot="0">
              <a:off x="0" y="0"/>
              <a:ext cx="10149840" cy="640080"/>
            </a:xfrm>
            <a:custGeom>
              <a:avLst/>
              <a:gdLst/>
              <a:ahLst/>
              <a:cxnLst/>
              <a:rect r="r" b="b" t="t" l="l"/>
              <a:pathLst>
                <a:path h="640080" w="10149840">
                  <a:moveTo>
                    <a:pt x="0" y="0"/>
                  </a:moveTo>
                  <a:lnTo>
                    <a:pt x="10149840" y="0"/>
                  </a:lnTo>
                  <a:lnTo>
                    <a:pt x="10149840" y="640080"/>
                  </a:lnTo>
                  <a:lnTo>
                    <a:pt x="0" y="640080"/>
                  </a:lnTo>
                  <a:close/>
                </a:path>
              </a:pathLst>
            </a:custGeom>
            <a:blipFill>
              <a:blip r:embed="rId2">
                <a:alphaModFix amt="0"/>
              </a:blip>
              <a:stretch>
                <a:fillRect l="0" t="-258761" r="0" b="-258761"/>
              </a:stretch>
            </a:blipFill>
          </p:spPr>
        </p:sp>
      </p:grpSp>
      <p:grpSp>
        <p:nvGrpSpPr>
          <p:cNvPr name="Group 40" id="40"/>
          <p:cNvGrpSpPr/>
          <p:nvPr/>
        </p:nvGrpSpPr>
        <p:grpSpPr>
          <a:xfrm rot="0">
            <a:off x="1097280" y="5526405"/>
            <a:ext cx="7612380" cy="508635"/>
            <a:chOff x="0" y="0"/>
            <a:chExt cx="10149840" cy="678180"/>
          </a:xfrm>
        </p:grpSpPr>
        <p:sp>
          <p:nvSpPr>
            <p:cNvPr name="Freeform 41" id="41"/>
            <p:cNvSpPr/>
            <p:nvPr/>
          </p:nvSpPr>
          <p:spPr>
            <a:xfrm flipH="false" flipV="false" rot="0">
              <a:off x="0" y="0"/>
              <a:ext cx="10149840" cy="678180"/>
            </a:xfrm>
            <a:custGeom>
              <a:avLst/>
              <a:gdLst/>
              <a:ahLst/>
              <a:cxnLst/>
              <a:rect r="r" b="b" t="t" l="l"/>
              <a:pathLst>
                <a:path h="678180" w="10149840">
                  <a:moveTo>
                    <a:pt x="0" y="0"/>
                  </a:moveTo>
                  <a:lnTo>
                    <a:pt x="10149840" y="0"/>
                  </a:lnTo>
                  <a:lnTo>
                    <a:pt x="10149840" y="678180"/>
                  </a:lnTo>
                  <a:lnTo>
                    <a:pt x="0" y="678180"/>
                  </a:lnTo>
                  <a:close/>
                </a:path>
              </a:pathLst>
            </a:custGeom>
            <a:blipFill>
              <a:blip r:embed="rId3">
                <a:alphaModFix amt="0"/>
              </a:blip>
              <a:stretch>
                <a:fillRect l="0" t="-241618" r="0" b="-241618"/>
              </a:stretch>
            </a:blipFill>
          </p:spPr>
        </p:sp>
        <p:sp>
          <p:nvSpPr>
            <p:cNvPr name="TextBox 42" id="42"/>
            <p:cNvSpPr txBox="true"/>
            <p:nvPr/>
          </p:nvSpPr>
          <p:spPr>
            <a:xfrm>
              <a:off x="0" y="-38100"/>
              <a:ext cx="10149840" cy="716280"/>
            </a:xfrm>
            <a:prstGeom prst="rect">
              <a:avLst/>
            </a:prstGeom>
          </p:spPr>
          <p:txBody>
            <a:bodyPr anchor="ctr" rtlCol="false" tIns="0" lIns="0" bIns="0" rIns="0"/>
            <a:lstStyle/>
            <a:p>
              <a:pPr algn="l">
                <a:lnSpc>
                  <a:spcPts val="2250"/>
                </a:lnSpc>
              </a:pPr>
              <a:r>
                <a:rPr lang="en-US" sz="1875" b="true">
                  <a:solidFill>
                    <a:srgbClr val="0F1017"/>
                  </a:solidFill>
                  <a:latin typeface="Calibri (MS) Bold"/>
                  <a:ea typeface="Calibri (MS) Bold"/>
                  <a:cs typeface="Calibri (MS) Bold"/>
                  <a:sym typeface="Calibri (MS) Bold"/>
                </a:rPr>
                <a:t>RNF-03 · Actualidad</a:t>
              </a:r>
            </a:p>
          </p:txBody>
        </p:sp>
      </p:grpSp>
      <p:grpSp>
        <p:nvGrpSpPr>
          <p:cNvPr name="Group 43" id="43"/>
          <p:cNvGrpSpPr/>
          <p:nvPr/>
        </p:nvGrpSpPr>
        <p:grpSpPr>
          <a:xfrm rot="0">
            <a:off x="1097280" y="6035040"/>
            <a:ext cx="7612380" cy="754380"/>
            <a:chOff x="0" y="0"/>
            <a:chExt cx="10149840" cy="1005840"/>
          </a:xfrm>
        </p:grpSpPr>
        <p:sp>
          <p:nvSpPr>
            <p:cNvPr name="Freeform 44" id="44"/>
            <p:cNvSpPr/>
            <p:nvPr/>
          </p:nvSpPr>
          <p:spPr>
            <a:xfrm flipH="false" flipV="false" rot="0">
              <a:off x="0" y="0"/>
              <a:ext cx="10149840" cy="1005840"/>
            </a:xfrm>
            <a:custGeom>
              <a:avLst/>
              <a:gdLst/>
              <a:ahLst/>
              <a:cxnLst/>
              <a:rect r="r" b="b" t="t" l="l"/>
              <a:pathLst>
                <a:path h="1005840" w="10149840">
                  <a:moveTo>
                    <a:pt x="0" y="0"/>
                  </a:moveTo>
                  <a:lnTo>
                    <a:pt x="10149840" y="0"/>
                  </a:lnTo>
                  <a:lnTo>
                    <a:pt x="10149840" y="1005840"/>
                  </a:lnTo>
                  <a:lnTo>
                    <a:pt x="0" y="1005840"/>
                  </a:lnTo>
                  <a:close/>
                </a:path>
              </a:pathLst>
            </a:custGeom>
            <a:blipFill>
              <a:blip r:embed="rId2">
                <a:alphaModFix amt="0"/>
              </a:blip>
              <a:stretch>
                <a:fillRect l="0" t="-146484" r="0" b="-146484"/>
              </a:stretch>
            </a:blipFill>
          </p:spPr>
        </p:sp>
      </p:grpSp>
      <p:grpSp>
        <p:nvGrpSpPr>
          <p:cNvPr name="Group 45" id="45"/>
          <p:cNvGrpSpPr/>
          <p:nvPr/>
        </p:nvGrpSpPr>
        <p:grpSpPr>
          <a:xfrm rot="0">
            <a:off x="1097280" y="6013609"/>
            <a:ext cx="7612380" cy="775811"/>
            <a:chOff x="0" y="0"/>
            <a:chExt cx="10149840" cy="1034415"/>
          </a:xfrm>
        </p:grpSpPr>
        <p:sp>
          <p:nvSpPr>
            <p:cNvPr name="Freeform 46" id="46"/>
            <p:cNvSpPr/>
            <p:nvPr/>
          </p:nvSpPr>
          <p:spPr>
            <a:xfrm flipH="false" flipV="false" rot="0">
              <a:off x="0" y="0"/>
              <a:ext cx="10149840" cy="1034415"/>
            </a:xfrm>
            <a:custGeom>
              <a:avLst/>
              <a:gdLst/>
              <a:ahLst/>
              <a:cxnLst/>
              <a:rect r="r" b="b" t="t" l="l"/>
              <a:pathLst>
                <a:path h="1034415" w="10149840">
                  <a:moveTo>
                    <a:pt x="0" y="0"/>
                  </a:moveTo>
                  <a:lnTo>
                    <a:pt x="10149840" y="0"/>
                  </a:lnTo>
                  <a:lnTo>
                    <a:pt x="10149840" y="1034415"/>
                  </a:lnTo>
                  <a:lnTo>
                    <a:pt x="0" y="1034415"/>
                  </a:lnTo>
                  <a:close/>
                </a:path>
              </a:pathLst>
            </a:custGeom>
            <a:blipFill>
              <a:blip r:embed="rId3">
                <a:alphaModFix amt="0"/>
              </a:blip>
              <a:stretch>
                <a:fillRect l="0" t="-141190" r="0" b="-141190"/>
              </a:stretch>
            </a:blipFill>
          </p:spPr>
        </p:sp>
        <p:sp>
          <p:nvSpPr>
            <p:cNvPr name="TextBox 47" id="47"/>
            <p:cNvSpPr txBox="true"/>
            <p:nvPr/>
          </p:nvSpPr>
          <p:spPr>
            <a:xfrm>
              <a:off x="0" y="-28575"/>
              <a:ext cx="10149840" cy="1062990"/>
            </a:xfrm>
            <a:prstGeom prst="rect">
              <a:avLst/>
            </a:prstGeom>
          </p:spPr>
          <p:txBody>
            <a:bodyPr anchor="ctr" rtlCol="false" tIns="0" lIns="0" bIns="0" rIns="0"/>
            <a:lstStyle/>
            <a:p>
              <a:pPr algn="l">
                <a:lnSpc>
                  <a:spcPts val="1980"/>
                </a:lnSpc>
              </a:pPr>
              <a:r>
                <a:rPr lang="en-US" sz="1650">
                  <a:solidFill>
                    <a:srgbClr val="0F1017"/>
                  </a:solidFill>
                  <a:latin typeface="Calibri (MS)"/>
                  <a:ea typeface="Calibri (MS)"/>
                  <a:cs typeface="Calibri (MS)"/>
                  <a:sym typeface="Calibri (MS)"/>
                </a:rPr>
                <a:t>Listados: actualización semanal. Criminalidad/proyectos: mensual-trimestral.</a:t>
              </a:r>
            </a:p>
          </p:txBody>
        </p:sp>
      </p:grpSp>
      <p:grpSp>
        <p:nvGrpSpPr>
          <p:cNvPr name="Group 48" id="48"/>
          <p:cNvGrpSpPr/>
          <p:nvPr/>
        </p:nvGrpSpPr>
        <p:grpSpPr>
          <a:xfrm rot="0">
            <a:off x="822960" y="6995160"/>
            <a:ext cx="8161020" cy="1440180"/>
            <a:chOff x="0" y="0"/>
            <a:chExt cx="10881360" cy="1920240"/>
          </a:xfrm>
        </p:grpSpPr>
        <p:sp>
          <p:nvSpPr>
            <p:cNvPr name="Freeform 49" id="49"/>
            <p:cNvSpPr/>
            <p:nvPr/>
          </p:nvSpPr>
          <p:spPr>
            <a:xfrm flipH="false" flipV="false" rot="0">
              <a:off x="0" y="0"/>
              <a:ext cx="10881360" cy="1920240"/>
            </a:xfrm>
            <a:custGeom>
              <a:avLst/>
              <a:gdLst/>
              <a:ahLst/>
              <a:cxnLst/>
              <a:rect r="r" b="b" t="t" l="l"/>
              <a:pathLst>
                <a:path h="1920240" w="10881360">
                  <a:moveTo>
                    <a:pt x="0" y="182880"/>
                  </a:moveTo>
                  <a:cubicBezTo>
                    <a:pt x="0" y="81915"/>
                    <a:pt x="81915" y="0"/>
                    <a:pt x="182880" y="0"/>
                  </a:cubicBezTo>
                  <a:lnTo>
                    <a:pt x="10698480" y="0"/>
                  </a:lnTo>
                  <a:cubicBezTo>
                    <a:pt x="10799445" y="0"/>
                    <a:pt x="10881360" y="81915"/>
                    <a:pt x="10881360" y="182880"/>
                  </a:cubicBezTo>
                  <a:lnTo>
                    <a:pt x="10881360" y="1737360"/>
                  </a:lnTo>
                  <a:cubicBezTo>
                    <a:pt x="10881360" y="1838325"/>
                    <a:pt x="10799445" y="1920240"/>
                    <a:pt x="10698480" y="1920240"/>
                  </a:cubicBezTo>
                  <a:lnTo>
                    <a:pt x="182880" y="1920240"/>
                  </a:lnTo>
                  <a:cubicBezTo>
                    <a:pt x="81915" y="1920240"/>
                    <a:pt x="0" y="1838325"/>
                    <a:pt x="0" y="1737360"/>
                  </a:cubicBezTo>
                  <a:close/>
                </a:path>
              </a:pathLst>
            </a:custGeom>
            <a:solidFill>
              <a:srgbClr val="9495A2"/>
            </a:solidFill>
          </p:spPr>
        </p:sp>
      </p:grpSp>
      <p:grpSp>
        <p:nvGrpSpPr>
          <p:cNvPr name="Group 50" id="50"/>
          <p:cNvGrpSpPr/>
          <p:nvPr/>
        </p:nvGrpSpPr>
        <p:grpSpPr>
          <a:xfrm rot="0">
            <a:off x="1097280" y="7132320"/>
            <a:ext cx="7612380" cy="480060"/>
            <a:chOff x="0" y="0"/>
            <a:chExt cx="10149840" cy="640080"/>
          </a:xfrm>
        </p:grpSpPr>
        <p:sp>
          <p:nvSpPr>
            <p:cNvPr name="Freeform 51" id="51"/>
            <p:cNvSpPr/>
            <p:nvPr/>
          </p:nvSpPr>
          <p:spPr>
            <a:xfrm flipH="false" flipV="false" rot="0">
              <a:off x="0" y="0"/>
              <a:ext cx="10149840" cy="640080"/>
            </a:xfrm>
            <a:custGeom>
              <a:avLst/>
              <a:gdLst/>
              <a:ahLst/>
              <a:cxnLst/>
              <a:rect r="r" b="b" t="t" l="l"/>
              <a:pathLst>
                <a:path h="640080" w="10149840">
                  <a:moveTo>
                    <a:pt x="0" y="0"/>
                  </a:moveTo>
                  <a:lnTo>
                    <a:pt x="10149840" y="0"/>
                  </a:lnTo>
                  <a:lnTo>
                    <a:pt x="10149840" y="640080"/>
                  </a:lnTo>
                  <a:lnTo>
                    <a:pt x="0" y="640080"/>
                  </a:lnTo>
                  <a:close/>
                </a:path>
              </a:pathLst>
            </a:custGeom>
            <a:blipFill>
              <a:blip r:embed="rId2">
                <a:alphaModFix amt="0"/>
              </a:blip>
              <a:stretch>
                <a:fillRect l="0" t="-258761" r="0" b="-258761"/>
              </a:stretch>
            </a:blipFill>
          </p:spPr>
        </p:sp>
      </p:grpSp>
      <p:grpSp>
        <p:nvGrpSpPr>
          <p:cNvPr name="Group 52" id="52"/>
          <p:cNvGrpSpPr/>
          <p:nvPr/>
        </p:nvGrpSpPr>
        <p:grpSpPr>
          <a:xfrm rot="0">
            <a:off x="1097280" y="7103745"/>
            <a:ext cx="7612380" cy="508635"/>
            <a:chOff x="0" y="0"/>
            <a:chExt cx="10149840" cy="678180"/>
          </a:xfrm>
        </p:grpSpPr>
        <p:sp>
          <p:nvSpPr>
            <p:cNvPr name="Freeform 53" id="53"/>
            <p:cNvSpPr/>
            <p:nvPr/>
          </p:nvSpPr>
          <p:spPr>
            <a:xfrm flipH="false" flipV="false" rot="0">
              <a:off x="0" y="0"/>
              <a:ext cx="10149840" cy="678180"/>
            </a:xfrm>
            <a:custGeom>
              <a:avLst/>
              <a:gdLst/>
              <a:ahLst/>
              <a:cxnLst/>
              <a:rect r="r" b="b" t="t" l="l"/>
              <a:pathLst>
                <a:path h="678180" w="10149840">
                  <a:moveTo>
                    <a:pt x="0" y="0"/>
                  </a:moveTo>
                  <a:lnTo>
                    <a:pt x="10149840" y="0"/>
                  </a:lnTo>
                  <a:lnTo>
                    <a:pt x="10149840" y="678180"/>
                  </a:lnTo>
                  <a:lnTo>
                    <a:pt x="0" y="678180"/>
                  </a:lnTo>
                  <a:close/>
                </a:path>
              </a:pathLst>
            </a:custGeom>
            <a:blipFill>
              <a:blip r:embed="rId3">
                <a:alphaModFix amt="0"/>
              </a:blip>
              <a:stretch>
                <a:fillRect l="0" t="-241618" r="0" b="-241618"/>
              </a:stretch>
            </a:blipFill>
          </p:spPr>
        </p:sp>
        <p:sp>
          <p:nvSpPr>
            <p:cNvPr name="TextBox 54" id="54"/>
            <p:cNvSpPr txBox="true"/>
            <p:nvPr/>
          </p:nvSpPr>
          <p:spPr>
            <a:xfrm>
              <a:off x="0" y="-38100"/>
              <a:ext cx="10149840" cy="716280"/>
            </a:xfrm>
            <a:prstGeom prst="rect">
              <a:avLst/>
            </a:prstGeom>
          </p:spPr>
          <p:txBody>
            <a:bodyPr anchor="ctr" rtlCol="false" tIns="0" lIns="0" bIns="0" rIns="0"/>
            <a:lstStyle/>
            <a:p>
              <a:pPr algn="l">
                <a:lnSpc>
                  <a:spcPts val="2250"/>
                </a:lnSpc>
              </a:pPr>
              <a:r>
                <a:rPr lang="en-US" sz="1875" b="true">
                  <a:solidFill>
                    <a:srgbClr val="0F1017"/>
                  </a:solidFill>
                  <a:latin typeface="Calibri (MS) Bold"/>
                  <a:ea typeface="Calibri (MS) Bold"/>
                  <a:cs typeface="Calibri (MS) Bold"/>
                  <a:sym typeface="Calibri (MS) Bold"/>
                </a:rPr>
                <a:t>RNF-04 · Usabilidad</a:t>
              </a:r>
            </a:p>
          </p:txBody>
        </p:sp>
      </p:grpSp>
      <p:grpSp>
        <p:nvGrpSpPr>
          <p:cNvPr name="Group 55" id="55"/>
          <p:cNvGrpSpPr/>
          <p:nvPr/>
        </p:nvGrpSpPr>
        <p:grpSpPr>
          <a:xfrm rot="0">
            <a:off x="1097280" y="7612380"/>
            <a:ext cx="7612380" cy="754380"/>
            <a:chOff x="0" y="0"/>
            <a:chExt cx="10149840" cy="1005840"/>
          </a:xfrm>
        </p:grpSpPr>
        <p:sp>
          <p:nvSpPr>
            <p:cNvPr name="Freeform 56" id="56"/>
            <p:cNvSpPr/>
            <p:nvPr/>
          </p:nvSpPr>
          <p:spPr>
            <a:xfrm flipH="false" flipV="false" rot="0">
              <a:off x="0" y="0"/>
              <a:ext cx="10149840" cy="1005840"/>
            </a:xfrm>
            <a:custGeom>
              <a:avLst/>
              <a:gdLst/>
              <a:ahLst/>
              <a:cxnLst/>
              <a:rect r="r" b="b" t="t" l="l"/>
              <a:pathLst>
                <a:path h="1005840" w="10149840">
                  <a:moveTo>
                    <a:pt x="0" y="0"/>
                  </a:moveTo>
                  <a:lnTo>
                    <a:pt x="10149840" y="0"/>
                  </a:lnTo>
                  <a:lnTo>
                    <a:pt x="10149840" y="1005840"/>
                  </a:lnTo>
                  <a:lnTo>
                    <a:pt x="0" y="1005840"/>
                  </a:lnTo>
                  <a:close/>
                </a:path>
              </a:pathLst>
            </a:custGeom>
            <a:blipFill>
              <a:blip r:embed="rId2">
                <a:alphaModFix amt="0"/>
              </a:blip>
              <a:stretch>
                <a:fillRect l="0" t="-146484" r="0" b="-146484"/>
              </a:stretch>
            </a:blipFill>
          </p:spPr>
        </p:sp>
      </p:grpSp>
      <p:grpSp>
        <p:nvGrpSpPr>
          <p:cNvPr name="Group 57" id="57"/>
          <p:cNvGrpSpPr/>
          <p:nvPr/>
        </p:nvGrpSpPr>
        <p:grpSpPr>
          <a:xfrm rot="0">
            <a:off x="1097280" y="7590949"/>
            <a:ext cx="7612380" cy="775811"/>
            <a:chOff x="0" y="0"/>
            <a:chExt cx="10149840" cy="1034415"/>
          </a:xfrm>
        </p:grpSpPr>
        <p:sp>
          <p:nvSpPr>
            <p:cNvPr name="Freeform 58" id="58"/>
            <p:cNvSpPr/>
            <p:nvPr/>
          </p:nvSpPr>
          <p:spPr>
            <a:xfrm flipH="false" flipV="false" rot="0">
              <a:off x="0" y="0"/>
              <a:ext cx="10149840" cy="1034415"/>
            </a:xfrm>
            <a:custGeom>
              <a:avLst/>
              <a:gdLst/>
              <a:ahLst/>
              <a:cxnLst/>
              <a:rect r="r" b="b" t="t" l="l"/>
              <a:pathLst>
                <a:path h="1034415" w="10149840">
                  <a:moveTo>
                    <a:pt x="0" y="0"/>
                  </a:moveTo>
                  <a:lnTo>
                    <a:pt x="10149840" y="0"/>
                  </a:lnTo>
                  <a:lnTo>
                    <a:pt x="10149840" y="1034415"/>
                  </a:lnTo>
                  <a:lnTo>
                    <a:pt x="0" y="1034415"/>
                  </a:lnTo>
                  <a:close/>
                </a:path>
              </a:pathLst>
            </a:custGeom>
            <a:blipFill>
              <a:blip r:embed="rId3">
                <a:alphaModFix amt="0"/>
              </a:blip>
              <a:stretch>
                <a:fillRect l="0" t="-141190" r="0" b="-141190"/>
              </a:stretch>
            </a:blipFill>
          </p:spPr>
        </p:sp>
        <p:sp>
          <p:nvSpPr>
            <p:cNvPr name="TextBox 59" id="59"/>
            <p:cNvSpPr txBox="true"/>
            <p:nvPr/>
          </p:nvSpPr>
          <p:spPr>
            <a:xfrm>
              <a:off x="0" y="-28575"/>
              <a:ext cx="10149840" cy="1062990"/>
            </a:xfrm>
            <a:prstGeom prst="rect">
              <a:avLst/>
            </a:prstGeom>
          </p:spPr>
          <p:txBody>
            <a:bodyPr anchor="ctr" rtlCol="false" tIns="0" lIns="0" bIns="0" rIns="0"/>
            <a:lstStyle/>
            <a:p>
              <a:pPr algn="l">
                <a:lnSpc>
                  <a:spcPts val="1980"/>
                </a:lnSpc>
              </a:pPr>
              <a:r>
                <a:rPr lang="en-US" sz="1650">
                  <a:solidFill>
                    <a:srgbClr val="0F1017"/>
                  </a:solidFill>
                  <a:latin typeface="Calibri (MS)"/>
                  <a:ea typeface="Calibri (MS)"/>
                  <a:cs typeface="Calibri (MS)"/>
                  <a:sym typeface="Calibri (MS)"/>
                </a:rPr>
                <a:t>Configurar preferencias y obtener resultado en menos de 3 pasos.</a:t>
              </a:r>
            </a:p>
          </p:txBody>
        </p:sp>
      </p:grpSp>
      <p:grpSp>
        <p:nvGrpSpPr>
          <p:cNvPr name="Group 60" id="60"/>
          <p:cNvGrpSpPr/>
          <p:nvPr/>
        </p:nvGrpSpPr>
        <p:grpSpPr>
          <a:xfrm rot="0">
            <a:off x="9258300" y="2263140"/>
            <a:ext cx="8161020" cy="1440180"/>
            <a:chOff x="0" y="0"/>
            <a:chExt cx="10881360" cy="1920240"/>
          </a:xfrm>
        </p:grpSpPr>
        <p:sp>
          <p:nvSpPr>
            <p:cNvPr name="Freeform 61" id="61"/>
            <p:cNvSpPr/>
            <p:nvPr/>
          </p:nvSpPr>
          <p:spPr>
            <a:xfrm flipH="false" flipV="false" rot="0">
              <a:off x="0" y="0"/>
              <a:ext cx="10881360" cy="1920240"/>
            </a:xfrm>
            <a:custGeom>
              <a:avLst/>
              <a:gdLst/>
              <a:ahLst/>
              <a:cxnLst/>
              <a:rect r="r" b="b" t="t" l="l"/>
              <a:pathLst>
                <a:path h="1920240" w="10881360">
                  <a:moveTo>
                    <a:pt x="0" y="182880"/>
                  </a:moveTo>
                  <a:cubicBezTo>
                    <a:pt x="0" y="81915"/>
                    <a:pt x="81915" y="0"/>
                    <a:pt x="182880" y="0"/>
                  </a:cubicBezTo>
                  <a:lnTo>
                    <a:pt x="10698480" y="0"/>
                  </a:lnTo>
                  <a:cubicBezTo>
                    <a:pt x="10799445" y="0"/>
                    <a:pt x="10881360" y="81915"/>
                    <a:pt x="10881360" y="182880"/>
                  </a:cubicBezTo>
                  <a:lnTo>
                    <a:pt x="10881360" y="1737360"/>
                  </a:lnTo>
                  <a:cubicBezTo>
                    <a:pt x="10881360" y="1838325"/>
                    <a:pt x="10799445" y="1920240"/>
                    <a:pt x="10698480" y="1920240"/>
                  </a:cubicBezTo>
                  <a:lnTo>
                    <a:pt x="182880" y="1920240"/>
                  </a:lnTo>
                  <a:cubicBezTo>
                    <a:pt x="81915" y="1920240"/>
                    <a:pt x="0" y="1838325"/>
                    <a:pt x="0" y="1737360"/>
                  </a:cubicBezTo>
                  <a:close/>
                </a:path>
              </a:pathLst>
            </a:custGeom>
            <a:solidFill>
              <a:srgbClr val="9495A2"/>
            </a:solidFill>
          </p:spPr>
        </p:sp>
      </p:grpSp>
      <p:grpSp>
        <p:nvGrpSpPr>
          <p:cNvPr name="Group 62" id="62"/>
          <p:cNvGrpSpPr/>
          <p:nvPr/>
        </p:nvGrpSpPr>
        <p:grpSpPr>
          <a:xfrm rot="0">
            <a:off x="9532620" y="2400300"/>
            <a:ext cx="7612380" cy="480060"/>
            <a:chOff x="0" y="0"/>
            <a:chExt cx="10149840" cy="640080"/>
          </a:xfrm>
        </p:grpSpPr>
        <p:sp>
          <p:nvSpPr>
            <p:cNvPr name="Freeform 63" id="63"/>
            <p:cNvSpPr/>
            <p:nvPr/>
          </p:nvSpPr>
          <p:spPr>
            <a:xfrm flipH="false" flipV="false" rot="0">
              <a:off x="0" y="0"/>
              <a:ext cx="10149840" cy="640080"/>
            </a:xfrm>
            <a:custGeom>
              <a:avLst/>
              <a:gdLst/>
              <a:ahLst/>
              <a:cxnLst/>
              <a:rect r="r" b="b" t="t" l="l"/>
              <a:pathLst>
                <a:path h="640080" w="10149840">
                  <a:moveTo>
                    <a:pt x="0" y="0"/>
                  </a:moveTo>
                  <a:lnTo>
                    <a:pt x="10149840" y="0"/>
                  </a:lnTo>
                  <a:lnTo>
                    <a:pt x="10149840" y="640080"/>
                  </a:lnTo>
                  <a:lnTo>
                    <a:pt x="0" y="640080"/>
                  </a:lnTo>
                  <a:close/>
                </a:path>
              </a:pathLst>
            </a:custGeom>
            <a:blipFill>
              <a:blip r:embed="rId2">
                <a:alphaModFix amt="0"/>
              </a:blip>
              <a:stretch>
                <a:fillRect l="0" t="-258761" r="0" b="-258761"/>
              </a:stretch>
            </a:blipFill>
          </p:spPr>
        </p:sp>
      </p:grpSp>
      <p:grpSp>
        <p:nvGrpSpPr>
          <p:cNvPr name="Group 64" id="64"/>
          <p:cNvGrpSpPr/>
          <p:nvPr/>
        </p:nvGrpSpPr>
        <p:grpSpPr>
          <a:xfrm rot="0">
            <a:off x="9532620" y="2371725"/>
            <a:ext cx="7612380" cy="508635"/>
            <a:chOff x="0" y="0"/>
            <a:chExt cx="10149840" cy="678180"/>
          </a:xfrm>
        </p:grpSpPr>
        <p:sp>
          <p:nvSpPr>
            <p:cNvPr name="Freeform 65" id="65"/>
            <p:cNvSpPr/>
            <p:nvPr/>
          </p:nvSpPr>
          <p:spPr>
            <a:xfrm flipH="false" flipV="false" rot="0">
              <a:off x="0" y="0"/>
              <a:ext cx="10149840" cy="678180"/>
            </a:xfrm>
            <a:custGeom>
              <a:avLst/>
              <a:gdLst/>
              <a:ahLst/>
              <a:cxnLst/>
              <a:rect r="r" b="b" t="t" l="l"/>
              <a:pathLst>
                <a:path h="678180" w="10149840">
                  <a:moveTo>
                    <a:pt x="0" y="0"/>
                  </a:moveTo>
                  <a:lnTo>
                    <a:pt x="10149840" y="0"/>
                  </a:lnTo>
                  <a:lnTo>
                    <a:pt x="10149840" y="678180"/>
                  </a:lnTo>
                  <a:lnTo>
                    <a:pt x="0" y="678180"/>
                  </a:lnTo>
                  <a:close/>
                </a:path>
              </a:pathLst>
            </a:custGeom>
            <a:blipFill>
              <a:blip r:embed="rId3">
                <a:alphaModFix amt="0"/>
              </a:blip>
              <a:stretch>
                <a:fillRect l="0" t="-241618" r="0" b="-241618"/>
              </a:stretch>
            </a:blipFill>
          </p:spPr>
        </p:sp>
        <p:sp>
          <p:nvSpPr>
            <p:cNvPr name="TextBox 66" id="66"/>
            <p:cNvSpPr txBox="true"/>
            <p:nvPr/>
          </p:nvSpPr>
          <p:spPr>
            <a:xfrm>
              <a:off x="0" y="-38100"/>
              <a:ext cx="10149840" cy="716280"/>
            </a:xfrm>
            <a:prstGeom prst="rect">
              <a:avLst/>
            </a:prstGeom>
          </p:spPr>
          <p:txBody>
            <a:bodyPr anchor="ctr" rtlCol="false" tIns="0" lIns="0" bIns="0" rIns="0"/>
            <a:lstStyle/>
            <a:p>
              <a:pPr algn="l">
                <a:lnSpc>
                  <a:spcPts val="2250"/>
                </a:lnSpc>
              </a:pPr>
              <a:r>
                <a:rPr lang="en-US" sz="1875" b="true">
                  <a:solidFill>
                    <a:srgbClr val="0F1017"/>
                  </a:solidFill>
                  <a:latin typeface="Calibri (MS) Bold"/>
                  <a:ea typeface="Calibri (MS) Bold"/>
                  <a:cs typeface="Calibri (MS) Bold"/>
                  <a:sym typeface="Calibri (MS) Bold"/>
                </a:rPr>
                <a:t>RNF-05 · Explicabilidad</a:t>
              </a:r>
            </a:p>
          </p:txBody>
        </p:sp>
      </p:grpSp>
      <p:grpSp>
        <p:nvGrpSpPr>
          <p:cNvPr name="Group 67" id="67"/>
          <p:cNvGrpSpPr/>
          <p:nvPr/>
        </p:nvGrpSpPr>
        <p:grpSpPr>
          <a:xfrm rot="0">
            <a:off x="9532620" y="2880360"/>
            <a:ext cx="7612380" cy="754380"/>
            <a:chOff x="0" y="0"/>
            <a:chExt cx="10149840" cy="1005840"/>
          </a:xfrm>
        </p:grpSpPr>
        <p:sp>
          <p:nvSpPr>
            <p:cNvPr name="Freeform 68" id="68"/>
            <p:cNvSpPr/>
            <p:nvPr/>
          </p:nvSpPr>
          <p:spPr>
            <a:xfrm flipH="false" flipV="false" rot="0">
              <a:off x="0" y="0"/>
              <a:ext cx="10149840" cy="1005840"/>
            </a:xfrm>
            <a:custGeom>
              <a:avLst/>
              <a:gdLst/>
              <a:ahLst/>
              <a:cxnLst/>
              <a:rect r="r" b="b" t="t" l="l"/>
              <a:pathLst>
                <a:path h="1005840" w="10149840">
                  <a:moveTo>
                    <a:pt x="0" y="0"/>
                  </a:moveTo>
                  <a:lnTo>
                    <a:pt x="10149840" y="0"/>
                  </a:lnTo>
                  <a:lnTo>
                    <a:pt x="10149840" y="1005840"/>
                  </a:lnTo>
                  <a:lnTo>
                    <a:pt x="0" y="1005840"/>
                  </a:lnTo>
                  <a:close/>
                </a:path>
              </a:pathLst>
            </a:custGeom>
            <a:blipFill>
              <a:blip r:embed="rId2">
                <a:alphaModFix amt="0"/>
              </a:blip>
              <a:stretch>
                <a:fillRect l="0" t="-146484" r="0" b="-146484"/>
              </a:stretch>
            </a:blipFill>
          </p:spPr>
        </p:sp>
      </p:grpSp>
      <p:grpSp>
        <p:nvGrpSpPr>
          <p:cNvPr name="Group 69" id="69"/>
          <p:cNvGrpSpPr/>
          <p:nvPr/>
        </p:nvGrpSpPr>
        <p:grpSpPr>
          <a:xfrm rot="0">
            <a:off x="9532620" y="2858929"/>
            <a:ext cx="7612380" cy="775811"/>
            <a:chOff x="0" y="0"/>
            <a:chExt cx="10149840" cy="1034415"/>
          </a:xfrm>
        </p:grpSpPr>
        <p:sp>
          <p:nvSpPr>
            <p:cNvPr name="Freeform 70" id="70"/>
            <p:cNvSpPr/>
            <p:nvPr/>
          </p:nvSpPr>
          <p:spPr>
            <a:xfrm flipH="false" flipV="false" rot="0">
              <a:off x="0" y="0"/>
              <a:ext cx="10149840" cy="1034415"/>
            </a:xfrm>
            <a:custGeom>
              <a:avLst/>
              <a:gdLst/>
              <a:ahLst/>
              <a:cxnLst/>
              <a:rect r="r" b="b" t="t" l="l"/>
              <a:pathLst>
                <a:path h="1034415" w="10149840">
                  <a:moveTo>
                    <a:pt x="0" y="0"/>
                  </a:moveTo>
                  <a:lnTo>
                    <a:pt x="10149840" y="0"/>
                  </a:lnTo>
                  <a:lnTo>
                    <a:pt x="10149840" y="1034415"/>
                  </a:lnTo>
                  <a:lnTo>
                    <a:pt x="0" y="1034415"/>
                  </a:lnTo>
                  <a:close/>
                </a:path>
              </a:pathLst>
            </a:custGeom>
            <a:blipFill>
              <a:blip r:embed="rId3">
                <a:alphaModFix amt="0"/>
              </a:blip>
              <a:stretch>
                <a:fillRect l="0" t="-141190" r="0" b="-141190"/>
              </a:stretch>
            </a:blipFill>
          </p:spPr>
        </p:sp>
        <p:sp>
          <p:nvSpPr>
            <p:cNvPr name="TextBox 71" id="71"/>
            <p:cNvSpPr txBox="true"/>
            <p:nvPr/>
          </p:nvSpPr>
          <p:spPr>
            <a:xfrm>
              <a:off x="0" y="-28575"/>
              <a:ext cx="10149840" cy="1062990"/>
            </a:xfrm>
            <a:prstGeom prst="rect">
              <a:avLst/>
            </a:prstGeom>
          </p:spPr>
          <p:txBody>
            <a:bodyPr anchor="ctr" rtlCol="false" tIns="0" lIns="0" bIns="0" rIns="0"/>
            <a:lstStyle/>
            <a:p>
              <a:pPr algn="l">
                <a:lnSpc>
                  <a:spcPts val="1980"/>
                </a:lnSpc>
              </a:pPr>
              <a:r>
                <a:rPr lang="en-US" sz="1650">
                  <a:solidFill>
                    <a:srgbClr val="0F1017"/>
                  </a:solidFill>
                  <a:latin typeface="Calibri (MS)"/>
                  <a:ea typeface="Calibri (MS)"/>
                  <a:cs typeface="Calibri (MS)"/>
                  <a:sym typeface="Calibri (MS)"/>
                </a:rPr>
                <a:t>Ninguna recomendación se muestra sin su explicación asociada.</a:t>
              </a:r>
            </a:p>
          </p:txBody>
        </p:sp>
      </p:grpSp>
      <p:grpSp>
        <p:nvGrpSpPr>
          <p:cNvPr name="Group 72" id="72"/>
          <p:cNvGrpSpPr/>
          <p:nvPr/>
        </p:nvGrpSpPr>
        <p:grpSpPr>
          <a:xfrm rot="0">
            <a:off x="9258300" y="3840480"/>
            <a:ext cx="8161020" cy="1440180"/>
            <a:chOff x="0" y="0"/>
            <a:chExt cx="10881360" cy="1920240"/>
          </a:xfrm>
        </p:grpSpPr>
        <p:sp>
          <p:nvSpPr>
            <p:cNvPr name="Freeform 73" id="73"/>
            <p:cNvSpPr/>
            <p:nvPr/>
          </p:nvSpPr>
          <p:spPr>
            <a:xfrm flipH="false" flipV="false" rot="0">
              <a:off x="0" y="0"/>
              <a:ext cx="10881360" cy="1920240"/>
            </a:xfrm>
            <a:custGeom>
              <a:avLst/>
              <a:gdLst/>
              <a:ahLst/>
              <a:cxnLst/>
              <a:rect r="r" b="b" t="t" l="l"/>
              <a:pathLst>
                <a:path h="1920240" w="10881360">
                  <a:moveTo>
                    <a:pt x="0" y="182880"/>
                  </a:moveTo>
                  <a:cubicBezTo>
                    <a:pt x="0" y="81915"/>
                    <a:pt x="81915" y="0"/>
                    <a:pt x="182880" y="0"/>
                  </a:cubicBezTo>
                  <a:lnTo>
                    <a:pt x="10698480" y="0"/>
                  </a:lnTo>
                  <a:cubicBezTo>
                    <a:pt x="10799445" y="0"/>
                    <a:pt x="10881360" y="81915"/>
                    <a:pt x="10881360" y="182880"/>
                  </a:cubicBezTo>
                  <a:lnTo>
                    <a:pt x="10881360" y="1737360"/>
                  </a:lnTo>
                  <a:cubicBezTo>
                    <a:pt x="10881360" y="1838325"/>
                    <a:pt x="10799445" y="1920240"/>
                    <a:pt x="10698480" y="1920240"/>
                  </a:cubicBezTo>
                  <a:lnTo>
                    <a:pt x="182880" y="1920240"/>
                  </a:lnTo>
                  <a:cubicBezTo>
                    <a:pt x="81915" y="1920240"/>
                    <a:pt x="0" y="1838325"/>
                    <a:pt x="0" y="1737360"/>
                  </a:cubicBezTo>
                  <a:close/>
                </a:path>
              </a:pathLst>
            </a:custGeom>
            <a:solidFill>
              <a:srgbClr val="9495A2"/>
            </a:solidFill>
          </p:spPr>
        </p:sp>
      </p:grpSp>
      <p:grpSp>
        <p:nvGrpSpPr>
          <p:cNvPr name="Group 74" id="74"/>
          <p:cNvGrpSpPr/>
          <p:nvPr/>
        </p:nvGrpSpPr>
        <p:grpSpPr>
          <a:xfrm rot="0">
            <a:off x="9532620" y="3977640"/>
            <a:ext cx="7612380" cy="480060"/>
            <a:chOff x="0" y="0"/>
            <a:chExt cx="10149840" cy="640080"/>
          </a:xfrm>
        </p:grpSpPr>
        <p:sp>
          <p:nvSpPr>
            <p:cNvPr name="Freeform 75" id="75"/>
            <p:cNvSpPr/>
            <p:nvPr/>
          </p:nvSpPr>
          <p:spPr>
            <a:xfrm flipH="false" flipV="false" rot="0">
              <a:off x="0" y="0"/>
              <a:ext cx="10149840" cy="640080"/>
            </a:xfrm>
            <a:custGeom>
              <a:avLst/>
              <a:gdLst/>
              <a:ahLst/>
              <a:cxnLst/>
              <a:rect r="r" b="b" t="t" l="l"/>
              <a:pathLst>
                <a:path h="640080" w="10149840">
                  <a:moveTo>
                    <a:pt x="0" y="0"/>
                  </a:moveTo>
                  <a:lnTo>
                    <a:pt x="10149840" y="0"/>
                  </a:lnTo>
                  <a:lnTo>
                    <a:pt x="10149840" y="640080"/>
                  </a:lnTo>
                  <a:lnTo>
                    <a:pt x="0" y="640080"/>
                  </a:lnTo>
                  <a:close/>
                </a:path>
              </a:pathLst>
            </a:custGeom>
            <a:blipFill>
              <a:blip r:embed="rId2">
                <a:alphaModFix amt="0"/>
              </a:blip>
              <a:stretch>
                <a:fillRect l="0" t="-258761" r="0" b="-258761"/>
              </a:stretch>
            </a:blipFill>
          </p:spPr>
        </p:sp>
      </p:grpSp>
      <p:grpSp>
        <p:nvGrpSpPr>
          <p:cNvPr name="Group 76" id="76"/>
          <p:cNvGrpSpPr/>
          <p:nvPr/>
        </p:nvGrpSpPr>
        <p:grpSpPr>
          <a:xfrm rot="0">
            <a:off x="9532620" y="3949065"/>
            <a:ext cx="7612380" cy="508635"/>
            <a:chOff x="0" y="0"/>
            <a:chExt cx="10149840" cy="678180"/>
          </a:xfrm>
        </p:grpSpPr>
        <p:sp>
          <p:nvSpPr>
            <p:cNvPr name="Freeform 77" id="77"/>
            <p:cNvSpPr/>
            <p:nvPr/>
          </p:nvSpPr>
          <p:spPr>
            <a:xfrm flipH="false" flipV="false" rot="0">
              <a:off x="0" y="0"/>
              <a:ext cx="10149840" cy="678180"/>
            </a:xfrm>
            <a:custGeom>
              <a:avLst/>
              <a:gdLst/>
              <a:ahLst/>
              <a:cxnLst/>
              <a:rect r="r" b="b" t="t" l="l"/>
              <a:pathLst>
                <a:path h="678180" w="10149840">
                  <a:moveTo>
                    <a:pt x="0" y="0"/>
                  </a:moveTo>
                  <a:lnTo>
                    <a:pt x="10149840" y="0"/>
                  </a:lnTo>
                  <a:lnTo>
                    <a:pt x="10149840" y="678180"/>
                  </a:lnTo>
                  <a:lnTo>
                    <a:pt x="0" y="678180"/>
                  </a:lnTo>
                  <a:close/>
                </a:path>
              </a:pathLst>
            </a:custGeom>
            <a:blipFill>
              <a:blip r:embed="rId3">
                <a:alphaModFix amt="0"/>
              </a:blip>
              <a:stretch>
                <a:fillRect l="0" t="-241618" r="0" b="-241618"/>
              </a:stretch>
            </a:blipFill>
          </p:spPr>
        </p:sp>
        <p:sp>
          <p:nvSpPr>
            <p:cNvPr name="TextBox 78" id="78"/>
            <p:cNvSpPr txBox="true"/>
            <p:nvPr/>
          </p:nvSpPr>
          <p:spPr>
            <a:xfrm>
              <a:off x="0" y="-38100"/>
              <a:ext cx="10149840" cy="716280"/>
            </a:xfrm>
            <a:prstGeom prst="rect">
              <a:avLst/>
            </a:prstGeom>
          </p:spPr>
          <p:txBody>
            <a:bodyPr anchor="ctr" rtlCol="false" tIns="0" lIns="0" bIns="0" rIns="0"/>
            <a:lstStyle/>
            <a:p>
              <a:pPr algn="l">
                <a:lnSpc>
                  <a:spcPts val="2250"/>
                </a:lnSpc>
              </a:pPr>
              <a:r>
                <a:rPr lang="en-US" sz="1875" b="true">
                  <a:solidFill>
                    <a:srgbClr val="0F1017"/>
                  </a:solidFill>
                  <a:latin typeface="Calibri (MS) Bold"/>
                  <a:ea typeface="Calibri (MS) Bold"/>
                  <a:cs typeface="Calibri (MS) Bold"/>
                  <a:sym typeface="Calibri (MS) Bold"/>
                </a:rPr>
                <a:t>RNF-06 · Privacidad</a:t>
              </a:r>
            </a:p>
          </p:txBody>
        </p:sp>
      </p:grpSp>
      <p:grpSp>
        <p:nvGrpSpPr>
          <p:cNvPr name="Group 79" id="79"/>
          <p:cNvGrpSpPr/>
          <p:nvPr/>
        </p:nvGrpSpPr>
        <p:grpSpPr>
          <a:xfrm rot="0">
            <a:off x="9532620" y="4457700"/>
            <a:ext cx="7612380" cy="754380"/>
            <a:chOff x="0" y="0"/>
            <a:chExt cx="10149840" cy="1005840"/>
          </a:xfrm>
        </p:grpSpPr>
        <p:sp>
          <p:nvSpPr>
            <p:cNvPr name="Freeform 80" id="80"/>
            <p:cNvSpPr/>
            <p:nvPr/>
          </p:nvSpPr>
          <p:spPr>
            <a:xfrm flipH="false" flipV="false" rot="0">
              <a:off x="0" y="0"/>
              <a:ext cx="10149840" cy="1005840"/>
            </a:xfrm>
            <a:custGeom>
              <a:avLst/>
              <a:gdLst/>
              <a:ahLst/>
              <a:cxnLst/>
              <a:rect r="r" b="b" t="t" l="l"/>
              <a:pathLst>
                <a:path h="1005840" w="10149840">
                  <a:moveTo>
                    <a:pt x="0" y="0"/>
                  </a:moveTo>
                  <a:lnTo>
                    <a:pt x="10149840" y="0"/>
                  </a:lnTo>
                  <a:lnTo>
                    <a:pt x="10149840" y="1005840"/>
                  </a:lnTo>
                  <a:lnTo>
                    <a:pt x="0" y="1005840"/>
                  </a:lnTo>
                  <a:close/>
                </a:path>
              </a:pathLst>
            </a:custGeom>
            <a:blipFill>
              <a:blip r:embed="rId2">
                <a:alphaModFix amt="0"/>
              </a:blip>
              <a:stretch>
                <a:fillRect l="0" t="-146484" r="0" b="-146484"/>
              </a:stretch>
            </a:blipFill>
          </p:spPr>
        </p:sp>
      </p:grpSp>
      <p:grpSp>
        <p:nvGrpSpPr>
          <p:cNvPr name="Group 81" id="81"/>
          <p:cNvGrpSpPr/>
          <p:nvPr/>
        </p:nvGrpSpPr>
        <p:grpSpPr>
          <a:xfrm rot="0">
            <a:off x="9532620" y="4436269"/>
            <a:ext cx="7612380" cy="775811"/>
            <a:chOff x="0" y="0"/>
            <a:chExt cx="10149840" cy="1034415"/>
          </a:xfrm>
        </p:grpSpPr>
        <p:sp>
          <p:nvSpPr>
            <p:cNvPr name="Freeform 82" id="82"/>
            <p:cNvSpPr/>
            <p:nvPr/>
          </p:nvSpPr>
          <p:spPr>
            <a:xfrm flipH="false" flipV="false" rot="0">
              <a:off x="0" y="0"/>
              <a:ext cx="10149840" cy="1034415"/>
            </a:xfrm>
            <a:custGeom>
              <a:avLst/>
              <a:gdLst/>
              <a:ahLst/>
              <a:cxnLst/>
              <a:rect r="r" b="b" t="t" l="l"/>
              <a:pathLst>
                <a:path h="1034415" w="10149840">
                  <a:moveTo>
                    <a:pt x="0" y="0"/>
                  </a:moveTo>
                  <a:lnTo>
                    <a:pt x="10149840" y="0"/>
                  </a:lnTo>
                  <a:lnTo>
                    <a:pt x="10149840" y="1034415"/>
                  </a:lnTo>
                  <a:lnTo>
                    <a:pt x="0" y="1034415"/>
                  </a:lnTo>
                  <a:close/>
                </a:path>
              </a:pathLst>
            </a:custGeom>
            <a:blipFill>
              <a:blip r:embed="rId3">
                <a:alphaModFix amt="0"/>
              </a:blip>
              <a:stretch>
                <a:fillRect l="0" t="-141190" r="0" b="-141190"/>
              </a:stretch>
            </a:blipFill>
          </p:spPr>
        </p:sp>
        <p:sp>
          <p:nvSpPr>
            <p:cNvPr name="TextBox 83" id="83"/>
            <p:cNvSpPr txBox="true"/>
            <p:nvPr/>
          </p:nvSpPr>
          <p:spPr>
            <a:xfrm>
              <a:off x="0" y="-28575"/>
              <a:ext cx="10149840" cy="1062990"/>
            </a:xfrm>
            <a:prstGeom prst="rect">
              <a:avLst/>
            </a:prstGeom>
          </p:spPr>
          <p:txBody>
            <a:bodyPr anchor="ctr" rtlCol="false" tIns="0" lIns="0" bIns="0" rIns="0"/>
            <a:lstStyle/>
            <a:p>
              <a:pPr algn="l">
                <a:lnSpc>
                  <a:spcPts val="1980"/>
                </a:lnSpc>
              </a:pPr>
              <a:r>
                <a:rPr lang="en-US" sz="1650">
                  <a:solidFill>
                    <a:srgbClr val="0F1017"/>
                  </a:solidFill>
                  <a:latin typeface="Calibri (MS)"/>
                  <a:ea typeface="Calibri (MS)"/>
                  <a:cs typeface="Calibri (MS)"/>
                  <a:sym typeface="Calibri (MS)"/>
                </a:rPr>
                <a:t>Datos financieros del usuario no se comparten sin consentimiento.</a:t>
              </a:r>
            </a:p>
          </p:txBody>
        </p:sp>
      </p:grpSp>
      <p:grpSp>
        <p:nvGrpSpPr>
          <p:cNvPr name="Group 84" id="84"/>
          <p:cNvGrpSpPr/>
          <p:nvPr/>
        </p:nvGrpSpPr>
        <p:grpSpPr>
          <a:xfrm rot="0">
            <a:off x="9258300" y="5417820"/>
            <a:ext cx="8161020" cy="1440180"/>
            <a:chOff x="0" y="0"/>
            <a:chExt cx="10881360" cy="1920240"/>
          </a:xfrm>
        </p:grpSpPr>
        <p:sp>
          <p:nvSpPr>
            <p:cNvPr name="Freeform 85" id="85"/>
            <p:cNvSpPr/>
            <p:nvPr/>
          </p:nvSpPr>
          <p:spPr>
            <a:xfrm flipH="false" flipV="false" rot="0">
              <a:off x="0" y="0"/>
              <a:ext cx="10881360" cy="1920240"/>
            </a:xfrm>
            <a:custGeom>
              <a:avLst/>
              <a:gdLst/>
              <a:ahLst/>
              <a:cxnLst/>
              <a:rect r="r" b="b" t="t" l="l"/>
              <a:pathLst>
                <a:path h="1920240" w="10881360">
                  <a:moveTo>
                    <a:pt x="0" y="182880"/>
                  </a:moveTo>
                  <a:cubicBezTo>
                    <a:pt x="0" y="81915"/>
                    <a:pt x="81915" y="0"/>
                    <a:pt x="182880" y="0"/>
                  </a:cubicBezTo>
                  <a:lnTo>
                    <a:pt x="10698480" y="0"/>
                  </a:lnTo>
                  <a:cubicBezTo>
                    <a:pt x="10799445" y="0"/>
                    <a:pt x="10881360" y="81915"/>
                    <a:pt x="10881360" y="182880"/>
                  </a:cubicBezTo>
                  <a:lnTo>
                    <a:pt x="10881360" y="1737360"/>
                  </a:lnTo>
                  <a:cubicBezTo>
                    <a:pt x="10881360" y="1838325"/>
                    <a:pt x="10799445" y="1920240"/>
                    <a:pt x="10698480" y="1920240"/>
                  </a:cubicBezTo>
                  <a:lnTo>
                    <a:pt x="182880" y="1920240"/>
                  </a:lnTo>
                  <a:cubicBezTo>
                    <a:pt x="81915" y="1920240"/>
                    <a:pt x="0" y="1838325"/>
                    <a:pt x="0" y="1737360"/>
                  </a:cubicBezTo>
                  <a:close/>
                </a:path>
              </a:pathLst>
            </a:custGeom>
            <a:solidFill>
              <a:srgbClr val="9495A2"/>
            </a:solidFill>
          </p:spPr>
        </p:sp>
      </p:grpSp>
      <p:grpSp>
        <p:nvGrpSpPr>
          <p:cNvPr name="Group 86" id="86"/>
          <p:cNvGrpSpPr/>
          <p:nvPr/>
        </p:nvGrpSpPr>
        <p:grpSpPr>
          <a:xfrm rot="0">
            <a:off x="9532620" y="5554980"/>
            <a:ext cx="7612380" cy="480060"/>
            <a:chOff x="0" y="0"/>
            <a:chExt cx="10149840" cy="640080"/>
          </a:xfrm>
        </p:grpSpPr>
        <p:sp>
          <p:nvSpPr>
            <p:cNvPr name="Freeform 87" id="87"/>
            <p:cNvSpPr/>
            <p:nvPr/>
          </p:nvSpPr>
          <p:spPr>
            <a:xfrm flipH="false" flipV="false" rot="0">
              <a:off x="0" y="0"/>
              <a:ext cx="10149840" cy="640080"/>
            </a:xfrm>
            <a:custGeom>
              <a:avLst/>
              <a:gdLst/>
              <a:ahLst/>
              <a:cxnLst/>
              <a:rect r="r" b="b" t="t" l="l"/>
              <a:pathLst>
                <a:path h="640080" w="10149840">
                  <a:moveTo>
                    <a:pt x="0" y="0"/>
                  </a:moveTo>
                  <a:lnTo>
                    <a:pt x="10149840" y="0"/>
                  </a:lnTo>
                  <a:lnTo>
                    <a:pt x="10149840" y="640080"/>
                  </a:lnTo>
                  <a:lnTo>
                    <a:pt x="0" y="640080"/>
                  </a:lnTo>
                  <a:close/>
                </a:path>
              </a:pathLst>
            </a:custGeom>
            <a:blipFill>
              <a:blip r:embed="rId2">
                <a:alphaModFix amt="0"/>
              </a:blip>
              <a:stretch>
                <a:fillRect l="0" t="-258761" r="0" b="-258761"/>
              </a:stretch>
            </a:blipFill>
          </p:spPr>
        </p:sp>
      </p:grpSp>
      <p:grpSp>
        <p:nvGrpSpPr>
          <p:cNvPr name="Group 88" id="88"/>
          <p:cNvGrpSpPr/>
          <p:nvPr/>
        </p:nvGrpSpPr>
        <p:grpSpPr>
          <a:xfrm rot="0">
            <a:off x="9532620" y="5526405"/>
            <a:ext cx="7612380" cy="508635"/>
            <a:chOff x="0" y="0"/>
            <a:chExt cx="10149840" cy="678180"/>
          </a:xfrm>
        </p:grpSpPr>
        <p:sp>
          <p:nvSpPr>
            <p:cNvPr name="Freeform 89" id="89"/>
            <p:cNvSpPr/>
            <p:nvPr/>
          </p:nvSpPr>
          <p:spPr>
            <a:xfrm flipH="false" flipV="false" rot="0">
              <a:off x="0" y="0"/>
              <a:ext cx="10149840" cy="678180"/>
            </a:xfrm>
            <a:custGeom>
              <a:avLst/>
              <a:gdLst/>
              <a:ahLst/>
              <a:cxnLst/>
              <a:rect r="r" b="b" t="t" l="l"/>
              <a:pathLst>
                <a:path h="678180" w="10149840">
                  <a:moveTo>
                    <a:pt x="0" y="0"/>
                  </a:moveTo>
                  <a:lnTo>
                    <a:pt x="10149840" y="0"/>
                  </a:lnTo>
                  <a:lnTo>
                    <a:pt x="10149840" y="678180"/>
                  </a:lnTo>
                  <a:lnTo>
                    <a:pt x="0" y="678180"/>
                  </a:lnTo>
                  <a:close/>
                </a:path>
              </a:pathLst>
            </a:custGeom>
            <a:blipFill>
              <a:blip r:embed="rId3">
                <a:alphaModFix amt="0"/>
              </a:blip>
              <a:stretch>
                <a:fillRect l="0" t="-241618" r="0" b="-241618"/>
              </a:stretch>
            </a:blipFill>
          </p:spPr>
        </p:sp>
        <p:sp>
          <p:nvSpPr>
            <p:cNvPr name="TextBox 90" id="90"/>
            <p:cNvSpPr txBox="true"/>
            <p:nvPr/>
          </p:nvSpPr>
          <p:spPr>
            <a:xfrm>
              <a:off x="0" y="-38100"/>
              <a:ext cx="10149840" cy="716280"/>
            </a:xfrm>
            <a:prstGeom prst="rect">
              <a:avLst/>
            </a:prstGeom>
          </p:spPr>
          <p:txBody>
            <a:bodyPr anchor="ctr" rtlCol="false" tIns="0" lIns="0" bIns="0" rIns="0"/>
            <a:lstStyle/>
            <a:p>
              <a:pPr algn="l">
                <a:lnSpc>
                  <a:spcPts val="2250"/>
                </a:lnSpc>
              </a:pPr>
              <a:r>
                <a:rPr lang="en-US" sz="1875" b="true">
                  <a:solidFill>
                    <a:srgbClr val="0F1017"/>
                  </a:solidFill>
                  <a:latin typeface="Calibri (MS) Bold"/>
                  <a:ea typeface="Calibri (MS) Bold"/>
                  <a:cs typeface="Calibri (MS) Bold"/>
                  <a:sym typeface="Calibri (MS) Bold"/>
                </a:rPr>
                <a:t>RNF-07 · Legalidad</a:t>
              </a:r>
            </a:p>
          </p:txBody>
        </p:sp>
      </p:grpSp>
      <p:grpSp>
        <p:nvGrpSpPr>
          <p:cNvPr name="Group 91" id="91"/>
          <p:cNvGrpSpPr/>
          <p:nvPr/>
        </p:nvGrpSpPr>
        <p:grpSpPr>
          <a:xfrm rot="0">
            <a:off x="9532620" y="6035040"/>
            <a:ext cx="7612380" cy="754380"/>
            <a:chOff x="0" y="0"/>
            <a:chExt cx="10149840" cy="1005840"/>
          </a:xfrm>
        </p:grpSpPr>
        <p:sp>
          <p:nvSpPr>
            <p:cNvPr name="Freeform 92" id="92"/>
            <p:cNvSpPr/>
            <p:nvPr/>
          </p:nvSpPr>
          <p:spPr>
            <a:xfrm flipH="false" flipV="false" rot="0">
              <a:off x="0" y="0"/>
              <a:ext cx="10149840" cy="1005840"/>
            </a:xfrm>
            <a:custGeom>
              <a:avLst/>
              <a:gdLst/>
              <a:ahLst/>
              <a:cxnLst/>
              <a:rect r="r" b="b" t="t" l="l"/>
              <a:pathLst>
                <a:path h="1005840" w="10149840">
                  <a:moveTo>
                    <a:pt x="0" y="0"/>
                  </a:moveTo>
                  <a:lnTo>
                    <a:pt x="10149840" y="0"/>
                  </a:lnTo>
                  <a:lnTo>
                    <a:pt x="10149840" y="1005840"/>
                  </a:lnTo>
                  <a:lnTo>
                    <a:pt x="0" y="1005840"/>
                  </a:lnTo>
                  <a:close/>
                </a:path>
              </a:pathLst>
            </a:custGeom>
            <a:blipFill>
              <a:blip r:embed="rId2">
                <a:alphaModFix amt="0"/>
              </a:blip>
              <a:stretch>
                <a:fillRect l="0" t="-146484" r="0" b="-146484"/>
              </a:stretch>
            </a:blipFill>
          </p:spPr>
        </p:sp>
      </p:grpSp>
      <p:grpSp>
        <p:nvGrpSpPr>
          <p:cNvPr name="Group 93" id="93"/>
          <p:cNvGrpSpPr/>
          <p:nvPr/>
        </p:nvGrpSpPr>
        <p:grpSpPr>
          <a:xfrm rot="0">
            <a:off x="9532620" y="6013609"/>
            <a:ext cx="7612380" cy="775811"/>
            <a:chOff x="0" y="0"/>
            <a:chExt cx="10149840" cy="1034415"/>
          </a:xfrm>
        </p:grpSpPr>
        <p:sp>
          <p:nvSpPr>
            <p:cNvPr name="Freeform 94" id="94"/>
            <p:cNvSpPr/>
            <p:nvPr/>
          </p:nvSpPr>
          <p:spPr>
            <a:xfrm flipH="false" flipV="false" rot="0">
              <a:off x="0" y="0"/>
              <a:ext cx="10149840" cy="1034415"/>
            </a:xfrm>
            <a:custGeom>
              <a:avLst/>
              <a:gdLst/>
              <a:ahLst/>
              <a:cxnLst/>
              <a:rect r="r" b="b" t="t" l="l"/>
              <a:pathLst>
                <a:path h="1034415" w="10149840">
                  <a:moveTo>
                    <a:pt x="0" y="0"/>
                  </a:moveTo>
                  <a:lnTo>
                    <a:pt x="10149840" y="0"/>
                  </a:lnTo>
                  <a:lnTo>
                    <a:pt x="10149840" y="1034415"/>
                  </a:lnTo>
                  <a:lnTo>
                    <a:pt x="0" y="1034415"/>
                  </a:lnTo>
                  <a:close/>
                </a:path>
              </a:pathLst>
            </a:custGeom>
            <a:blipFill>
              <a:blip r:embed="rId3">
                <a:alphaModFix amt="0"/>
              </a:blip>
              <a:stretch>
                <a:fillRect l="0" t="-141190" r="0" b="-141190"/>
              </a:stretch>
            </a:blipFill>
          </p:spPr>
        </p:sp>
        <p:sp>
          <p:nvSpPr>
            <p:cNvPr name="TextBox 95" id="95"/>
            <p:cNvSpPr txBox="true"/>
            <p:nvPr/>
          </p:nvSpPr>
          <p:spPr>
            <a:xfrm>
              <a:off x="0" y="-28575"/>
              <a:ext cx="10149840" cy="1062990"/>
            </a:xfrm>
            <a:prstGeom prst="rect">
              <a:avLst/>
            </a:prstGeom>
          </p:spPr>
          <p:txBody>
            <a:bodyPr anchor="ctr" rtlCol="false" tIns="0" lIns="0" bIns="0" rIns="0"/>
            <a:lstStyle/>
            <a:p>
              <a:pPr algn="l">
                <a:lnSpc>
                  <a:spcPts val="1980"/>
                </a:lnSpc>
              </a:pPr>
              <a:r>
                <a:rPr lang="en-US" sz="1650">
                  <a:solidFill>
                    <a:srgbClr val="0F1017"/>
                  </a:solidFill>
                  <a:latin typeface="Calibri (MS)"/>
                  <a:ea typeface="Calibri (MS)"/>
                  <a:cs typeface="Calibri (MS)"/>
                  <a:sym typeface="Calibri (MS)"/>
                </a:rPr>
                <a:t>Scraping respeta Términos de Servicio y robots.txt de cada fuente.</a:t>
              </a:r>
            </a:p>
          </p:txBody>
        </p:sp>
      </p:grpSp>
      <p:grpSp>
        <p:nvGrpSpPr>
          <p:cNvPr name="Group 96" id="96"/>
          <p:cNvGrpSpPr/>
          <p:nvPr/>
        </p:nvGrpSpPr>
        <p:grpSpPr>
          <a:xfrm rot="0">
            <a:off x="9258300" y="6995160"/>
            <a:ext cx="8161020" cy="1440180"/>
            <a:chOff x="0" y="0"/>
            <a:chExt cx="10881360" cy="1920240"/>
          </a:xfrm>
        </p:grpSpPr>
        <p:sp>
          <p:nvSpPr>
            <p:cNvPr name="Freeform 97" id="97"/>
            <p:cNvSpPr/>
            <p:nvPr/>
          </p:nvSpPr>
          <p:spPr>
            <a:xfrm flipH="false" flipV="false" rot="0">
              <a:off x="0" y="0"/>
              <a:ext cx="10881360" cy="1920240"/>
            </a:xfrm>
            <a:custGeom>
              <a:avLst/>
              <a:gdLst/>
              <a:ahLst/>
              <a:cxnLst/>
              <a:rect r="r" b="b" t="t" l="l"/>
              <a:pathLst>
                <a:path h="1920240" w="10881360">
                  <a:moveTo>
                    <a:pt x="0" y="182880"/>
                  </a:moveTo>
                  <a:cubicBezTo>
                    <a:pt x="0" y="81915"/>
                    <a:pt x="81915" y="0"/>
                    <a:pt x="182880" y="0"/>
                  </a:cubicBezTo>
                  <a:lnTo>
                    <a:pt x="10698480" y="0"/>
                  </a:lnTo>
                  <a:cubicBezTo>
                    <a:pt x="10799445" y="0"/>
                    <a:pt x="10881360" y="81915"/>
                    <a:pt x="10881360" y="182880"/>
                  </a:cubicBezTo>
                  <a:lnTo>
                    <a:pt x="10881360" y="1737360"/>
                  </a:lnTo>
                  <a:cubicBezTo>
                    <a:pt x="10881360" y="1838325"/>
                    <a:pt x="10799445" y="1920240"/>
                    <a:pt x="10698480" y="1920240"/>
                  </a:cubicBezTo>
                  <a:lnTo>
                    <a:pt x="182880" y="1920240"/>
                  </a:lnTo>
                  <a:cubicBezTo>
                    <a:pt x="81915" y="1920240"/>
                    <a:pt x="0" y="1838325"/>
                    <a:pt x="0" y="1737360"/>
                  </a:cubicBezTo>
                  <a:close/>
                </a:path>
              </a:pathLst>
            </a:custGeom>
            <a:solidFill>
              <a:srgbClr val="9495A2"/>
            </a:solidFill>
          </p:spPr>
        </p:sp>
      </p:grpSp>
      <p:grpSp>
        <p:nvGrpSpPr>
          <p:cNvPr name="Group 98" id="98"/>
          <p:cNvGrpSpPr/>
          <p:nvPr/>
        </p:nvGrpSpPr>
        <p:grpSpPr>
          <a:xfrm rot="0">
            <a:off x="9532620" y="7132320"/>
            <a:ext cx="7612380" cy="480060"/>
            <a:chOff x="0" y="0"/>
            <a:chExt cx="10149840" cy="640080"/>
          </a:xfrm>
        </p:grpSpPr>
        <p:sp>
          <p:nvSpPr>
            <p:cNvPr name="Freeform 99" id="99"/>
            <p:cNvSpPr/>
            <p:nvPr/>
          </p:nvSpPr>
          <p:spPr>
            <a:xfrm flipH="false" flipV="false" rot="0">
              <a:off x="0" y="0"/>
              <a:ext cx="10149840" cy="640080"/>
            </a:xfrm>
            <a:custGeom>
              <a:avLst/>
              <a:gdLst/>
              <a:ahLst/>
              <a:cxnLst/>
              <a:rect r="r" b="b" t="t" l="l"/>
              <a:pathLst>
                <a:path h="640080" w="10149840">
                  <a:moveTo>
                    <a:pt x="0" y="0"/>
                  </a:moveTo>
                  <a:lnTo>
                    <a:pt x="10149840" y="0"/>
                  </a:lnTo>
                  <a:lnTo>
                    <a:pt x="10149840" y="640080"/>
                  </a:lnTo>
                  <a:lnTo>
                    <a:pt x="0" y="640080"/>
                  </a:lnTo>
                  <a:close/>
                </a:path>
              </a:pathLst>
            </a:custGeom>
            <a:blipFill>
              <a:blip r:embed="rId2">
                <a:alphaModFix amt="0"/>
              </a:blip>
              <a:stretch>
                <a:fillRect l="0" t="-258761" r="0" b="-258761"/>
              </a:stretch>
            </a:blipFill>
          </p:spPr>
        </p:sp>
      </p:grpSp>
      <p:grpSp>
        <p:nvGrpSpPr>
          <p:cNvPr name="Group 100" id="100"/>
          <p:cNvGrpSpPr/>
          <p:nvPr/>
        </p:nvGrpSpPr>
        <p:grpSpPr>
          <a:xfrm rot="0">
            <a:off x="9532620" y="7103745"/>
            <a:ext cx="7612380" cy="508635"/>
            <a:chOff x="0" y="0"/>
            <a:chExt cx="10149840" cy="678180"/>
          </a:xfrm>
        </p:grpSpPr>
        <p:sp>
          <p:nvSpPr>
            <p:cNvPr name="Freeform 101" id="101"/>
            <p:cNvSpPr/>
            <p:nvPr/>
          </p:nvSpPr>
          <p:spPr>
            <a:xfrm flipH="false" flipV="false" rot="0">
              <a:off x="0" y="0"/>
              <a:ext cx="10149840" cy="678180"/>
            </a:xfrm>
            <a:custGeom>
              <a:avLst/>
              <a:gdLst/>
              <a:ahLst/>
              <a:cxnLst/>
              <a:rect r="r" b="b" t="t" l="l"/>
              <a:pathLst>
                <a:path h="678180" w="10149840">
                  <a:moveTo>
                    <a:pt x="0" y="0"/>
                  </a:moveTo>
                  <a:lnTo>
                    <a:pt x="10149840" y="0"/>
                  </a:lnTo>
                  <a:lnTo>
                    <a:pt x="10149840" y="678180"/>
                  </a:lnTo>
                  <a:lnTo>
                    <a:pt x="0" y="678180"/>
                  </a:lnTo>
                  <a:close/>
                </a:path>
              </a:pathLst>
            </a:custGeom>
            <a:blipFill>
              <a:blip r:embed="rId3">
                <a:alphaModFix amt="0"/>
              </a:blip>
              <a:stretch>
                <a:fillRect l="0" t="-241618" r="0" b="-241618"/>
              </a:stretch>
            </a:blipFill>
          </p:spPr>
        </p:sp>
        <p:sp>
          <p:nvSpPr>
            <p:cNvPr name="TextBox 102" id="102"/>
            <p:cNvSpPr txBox="true"/>
            <p:nvPr/>
          </p:nvSpPr>
          <p:spPr>
            <a:xfrm>
              <a:off x="0" y="-38100"/>
              <a:ext cx="10149840" cy="716280"/>
            </a:xfrm>
            <a:prstGeom prst="rect">
              <a:avLst/>
            </a:prstGeom>
          </p:spPr>
          <p:txBody>
            <a:bodyPr anchor="ctr" rtlCol="false" tIns="0" lIns="0" bIns="0" rIns="0"/>
            <a:lstStyle/>
            <a:p>
              <a:pPr algn="l">
                <a:lnSpc>
                  <a:spcPts val="2250"/>
                </a:lnSpc>
              </a:pPr>
              <a:r>
                <a:rPr lang="en-US" sz="1875" b="true">
                  <a:solidFill>
                    <a:srgbClr val="0F1017"/>
                  </a:solidFill>
                  <a:latin typeface="Calibri (MS) Bold"/>
                  <a:ea typeface="Calibri (MS) Bold"/>
                  <a:cs typeface="Calibri (MS) Bold"/>
                  <a:sym typeface="Calibri (MS) Bold"/>
                </a:rPr>
                <a:t>RNF-08 · Reproducibilidad</a:t>
              </a:r>
            </a:p>
          </p:txBody>
        </p:sp>
      </p:grpSp>
      <p:grpSp>
        <p:nvGrpSpPr>
          <p:cNvPr name="Group 103" id="103"/>
          <p:cNvGrpSpPr/>
          <p:nvPr/>
        </p:nvGrpSpPr>
        <p:grpSpPr>
          <a:xfrm rot="0">
            <a:off x="9532620" y="7612380"/>
            <a:ext cx="7612380" cy="754380"/>
            <a:chOff x="0" y="0"/>
            <a:chExt cx="10149840" cy="1005840"/>
          </a:xfrm>
        </p:grpSpPr>
        <p:sp>
          <p:nvSpPr>
            <p:cNvPr name="Freeform 104" id="104"/>
            <p:cNvSpPr/>
            <p:nvPr/>
          </p:nvSpPr>
          <p:spPr>
            <a:xfrm flipH="false" flipV="false" rot="0">
              <a:off x="0" y="0"/>
              <a:ext cx="10149840" cy="1005840"/>
            </a:xfrm>
            <a:custGeom>
              <a:avLst/>
              <a:gdLst/>
              <a:ahLst/>
              <a:cxnLst/>
              <a:rect r="r" b="b" t="t" l="l"/>
              <a:pathLst>
                <a:path h="1005840" w="10149840">
                  <a:moveTo>
                    <a:pt x="0" y="0"/>
                  </a:moveTo>
                  <a:lnTo>
                    <a:pt x="10149840" y="0"/>
                  </a:lnTo>
                  <a:lnTo>
                    <a:pt x="10149840" y="1005840"/>
                  </a:lnTo>
                  <a:lnTo>
                    <a:pt x="0" y="1005840"/>
                  </a:lnTo>
                  <a:close/>
                </a:path>
              </a:pathLst>
            </a:custGeom>
            <a:blipFill>
              <a:blip r:embed="rId2">
                <a:alphaModFix amt="0"/>
              </a:blip>
              <a:stretch>
                <a:fillRect l="0" t="-146484" r="0" b="-146484"/>
              </a:stretch>
            </a:blipFill>
          </p:spPr>
        </p:sp>
      </p:grpSp>
      <p:grpSp>
        <p:nvGrpSpPr>
          <p:cNvPr name="Group 105" id="105"/>
          <p:cNvGrpSpPr/>
          <p:nvPr/>
        </p:nvGrpSpPr>
        <p:grpSpPr>
          <a:xfrm rot="0">
            <a:off x="9532620" y="7590949"/>
            <a:ext cx="7612380" cy="775811"/>
            <a:chOff x="0" y="0"/>
            <a:chExt cx="10149840" cy="1034415"/>
          </a:xfrm>
        </p:grpSpPr>
        <p:sp>
          <p:nvSpPr>
            <p:cNvPr name="Freeform 106" id="106"/>
            <p:cNvSpPr/>
            <p:nvPr/>
          </p:nvSpPr>
          <p:spPr>
            <a:xfrm flipH="false" flipV="false" rot="0">
              <a:off x="0" y="0"/>
              <a:ext cx="10149840" cy="1034415"/>
            </a:xfrm>
            <a:custGeom>
              <a:avLst/>
              <a:gdLst/>
              <a:ahLst/>
              <a:cxnLst/>
              <a:rect r="r" b="b" t="t" l="l"/>
              <a:pathLst>
                <a:path h="1034415" w="10149840">
                  <a:moveTo>
                    <a:pt x="0" y="0"/>
                  </a:moveTo>
                  <a:lnTo>
                    <a:pt x="10149840" y="0"/>
                  </a:lnTo>
                  <a:lnTo>
                    <a:pt x="10149840" y="1034415"/>
                  </a:lnTo>
                  <a:lnTo>
                    <a:pt x="0" y="1034415"/>
                  </a:lnTo>
                  <a:close/>
                </a:path>
              </a:pathLst>
            </a:custGeom>
            <a:blipFill>
              <a:blip r:embed="rId3">
                <a:alphaModFix amt="0"/>
              </a:blip>
              <a:stretch>
                <a:fillRect l="0" t="-141190" r="0" b="-141190"/>
              </a:stretch>
            </a:blipFill>
          </p:spPr>
        </p:sp>
        <p:sp>
          <p:nvSpPr>
            <p:cNvPr name="TextBox 107" id="107"/>
            <p:cNvSpPr txBox="true"/>
            <p:nvPr/>
          </p:nvSpPr>
          <p:spPr>
            <a:xfrm>
              <a:off x="0" y="-28575"/>
              <a:ext cx="10149840" cy="1062990"/>
            </a:xfrm>
            <a:prstGeom prst="rect">
              <a:avLst/>
            </a:prstGeom>
          </p:spPr>
          <p:txBody>
            <a:bodyPr anchor="ctr" rtlCol="false" tIns="0" lIns="0" bIns="0" rIns="0"/>
            <a:lstStyle/>
            <a:p>
              <a:pPr algn="l">
                <a:lnSpc>
                  <a:spcPts val="1980"/>
                </a:lnSpc>
              </a:pPr>
              <a:r>
                <a:rPr lang="en-US" sz="1650">
                  <a:solidFill>
                    <a:srgbClr val="0F1017"/>
                  </a:solidFill>
                  <a:latin typeface="Calibri (MS)"/>
                  <a:ea typeface="Calibri (MS)"/>
                  <a:cs typeface="Calibri (MS)"/>
                  <a:sym typeface="Calibri (MS)"/>
                </a:rPr>
                <a:t>Pipeline ejecutable siguiendo la documentación del repositorio.</a:t>
              </a:r>
            </a:p>
          </p:txBody>
        </p:sp>
      </p:grpSp>
      <p:grpSp>
        <p:nvGrpSpPr>
          <p:cNvPr name="Group 108" id="108"/>
          <p:cNvGrpSpPr/>
          <p:nvPr/>
        </p:nvGrpSpPr>
        <p:grpSpPr>
          <a:xfrm rot="0">
            <a:off x="685800" y="9738360"/>
            <a:ext cx="8229600" cy="411480"/>
            <a:chOff x="0" y="0"/>
            <a:chExt cx="10972800" cy="548640"/>
          </a:xfrm>
        </p:grpSpPr>
        <p:sp>
          <p:nvSpPr>
            <p:cNvPr name="Freeform 109" id="109"/>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110" id="110"/>
          <p:cNvGrpSpPr/>
          <p:nvPr/>
        </p:nvGrpSpPr>
        <p:grpSpPr>
          <a:xfrm rot="0">
            <a:off x="685800" y="9709785"/>
            <a:ext cx="8229600" cy="440055"/>
            <a:chOff x="0" y="0"/>
            <a:chExt cx="10972800" cy="586740"/>
          </a:xfrm>
        </p:grpSpPr>
        <p:sp>
          <p:nvSpPr>
            <p:cNvPr name="Freeform 111" id="111"/>
            <p:cNvSpPr/>
            <p:nvPr/>
          </p:nvSpPr>
          <p:spPr>
            <a:xfrm flipH="false" flipV="false" rot="0">
              <a:off x="0" y="0"/>
              <a:ext cx="10972800" cy="586740"/>
            </a:xfrm>
            <a:custGeom>
              <a:avLst/>
              <a:gdLst/>
              <a:ahLst/>
              <a:cxnLst/>
              <a:rect r="r" b="b" t="t" l="l"/>
              <a:pathLst>
                <a:path h="586740" w="10972800">
                  <a:moveTo>
                    <a:pt x="0" y="0"/>
                  </a:moveTo>
                  <a:lnTo>
                    <a:pt x="10972800" y="0"/>
                  </a:lnTo>
                  <a:lnTo>
                    <a:pt x="10972800" y="586740"/>
                  </a:lnTo>
                  <a:lnTo>
                    <a:pt x="0" y="586740"/>
                  </a:lnTo>
                  <a:close/>
                </a:path>
              </a:pathLst>
            </a:custGeom>
            <a:blipFill>
              <a:blip r:embed="rId3">
                <a:alphaModFix amt="0"/>
              </a:blip>
              <a:stretch>
                <a:fillRect l="0" t="-314395" r="0" b="-314395"/>
              </a:stretch>
            </a:blipFill>
          </p:spPr>
        </p:sp>
        <p:sp>
          <p:nvSpPr>
            <p:cNvPr name="TextBox 112" id="112"/>
            <p:cNvSpPr txBox="true"/>
            <p:nvPr/>
          </p:nvSpPr>
          <p:spPr>
            <a:xfrm>
              <a:off x="0" y="-38100"/>
              <a:ext cx="10972800" cy="624840"/>
            </a:xfrm>
            <a:prstGeom prst="rect">
              <a:avLst/>
            </a:prstGeom>
          </p:spPr>
          <p:txBody>
            <a:bodyPr anchor="ctr" rtlCol="false" tIns="0" lIns="0" bIns="0" rIns="0"/>
            <a:lstStyle/>
            <a:p>
              <a:pPr algn="l">
                <a:lnSpc>
                  <a:spcPts val="1800"/>
                </a:lnSpc>
              </a:pPr>
              <a:r>
                <a:rPr lang="en-US" sz="1500">
                  <a:solidFill>
                    <a:srgbClr val="35448A"/>
                  </a:solidFill>
                  <a:latin typeface="Calibri (MS)"/>
                  <a:ea typeface="Calibri (MS)"/>
                  <a:cs typeface="Calibri (MS)"/>
                  <a:sym typeface="Calibri (MS)"/>
                </a:rPr>
                <a:t>InmoScore · Week 5</a:t>
              </a:r>
            </a:p>
          </p:txBody>
        </p:sp>
      </p:grpSp>
      <p:grpSp>
        <p:nvGrpSpPr>
          <p:cNvPr name="Group 113" id="113"/>
          <p:cNvGrpSpPr/>
          <p:nvPr/>
        </p:nvGrpSpPr>
        <p:grpSpPr>
          <a:xfrm rot="0">
            <a:off x="17048988" y="9738360"/>
            <a:ext cx="548640" cy="411480"/>
            <a:chOff x="0" y="0"/>
            <a:chExt cx="731520" cy="548640"/>
          </a:xfrm>
        </p:grpSpPr>
        <p:sp>
          <p:nvSpPr>
            <p:cNvPr name="Freeform 114" id="114"/>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115" id="115"/>
          <p:cNvGrpSpPr/>
          <p:nvPr/>
        </p:nvGrpSpPr>
        <p:grpSpPr>
          <a:xfrm rot="0">
            <a:off x="17048988" y="9709785"/>
            <a:ext cx="548640" cy="440055"/>
            <a:chOff x="0" y="0"/>
            <a:chExt cx="731520" cy="586740"/>
          </a:xfrm>
        </p:grpSpPr>
        <p:sp>
          <p:nvSpPr>
            <p:cNvPr name="Freeform 116" id="116"/>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117" id="117"/>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35448A"/>
                  </a:solidFill>
                  <a:latin typeface="Calibri (MS)"/>
                  <a:ea typeface="Calibri (MS)"/>
                  <a:cs typeface="Calibri (MS)"/>
                  <a:sym typeface="Calibri (MS)"/>
                </a:rPr>
                <a:t>9</a:t>
              </a:r>
            </a:p>
          </p:txBody>
        </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9FBFC"/>
        </a:solidFill>
      </p:bgPr>
    </p:bg>
    <p:spTree>
      <p:nvGrpSpPr>
        <p:cNvPr id="1" name=""/>
        <p:cNvGrpSpPr/>
        <p:nvPr/>
      </p:nvGrpSpPr>
      <p:grpSpPr>
        <a:xfrm>
          <a:off x="0" y="0"/>
          <a:ext cx="0" cy="0"/>
          <a:chOff x="0" y="0"/>
          <a:chExt cx="0" cy="0"/>
        </a:xfrm>
      </p:grpSpPr>
      <p:grpSp>
        <p:nvGrpSpPr>
          <p:cNvPr name="Group 2" id="2"/>
          <p:cNvGrpSpPr/>
          <p:nvPr/>
        </p:nvGrpSpPr>
        <p:grpSpPr>
          <a:xfrm rot="0">
            <a:off x="822960" y="480060"/>
            <a:ext cx="13716000" cy="480060"/>
            <a:chOff x="0" y="0"/>
            <a:chExt cx="18288000" cy="640080"/>
          </a:xfrm>
        </p:grpSpPr>
        <p:sp>
          <p:nvSpPr>
            <p:cNvPr name="Freeform 3" id="3"/>
            <p:cNvSpPr/>
            <p:nvPr/>
          </p:nvSpPr>
          <p:spPr>
            <a:xfrm flipH="false" flipV="false" rot="0">
              <a:off x="0" y="0"/>
              <a:ext cx="18288000" cy="640080"/>
            </a:xfrm>
            <a:custGeom>
              <a:avLst/>
              <a:gdLst/>
              <a:ahLst/>
              <a:cxnLst/>
              <a:rect r="r" b="b" t="t" l="l"/>
              <a:pathLst>
                <a:path h="640080" w="18288000">
                  <a:moveTo>
                    <a:pt x="0" y="0"/>
                  </a:moveTo>
                  <a:lnTo>
                    <a:pt x="18288000" y="0"/>
                  </a:lnTo>
                  <a:lnTo>
                    <a:pt x="18288000" y="640080"/>
                  </a:lnTo>
                  <a:lnTo>
                    <a:pt x="0" y="640080"/>
                  </a:lnTo>
                  <a:close/>
                </a:path>
              </a:pathLst>
            </a:custGeom>
            <a:blipFill>
              <a:blip r:embed="rId2">
                <a:alphaModFix amt="0"/>
              </a:blip>
              <a:stretch>
                <a:fillRect l="0" t="-506327" r="0" b="-506329"/>
              </a:stretch>
            </a:blipFill>
          </p:spPr>
        </p:sp>
      </p:grpSp>
      <p:grpSp>
        <p:nvGrpSpPr>
          <p:cNvPr name="Group 4" id="4"/>
          <p:cNvGrpSpPr/>
          <p:nvPr/>
        </p:nvGrpSpPr>
        <p:grpSpPr>
          <a:xfrm rot="0">
            <a:off x="822960" y="451485"/>
            <a:ext cx="13716000" cy="508635"/>
            <a:chOff x="0" y="0"/>
            <a:chExt cx="18288000" cy="678180"/>
          </a:xfrm>
        </p:grpSpPr>
        <p:sp>
          <p:nvSpPr>
            <p:cNvPr name="Freeform 5" id="5"/>
            <p:cNvSpPr/>
            <p:nvPr/>
          </p:nvSpPr>
          <p:spPr>
            <a:xfrm flipH="false" flipV="false" rot="0">
              <a:off x="0" y="0"/>
              <a:ext cx="18288000" cy="678180"/>
            </a:xfrm>
            <a:custGeom>
              <a:avLst/>
              <a:gdLst/>
              <a:ahLst/>
              <a:cxnLst/>
              <a:rect r="r" b="b" t="t" l="l"/>
              <a:pathLst>
                <a:path h="678180" w="18288000">
                  <a:moveTo>
                    <a:pt x="0" y="0"/>
                  </a:moveTo>
                  <a:lnTo>
                    <a:pt x="18288000" y="0"/>
                  </a:lnTo>
                  <a:lnTo>
                    <a:pt x="18288000" y="678180"/>
                  </a:lnTo>
                  <a:lnTo>
                    <a:pt x="0" y="678180"/>
                  </a:lnTo>
                  <a:close/>
                </a:path>
              </a:pathLst>
            </a:custGeom>
            <a:blipFill>
              <a:blip r:embed="rId3">
                <a:alphaModFix amt="0"/>
              </a:blip>
              <a:stretch>
                <a:fillRect l="0" t="-475439" r="0" b="-475439"/>
              </a:stretch>
            </a:blipFill>
          </p:spPr>
        </p:sp>
        <p:sp>
          <p:nvSpPr>
            <p:cNvPr name="TextBox 6" id="6"/>
            <p:cNvSpPr txBox="true"/>
            <p:nvPr/>
          </p:nvSpPr>
          <p:spPr>
            <a:xfrm>
              <a:off x="0" y="-38100"/>
              <a:ext cx="18288000" cy="716280"/>
            </a:xfrm>
            <a:prstGeom prst="rect">
              <a:avLst/>
            </a:prstGeom>
          </p:spPr>
          <p:txBody>
            <a:bodyPr anchor="ctr" rtlCol="false" tIns="0" lIns="0" bIns="0" rIns="0"/>
            <a:lstStyle/>
            <a:p>
              <a:pPr algn="l">
                <a:lnSpc>
                  <a:spcPts val="2160"/>
                </a:lnSpc>
              </a:pPr>
              <a:r>
                <a:rPr lang="en-US" b="true" sz="1800" spc="225">
                  <a:solidFill>
                    <a:srgbClr val="9495A2"/>
                  </a:solidFill>
                  <a:latin typeface="Calibri (MS) Bold"/>
                  <a:ea typeface="Calibri (MS) Bold"/>
                  <a:cs typeface="Calibri (MS) Bold"/>
                  <a:sym typeface="Calibri (MS) Bold"/>
                </a:rPr>
                <a:t>REQUIREMENTS</a:t>
              </a:r>
            </a:p>
          </p:txBody>
        </p:sp>
      </p:grpSp>
      <p:grpSp>
        <p:nvGrpSpPr>
          <p:cNvPr name="Group 7" id="7"/>
          <p:cNvGrpSpPr/>
          <p:nvPr/>
        </p:nvGrpSpPr>
        <p:grpSpPr>
          <a:xfrm rot="0">
            <a:off x="822960" y="-11754"/>
            <a:ext cx="16184880" cy="3303594"/>
            <a:chOff x="0" y="0"/>
            <a:chExt cx="21579840" cy="4404792"/>
          </a:xfrm>
        </p:grpSpPr>
        <p:sp>
          <p:nvSpPr>
            <p:cNvPr name="Freeform 8" id="8"/>
            <p:cNvSpPr/>
            <p:nvPr/>
          </p:nvSpPr>
          <p:spPr>
            <a:xfrm flipH="false" flipV="false" rot="0">
              <a:off x="0" y="0"/>
              <a:ext cx="21579839" cy="4404741"/>
            </a:xfrm>
            <a:custGeom>
              <a:avLst/>
              <a:gdLst/>
              <a:ahLst/>
              <a:cxnLst/>
              <a:rect r="r" b="b" t="t" l="l"/>
              <a:pathLst>
                <a:path h="4404741" w="21579839">
                  <a:moveTo>
                    <a:pt x="0" y="0"/>
                  </a:moveTo>
                  <a:lnTo>
                    <a:pt x="21579839" y="0"/>
                  </a:lnTo>
                  <a:lnTo>
                    <a:pt x="21579839" y="4404741"/>
                  </a:lnTo>
                  <a:lnTo>
                    <a:pt x="0" y="4404741"/>
                  </a:lnTo>
                  <a:close/>
                </a:path>
              </a:pathLst>
            </a:custGeom>
            <a:blipFill>
              <a:blip r:embed="rId2">
                <a:alphaModFix amt="0"/>
              </a:blip>
              <a:stretch>
                <a:fillRect l="0" t="-45394" r="0" b="-45395"/>
              </a:stretch>
            </a:blipFill>
          </p:spPr>
        </p:sp>
      </p:grpSp>
      <p:grpSp>
        <p:nvGrpSpPr>
          <p:cNvPr name="Group 9" id="9"/>
          <p:cNvGrpSpPr/>
          <p:nvPr/>
        </p:nvGrpSpPr>
        <p:grpSpPr>
          <a:xfrm rot="0">
            <a:off x="822960" y="-26041"/>
            <a:ext cx="16184880" cy="3317881"/>
            <a:chOff x="0" y="0"/>
            <a:chExt cx="21579840" cy="4423842"/>
          </a:xfrm>
        </p:grpSpPr>
        <p:sp>
          <p:nvSpPr>
            <p:cNvPr name="Freeform 10" id="10"/>
            <p:cNvSpPr/>
            <p:nvPr/>
          </p:nvSpPr>
          <p:spPr>
            <a:xfrm flipH="false" flipV="false" rot="0">
              <a:off x="0" y="0"/>
              <a:ext cx="21579839" cy="4423842"/>
            </a:xfrm>
            <a:custGeom>
              <a:avLst/>
              <a:gdLst/>
              <a:ahLst/>
              <a:cxnLst/>
              <a:rect r="r" b="b" t="t" l="l"/>
              <a:pathLst>
                <a:path h="4423842" w="21579839">
                  <a:moveTo>
                    <a:pt x="0" y="0"/>
                  </a:moveTo>
                  <a:lnTo>
                    <a:pt x="21579839" y="0"/>
                  </a:lnTo>
                  <a:lnTo>
                    <a:pt x="21579839" y="4423842"/>
                  </a:lnTo>
                  <a:lnTo>
                    <a:pt x="0" y="4423842"/>
                  </a:lnTo>
                  <a:close/>
                </a:path>
              </a:pathLst>
            </a:custGeom>
            <a:blipFill>
              <a:blip r:embed="rId3">
                <a:alphaModFix amt="0"/>
              </a:blip>
              <a:stretch>
                <a:fillRect l="0" t="-45049" r="0" b="-45049"/>
              </a:stretch>
            </a:blipFill>
          </p:spPr>
        </p:sp>
        <p:sp>
          <p:nvSpPr>
            <p:cNvPr name="TextBox 11" id="11"/>
            <p:cNvSpPr txBox="true"/>
            <p:nvPr/>
          </p:nvSpPr>
          <p:spPr>
            <a:xfrm>
              <a:off x="0" y="-19050"/>
              <a:ext cx="21579840" cy="4442892"/>
            </a:xfrm>
            <a:prstGeom prst="rect">
              <a:avLst/>
            </a:prstGeom>
          </p:spPr>
          <p:txBody>
            <a:bodyPr anchor="ctr" rtlCol="false" tIns="0" lIns="0" bIns="0" rIns="0"/>
            <a:lstStyle/>
            <a:p>
              <a:pPr algn="l">
                <a:lnSpc>
                  <a:spcPts val="5400"/>
                </a:lnSpc>
              </a:pPr>
              <a:r>
                <a:rPr lang="en-US" sz="4500" b="true">
                  <a:solidFill>
                    <a:srgbClr val="0F1017"/>
                  </a:solidFill>
                  <a:latin typeface="Cambria Bold"/>
                  <a:ea typeface="Cambria Bold"/>
                  <a:cs typeface="Cambria Bold"/>
                  <a:sym typeface="Cambria Bold"/>
                </a:rPr>
                <a:t>Requerimientos</a:t>
              </a:r>
            </a:p>
          </p:txBody>
        </p:sp>
      </p:grpSp>
      <p:grpSp>
        <p:nvGrpSpPr>
          <p:cNvPr name="Group 12" id="12"/>
          <p:cNvGrpSpPr/>
          <p:nvPr/>
        </p:nvGrpSpPr>
        <p:grpSpPr>
          <a:xfrm rot="0">
            <a:off x="822960" y="2331720"/>
            <a:ext cx="8092440" cy="6446520"/>
            <a:chOff x="0" y="0"/>
            <a:chExt cx="10789920" cy="8595360"/>
          </a:xfrm>
        </p:grpSpPr>
        <p:sp>
          <p:nvSpPr>
            <p:cNvPr name="Freeform 13" id="13"/>
            <p:cNvSpPr/>
            <p:nvPr/>
          </p:nvSpPr>
          <p:spPr>
            <a:xfrm flipH="false" flipV="false" rot="0">
              <a:off x="0" y="0"/>
              <a:ext cx="10789920" cy="8595360"/>
            </a:xfrm>
            <a:custGeom>
              <a:avLst/>
              <a:gdLst/>
              <a:ahLst/>
              <a:cxnLst/>
              <a:rect r="r" b="b" t="t" l="l"/>
              <a:pathLst>
                <a:path h="8595360" w="10789920">
                  <a:moveTo>
                    <a:pt x="0" y="182880"/>
                  </a:moveTo>
                  <a:cubicBezTo>
                    <a:pt x="0" y="81915"/>
                    <a:pt x="81915" y="0"/>
                    <a:pt x="182880" y="0"/>
                  </a:cubicBezTo>
                  <a:lnTo>
                    <a:pt x="10607040" y="0"/>
                  </a:lnTo>
                  <a:cubicBezTo>
                    <a:pt x="10708005" y="0"/>
                    <a:pt x="10789920" y="81915"/>
                    <a:pt x="10789920" y="182880"/>
                  </a:cubicBezTo>
                  <a:lnTo>
                    <a:pt x="10789920" y="8412480"/>
                  </a:lnTo>
                  <a:cubicBezTo>
                    <a:pt x="10789920" y="8513445"/>
                    <a:pt x="10708005" y="8595360"/>
                    <a:pt x="10607040" y="8595360"/>
                  </a:cubicBezTo>
                  <a:lnTo>
                    <a:pt x="182880" y="8595360"/>
                  </a:lnTo>
                  <a:cubicBezTo>
                    <a:pt x="81915" y="8595360"/>
                    <a:pt x="0" y="8513445"/>
                    <a:pt x="0" y="8412480"/>
                  </a:cubicBezTo>
                  <a:close/>
                </a:path>
              </a:pathLst>
            </a:custGeom>
            <a:solidFill>
              <a:srgbClr val="2B3D9C"/>
            </a:solidFill>
          </p:spPr>
        </p:sp>
      </p:grpSp>
      <p:grpSp>
        <p:nvGrpSpPr>
          <p:cNvPr name="Group 14" id="14"/>
          <p:cNvGrpSpPr/>
          <p:nvPr/>
        </p:nvGrpSpPr>
        <p:grpSpPr>
          <a:xfrm rot="0">
            <a:off x="1234440" y="2674620"/>
            <a:ext cx="7269480" cy="548640"/>
            <a:chOff x="0" y="0"/>
            <a:chExt cx="9692640" cy="731520"/>
          </a:xfrm>
        </p:grpSpPr>
        <p:sp>
          <p:nvSpPr>
            <p:cNvPr name="Freeform 15" id="15"/>
            <p:cNvSpPr/>
            <p:nvPr/>
          </p:nvSpPr>
          <p:spPr>
            <a:xfrm flipH="false" flipV="false" rot="0">
              <a:off x="0" y="0"/>
              <a:ext cx="9692640" cy="731520"/>
            </a:xfrm>
            <a:custGeom>
              <a:avLst/>
              <a:gdLst/>
              <a:ahLst/>
              <a:cxnLst/>
              <a:rect r="r" b="b" t="t" l="l"/>
              <a:pathLst>
                <a:path h="731520" w="9692640">
                  <a:moveTo>
                    <a:pt x="0" y="0"/>
                  </a:moveTo>
                  <a:lnTo>
                    <a:pt x="9692640" y="0"/>
                  </a:lnTo>
                  <a:lnTo>
                    <a:pt x="9692640" y="731520"/>
                  </a:lnTo>
                  <a:lnTo>
                    <a:pt x="0" y="731520"/>
                  </a:lnTo>
                  <a:close/>
                </a:path>
              </a:pathLst>
            </a:custGeom>
            <a:blipFill>
              <a:blip r:embed="rId2">
                <a:alphaModFix amt="0"/>
              </a:blip>
              <a:stretch>
                <a:fillRect l="0" t="-207996" r="0" b="-207998"/>
              </a:stretch>
            </a:blipFill>
          </p:spPr>
        </p:sp>
      </p:grpSp>
      <p:grpSp>
        <p:nvGrpSpPr>
          <p:cNvPr name="Group 16" id="16"/>
          <p:cNvGrpSpPr/>
          <p:nvPr/>
        </p:nvGrpSpPr>
        <p:grpSpPr>
          <a:xfrm rot="0">
            <a:off x="1234440" y="2638901"/>
            <a:ext cx="7269480" cy="584359"/>
            <a:chOff x="0" y="0"/>
            <a:chExt cx="9692640" cy="779145"/>
          </a:xfrm>
        </p:grpSpPr>
        <p:sp>
          <p:nvSpPr>
            <p:cNvPr name="Freeform 17" id="17"/>
            <p:cNvSpPr/>
            <p:nvPr/>
          </p:nvSpPr>
          <p:spPr>
            <a:xfrm flipH="false" flipV="false" rot="0">
              <a:off x="0" y="0"/>
              <a:ext cx="9692640" cy="779145"/>
            </a:xfrm>
            <a:custGeom>
              <a:avLst/>
              <a:gdLst/>
              <a:ahLst/>
              <a:cxnLst/>
              <a:rect r="r" b="b" t="t" l="l"/>
              <a:pathLst>
                <a:path h="779145" w="9692640">
                  <a:moveTo>
                    <a:pt x="0" y="0"/>
                  </a:moveTo>
                  <a:lnTo>
                    <a:pt x="9692640" y="0"/>
                  </a:lnTo>
                  <a:lnTo>
                    <a:pt x="9692640" y="779145"/>
                  </a:lnTo>
                  <a:lnTo>
                    <a:pt x="0" y="779145"/>
                  </a:lnTo>
                  <a:close/>
                </a:path>
              </a:pathLst>
            </a:custGeom>
            <a:blipFill>
              <a:blip r:embed="rId3">
                <a:alphaModFix amt="0"/>
              </a:blip>
              <a:stretch>
                <a:fillRect l="0" t="-192395" r="0" b="-192395"/>
              </a:stretch>
            </a:blipFill>
          </p:spPr>
        </p:sp>
        <p:sp>
          <p:nvSpPr>
            <p:cNvPr name="TextBox 18" id="18"/>
            <p:cNvSpPr txBox="true"/>
            <p:nvPr/>
          </p:nvSpPr>
          <p:spPr>
            <a:xfrm>
              <a:off x="0" y="-47625"/>
              <a:ext cx="9692640" cy="826770"/>
            </a:xfrm>
            <a:prstGeom prst="rect">
              <a:avLst/>
            </a:prstGeom>
          </p:spPr>
          <p:txBody>
            <a:bodyPr anchor="ctr" rtlCol="false" tIns="0" lIns="0" bIns="0" rIns="0"/>
            <a:lstStyle/>
            <a:p>
              <a:pPr algn="l">
                <a:lnSpc>
                  <a:spcPts val="2520"/>
                </a:lnSpc>
              </a:pPr>
              <a:r>
                <a:rPr lang="en-US" sz="2100" b="true">
                  <a:solidFill>
                    <a:srgbClr val="A0AAE7"/>
                  </a:solidFill>
                  <a:latin typeface="Calibri (MS) Bold"/>
                  <a:ea typeface="Calibri (MS) Bold"/>
                  <a:cs typeface="Calibri (MS) Bold"/>
                  <a:sym typeface="Calibri (MS) Bold"/>
                </a:rPr>
                <a:t>REQ-01: Motor de recomendación personalizado</a:t>
              </a:r>
            </a:p>
          </p:txBody>
        </p:sp>
      </p:grpSp>
      <p:grpSp>
        <p:nvGrpSpPr>
          <p:cNvPr name="Group 19" id="19"/>
          <p:cNvGrpSpPr/>
          <p:nvPr/>
        </p:nvGrpSpPr>
        <p:grpSpPr>
          <a:xfrm rot="0">
            <a:off x="1234440" y="3291840"/>
            <a:ext cx="7269480" cy="5212080"/>
            <a:chOff x="0" y="0"/>
            <a:chExt cx="9692640" cy="6949440"/>
          </a:xfrm>
        </p:grpSpPr>
        <p:sp>
          <p:nvSpPr>
            <p:cNvPr name="Freeform 20" id="20"/>
            <p:cNvSpPr/>
            <p:nvPr/>
          </p:nvSpPr>
          <p:spPr>
            <a:xfrm flipH="false" flipV="false" rot="0">
              <a:off x="0" y="0"/>
              <a:ext cx="9692640" cy="6949440"/>
            </a:xfrm>
            <a:custGeom>
              <a:avLst/>
              <a:gdLst/>
              <a:ahLst/>
              <a:cxnLst/>
              <a:rect r="r" b="b" t="t" l="l"/>
              <a:pathLst>
                <a:path h="6949440" w="9692640">
                  <a:moveTo>
                    <a:pt x="0" y="0"/>
                  </a:moveTo>
                  <a:lnTo>
                    <a:pt x="9692640" y="0"/>
                  </a:lnTo>
                  <a:lnTo>
                    <a:pt x="9692640" y="6949440"/>
                  </a:lnTo>
                  <a:lnTo>
                    <a:pt x="0" y="6949440"/>
                  </a:lnTo>
                  <a:close/>
                </a:path>
              </a:pathLst>
            </a:custGeom>
            <a:blipFill>
              <a:blip r:embed="rId2">
                <a:alphaModFix amt="0"/>
              </a:blip>
              <a:stretch>
                <a:fillRect l="-42055" t="0" r="-42055" b="0"/>
              </a:stretch>
            </a:blipFill>
          </p:spPr>
        </p:sp>
      </p:grpSp>
      <p:grpSp>
        <p:nvGrpSpPr>
          <p:cNvPr name="Group 21" id="21"/>
          <p:cNvGrpSpPr/>
          <p:nvPr/>
        </p:nvGrpSpPr>
        <p:grpSpPr>
          <a:xfrm rot="0">
            <a:off x="1234440" y="3256121"/>
            <a:ext cx="7269480" cy="5247799"/>
            <a:chOff x="0" y="0"/>
            <a:chExt cx="9692640" cy="6997065"/>
          </a:xfrm>
        </p:grpSpPr>
        <p:sp>
          <p:nvSpPr>
            <p:cNvPr name="Freeform 22" id="22"/>
            <p:cNvSpPr/>
            <p:nvPr/>
          </p:nvSpPr>
          <p:spPr>
            <a:xfrm flipH="false" flipV="false" rot="0">
              <a:off x="0" y="0"/>
              <a:ext cx="9692640" cy="6997065"/>
            </a:xfrm>
            <a:custGeom>
              <a:avLst/>
              <a:gdLst/>
              <a:ahLst/>
              <a:cxnLst/>
              <a:rect r="r" b="b" t="t" l="l"/>
              <a:pathLst>
                <a:path h="6997065" w="9692640">
                  <a:moveTo>
                    <a:pt x="0" y="0"/>
                  </a:moveTo>
                  <a:lnTo>
                    <a:pt x="9692640" y="0"/>
                  </a:lnTo>
                  <a:lnTo>
                    <a:pt x="9692640" y="6997065"/>
                  </a:lnTo>
                  <a:lnTo>
                    <a:pt x="0" y="6997065"/>
                  </a:lnTo>
                  <a:close/>
                </a:path>
              </a:pathLst>
            </a:custGeom>
            <a:blipFill>
              <a:blip r:embed="rId3">
                <a:alphaModFix amt="0"/>
              </a:blip>
              <a:stretch>
                <a:fillRect l="-42621" t="0" r="-42621" b="0"/>
              </a:stretch>
            </a:blipFill>
          </p:spPr>
        </p:sp>
        <p:sp>
          <p:nvSpPr>
            <p:cNvPr name="TextBox 23" id="23"/>
            <p:cNvSpPr txBox="true"/>
            <p:nvPr/>
          </p:nvSpPr>
          <p:spPr>
            <a:xfrm>
              <a:off x="0" y="-47625"/>
              <a:ext cx="9692640" cy="7044690"/>
            </a:xfrm>
            <a:prstGeom prst="rect">
              <a:avLst/>
            </a:prstGeom>
          </p:spPr>
          <p:txBody>
            <a:bodyPr anchor="ctr" rtlCol="false" tIns="0" lIns="0" bIns="0" rIns="0"/>
            <a:lstStyle/>
            <a:p>
              <a:pPr algn="l">
                <a:lnSpc>
                  <a:spcPts val="2340"/>
                </a:lnSpc>
              </a:pPr>
              <a:r>
                <a:rPr lang="en-US" sz="1950">
                  <a:solidFill>
                    <a:srgbClr val="F9FBFC"/>
                  </a:solidFill>
                  <a:latin typeface="Calibri (MS)"/>
                  <a:ea typeface="Calibri (MS)"/>
                  <a:cs typeface="Calibri (MS)"/>
                  <a:sym typeface="Calibri (MS)"/>
                </a:rPr>
                <a:t>•  Combina opportunity_score, zone_composite_index y constructora_reliability_score.</a:t>
              </a:r>
            </a:p>
            <a:p>
              <a:pPr algn="l">
                <a:lnSpc>
                  <a:spcPts val="2340"/>
                </a:lnSpc>
              </a:pPr>
              <a:r>
                <a:rPr lang="en-US" sz="1950">
                  <a:solidFill>
                    <a:srgbClr val="F9FBFC"/>
                  </a:solidFill>
                  <a:latin typeface="Calibri (MS)"/>
                  <a:ea typeface="Calibri (MS)"/>
                  <a:cs typeface="Calibri (MS)"/>
                  <a:sym typeface="Calibri (MS)"/>
                </a:rPr>
                <a:t>•  Pondera cada score con el perfil financiero y de estilo de vida declarado.</a:t>
              </a:r>
            </a:p>
            <a:p>
              <a:pPr algn="l">
                <a:lnSpc>
                  <a:spcPts val="2340"/>
                </a:lnSpc>
              </a:pPr>
              <a:r>
                <a:rPr lang="en-US" sz="1950">
                  <a:solidFill>
                    <a:srgbClr val="F9FBFC"/>
                  </a:solidFill>
                  <a:latin typeface="Calibri (MS)"/>
                  <a:ea typeface="Calibri (MS)"/>
                  <a:cs typeface="Calibri (MS)"/>
                  <a:sym typeface="Calibri (MS)"/>
                </a:rPr>
                <a:t>•  Salida: ranking ordenado, distinto para cada persona sobre el mismo inventario.</a:t>
              </a:r>
            </a:p>
            <a:p>
              <a:pPr algn="l">
                <a:lnSpc>
                  <a:spcPts val="2340"/>
                </a:lnSpc>
              </a:pPr>
              <a:r>
                <a:rPr lang="en-US" sz="1950">
                  <a:solidFill>
                    <a:srgbClr val="F9FBFC"/>
                  </a:solidFill>
                  <a:latin typeface="Calibri (MS)"/>
                  <a:ea typeface="Calibri (MS)"/>
                  <a:cs typeface="Calibri (MS)"/>
                  <a:sym typeface="Calibri (MS)"/>
                </a:rPr>
                <a:t>•  Regla: si falta un componente, la propiedad se marca como dato parcial.</a:t>
              </a:r>
            </a:p>
            <a:p>
              <a:pPr algn="l">
                <a:lnSpc>
                  <a:spcPts val="2340"/>
                </a:lnSpc>
              </a:pPr>
              <a:r>
                <a:rPr lang="en-US" sz="1950">
                  <a:solidFill>
                    <a:srgbClr val="F9FBFC"/>
                  </a:solidFill>
                  <a:latin typeface="Calibri (MS)"/>
                  <a:ea typeface="Calibri (MS)"/>
                  <a:cs typeface="Calibri (MS)"/>
                  <a:sym typeface="Calibri (MS)"/>
                </a:rPr>
                <a:t>•  Aceptación: dos perfiles distintos producen rankings distintos y explicables.</a:t>
              </a:r>
            </a:p>
          </p:txBody>
        </p:sp>
      </p:grpSp>
      <p:grpSp>
        <p:nvGrpSpPr>
          <p:cNvPr name="Group 24" id="24"/>
          <p:cNvGrpSpPr/>
          <p:nvPr/>
        </p:nvGrpSpPr>
        <p:grpSpPr>
          <a:xfrm rot="0">
            <a:off x="9326880" y="2331720"/>
            <a:ext cx="8161020" cy="6446520"/>
            <a:chOff x="0" y="0"/>
            <a:chExt cx="10881360" cy="8595360"/>
          </a:xfrm>
        </p:grpSpPr>
        <p:sp>
          <p:nvSpPr>
            <p:cNvPr name="Freeform 25" id="25"/>
            <p:cNvSpPr/>
            <p:nvPr/>
          </p:nvSpPr>
          <p:spPr>
            <a:xfrm flipH="false" flipV="false" rot="0">
              <a:off x="0" y="0"/>
              <a:ext cx="10881360" cy="8595360"/>
            </a:xfrm>
            <a:custGeom>
              <a:avLst/>
              <a:gdLst/>
              <a:ahLst/>
              <a:cxnLst/>
              <a:rect r="r" b="b" t="t" l="l"/>
              <a:pathLst>
                <a:path h="8595360" w="10881360">
                  <a:moveTo>
                    <a:pt x="0" y="182880"/>
                  </a:moveTo>
                  <a:cubicBezTo>
                    <a:pt x="0" y="81915"/>
                    <a:pt x="81915" y="0"/>
                    <a:pt x="182880" y="0"/>
                  </a:cubicBezTo>
                  <a:lnTo>
                    <a:pt x="10698480" y="0"/>
                  </a:lnTo>
                  <a:cubicBezTo>
                    <a:pt x="10799445" y="0"/>
                    <a:pt x="10881360" y="81915"/>
                    <a:pt x="10881360" y="182880"/>
                  </a:cubicBezTo>
                  <a:lnTo>
                    <a:pt x="10881360" y="8412480"/>
                  </a:lnTo>
                  <a:cubicBezTo>
                    <a:pt x="10881360" y="8513445"/>
                    <a:pt x="10799445" y="8595360"/>
                    <a:pt x="10698480" y="8595360"/>
                  </a:cubicBezTo>
                  <a:lnTo>
                    <a:pt x="182880" y="8595360"/>
                  </a:lnTo>
                  <a:cubicBezTo>
                    <a:pt x="81915" y="8595360"/>
                    <a:pt x="0" y="8513445"/>
                    <a:pt x="0" y="8412480"/>
                  </a:cubicBezTo>
                  <a:close/>
                </a:path>
              </a:pathLst>
            </a:custGeom>
            <a:solidFill>
              <a:srgbClr val="9495A2"/>
            </a:solidFill>
          </p:spPr>
        </p:sp>
      </p:grpSp>
      <p:grpSp>
        <p:nvGrpSpPr>
          <p:cNvPr name="Group 26" id="26"/>
          <p:cNvGrpSpPr/>
          <p:nvPr/>
        </p:nvGrpSpPr>
        <p:grpSpPr>
          <a:xfrm rot="0">
            <a:off x="9738360" y="2674620"/>
            <a:ext cx="7269480" cy="548640"/>
            <a:chOff x="0" y="0"/>
            <a:chExt cx="9692640" cy="731520"/>
          </a:xfrm>
        </p:grpSpPr>
        <p:sp>
          <p:nvSpPr>
            <p:cNvPr name="Freeform 27" id="27"/>
            <p:cNvSpPr/>
            <p:nvPr/>
          </p:nvSpPr>
          <p:spPr>
            <a:xfrm flipH="false" flipV="false" rot="0">
              <a:off x="0" y="0"/>
              <a:ext cx="9692640" cy="731520"/>
            </a:xfrm>
            <a:custGeom>
              <a:avLst/>
              <a:gdLst/>
              <a:ahLst/>
              <a:cxnLst/>
              <a:rect r="r" b="b" t="t" l="l"/>
              <a:pathLst>
                <a:path h="731520" w="9692640">
                  <a:moveTo>
                    <a:pt x="0" y="0"/>
                  </a:moveTo>
                  <a:lnTo>
                    <a:pt x="9692640" y="0"/>
                  </a:lnTo>
                  <a:lnTo>
                    <a:pt x="9692640" y="731520"/>
                  </a:lnTo>
                  <a:lnTo>
                    <a:pt x="0" y="731520"/>
                  </a:lnTo>
                  <a:close/>
                </a:path>
              </a:pathLst>
            </a:custGeom>
            <a:blipFill>
              <a:blip r:embed="rId2">
                <a:alphaModFix amt="0"/>
              </a:blip>
              <a:stretch>
                <a:fillRect l="0" t="-207996" r="0" b="-207998"/>
              </a:stretch>
            </a:blipFill>
          </p:spPr>
        </p:sp>
      </p:grpSp>
      <p:grpSp>
        <p:nvGrpSpPr>
          <p:cNvPr name="Group 28" id="28"/>
          <p:cNvGrpSpPr/>
          <p:nvPr/>
        </p:nvGrpSpPr>
        <p:grpSpPr>
          <a:xfrm rot="0">
            <a:off x="9738360" y="2638901"/>
            <a:ext cx="7269480" cy="584359"/>
            <a:chOff x="0" y="0"/>
            <a:chExt cx="9692640" cy="779145"/>
          </a:xfrm>
        </p:grpSpPr>
        <p:sp>
          <p:nvSpPr>
            <p:cNvPr name="Freeform 29" id="29"/>
            <p:cNvSpPr/>
            <p:nvPr/>
          </p:nvSpPr>
          <p:spPr>
            <a:xfrm flipH="false" flipV="false" rot="0">
              <a:off x="0" y="0"/>
              <a:ext cx="9692640" cy="779145"/>
            </a:xfrm>
            <a:custGeom>
              <a:avLst/>
              <a:gdLst/>
              <a:ahLst/>
              <a:cxnLst/>
              <a:rect r="r" b="b" t="t" l="l"/>
              <a:pathLst>
                <a:path h="779145" w="9692640">
                  <a:moveTo>
                    <a:pt x="0" y="0"/>
                  </a:moveTo>
                  <a:lnTo>
                    <a:pt x="9692640" y="0"/>
                  </a:lnTo>
                  <a:lnTo>
                    <a:pt x="9692640" y="779145"/>
                  </a:lnTo>
                  <a:lnTo>
                    <a:pt x="0" y="779145"/>
                  </a:lnTo>
                  <a:close/>
                </a:path>
              </a:pathLst>
            </a:custGeom>
            <a:blipFill>
              <a:blip r:embed="rId3">
                <a:alphaModFix amt="0"/>
              </a:blip>
              <a:stretch>
                <a:fillRect l="0" t="-192395" r="0" b="-192395"/>
              </a:stretch>
            </a:blipFill>
          </p:spPr>
        </p:sp>
        <p:sp>
          <p:nvSpPr>
            <p:cNvPr name="TextBox 30" id="30"/>
            <p:cNvSpPr txBox="true"/>
            <p:nvPr/>
          </p:nvSpPr>
          <p:spPr>
            <a:xfrm>
              <a:off x="0" y="-47625"/>
              <a:ext cx="9692640" cy="826770"/>
            </a:xfrm>
            <a:prstGeom prst="rect">
              <a:avLst/>
            </a:prstGeom>
          </p:spPr>
          <p:txBody>
            <a:bodyPr anchor="ctr" rtlCol="false" tIns="0" lIns="0" bIns="0" rIns="0"/>
            <a:lstStyle/>
            <a:p>
              <a:pPr algn="l">
                <a:lnSpc>
                  <a:spcPts val="2520"/>
                </a:lnSpc>
              </a:pPr>
              <a:r>
                <a:rPr lang="en-US" sz="2100" b="true">
                  <a:solidFill>
                    <a:srgbClr val="F9FBFC"/>
                  </a:solidFill>
                  <a:latin typeface="Calibri (MS) Bold"/>
                  <a:ea typeface="Calibri (MS) Bold"/>
                  <a:cs typeface="Calibri (MS) Bold"/>
                  <a:sym typeface="Calibri (MS) Bold"/>
                </a:rPr>
                <a:t>REQ-02: Explicabilidad de cada recomendación</a:t>
              </a:r>
            </a:p>
          </p:txBody>
        </p:sp>
      </p:grpSp>
      <p:grpSp>
        <p:nvGrpSpPr>
          <p:cNvPr name="Group 31" id="31"/>
          <p:cNvGrpSpPr/>
          <p:nvPr/>
        </p:nvGrpSpPr>
        <p:grpSpPr>
          <a:xfrm rot="0">
            <a:off x="9738360" y="3154680"/>
            <a:ext cx="7269480" cy="5486400"/>
            <a:chOff x="0" y="0"/>
            <a:chExt cx="9692640" cy="7315200"/>
          </a:xfrm>
        </p:grpSpPr>
        <p:sp>
          <p:nvSpPr>
            <p:cNvPr name="Freeform 32" id="32"/>
            <p:cNvSpPr/>
            <p:nvPr/>
          </p:nvSpPr>
          <p:spPr>
            <a:xfrm flipH="false" flipV="false" rot="0">
              <a:off x="0" y="0"/>
              <a:ext cx="9692640" cy="7315200"/>
            </a:xfrm>
            <a:custGeom>
              <a:avLst/>
              <a:gdLst/>
              <a:ahLst/>
              <a:cxnLst/>
              <a:rect r="r" b="b" t="t" l="l"/>
              <a:pathLst>
                <a:path h="7315200" w="9692640">
                  <a:moveTo>
                    <a:pt x="0" y="0"/>
                  </a:moveTo>
                  <a:lnTo>
                    <a:pt x="9692640" y="0"/>
                  </a:lnTo>
                  <a:lnTo>
                    <a:pt x="9692640" y="7315200"/>
                  </a:lnTo>
                  <a:lnTo>
                    <a:pt x="0" y="7315200"/>
                  </a:lnTo>
                  <a:close/>
                </a:path>
              </a:pathLst>
            </a:custGeom>
            <a:blipFill>
              <a:blip r:embed="rId2">
                <a:alphaModFix amt="0"/>
              </a:blip>
              <a:stretch>
                <a:fillRect l="-46900" t="0" r="-46900" b="0"/>
              </a:stretch>
            </a:blipFill>
          </p:spPr>
        </p:sp>
      </p:grpSp>
      <p:grpSp>
        <p:nvGrpSpPr>
          <p:cNvPr name="Group 33" id="33"/>
          <p:cNvGrpSpPr/>
          <p:nvPr/>
        </p:nvGrpSpPr>
        <p:grpSpPr>
          <a:xfrm rot="0">
            <a:off x="9738360" y="3126105"/>
            <a:ext cx="7269480" cy="5514975"/>
            <a:chOff x="0" y="0"/>
            <a:chExt cx="9692640" cy="7353300"/>
          </a:xfrm>
        </p:grpSpPr>
        <p:sp>
          <p:nvSpPr>
            <p:cNvPr name="Freeform 34" id="34"/>
            <p:cNvSpPr/>
            <p:nvPr/>
          </p:nvSpPr>
          <p:spPr>
            <a:xfrm flipH="false" flipV="false" rot="0">
              <a:off x="0" y="0"/>
              <a:ext cx="9692640" cy="7353300"/>
            </a:xfrm>
            <a:custGeom>
              <a:avLst/>
              <a:gdLst/>
              <a:ahLst/>
              <a:cxnLst/>
              <a:rect r="r" b="b" t="t" l="l"/>
              <a:pathLst>
                <a:path h="7353300" w="9692640">
                  <a:moveTo>
                    <a:pt x="0" y="0"/>
                  </a:moveTo>
                  <a:lnTo>
                    <a:pt x="9692640" y="0"/>
                  </a:lnTo>
                  <a:lnTo>
                    <a:pt x="9692640" y="7353300"/>
                  </a:lnTo>
                  <a:lnTo>
                    <a:pt x="0" y="7353300"/>
                  </a:lnTo>
                  <a:close/>
                </a:path>
              </a:pathLst>
            </a:custGeom>
            <a:blipFill>
              <a:blip r:embed="rId3">
                <a:alphaModFix amt="0"/>
              </a:blip>
              <a:stretch>
                <a:fillRect l="-47337" t="0" r="-47337" b="0"/>
              </a:stretch>
            </a:blipFill>
          </p:spPr>
        </p:sp>
        <p:sp>
          <p:nvSpPr>
            <p:cNvPr name="TextBox 35" id="35"/>
            <p:cNvSpPr txBox="true"/>
            <p:nvPr/>
          </p:nvSpPr>
          <p:spPr>
            <a:xfrm>
              <a:off x="0" y="-38100"/>
              <a:ext cx="9692640" cy="7391400"/>
            </a:xfrm>
            <a:prstGeom prst="rect">
              <a:avLst/>
            </a:prstGeom>
          </p:spPr>
          <p:txBody>
            <a:bodyPr anchor="ctr" rtlCol="false" tIns="0" lIns="0" bIns="0" rIns="0"/>
            <a:lstStyle/>
            <a:p>
              <a:pPr algn="l">
                <a:lnSpc>
                  <a:spcPts val="2250"/>
                </a:lnSpc>
              </a:pPr>
              <a:r>
                <a:rPr lang="en-US" sz="1875">
                  <a:solidFill>
                    <a:srgbClr val="F9FBFC"/>
                  </a:solidFill>
                  <a:latin typeface="Calibri (MS)"/>
                  <a:ea typeface="Calibri (MS)"/>
                  <a:cs typeface="Calibri (MS)"/>
                  <a:sym typeface="Calibri (MS)"/>
                </a:rPr>
                <a:t>•  Cada propiedad del ranking se muestra junto a una explicación generada automáticamente.</a:t>
              </a:r>
            </a:p>
            <a:p>
              <a:pPr algn="l">
                <a:lnSpc>
                  <a:spcPts val="2250"/>
                </a:lnSpc>
              </a:pPr>
              <a:r>
                <a:rPr lang="en-US" sz="1875">
                  <a:solidFill>
                    <a:srgbClr val="F9FBFC"/>
                  </a:solidFill>
                  <a:latin typeface="Calibri (MS)"/>
                  <a:ea typeface="Calibri (MS)"/>
                  <a:cs typeface="Calibri (MS)"/>
                  <a:sym typeface="Calibri (MS)"/>
                </a:rPr>
                <a:t>•  El texto nombra las variables que más pesaron en el score.</a:t>
              </a:r>
            </a:p>
            <a:p>
              <a:pPr algn="l">
                <a:lnSpc>
                  <a:spcPts val="2250"/>
                </a:lnSpc>
              </a:pPr>
              <a:r>
                <a:rPr lang="en-US" sz="1875">
                  <a:solidFill>
                    <a:srgbClr val="F9FBFC"/>
                  </a:solidFill>
                  <a:latin typeface="Calibri (MS)"/>
                  <a:ea typeface="Calibri (MS)"/>
                  <a:cs typeface="Calibri (MS)"/>
                  <a:sym typeface="Calibri (MS)"/>
                </a:rPr>
                <a:t>•  Ejemplo: 12% bajo el precio esperado, a 8 min de un colegio afín.</a:t>
              </a:r>
            </a:p>
            <a:p>
              <a:pPr algn="l">
                <a:lnSpc>
                  <a:spcPts val="2250"/>
                </a:lnSpc>
              </a:pPr>
              <a:r>
                <a:rPr lang="en-US" sz="1875">
                  <a:solidFill>
                    <a:srgbClr val="F9FBFC"/>
                  </a:solidFill>
                  <a:latin typeface="Calibri (MS)"/>
                  <a:ea typeface="Calibri (MS)"/>
                  <a:cs typeface="Calibri (MS)"/>
                  <a:sym typeface="Calibri (MS)"/>
                </a:rPr>
                <a:t>•  Si falta un componente, la explicación lo declara como dato parcial.</a:t>
              </a:r>
            </a:p>
            <a:p>
              <a:pPr algn="l">
                <a:lnSpc>
                  <a:spcPts val="2250"/>
                </a:lnSpc>
              </a:pPr>
              <a:r>
                <a:rPr lang="en-US" sz="1875">
                  <a:solidFill>
                    <a:srgbClr val="F9FBFC"/>
                  </a:solidFill>
                  <a:latin typeface="Calibri (MS)"/>
                  <a:ea typeface="Calibri (MS)"/>
                  <a:cs typeface="Calibri (MS)"/>
                  <a:sym typeface="Calibri (MS)"/>
                </a:rPr>
                <a:t>•  Aceptación: ninguna propiedad del ranking aparece sin explicación.</a:t>
              </a:r>
            </a:p>
          </p:txBody>
        </p:sp>
      </p:grpSp>
      <p:grpSp>
        <p:nvGrpSpPr>
          <p:cNvPr name="Group 36" id="36"/>
          <p:cNvGrpSpPr/>
          <p:nvPr/>
        </p:nvGrpSpPr>
        <p:grpSpPr>
          <a:xfrm rot="0">
            <a:off x="685800" y="9738360"/>
            <a:ext cx="8229600" cy="411480"/>
            <a:chOff x="0" y="0"/>
            <a:chExt cx="10972800" cy="548640"/>
          </a:xfrm>
        </p:grpSpPr>
        <p:sp>
          <p:nvSpPr>
            <p:cNvPr name="Freeform 37" id="37"/>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38" id="38"/>
          <p:cNvGrpSpPr/>
          <p:nvPr/>
        </p:nvGrpSpPr>
        <p:grpSpPr>
          <a:xfrm rot="0">
            <a:off x="685800" y="9709785"/>
            <a:ext cx="8229600" cy="440055"/>
            <a:chOff x="0" y="0"/>
            <a:chExt cx="10972800" cy="586740"/>
          </a:xfrm>
        </p:grpSpPr>
        <p:sp>
          <p:nvSpPr>
            <p:cNvPr name="Freeform 39" id="39"/>
            <p:cNvSpPr/>
            <p:nvPr/>
          </p:nvSpPr>
          <p:spPr>
            <a:xfrm flipH="false" flipV="false" rot="0">
              <a:off x="0" y="0"/>
              <a:ext cx="10972800" cy="586740"/>
            </a:xfrm>
            <a:custGeom>
              <a:avLst/>
              <a:gdLst/>
              <a:ahLst/>
              <a:cxnLst/>
              <a:rect r="r" b="b" t="t" l="l"/>
              <a:pathLst>
                <a:path h="586740" w="10972800">
                  <a:moveTo>
                    <a:pt x="0" y="0"/>
                  </a:moveTo>
                  <a:lnTo>
                    <a:pt x="10972800" y="0"/>
                  </a:lnTo>
                  <a:lnTo>
                    <a:pt x="10972800" y="586740"/>
                  </a:lnTo>
                  <a:lnTo>
                    <a:pt x="0" y="586740"/>
                  </a:lnTo>
                  <a:close/>
                </a:path>
              </a:pathLst>
            </a:custGeom>
            <a:blipFill>
              <a:blip r:embed="rId3">
                <a:alphaModFix amt="0"/>
              </a:blip>
              <a:stretch>
                <a:fillRect l="0" t="-314395" r="0" b="-314395"/>
              </a:stretch>
            </a:blipFill>
          </p:spPr>
        </p:sp>
        <p:sp>
          <p:nvSpPr>
            <p:cNvPr name="TextBox 40" id="40"/>
            <p:cNvSpPr txBox="true"/>
            <p:nvPr/>
          </p:nvSpPr>
          <p:spPr>
            <a:xfrm>
              <a:off x="0" y="-38100"/>
              <a:ext cx="10972800" cy="624840"/>
            </a:xfrm>
            <a:prstGeom prst="rect">
              <a:avLst/>
            </a:prstGeom>
          </p:spPr>
          <p:txBody>
            <a:bodyPr anchor="ctr" rtlCol="false" tIns="0" lIns="0" bIns="0" rIns="0"/>
            <a:lstStyle/>
            <a:p>
              <a:pPr algn="l">
                <a:lnSpc>
                  <a:spcPts val="1800"/>
                </a:lnSpc>
              </a:pPr>
              <a:r>
                <a:rPr lang="en-US" sz="1500">
                  <a:solidFill>
                    <a:srgbClr val="35448A"/>
                  </a:solidFill>
                  <a:latin typeface="Calibri (MS)"/>
                  <a:ea typeface="Calibri (MS)"/>
                  <a:cs typeface="Calibri (MS)"/>
                  <a:sym typeface="Calibri (MS)"/>
                </a:rPr>
                <a:t>InmoScore · Week 5</a:t>
              </a:r>
            </a:p>
          </p:txBody>
        </p:sp>
      </p:grpSp>
      <p:grpSp>
        <p:nvGrpSpPr>
          <p:cNvPr name="Group 41" id="41"/>
          <p:cNvGrpSpPr/>
          <p:nvPr/>
        </p:nvGrpSpPr>
        <p:grpSpPr>
          <a:xfrm rot="0">
            <a:off x="17048988" y="9738360"/>
            <a:ext cx="548640" cy="411480"/>
            <a:chOff x="0" y="0"/>
            <a:chExt cx="731520" cy="548640"/>
          </a:xfrm>
        </p:grpSpPr>
        <p:sp>
          <p:nvSpPr>
            <p:cNvPr name="Freeform 42" id="42"/>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43" id="43"/>
          <p:cNvGrpSpPr/>
          <p:nvPr/>
        </p:nvGrpSpPr>
        <p:grpSpPr>
          <a:xfrm rot="0">
            <a:off x="17048988" y="9709785"/>
            <a:ext cx="548640" cy="440055"/>
            <a:chOff x="0" y="0"/>
            <a:chExt cx="731520" cy="586740"/>
          </a:xfrm>
        </p:grpSpPr>
        <p:sp>
          <p:nvSpPr>
            <p:cNvPr name="Freeform 44" id="44"/>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45" id="45"/>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35448A"/>
                  </a:solidFill>
                  <a:latin typeface="Calibri (MS)"/>
                  <a:ea typeface="Calibri (MS)"/>
                  <a:cs typeface="Calibri (MS)"/>
                  <a:sym typeface="Calibri (MS)"/>
                </a:rPr>
                <a:t>10</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AFCFD"/>
        </a:solidFill>
      </p:bgPr>
    </p:bg>
    <p:spTree>
      <p:nvGrpSpPr>
        <p:cNvPr id="1" name=""/>
        <p:cNvGrpSpPr/>
        <p:nvPr/>
      </p:nvGrpSpPr>
      <p:grpSpPr>
        <a:xfrm>
          <a:off x="0" y="0"/>
          <a:ext cx="0" cy="0"/>
          <a:chOff x="0" y="0"/>
          <a:chExt cx="0" cy="0"/>
        </a:xfrm>
      </p:grpSpPr>
      <p:grpSp>
        <p:nvGrpSpPr>
          <p:cNvPr name="Group 2" id="2"/>
          <p:cNvGrpSpPr/>
          <p:nvPr/>
        </p:nvGrpSpPr>
        <p:grpSpPr>
          <a:xfrm rot="0">
            <a:off x="17048988" y="9738360"/>
            <a:ext cx="548640" cy="411480"/>
            <a:chOff x="0" y="0"/>
            <a:chExt cx="731520" cy="548640"/>
          </a:xfrm>
        </p:grpSpPr>
        <p:sp>
          <p:nvSpPr>
            <p:cNvPr name="Freeform 3" id="3"/>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4" id="4"/>
          <p:cNvGrpSpPr/>
          <p:nvPr/>
        </p:nvGrpSpPr>
        <p:grpSpPr>
          <a:xfrm rot="0">
            <a:off x="17048988" y="9709785"/>
            <a:ext cx="548640" cy="440055"/>
            <a:chOff x="0" y="0"/>
            <a:chExt cx="731520" cy="586740"/>
          </a:xfrm>
        </p:grpSpPr>
        <p:sp>
          <p:nvSpPr>
            <p:cNvPr name="Freeform 5" id="5"/>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6" id="6"/>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5F669F"/>
                  </a:solidFill>
                  <a:latin typeface="Calibri (MS)"/>
                  <a:ea typeface="Calibri (MS)"/>
                  <a:cs typeface="Calibri (MS)"/>
                  <a:sym typeface="Calibri (MS)"/>
                </a:rPr>
                <a:t>11</a:t>
              </a:r>
            </a:p>
          </p:txBody>
        </p:sp>
      </p:grpSp>
      <p:grpSp>
        <p:nvGrpSpPr>
          <p:cNvPr name="Group 7" id="7"/>
          <p:cNvGrpSpPr/>
          <p:nvPr/>
        </p:nvGrpSpPr>
        <p:grpSpPr>
          <a:xfrm rot="0">
            <a:off x="822960" y="438912"/>
            <a:ext cx="13716000" cy="480060"/>
            <a:chOff x="0" y="0"/>
            <a:chExt cx="18288000" cy="640080"/>
          </a:xfrm>
        </p:grpSpPr>
        <p:sp>
          <p:nvSpPr>
            <p:cNvPr name="Freeform 8" id="8"/>
            <p:cNvSpPr/>
            <p:nvPr/>
          </p:nvSpPr>
          <p:spPr>
            <a:xfrm flipH="false" flipV="false" rot="0">
              <a:off x="0" y="0"/>
              <a:ext cx="18288000" cy="640080"/>
            </a:xfrm>
            <a:custGeom>
              <a:avLst/>
              <a:gdLst/>
              <a:ahLst/>
              <a:cxnLst/>
              <a:rect r="r" b="b" t="t" l="l"/>
              <a:pathLst>
                <a:path h="640080" w="18288000">
                  <a:moveTo>
                    <a:pt x="0" y="0"/>
                  </a:moveTo>
                  <a:lnTo>
                    <a:pt x="18288000" y="0"/>
                  </a:lnTo>
                  <a:lnTo>
                    <a:pt x="18288000" y="640080"/>
                  </a:lnTo>
                  <a:lnTo>
                    <a:pt x="0" y="640080"/>
                  </a:lnTo>
                  <a:close/>
                </a:path>
              </a:pathLst>
            </a:custGeom>
            <a:blipFill>
              <a:blip r:embed="rId2">
                <a:alphaModFix amt="0"/>
              </a:blip>
              <a:stretch>
                <a:fillRect l="0" t="-506327" r="0" b="-506329"/>
              </a:stretch>
            </a:blipFill>
          </p:spPr>
        </p:sp>
      </p:grpSp>
      <p:grpSp>
        <p:nvGrpSpPr>
          <p:cNvPr name="Group 9" id="9"/>
          <p:cNvGrpSpPr/>
          <p:nvPr/>
        </p:nvGrpSpPr>
        <p:grpSpPr>
          <a:xfrm rot="0">
            <a:off x="822960" y="410337"/>
            <a:ext cx="13716000" cy="508635"/>
            <a:chOff x="0" y="0"/>
            <a:chExt cx="18288000" cy="678180"/>
          </a:xfrm>
        </p:grpSpPr>
        <p:sp>
          <p:nvSpPr>
            <p:cNvPr name="Freeform 10" id="10"/>
            <p:cNvSpPr/>
            <p:nvPr/>
          </p:nvSpPr>
          <p:spPr>
            <a:xfrm flipH="false" flipV="false" rot="0">
              <a:off x="0" y="0"/>
              <a:ext cx="18288000" cy="678180"/>
            </a:xfrm>
            <a:custGeom>
              <a:avLst/>
              <a:gdLst/>
              <a:ahLst/>
              <a:cxnLst/>
              <a:rect r="r" b="b" t="t" l="l"/>
              <a:pathLst>
                <a:path h="678180" w="18288000">
                  <a:moveTo>
                    <a:pt x="0" y="0"/>
                  </a:moveTo>
                  <a:lnTo>
                    <a:pt x="18288000" y="0"/>
                  </a:lnTo>
                  <a:lnTo>
                    <a:pt x="18288000" y="678180"/>
                  </a:lnTo>
                  <a:lnTo>
                    <a:pt x="0" y="678180"/>
                  </a:lnTo>
                  <a:close/>
                </a:path>
              </a:pathLst>
            </a:custGeom>
            <a:blipFill>
              <a:blip r:embed="rId3">
                <a:alphaModFix amt="0"/>
              </a:blip>
              <a:stretch>
                <a:fillRect l="0" t="-475439" r="0" b="-475439"/>
              </a:stretch>
            </a:blipFill>
          </p:spPr>
        </p:sp>
        <p:sp>
          <p:nvSpPr>
            <p:cNvPr name="TextBox 11" id="11"/>
            <p:cNvSpPr txBox="true"/>
            <p:nvPr/>
          </p:nvSpPr>
          <p:spPr>
            <a:xfrm>
              <a:off x="0" y="-38100"/>
              <a:ext cx="18288000" cy="716280"/>
            </a:xfrm>
            <a:prstGeom prst="rect">
              <a:avLst/>
            </a:prstGeom>
          </p:spPr>
          <p:txBody>
            <a:bodyPr anchor="ctr" rtlCol="false" tIns="0" lIns="0" bIns="0" rIns="0"/>
            <a:lstStyle/>
            <a:p>
              <a:pPr algn="l">
                <a:lnSpc>
                  <a:spcPts val="2160"/>
                </a:lnSpc>
              </a:pPr>
              <a:r>
                <a:rPr lang="en-US" b="true" sz="1800" spc="225">
                  <a:solidFill>
                    <a:srgbClr val="5F669F"/>
                  </a:solidFill>
                  <a:latin typeface="Calibri (MS) Bold"/>
                  <a:ea typeface="Calibri (MS) Bold"/>
                  <a:cs typeface="Calibri (MS) Bold"/>
                  <a:sym typeface="Calibri (MS) Bold"/>
                </a:rPr>
                <a:t>USER STORIES · CUBRE REQ-01</a:t>
              </a:r>
            </a:p>
          </p:txBody>
        </p:sp>
      </p:grpSp>
      <p:grpSp>
        <p:nvGrpSpPr>
          <p:cNvPr name="Group 12" id="12"/>
          <p:cNvGrpSpPr/>
          <p:nvPr/>
        </p:nvGrpSpPr>
        <p:grpSpPr>
          <a:xfrm rot="0">
            <a:off x="822960" y="850392"/>
            <a:ext cx="16459200" cy="822960"/>
            <a:chOff x="0" y="0"/>
            <a:chExt cx="21945600" cy="1097280"/>
          </a:xfrm>
        </p:grpSpPr>
        <p:sp>
          <p:nvSpPr>
            <p:cNvPr name="Freeform 13" id="13"/>
            <p:cNvSpPr/>
            <p:nvPr/>
          </p:nvSpPr>
          <p:spPr>
            <a:xfrm flipH="false" flipV="false" rot="0">
              <a:off x="0" y="0"/>
              <a:ext cx="21945600" cy="1097280"/>
            </a:xfrm>
            <a:custGeom>
              <a:avLst/>
              <a:gdLst/>
              <a:ahLst/>
              <a:cxnLst/>
              <a:rect r="r" b="b" t="t" l="l"/>
              <a:pathLst>
                <a:path h="1097280" w="21945600">
                  <a:moveTo>
                    <a:pt x="0" y="0"/>
                  </a:moveTo>
                  <a:lnTo>
                    <a:pt x="21945600" y="0"/>
                  </a:lnTo>
                  <a:lnTo>
                    <a:pt x="21945600" y="1097280"/>
                  </a:lnTo>
                  <a:lnTo>
                    <a:pt x="0" y="1097280"/>
                  </a:lnTo>
                  <a:close/>
                </a:path>
              </a:pathLst>
            </a:custGeom>
            <a:blipFill>
              <a:blip r:embed="rId2">
                <a:alphaModFix amt="0"/>
              </a:blip>
              <a:stretch>
                <a:fillRect l="0" t="-339429" r="0" b="-339430"/>
              </a:stretch>
            </a:blipFill>
          </p:spPr>
        </p:sp>
      </p:grpSp>
      <p:grpSp>
        <p:nvGrpSpPr>
          <p:cNvPr name="Group 14" id="14"/>
          <p:cNvGrpSpPr/>
          <p:nvPr/>
        </p:nvGrpSpPr>
        <p:grpSpPr>
          <a:xfrm rot="0">
            <a:off x="822960" y="850392"/>
            <a:ext cx="16459200" cy="822960"/>
            <a:chOff x="0" y="0"/>
            <a:chExt cx="21945600" cy="1097280"/>
          </a:xfrm>
        </p:grpSpPr>
        <p:sp>
          <p:nvSpPr>
            <p:cNvPr name="Freeform 15" id="15"/>
            <p:cNvSpPr/>
            <p:nvPr/>
          </p:nvSpPr>
          <p:spPr>
            <a:xfrm flipH="false" flipV="false" rot="0">
              <a:off x="0" y="0"/>
              <a:ext cx="21945600" cy="1097280"/>
            </a:xfrm>
            <a:custGeom>
              <a:avLst/>
              <a:gdLst/>
              <a:ahLst/>
              <a:cxnLst/>
              <a:rect r="r" b="b" t="t" l="l"/>
              <a:pathLst>
                <a:path h="1097280" w="21945600">
                  <a:moveTo>
                    <a:pt x="0" y="0"/>
                  </a:moveTo>
                  <a:lnTo>
                    <a:pt x="21945600" y="0"/>
                  </a:lnTo>
                  <a:lnTo>
                    <a:pt x="21945600" y="1097280"/>
                  </a:lnTo>
                  <a:lnTo>
                    <a:pt x="0" y="1097280"/>
                  </a:lnTo>
                  <a:close/>
                </a:path>
              </a:pathLst>
            </a:custGeom>
            <a:blipFill>
              <a:blip r:embed="rId3">
                <a:alphaModFix amt="0"/>
              </a:blip>
              <a:stretch>
                <a:fillRect l="0" t="-339700" r="0" b="-339700"/>
              </a:stretch>
            </a:blipFill>
          </p:spPr>
        </p:sp>
        <p:sp>
          <p:nvSpPr>
            <p:cNvPr name="TextBox 16" id="16"/>
            <p:cNvSpPr txBox="true"/>
            <p:nvPr/>
          </p:nvSpPr>
          <p:spPr>
            <a:xfrm>
              <a:off x="0" y="0"/>
              <a:ext cx="21945600" cy="1097280"/>
            </a:xfrm>
            <a:prstGeom prst="rect">
              <a:avLst/>
            </a:prstGeom>
          </p:spPr>
          <p:txBody>
            <a:bodyPr anchor="ctr" rtlCol="false" tIns="0" lIns="0" bIns="0" rIns="0"/>
            <a:lstStyle/>
            <a:p>
              <a:pPr algn="l">
                <a:lnSpc>
                  <a:spcPts val="4680"/>
                </a:lnSpc>
              </a:pPr>
              <a:r>
                <a:rPr lang="en-US" sz="3900" b="true">
                  <a:solidFill>
                    <a:srgbClr val="2F3E96"/>
                  </a:solidFill>
                  <a:latin typeface="Cambria Bold"/>
                  <a:ea typeface="Cambria Bold"/>
                  <a:cs typeface="Cambria Bold"/>
                  <a:sym typeface="Cambria Bold"/>
                </a:rPr>
                <a:t>US-01 · Ranking personalizado</a:t>
              </a:r>
            </a:p>
          </p:txBody>
        </p:sp>
      </p:grpSp>
      <p:grpSp>
        <p:nvGrpSpPr>
          <p:cNvPr name="Group 17" id="17"/>
          <p:cNvGrpSpPr/>
          <p:nvPr/>
        </p:nvGrpSpPr>
        <p:grpSpPr>
          <a:xfrm rot="0">
            <a:off x="822960" y="2057400"/>
            <a:ext cx="8092440" cy="2948940"/>
            <a:chOff x="0" y="0"/>
            <a:chExt cx="10789920" cy="3931920"/>
          </a:xfrm>
        </p:grpSpPr>
        <p:sp>
          <p:nvSpPr>
            <p:cNvPr name="Freeform 18" id="18"/>
            <p:cNvSpPr/>
            <p:nvPr/>
          </p:nvSpPr>
          <p:spPr>
            <a:xfrm flipH="false" flipV="false" rot="0">
              <a:off x="0" y="0"/>
              <a:ext cx="10789920" cy="3931920"/>
            </a:xfrm>
            <a:custGeom>
              <a:avLst/>
              <a:gdLst/>
              <a:ahLst/>
              <a:cxnLst/>
              <a:rect r="r" b="b" t="t" l="l"/>
              <a:pathLst>
                <a:path h="3931920" w="10789920">
                  <a:moveTo>
                    <a:pt x="0" y="146304"/>
                  </a:moveTo>
                  <a:cubicBezTo>
                    <a:pt x="0" y="65532"/>
                    <a:pt x="65532" y="0"/>
                    <a:pt x="146304" y="0"/>
                  </a:cubicBezTo>
                  <a:lnTo>
                    <a:pt x="10643616" y="0"/>
                  </a:lnTo>
                  <a:cubicBezTo>
                    <a:pt x="10724388" y="0"/>
                    <a:pt x="10789920" y="65532"/>
                    <a:pt x="10789920" y="146304"/>
                  </a:cubicBezTo>
                  <a:lnTo>
                    <a:pt x="10789920" y="3785616"/>
                  </a:lnTo>
                  <a:cubicBezTo>
                    <a:pt x="10789920" y="3866388"/>
                    <a:pt x="10724388" y="3931920"/>
                    <a:pt x="10643616" y="3931920"/>
                  </a:cubicBezTo>
                  <a:lnTo>
                    <a:pt x="146304" y="3931920"/>
                  </a:lnTo>
                  <a:cubicBezTo>
                    <a:pt x="65532" y="3931920"/>
                    <a:pt x="0" y="3866388"/>
                    <a:pt x="0" y="3785616"/>
                  </a:cubicBezTo>
                  <a:close/>
                </a:path>
              </a:pathLst>
            </a:custGeom>
            <a:solidFill>
              <a:srgbClr val="5F669F"/>
            </a:solidFill>
          </p:spPr>
        </p:sp>
      </p:grpSp>
      <p:grpSp>
        <p:nvGrpSpPr>
          <p:cNvPr name="Group 19" id="19"/>
          <p:cNvGrpSpPr/>
          <p:nvPr/>
        </p:nvGrpSpPr>
        <p:grpSpPr>
          <a:xfrm rot="0">
            <a:off x="1165860" y="2263140"/>
            <a:ext cx="7680960" cy="2606040"/>
            <a:chOff x="0" y="0"/>
            <a:chExt cx="10241280" cy="3474720"/>
          </a:xfrm>
        </p:grpSpPr>
        <p:sp>
          <p:nvSpPr>
            <p:cNvPr name="Freeform 20" id="20"/>
            <p:cNvSpPr/>
            <p:nvPr/>
          </p:nvSpPr>
          <p:spPr>
            <a:xfrm flipH="false" flipV="false" rot="0">
              <a:off x="0" y="0"/>
              <a:ext cx="10241280" cy="3474720"/>
            </a:xfrm>
            <a:custGeom>
              <a:avLst/>
              <a:gdLst/>
              <a:ahLst/>
              <a:cxnLst/>
              <a:rect r="r" b="b" t="t" l="l"/>
              <a:pathLst>
                <a:path h="3474720" w="10241280">
                  <a:moveTo>
                    <a:pt x="0" y="0"/>
                  </a:moveTo>
                  <a:lnTo>
                    <a:pt x="10241280" y="0"/>
                  </a:lnTo>
                  <a:lnTo>
                    <a:pt x="10241280" y="3474720"/>
                  </a:lnTo>
                  <a:lnTo>
                    <a:pt x="0" y="3474720"/>
                  </a:lnTo>
                  <a:close/>
                </a:path>
              </a:pathLst>
            </a:custGeom>
            <a:blipFill>
              <a:blip r:embed="rId2">
                <a:alphaModFix amt="0"/>
              </a:blip>
              <a:stretch>
                <a:fillRect l="0" t="-7389" r="0" b="-7389"/>
              </a:stretch>
            </a:blipFill>
          </p:spPr>
        </p:sp>
      </p:grpSp>
      <p:grpSp>
        <p:nvGrpSpPr>
          <p:cNvPr name="Group 21" id="21"/>
          <p:cNvGrpSpPr/>
          <p:nvPr/>
        </p:nvGrpSpPr>
        <p:grpSpPr>
          <a:xfrm rot="0">
            <a:off x="1165860" y="2184559"/>
            <a:ext cx="7680960" cy="2684621"/>
            <a:chOff x="0" y="0"/>
            <a:chExt cx="10241280" cy="3579495"/>
          </a:xfrm>
        </p:grpSpPr>
        <p:sp>
          <p:nvSpPr>
            <p:cNvPr name="Freeform 22" id="22"/>
            <p:cNvSpPr/>
            <p:nvPr/>
          </p:nvSpPr>
          <p:spPr>
            <a:xfrm flipH="false" flipV="false" rot="0">
              <a:off x="0" y="0"/>
              <a:ext cx="10241280" cy="3579495"/>
            </a:xfrm>
            <a:custGeom>
              <a:avLst/>
              <a:gdLst/>
              <a:ahLst/>
              <a:cxnLst/>
              <a:rect r="r" b="b" t="t" l="l"/>
              <a:pathLst>
                <a:path h="3579495" w="10241280">
                  <a:moveTo>
                    <a:pt x="0" y="0"/>
                  </a:moveTo>
                  <a:lnTo>
                    <a:pt x="10241280" y="0"/>
                  </a:lnTo>
                  <a:lnTo>
                    <a:pt x="10241280" y="3579495"/>
                  </a:lnTo>
                  <a:lnTo>
                    <a:pt x="0" y="3579495"/>
                  </a:lnTo>
                  <a:close/>
                </a:path>
              </a:pathLst>
            </a:custGeom>
            <a:blipFill>
              <a:blip r:embed="rId3">
                <a:alphaModFix amt="0"/>
              </a:blip>
              <a:stretch>
                <a:fillRect l="0" t="-5748" r="0" b="-5748"/>
              </a:stretch>
            </a:blipFill>
          </p:spPr>
        </p:sp>
        <p:sp>
          <p:nvSpPr>
            <p:cNvPr name="TextBox 23" id="23"/>
            <p:cNvSpPr txBox="true"/>
            <p:nvPr/>
          </p:nvSpPr>
          <p:spPr>
            <a:xfrm>
              <a:off x="0" y="-104775"/>
              <a:ext cx="10241280" cy="3684270"/>
            </a:xfrm>
            <a:prstGeom prst="rect">
              <a:avLst/>
            </a:prstGeom>
          </p:spPr>
          <p:txBody>
            <a:bodyPr anchor="ctr" rtlCol="false" tIns="0" lIns="0" bIns="0" rIns="0"/>
            <a:lstStyle/>
            <a:p>
              <a:pPr algn="l">
                <a:lnSpc>
                  <a:spcPts val="3299"/>
                </a:lnSpc>
              </a:pPr>
              <a:r>
                <a:rPr lang="en-US" b="true" sz="2199" i="true">
                  <a:solidFill>
                    <a:srgbClr val="FAFCFD"/>
                  </a:solidFill>
                  <a:latin typeface="Calibri (MS) Bold Italics"/>
                  <a:ea typeface="Calibri (MS) Bold Italics"/>
                  <a:cs typeface="Calibri (MS) Bold Italics"/>
                  <a:sym typeface="Calibri (MS) Bold Italics"/>
                </a:rPr>
                <a:t>Como</a:t>
              </a:r>
              <a:r>
                <a:rPr lang="en-US" sz="2199" i="true">
                  <a:solidFill>
                    <a:srgbClr val="FAFCFD"/>
                  </a:solidFill>
                  <a:latin typeface="Calibri (MS) Italics"/>
                  <a:ea typeface="Calibri (MS) Italics"/>
                  <a:cs typeface="Calibri (MS) Italics"/>
                  <a:sym typeface="Calibri (MS) Italics"/>
                </a:rPr>
                <a:t> comprador de vivienda propia, </a:t>
              </a:r>
              <a:r>
                <a:rPr lang="en-US" b="true" sz="2199" i="true">
                  <a:solidFill>
                    <a:srgbClr val="FAFCFD"/>
                  </a:solidFill>
                  <a:latin typeface="Calibri (MS) Bold Italics"/>
                  <a:ea typeface="Calibri (MS) Bold Italics"/>
                  <a:cs typeface="Calibri (MS) Bold Italics"/>
                  <a:sym typeface="Calibri (MS) Bold Italics"/>
                </a:rPr>
                <a:t>quiero</a:t>
              </a:r>
              <a:r>
                <a:rPr lang="en-US" sz="2199" i="true">
                  <a:solidFill>
                    <a:srgbClr val="FAFCFD"/>
                  </a:solidFill>
                  <a:latin typeface="Calibri (MS) Italics"/>
                  <a:ea typeface="Calibri (MS) Italics"/>
                  <a:cs typeface="Calibri (MS) Italics"/>
                  <a:sym typeface="Calibri (MS) Italics"/>
                </a:rPr>
                <a:t> recibir un ranking personalizado de propiedades según mis prioridades financieras y de estilo de vida, </a:t>
              </a:r>
              <a:r>
                <a:rPr lang="en-US" b="true" sz="2199" i="true">
                  <a:solidFill>
                    <a:srgbClr val="FAFCFD"/>
                  </a:solidFill>
                  <a:latin typeface="Calibri (MS) Bold Italics"/>
                  <a:ea typeface="Calibri (MS) Bold Italics"/>
                  <a:cs typeface="Calibri (MS) Bold Italics"/>
                  <a:sym typeface="Calibri (MS) Bold Italics"/>
                </a:rPr>
                <a:t>para</a:t>
              </a:r>
              <a:r>
                <a:rPr lang="en-US" sz="2199" i="true">
                  <a:solidFill>
                    <a:srgbClr val="FAFCFD"/>
                  </a:solidFill>
                  <a:latin typeface="Calibri (MS) Italics"/>
                  <a:ea typeface="Calibri (MS) Italics"/>
                  <a:cs typeface="Calibri (MS) Italics"/>
                  <a:sym typeface="Calibri (MS) Italics"/>
                </a:rPr>
                <a:t> poder identificar rápidamente las mejores opciones sin revisar manualmente cada portal.</a:t>
              </a:r>
            </a:p>
          </p:txBody>
        </p:sp>
      </p:grpSp>
      <p:grpSp>
        <p:nvGrpSpPr>
          <p:cNvPr name="Group 24" id="24"/>
          <p:cNvGrpSpPr/>
          <p:nvPr/>
        </p:nvGrpSpPr>
        <p:grpSpPr>
          <a:xfrm rot="0">
            <a:off x="822960" y="5280660"/>
            <a:ext cx="8092440" cy="4114800"/>
            <a:chOff x="0" y="0"/>
            <a:chExt cx="10789920" cy="5486400"/>
          </a:xfrm>
        </p:grpSpPr>
        <p:sp>
          <p:nvSpPr>
            <p:cNvPr name="Freeform 25" id="25"/>
            <p:cNvSpPr/>
            <p:nvPr/>
          </p:nvSpPr>
          <p:spPr>
            <a:xfrm flipH="false" flipV="false" rot="0">
              <a:off x="0" y="0"/>
              <a:ext cx="10789920" cy="5486400"/>
            </a:xfrm>
            <a:custGeom>
              <a:avLst/>
              <a:gdLst/>
              <a:ahLst/>
              <a:cxnLst/>
              <a:rect r="r" b="b" t="t" l="l"/>
              <a:pathLst>
                <a:path h="5486400" w="10789920">
                  <a:moveTo>
                    <a:pt x="0" y="146304"/>
                  </a:moveTo>
                  <a:cubicBezTo>
                    <a:pt x="0" y="65532"/>
                    <a:pt x="65532" y="0"/>
                    <a:pt x="146304" y="0"/>
                  </a:cubicBezTo>
                  <a:lnTo>
                    <a:pt x="10643616" y="0"/>
                  </a:lnTo>
                  <a:cubicBezTo>
                    <a:pt x="10724388" y="0"/>
                    <a:pt x="10789920" y="65532"/>
                    <a:pt x="10789920" y="146304"/>
                  </a:cubicBezTo>
                  <a:lnTo>
                    <a:pt x="10789920" y="5340096"/>
                  </a:lnTo>
                  <a:cubicBezTo>
                    <a:pt x="10789920" y="5420868"/>
                    <a:pt x="10724388" y="5486400"/>
                    <a:pt x="10643616" y="5486400"/>
                  </a:cubicBezTo>
                  <a:lnTo>
                    <a:pt x="146304" y="5486400"/>
                  </a:lnTo>
                  <a:cubicBezTo>
                    <a:pt x="65532" y="5486400"/>
                    <a:pt x="0" y="5420868"/>
                    <a:pt x="0" y="5340096"/>
                  </a:cubicBezTo>
                  <a:close/>
                </a:path>
              </a:pathLst>
            </a:custGeom>
            <a:solidFill>
              <a:srgbClr val="293E9C"/>
            </a:solidFill>
          </p:spPr>
        </p:sp>
      </p:grpSp>
      <p:grpSp>
        <p:nvGrpSpPr>
          <p:cNvPr name="Group 26" id="26"/>
          <p:cNvGrpSpPr/>
          <p:nvPr/>
        </p:nvGrpSpPr>
        <p:grpSpPr>
          <a:xfrm rot="0">
            <a:off x="1165860" y="5486400"/>
            <a:ext cx="7406640" cy="480060"/>
            <a:chOff x="0" y="0"/>
            <a:chExt cx="9875520" cy="640080"/>
          </a:xfrm>
        </p:grpSpPr>
        <p:sp>
          <p:nvSpPr>
            <p:cNvPr name="Freeform 27" id="27"/>
            <p:cNvSpPr/>
            <p:nvPr/>
          </p:nvSpPr>
          <p:spPr>
            <a:xfrm flipH="false" flipV="false" rot="0">
              <a:off x="0" y="0"/>
              <a:ext cx="9875520" cy="640080"/>
            </a:xfrm>
            <a:custGeom>
              <a:avLst/>
              <a:gdLst/>
              <a:ahLst/>
              <a:cxnLst/>
              <a:rect r="r" b="b" t="t" l="l"/>
              <a:pathLst>
                <a:path h="640080" w="9875520">
                  <a:moveTo>
                    <a:pt x="0" y="0"/>
                  </a:moveTo>
                  <a:lnTo>
                    <a:pt x="9875520" y="0"/>
                  </a:lnTo>
                  <a:lnTo>
                    <a:pt x="9875520" y="640080"/>
                  </a:lnTo>
                  <a:lnTo>
                    <a:pt x="0" y="640080"/>
                  </a:lnTo>
                  <a:close/>
                </a:path>
              </a:pathLst>
            </a:custGeom>
            <a:blipFill>
              <a:blip r:embed="rId2">
                <a:alphaModFix amt="0"/>
              </a:blip>
              <a:stretch>
                <a:fillRect l="0" t="-250416" r="0" b="-250418"/>
              </a:stretch>
            </a:blipFill>
          </p:spPr>
        </p:sp>
      </p:grpSp>
      <p:grpSp>
        <p:nvGrpSpPr>
          <p:cNvPr name="Group 28" id="28"/>
          <p:cNvGrpSpPr/>
          <p:nvPr/>
        </p:nvGrpSpPr>
        <p:grpSpPr>
          <a:xfrm rot="0">
            <a:off x="1165860" y="5450681"/>
            <a:ext cx="7406640" cy="515779"/>
            <a:chOff x="0" y="0"/>
            <a:chExt cx="9875520" cy="687705"/>
          </a:xfrm>
        </p:grpSpPr>
        <p:sp>
          <p:nvSpPr>
            <p:cNvPr name="Freeform 29" id="29"/>
            <p:cNvSpPr/>
            <p:nvPr/>
          </p:nvSpPr>
          <p:spPr>
            <a:xfrm flipH="false" flipV="false" rot="0">
              <a:off x="0" y="0"/>
              <a:ext cx="9875520" cy="687705"/>
            </a:xfrm>
            <a:custGeom>
              <a:avLst/>
              <a:gdLst/>
              <a:ahLst/>
              <a:cxnLst/>
              <a:rect r="r" b="b" t="t" l="l"/>
              <a:pathLst>
                <a:path h="687705" w="9875520">
                  <a:moveTo>
                    <a:pt x="0" y="0"/>
                  </a:moveTo>
                  <a:lnTo>
                    <a:pt x="9875520" y="0"/>
                  </a:lnTo>
                  <a:lnTo>
                    <a:pt x="9875520" y="687705"/>
                  </a:lnTo>
                  <a:lnTo>
                    <a:pt x="0" y="687705"/>
                  </a:lnTo>
                  <a:close/>
                </a:path>
              </a:pathLst>
            </a:custGeom>
            <a:blipFill>
              <a:blip r:embed="rId3">
                <a:alphaModFix amt="0"/>
              </a:blip>
              <a:stretch>
                <a:fillRect l="0" t="-229807" r="0" b="-229807"/>
              </a:stretch>
            </a:blipFill>
          </p:spPr>
        </p:sp>
        <p:sp>
          <p:nvSpPr>
            <p:cNvPr name="TextBox 30" id="30"/>
            <p:cNvSpPr txBox="true"/>
            <p:nvPr/>
          </p:nvSpPr>
          <p:spPr>
            <a:xfrm>
              <a:off x="0" y="-47625"/>
              <a:ext cx="9875520" cy="735330"/>
            </a:xfrm>
            <a:prstGeom prst="rect">
              <a:avLst/>
            </a:prstGeom>
          </p:spPr>
          <p:txBody>
            <a:bodyPr anchor="ctr" rtlCol="false" tIns="0" lIns="0" bIns="0" rIns="0"/>
            <a:lstStyle/>
            <a:p>
              <a:pPr algn="l">
                <a:lnSpc>
                  <a:spcPts val="2340"/>
                </a:lnSpc>
              </a:pPr>
              <a:r>
                <a:rPr lang="en-US" sz="1950" b="true">
                  <a:solidFill>
                    <a:srgbClr val="FFFFFF"/>
                  </a:solidFill>
                  <a:latin typeface="Calibri (MS) Bold"/>
                  <a:ea typeface="Calibri (MS) Bold"/>
                  <a:cs typeface="Calibri (MS) Bold"/>
                  <a:sym typeface="Calibri (MS) Bold"/>
                </a:rPr>
                <a:t>Criterios de aceptación</a:t>
              </a:r>
            </a:p>
          </p:txBody>
        </p:sp>
      </p:grpSp>
      <p:grpSp>
        <p:nvGrpSpPr>
          <p:cNvPr name="Group 31" id="31"/>
          <p:cNvGrpSpPr/>
          <p:nvPr/>
        </p:nvGrpSpPr>
        <p:grpSpPr>
          <a:xfrm rot="0">
            <a:off x="1165860" y="6035040"/>
            <a:ext cx="7406640" cy="3069727"/>
            <a:chOff x="0" y="0"/>
            <a:chExt cx="9875520" cy="4092969"/>
          </a:xfrm>
        </p:grpSpPr>
        <p:sp>
          <p:nvSpPr>
            <p:cNvPr name="Freeform 32" id="32"/>
            <p:cNvSpPr/>
            <p:nvPr/>
          </p:nvSpPr>
          <p:spPr>
            <a:xfrm flipH="false" flipV="false" rot="0">
              <a:off x="0" y="0"/>
              <a:ext cx="9875520" cy="4092956"/>
            </a:xfrm>
            <a:custGeom>
              <a:avLst/>
              <a:gdLst/>
              <a:ahLst/>
              <a:cxnLst/>
              <a:rect r="r" b="b" t="t" l="l"/>
              <a:pathLst>
                <a:path h="4092956" w="9875520">
                  <a:moveTo>
                    <a:pt x="0" y="0"/>
                  </a:moveTo>
                  <a:lnTo>
                    <a:pt x="9875520" y="0"/>
                  </a:lnTo>
                  <a:lnTo>
                    <a:pt x="9875520" y="4092956"/>
                  </a:lnTo>
                  <a:lnTo>
                    <a:pt x="0" y="4092956"/>
                  </a:lnTo>
                  <a:close/>
                </a:path>
              </a:pathLst>
            </a:custGeom>
            <a:blipFill>
              <a:blip r:embed="rId2">
                <a:alphaModFix amt="0"/>
              </a:blip>
              <a:stretch>
                <a:fillRect l="-3213" t="0" r="-3213" b="0"/>
              </a:stretch>
            </a:blipFill>
          </p:spPr>
        </p:sp>
      </p:grpSp>
      <p:grpSp>
        <p:nvGrpSpPr>
          <p:cNvPr name="Group 33" id="33"/>
          <p:cNvGrpSpPr/>
          <p:nvPr/>
        </p:nvGrpSpPr>
        <p:grpSpPr>
          <a:xfrm rot="0">
            <a:off x="1165860" y="5985034"/>
            <a:ext cx="7406640" cy="3119733"/>
            <a:chOff x="0" y="0"/>
            <a:chExt cx="9875520" cy="4159644"/>
          </a:xfrm>
        </p:grpSpPr>
        <p:sp>
          <p:nvSpPr>
            <p:cNvPr name="Freeform 34" id="34"/>
            <p:cNvSpPr/>
            <p:nvPr/>
          </p:nvSpPr>
          <p:spPr>
            <a:xfrm flipH="false" flipV="false" rot="0">
              <a:off x="0" y="0"/>
              <a:ext cx="9875520" cy="4159643"/>
            </a:xfrm>
            <a:custGeom>
              <a:avLst/>
              <a:gdLst/>
              <a:ahLst/>
              <a:cxnLst/>
              <a:rect r="r" b="b" t="t" l="l"/>
              <a:pathLst>
                <a:path h="4159643" w="9875520">
                  <a:moveTo>
                    <a:pt x="0" y="0"/>
                  </a:moveTo>
                  <a:lnTo>
                    <a:pt x="9875520" y="0"/>
                  </a:lnTo>
                  <a:lnTo>
                    <a:pt x="9875520" y="4159643"/>
                  </a:lnTo>
                  <a:lnTo>
                    <a:pt x="0" y="4159643"/>
                  </a:lnTo>
                  <a:close/>
                </a:path>
              </a:pathLst>
            </a:custGeom>
            <a:blipFill>
              <a:blip r:embed="rId3">
                <a:alphaModFix amt="0"/>
              </a:blip>
              <a:stretch>
                <a:fillRect l="-4042" t="0" r="-4042" b="0"/>
              </a:stretch>
            </a:blipFill>
          </p:spPr>
        </p:sp>
        <p:sp>
          <p:nvSpPr>
            <p:cNvPr name="TextBox 35" id="35"/>
            <p:cNvSpPr txBox="true"/>
            <p:nvPr/>
          </p:nvSpPr>
          <p:spPr>
            <a:xfrm>
              <a:off x="0" y="-66675"/>
              <a:ext cx="9875520" cy="4226319"/>
            </a:xfrm>
            <a:prstGeom prst="rect">
              <a:avLst/>
            </a:prstGeom>
          </p:spPr>
          <p:txBody>
            <a:bodyPr anchor="ctr" rtlCol="false" tIns="0" lIns="0" bIns="0" rIns="0"/>
            <a:lstStyle/>
            <a:p>
              <a:pPr algn="l">
                <a:lnSpc>
                  <a:spcPts val="2760"/>
                </a:lnSpc>
              </a:pPr>
              <a:r>
                <a:rPr lang="en-US" sz="2000" b="true">
                  <a:solidFill>
                    <a:srgbClr val="FFFFFF"/>
                  </a:solidFill>
                  <a:latin typeface="Calibri (MS) Bold"/>
                  <a:ea typeface="Calibri (MS) Bold"/>
                  <a:cs typeface="Calibri (MS) Bold"/>
                  <a:sym typeface="Calibri (MS) Bold"/>
                </a:rPr>
                <a:t>Given </a:t>
              </a:r>
              <a:r>
                <a:rPr lang="en-US" sz="2000">
                  <a:solidFill>
                    <a:srgbClr val="FFFFFF"/>
                  </a:solidFill>
                  <a:latin typeface="Calibri (MS)"/>
                  <a:ea typeface="Calibri (MS)"/>
                  <a:cs typeface="Calibri (MS)"/>
                  <a:sym typeface="Calibri (MS)"/>
                </a:rPr>
                <a:t>que el usuario definió sus pesos de preferencia,</a:t>
              </a:r>
            </a:p>
            <a:p>
              <a:pPr algn="l">
                <a:lnSpc>
                  <a:spcPts val="2760"/>
                </a:lnSpc>
              </a:pPr>
              <a:r>
                <a:rPr lang="en-US" sz="2000" b="true">
                  <a:solidFill>
                    <a:srgbClr val="FFFFFF"/>
                  </a:solidFill>
                  <a:latin typeface="Calibri (MS) Bold"/>
                  <a:ea typeface="Calibri (MS) Bold"/>
                  <a:cs typeface="Calibri (MS) Bold"/>
                  <a:sym typeface="Calibri (MS) Bold"/>
                </a:rPr>
                <a:t>When </a:t>
              </a:r>
              <a:r>
                <a:rPr lang="en-US" sz="2000">
                  <a:solidFill>
                    <a:srgbClr val="FFFFFF"/>
                  </a:solidFill>
                  <a:latin typeface="Calibri (MS)"/>
                  <a:ea typeface="Calibri (MS)"/>
                  <a:cs typeface="Calibri (MS)"/>
                  <a:sym typeface="Calibri (MS)"/>
                </a:rPr>
                <a:t>solicita recomendaciones,</a:t>
              </a:r>
            </a:p>
            <a:p>
              <a:pPr algn="l">
                <a:lnSpc>
                  <a:spcPts val="2760"/>
                </a:lnSpc>
              </a:pPr>
              <a:r>
                <a:rPr lang="en-US" sz="2000" b="true">
                  <a:solidFill>
                    <a:srgbClr val="FFFFFF"/>
                  </a:solidFill>
                  <a:latin typeface="Calibri (MS) Bold"/>
                  <a:ea typeface="Calibri (MS) Bold"/>
                  <a:cs typeface="Calibri (MS) Bold"/>
                  <a:sym typeface="Calibri (MS) Bold"/>
                </a:rPr>
                <a:t>Then </a:t>
              </a:r>
              <a:r>
                <a:rPr lang="en-US" sz="2000">
                  <a:solidFill>
                    <a:srgbClr val="FFFFFF"/>
                  </a:solidFill>
                  <a:latin typeface="Calibri (MS)"/>
                  <a:ea typeface="Calibri (MS)"/>
                  <a:cs typeface="Calibri (MS)"/>
                  <a:sym typeface="Calibri (MS)"/>
                </a:rPr>
                <a:t>el sistema devuelve un ranking ordenado por score compuesto.</a:t>
              </a:r>
            </a:p>
            <a:p>
              <a:pPr algn="l">
                <a:lnSpc>
                  <a:spcPts val="2760"/>
                </a:lnSpc>
              </a:pPr>
            </a:p>
            <a:p>
              <a:pPr algn="l">
                <a:lnSpc>
                  <a:spcPts val="2760"/>
                </a:lnSpc>
              </a:pPr>
              <a:r>
                <a:rPr lang="en-US" sz="2000" b="true">
                  <a:solidFill>
                    <a:srgbClr val="FFFFFF"/>
                  </a:solidFill>
                  <a:latin typeface="Calibri (MS) Bold"/>
                  <a:ea typeface="Calibri (MS) Bold"/>
                  <a:cs typeface="Calibri (MS) Bold"/>
                  <a:sym typeface="Calibri (MS) Bold"/>
                </a:rPr>
                <a:t>Given </a:t>
              </a:r>
              <a:r>
                <a:rPr lang="en-US" sz="2000">
                  <a:solidFill>
                    <a:srgbClr val="FFFFFF"/>
                  </a:solidFill>
                  <a:latin typeface="Calibri (MS)"/>
                  <a:ea typeface="Calibri (MS)"/>
                  <a:cs typeface="Calibri (MS)"/>
                  <a:sym typeface="Calibri (MS)"/>
                </a:rPr>
                <a:t>un cambio en preferencias,</a:t>
              </a:r>
            </a:p>
            <a:p>
              <a:pPr algn="l">
                <a:lnSpc>
                  <a:spcPts val="2760"/>
                </a:lnSpc>
              </a:pPr>
              <a:r>
                <a:rPr lang="en-US" sz="2000" b="true">
                  <a:solidFill>
                    <a:srgbClr val="FFFFFF"/>
                  </a:solidFill>
                  <a:latin typeface="Calibri (MS) Bold"/>
                  <a:ea typeface="Calibri (MS) Bold"/>
                  <a:cs typeface="Calibri (MS) Bold"/>
                  <a:sym typeface="Calibri (MS) Bold"/>
                </a:rPr>
                <a:t>When </a:t>
              </a:r>
              <a:r>
                <a:rPr lang="en-US" sz="2000">
                  <a:solidFill>
                    <a:srgbClr val="FFFFFF"/>
                  </a:solidFill>
                  <a:latin typeface="Calibri (MS)"/>
                  <a:ea typeface="Calibri (MS)"/>
                  <a:cs typeface="Calibri (MS)"/>
                  <a:sym typeface="Calibri (MS)"/>
                </a:rPr>
                <a:t>el usuario las actualiza,</a:t>
              </a:r>
            </a:p>
            <a:p>
              <a:pPr algn="l">
                <a:lnSpc>
                  <a:spcPts val="2760"/>
                </a:lnSpc>
              </a:pPr>
              <a:r>
                <a:rPr lang="en-US" sz="2000" b="true">
                  <a:solidFill>
                    <a:srgbClr val="FFFFFF"/>
                  </a:solidFill>
                  <a:latin typeface="Calibri (MS) Bold"/>
                  <a:ea typeface="Calibri (MS) Bold"/>
                  <a:cs typeface="Calibri (MS) Bold"/>
                  <a:sym typeface="Calibri (MS) Bold"/>
                </a:rPr>
                <a:t>Then </a:t>
              </a:r>
              <a:r>
                <a:rPr lang="en-US" sz="2000">
                  <a:solidFill>
                    <a:srgbClr val="FFFFFF"/>
                  </a:solidFill>
                  <a:latin typeface="Calibri (MS)"/>
                  <a:ea typeface="Calibri (MS)"/>
                  <a:cs typeface="Calibri (MS)"/>
                  <a:sym typeface="Calibri (MS)"/>
                </a:rPr>
                <a:t>el ranking se recalcula.</a:t>
              </a:r>
            </a:p>
          </p:txBody>
        </p:sp>
      </p:grpSp>
      <p:grpSp>
        <p:nvGrpSpPr>
          <p:cNvPr name="Group 36" id="36"/>
          <p:cNvGrpSpPr/>
          <p:nvPr/>
        </p:nvGrpSpPr>
        <p:grpSpPr>
          <a:xfrm rot="0">
            <a:off x="9230868" y="3738562"/>
            <a:ext cx="8092440" cy="480060"/>
            <a:chOff x="0" y="0"/>
            <a:chExt cx="10789920" cy="640080"/>
          </a:xfrm>
        </p:grpSpPr>
        <p:sp>
          <p:nvSpPr>
            <p:cNvPr name="Freeform 37" id="37"/>
            <p:cNvSpPr/>
            <p:nvPr/>
          </p:nvSpPr>
          <p:spPr>
            <a:xfrm flipH="false" flipV="false" rot="0">
              <a:off x="0" y="0"/>
              <a:ext cx="10789920" cy="640080"/>
            </a:xfrm>
            <a:custGeom>
              <a:avLst/>
              <a:gdLst/>
              <a:ahLst/>
              <a:cxnLst/>
              <a:rect r="r" b="b" t="t" l="l"/>
              <a:pathLst>
                <a:path h="640080" w="10789920">
                  <a:moveTo>
                    <a:pt x="0" y="0"/>
                  </a:moveTo>
                  <a:lnTo>
                    <a:pt x="10789920" y="0"/>
                  </a:lnTo>
                  <a:lnTo>
                    <a:pt x="10789920" y="640080"/>
                  </a:lnTo>
                  <a:lnTo>
                    <a:pt x="0" y="640080"/>
                  </a:lnTo>
                  <a:close/>
                </a:path>
              </a:pathLst>
            </a:custGeom>
            <a:blipFill>
              <a:blip r:embed="rId2">
                <a:alphaModFix amt="0"/>
              </a:blip>
              <a:stretch>
                <a:fillRect l="0" t="-278234" r="0" b="-278234"/>
              </a:stretch>
            </a:blipFill>
          </p:spPr>
        </p:sp>
      </p:grpSp>
      <p:grpSp>
        <p:nvGrpSpPr>
          <p:cNvPr name="Group 38" id="38"/>
          <p:cNvGrpSpPr/>
          <p:nvPr/>
        </p:nvGrpSpPr>
        <p:grpSpPr>
          <a:xfrm rot="0">
            <a:off x="9230868" y="3702844"/>
            <a:ext cx="8092440" cy="515779"/>
            <a:chOff x="0" y="0"/>
            <a:chExt cx="10789920" cy="687705"/>
          </a:xfrm>
        </p:grpSpPr>
        <p:sp>
          <p:nvSpPr>
            <p:cNvPr name="Freeform 39" id="39"/>
            <p:cNvSpPr/>
            <p:nvPr/>
          </p:nvSpPr>
          <p:spPr>
            <a:xfrm flipH="false" flipV="false" rot="0">
              <a:off x="0" y="0"/>
              <a:ext cx="10789920" cy="687705"/>
            </a:xfrm>
            <a:custGeom>
              <a:avLst/>
              <a:gdLst/>
              <a:ahLst/>
              <a:cxnLst/>
              <a:rect r="r" b="b" t="t" l="l"/>
              <a:pathLst>
                <a:path h="687705" w="10789920">
                  <a:moveTo>
                    <a:pt x="0" y="0"/>
                  </a:moveTo>
                  <a:lnTo>
                    <a:pt x="10789920" y="0"/>
                  </a:lnTo>
                  <a:lnTo>
                    <a:pt x="10789920" y="687705"/>
                  </a:lnTo>
                  <a:lnTo>
                    <a:pt x="0" y="687705"/>
                  </a:lnTo>
                  <a:close/>
                </a:path>
              </a:pathLst>
            </a:custGeom>
            <a:blipFill>
              <a:blip r:embed="rId3">
                <a:alphaModFix amt="0"/>
              </a:blip>
              <a:stretch>
                <a:fillRect l="0" t="-255715" r="0" b="-255715"/>
              </a:stretch>
            </a:blipFill>
          </p:spPr>
        </p:sp>
        <p:sp>
          <p:nvSpPr>
            <p:cNvPr name="TextBox 40" id="40"/>
            <p:cNvSpPr txBox="true"/>
            <p:nvPr/>
          </p:nvSpPr>
          <p:spPr>
            <a:xfrm>
              <a:off x="0" y="-47625"/>
              <a:ext cx="10789920" cy="735330"/>
            </a:xfrm>
            <a:prstGeom prst="rect">
              <a:avLst/>
            </a:prstGeom>
          </p:spPr>
          <p:txBody>
            <a:bodyPr anchor="ctr" rtlCol="false" tIns="0" lIns="0" bIns="0" rIns="0"/>
            <a:lstStyle/>
            <a:p>
              <a:pPr algn="l">
                <a:lnSpc>
                  <a:spcPts val="2340"/>
                </a:lnSpc>
              </a:pPr>
              <a:r>
                <a:rPr lang="en-US" sz="1950" b="true">
                  <a:solidFill>
                    <a:srgbClr val="5F669F"/>
                  </a:solidFill>
                  <a:latin typeface="Calibri (MS) Bold"/>
                  <a:ea typeface="Calibri (MS) Bold"/>
                  <a:cs typeface="Calibri (MS) Bold"/>
                  <a:sym typeface="Calibri (MS) Bold"/>
                </a:rPr>
                <a:t>Diagrama de flujo</a:t>
              </a:r>
            </a:p>
          </p:txBody>
        </p:sp>
      </p:grpSp>
      <p:grpSp>
        <p:nvGrpSpPr>
          <p:cNvPr name="Group 41" id="41"/>
          <p:cNvGrpSpPr/>
          <p:nvPr/>
        </p:nvGrpSpPr>
        <p:grpSpPr>
          <a:xfrm rot="0">
            <a:off x="9230868" y="4424362"/>
            <a:ext cx="1851660" cy="1783080"/>
            <a:chOff x="0" y="0"/>
            <a:chExt cx="2468880" cy="2377440"/>
          </a:xfrm>
        </p:grpSpPr>
        <p:sp>
          <p:nvSpPr>
            <p:cNvPr name="Freeform 42" id="42"/>
            <p:cNvSpPr/>
            <p:nvPr/>
          </p:nvSpPr>
          <p:spPr>
            <a:xfrm flipH="false" flipV="false" rot="0">
              <a:off x="0" y="0"/>
              <a:ext cx="2468880" cy="2377440"/>
            </a:xfrm>
            <a:custGeom>
              <a:avLst/>
              <a:gdLst/>
              <a:ahLst/>
              <a:cxnLst/>
              <a:rect r="r" b="b" t="t" l="l"/>
              <a:pathLst>
                <a:path h="2377440" w="2468880">
                  <a:moveTo>
                    <a:pt x="0" y="146304"/>
                  </a:moveTo>
                  <a:cubicBezTo>
                    <a:pt x="0" y="65532"/>
                    <a:pt x="65532" y="0"/>
                    <a:pt x="146304" y="0"/>
                  </a:cubicBezTo>
                  <a:lnTo>
                    <a:pt x="2322576" y="0"/>
                  </a:lnTo>
                  <a:cubicBezTo>
                    <a:pt x="2403348" y="0"/>
                    <a:pt x="2468880" y="65532"/>
                    <a:pt x="2468880" y="146304"/>
                  </a:cubicBezTo>
                  <a:lnTo>
                    <a:pt x="2468880" y="2231136"/>
                  </a:lnTo>
                  <a:cubicBezTo>
                    <a:pt x="2468880" y="2311908"/>
                    <a:pt x="2403348" y="2377440"/>
                    <a:pt x="2322576" y="2377440"/>
                  </a:cubicBezTo>
                  <a:lnTo>
                    <a:pt x="146304" y="2377440"/>
                  </a:lnTo>
                  <a:cubicBezTo>
                    <a:pt x="65532" y="2377440"/>
                    <a:pt x="0" y="2311908"/>
                    <a:pt x="0" y="2231136"/>
                  </a:cubicBezTo>
                  <a:close/>
                </a:path>
              </a:pathLst>
            </a:custGeom>
            <a:solidFill>
              <a:srgbClr val="ADB4D0"/>
            </a:solidFill>
          </p:spPr>
        </p:sp>
      </p:grpSp>
      <p:grpSp>
        <p:nvGrpSpPr>
          <p:cNvPr name="Group 43" id="43"/>
          <p:cNvGrpSpPr/>
          <p:nvPr/>
        </p:nvGrpSpPr>
        <p:grpSpPr>
          <a:xfrm rot="0">
            <a:off x="9340596" y="4424362"/>
            <a:ext cx="1632204" cy="1783080"/>
            <a:chOff x="0" y="0"/>
            <a:chExt cx="2176272" cy="2377440"/>
          </a:xfrm>
        </p:grpSpPr>
        <p:sp>
          <p:nvSpPr>
            <p:cNvPr name="Freeform 44" id="44"/>
            <p:cNvSpPr/>
            <p:nvPr/>
          </p:nvSpPr>
          <p:spPr>
            <a:xfrm flipH="false" flipV="false" rot="0">
              <a:off x="0" y="0"/>
              <a:ext cx="2176272" cy="2377440"/>
            </a:xfrm>
            <a:custGeom>
              <a:avLst/>
              <a:gdLst/>
              <a:ahLst/>
              <a:cxnLst/>
              <a:rect r="r" b="b" t="t" l="l"/>
              <a:pathLst>
                <a:path h="2377440" w="2176272">
                  <a:moveTo>
                    <a:pt x="0" y="0"/>
                  </a:moveTo>
                  <a:lnTo>
                    <a:pt x="2176272" y="0"/>
                  </a:lnTo>
                  <a:lnTo>
                    <a:pt x="2176272" y="2377440"/>
                  </a:lnTo>
                  <a:lnTo>
                    <a:pt x="0" y="2377440"/>
                  </a:lnTo>
                  <a:close/>
                </a:path>
              </a:pathLst>
            </a:custGeom>
            <a:blipFill>
              <a:blip r:embed="rId2">
                <a:alphaModFix amt="0"/>
              </a:blip>
              <a:stretch>
                <a:fillRect l="-90260" t="0" r="-90261" b="0"/>
              </a:stretch>
            </a:blipFill>
          </p:spPr>
        </p:sp>
      </p:grpSp>
      <p:grpSp>
        <p:nvGrpSpPr>
          <p:cNvPr name="Group 45" id="45"/>
          <p:cNvGrpSpPr/>
          <p:nvPr/>
        </p:nvGrpSpPr>
        <p:grpSpPr>
          <a:xfrm rot="0">
            <a:off x="9340596" y="4402931"/>
            <a:ext cx="1632204" cy="1804511"/>
            <a:chOff x="0" y="0"/>
            <a:chExt cx="2176272" cy="2406015"/>
          </a:xfrm>
        </p:grpSpPr>
        <p:sp>
          <p:nvSpPr>
            <p:cNvPr name="Freeform 46" id="46"/>
            <p:cNvSpPr/>
            <p:nvPr/>
          </p:nvSpPr>
          <p:spPr>
            <a:xfrm flipH="false" flipV="false" rot="0">
              <a:off x="0" y="0"/>
              <a:ext cx="2176272" cy="2406015"/>
            </a:xfrm>
            <a:custGeom>
              <a:avLst/>
              <a:gdLst/>
              <a:ahLst/>
              <a:cxnLst/>
              <a:rect r="r" b="b" t="t" l="l"/>
              <a:pathLst>
                <a:path h="2406015" w="2176272">
                  <a:moveTo>
                    <a:pt x="0" y="0"/>
                  </a:moveTo>
                  <a:lnTo>
                    <a:pt x="2176272" y="0"/>
                  </a:lnTo>
                  <a:lnTo>
                    <a:pt x="2176272" y="2406015"/>
                  </a:lnTo>
                  <a:lnTo>
                    <a:pt x="0" y="2406015"/>
                  </a:lnTo>
                  <a:close/>
                </a:path>
              </a:pathLst>
            </a:custGeom>
            <a:blipFill>
              <a:blip r:embed="rId3">
                <a:alphaModFix amt="0"/>
              </a:blip>
              <a:stretch>
                <a:fillRect l="-91848" t="0" r="-91848" b="0"/>
              </a:stretch>
            </a:blipFill>
          </p:spPr>
        </p:sp>
        <p:sp>
          <p:nvSpPr>
            <p:cNvPr name="TextBox 47" id="47"/>
            <p:cNvSpPr txBox="true"/>
            <p:nvPr/>
          </p:nvSpPr>
          <p:spPr>
            <a:xfrm>
              <a:off x="0" y="-28575"/>
              <a:ext cx="2176272" cy="2434590"/>
            </a:xfrm>
            <a:prstGeom prst="rect">
              <a:avLst/>
            </a:prstGeom>
          </p:spPr>
          <p:txBody>
            <a:bodyPr anchor="ctr" rtlCol="false" tIns="0" lIns="0" bIns="0" rIns="0"/>
            <a:lstStyle/>
            <a:p>
              <a:pPr algn="ctr">
                <a:lnSpc>
                  <a:spcPts val="1620"/>
                </a:lnSpc>
              </a:pPr>
              <a:r>
                <a:rPr lang="en-US" sz="1350" b="true">
                  <a:solidFill>
                    <a:srgbClr val="FFFFFF"/>
                  </a:solidFill>
                  <a:latin typeface="Calibri (MS) Bold"/>
                  <a:ea typeface="Calibri (MS) Bold"/>
                  <a:cs typeface="Calibri (MS) Bold"/>
                  <a:sym typeface="Calibri (MS) Bold"/>
                </a:rPr>
                <a:t>Perfil del</a:t>
              </a:r>
            </a:p>
            <a:p>
              <a:pPr algn="ctr">
                <a:lnSpc>
                  <a:spcPts val="1620"/>
                </a:lnSpc>
              </a:pPr>
              <a:r>
                <a:rPr lang="en-US" sz="1350" b="true">
                  <a:solidFill>
                    <a:srgbClr val="FFFFFF"/>
                  </a:solidFill>
                  <a:latin typeface="Calibri (MS) Bold"/>
                  <a:ea typeface="Calibri (MS) Bold"/>
                  <a:cs typeface="Calibri (MS) Bold"/>
                  <a:sym typeface="Calibri (MS) Bold"/>
                </a:rPr>
                <a:t>usuario</a:t>
              </a:r>
            </a:p>
          </p:txBody>
        </p:sp>
      </p:grpSp>
      <p:grpSp>
        <p:nvGrpSpPr>
          <p:cNvPr name="Group 48" id="48"/>
          <p:cNvGrpSpPr/>
          <p:nvPr/>
        </p:nvGrpSpPr>
        <p:grpSpPr>
          <a:xfrm rot="0">
            <a:off x="11082528" y="4973003"/>
            <a:ext cx="164592" cy="685800"/>
            <a:chOff x="0" y="0"/>
            <a:chExt cx="219456" cy="914400"/>
          </a:xfrm>
        </p:grpSpPr>
        <p:sp>
          <p:nvSpPr>
            <p:cNvPr name="Freeform 49" id="49"/>
            <p:cNvSpPr/>
            <p:nvPr/>
          </p:nvSpPr>
          <p:spPr>
            <a:xfrm flipH="false" flipV="false" rot="0">
              <a:off x="0" y="0"/>
              <a:ext cx="219456" cy="914400"/>
            </a:xfrm>
            <a:custGeom>
              <a:avLst/>
              <a:gdLst/>
              <a:ahLst/>
              <a:cxnLst/>
              <a:rect r="r" b="b" t="t" l="l"/>
              <a:pathLst>
                <a:path h="914400" w="219456">
                  <a:moveTo>
                    <a:pt x="0" y="0"/>
                  </a:moveTo>
                  <a:lnTo>
                    <a:pt x="219456" y="0"/>
                  </a:lnTo>
                  <a:lnTo>
                    <a:pt x="219456" y="914400"/>
                  </a:lnTo>
                  <a:lnTo>
                    <a:pt x="0" y="914400"/>
                  </a:lnTo>
                  <a:close/>
                </a:path>
              </a:pathLst>
            </a:custGeom>
            <a:blipFill>
              <a:blip r:embed="rId2">
                <a:alphaModFix amt="0"/>
              </a:blip>
              <a:stretch>
                <a:fillRect l="-484971" t="0" r="-484971" b="0"/>
              </a:stretch>
            </a:blipFill>
          </p:spPr>
        </p:sp>
      </p:grpSp>
      <p:grpSp>
        <p:nvGrpSpPr>
          <p:cNvPr name="Group 50" id="50"/>
          <p:cNvGrpSpPr/>
          <p:nvPr/>
        </p:nvGrpSpPr>
        <p:grpSpPr>
          <a:xfrm rot="0">
            <a:off x="11082528" y="4965859"/>
            <a:ext cx="164592" cy="692944"/>
            <a:chOff x="0" y="0"/>
            <a:chExt cx="219456" cy="923925"/>
          </a:xfrm>
        </p:grpSpPr>
        <p:sp>
          <p:nvSpPr>
            <p:cNvPr name="Freeform 51" id="51"/>
            <p:cNvSpPr/>
            <p:nvPr/>
          </p:nvSpPr>
          <p:spPr>
            <a:xfrm flipH="false" flipV="false" rot="0">
              <a:off x="0" y="0"/>
              <a:ext cx="219456" cy="923925"/>
            </a:xfrm>
            <a:custGeom>
              <a:avLst/>
              <a:gdLst/>
              <a:ahLst/>
              <a:cxnLst/>
              <a:rect r="r" b="b" t="t" l="l"/>
              <a:pathLst>
                <a:path h="923925" w="219456">
                  <a:moveTo>
                    <a:pt x="0" y="0"/>
                  </a:moveTo>
                  <a:lnTo>
                    <a:pt x="219456" y="0"/>
                  </a:lnTo>
                  <a:lnTo>
                    <a:pt x="219456" y="923925"/>
                  </a:lnTo>
                  <a:lnTo>
                    <a:pt x="0" y="923925"/>
                  </a:lnTo>
                  <a:close/>
                </a:path>
              </a:pathLst>
            </a:custGeom>
            <a:blipFill>
              <a:blip r:embed="rId3">
                <a:alphaModFix amt="0"/>
              </a:blip>
              <a:stretch>
                <a:fillRect l="-490166" t="0" r="-490166" b="0"/>
              </a:stretch>
            </a:blipFill>
          </p:spPr>
        </p:sp>
        <p:sp>
          <p:nvSpPr>
            <p:cNvPr name="TextBox 52" id="52"/>
            <p:cNvSpPr txBox="true"/>
            <p:nvPr/>
          </p:nvSpPr>
          <p:spPr>
            <a:xfrm>
              <a:off x="0" y="-9525"/>
              <a:ext cx="219456" cy="933450"/>
            </a:xfrm>
            <a:prstGeom prst="rect">
              <a:avLst/>
            </a:prstGeom>
          </p:spPr>
          <p:txBody>
            <a:bodyPr anchor="ctr" rtlCol="false" tIns="0" lIns="0" bIns="0" rIns="0"/>
            <a:lstStyle/>
            <a:p>
              <a:pPr algn="ctr">
                <a:lnSpc>
                  <a:spcPts val="2520"/>
                </a:lnSpc>
              </a:pPr>
              <a:r>
                <a:rPr lang="en-US" sz="2100">
                  <a:solidFill>
                    <a:srgbClr val="5F669F"/>
                  </a:solidFill>
                  <a:latin typeface="Arial"/>
                  <a:ea typeface="Arial"/>
                  <a:cs typeface="Arial"/>
                  <a:sym typeface="Arial"/>
                </a:rPr>
                <a:t>→</a:t>
              </a:r>
            </a:p>
          </p:txBody>
        </p:sp>
      </p:grpSp>
      <p:grpSp>
        <p:nvGrpSpPr>
          <p:cNvPr name="Group 53" id="53"/>
          <p:cNvGrpSpPr/>
          <p:nvPr/>
        </p:nvGrpSpPr>
        <p:grpSpPr>
          <a:xfrm rot="0">
            <a:off x="11247120" y="4424362"/>
            <a:ext cx="1851660" cy="1783080"/>
            <a:chOff x="0" y="0"/>
            <a:chExt cx="2468880" cy="2377440"/>
          </a:xfrm>
        </p:grpSpPr>
        <p:sp>
          <p:nvSpPr>
            <p:cNvPr name="Freeform 54" id="54"/>
            <p:cNvSpPr/>
            <p:nvPr/>
          </p:nvSpPr>
          <p:spPr>
            <a:xfrm flipH="false" flipV="false" rot="0">
              <a:off x="0" y="0"/>
              <a:ext cx="2468880" cy="2377440"/>
            </a:xfrm>
            <a:custGeom>
              <a:avLst/>
              <a:gdLst/>
              <a:ahLst/>
              <a:cxnLst/>
              <a:rect r="r" b="b" t="t" l="l"/>
              <a:pathLst>
                <a:path h="2377440" w="2468880">
                  <a:moveTo>
                    <a:pt x="0" y="146304"/>
                  </a:moveTo>
                  <a:cubicBezTo>
                    <a:pt x="0" y="65532"/>
                    <a:pt x="65532" y="0"/>
                    <a:pt x="146304" y="0"/>
                  </a:cubicBezTo>
                  <a:lnTo>
                    <a:pt x="2322576" y="0"/>
                  </a:lnTo>
                  <a:cubicBezTo>
                    <a:pt x="2403348" y="0"/>
                    <a:pt x="2468880" y="65532"/>
                    <a:pt x="2468880" y="146304"/>
                  </a:cubicBezTo>
                  <a:lnTo>
                    <a:pt x="2468880" y="2231136"/>
                  </a:lnTo>
                  <a:cubicBezTo>
                    <a:pt x="2468880" y="2311908"/>
                    <a:pt x="2403348" y="2377440"/>
                    <a:pt x="2322576" y="2377440"/>
                  </a:cubicBezTo>
                  <a:lnTo>
                    <a:pt x="146304" y="2377440"/>
                  </a:lnTo>
                  <a:cubicBezTo>
                    <a:pt x="65532" y="2377440"/>
                    <a:pt x="0" y="2311908"/>
                    <a:pt x="0" y="2231136"/>
                  </a:cubicBezTo>
                  <a:close/>
                </a:path>
              </a:pathLst>
            </a:custGeom>
            <a:solidFill>
              <a:srgbClr val="ADB4D0"/>
            </a:solidFill>
          </p:spPr>
        </p:sp>
      </p:grpSp>
      <p:grpSp>
        <p:nvGrpSpPr>
          <p:cNvPr name="Group 55" id="55"/>
          <p:cNvGrpSpPr/>
          <p:nvPr/>
        </p:nvGrpSpPr>
        <p:grpSpPr>
          <a:xfrm rot="0">
            <a:off x="11356848" y="4424362"/>
            <a:ext cx="1632204" cy="1783080"/>
            <a:chOff x="0" y="0"/>
            <a:chExt cx="2176272" cy="2377440"/>
          </a:xfrm>
        </p:grpSpPr>
        <p:sp>
          <p:nvSpPr>
            <p:cNvPr name="Freeform 56" id="56"/>
            <p:cNvSpPr/>
            <p:nvPr/>
          </p:nvSpPr>
          <p:spPr>
            <a:xfrm flipH="false" flipV="false" rot="0">
              <a:off x="0" y="0"/>
              <a:ext cx="2176272" cy="2377440"/>
            </a:xfrm>
            <a:custGeom>
              <a:avLst/>
              <a:gdLst/>
              <a:ahLst/>
              <a:cxnLst/>
              <a:rect r="r" b="b" t="t" l="l"/>
              <a:pathLst>
                <a:path h="2377440" w="2176272">
                  <a:moveTo>
                    <a:pt x="0" y="0"/>
                  </a:moveTo>
                  <a:lnTo>
                    <a:pt x="2176272" y="0"/>
                  </a:lnTo>
                  <a:lnTo>
                    <a:pt x="2176272" y="2377440"/>
                  </a:lnTo>
                  <a:lnTo>
                    <a:pt x="0" y="2377440"/>
                  </a:lnTo>
                  <a:close/>
                </a:path>
              </a:pathLst>
            </a:custGeom>
            <a:blipFill>
              <a:blip r:embed="rId2">
                <a:alphaModFix amt="0"/>
              </a:blip>
              <a:stretch>
                <a:fillRect l="-90260" t="0" r="-90261" b="0"/>
              </a:stretch>
            </a:blipFill>
          </p:spPr>
        </p:sp>
      </p:grpSp>
      <p:grpSp>
        <p:nvGrpSpPr>
          <p:cNvPr name="Group 57" id="57"/>
          <p:cNvGrpSpPr/>
          <p:nvPr/>
        </p:nvGrpSpPr>
        <p:grpSpPr>
          <a:xfrm rot="0">
            <a:off x="11356848" y="4402931"/>
            <a:ext cx="1632204" cy="1804511"/>
            <a:chOff x="0" y="0"/>
            <a:chExt cx="2176272" cy="2406015"/>
          </a:xfrm>
        </p:grpSpPr>
        <p:sp>
          <p:nvSpPr>
            <p:cNvPr name="Freeform 58" id="58"/>
            <p:cNvSpPr/>
            <p:nvPr/>
          </p:nvSpPr>
          <p:spPr>
            <a:xfrm flipH="false" flipV="false" rot="0">
              <a:off x="0" y="0"/>
              <a:ext cx="2176272" cy="2406015"/>
            </a:xfrm>
            <a:custGeom>
              <a:avLst/>
              <a:gdLst/>
              <a:ahLst/>
              <a:cxnLst/>
              <a:rect r="r" b="b" t="t" l="l"/>
              <a:pathLst>
                <a:path h="2406015" w="2176272">
                  <a:moveTo>
                    <a:pt x="0" y="0"/>
                  </a:moveTo>
                  <a:lnTo>
                    <a:pt x="2176272" y="0"/>
                  </a:lnTo>
                  <a:lnTo>
                    <a:pt x="2176272" y="2406015"/>
                  </a:lnTo>
                  <a:lnTo>
                    <a:pt x="0" y="2406015"/>
                  </a:lnTo>
                  <a:close/>
                </a:path>
              </a:pathLst>
            </a:custGeom>
            <a:blipFill>
              <a:blip r:embed="rId3">
                <a:alphaModFix amt="0"/>
              </a:blip>
              <a:stretch>
                <a:fillRect l="-91848" t="0" r="-91848" b="0"/>
              </a:stretch>
            </a:blipFill>
          </p:spPr>
        </p:sp>
        <p:sp>
          <p:nvSpPr>
            <p:cNvPr name="TextBox 59" id="59"/>
            <p:cNvSpPr txBox="true"/>
            <p:nvPr/>
          </p:nvSpPr>
          <p:spPr>
            <a:xfrm>
              <a:off x="0" y="-28575"/>
              <a:ext cx="2176272" cy="2434590"/>
            </a:xfrm>
            <a:prstGeom prst="rect">
              <a:avLst/>
            </a:prstGeom>
          </p:spPr>
          <p:txBody>
            <a:bodyPr anchor="ctr" rtlCol="false" tIns="0" lIns="0" bIns="0" rIns="0"/>
            <a:lstStyle/>
            <a:p>
              <a:pPr algn="ctr">
                <a:lnSpc>
                  <a:spcPts val="1620"/>
                </a:lnSpc>
              </a:pPr>
              <a:r>
                <a:rPr lang="en-US" sz="1350" b="true">
                  <a:solidFill>
                    <a:srgbClr val="FFFFFF"/>
                  </a:solidFill>
                  <a:latin typeface="Calibri (MS) Bold"/>
                  <a:ea typeface="Calibri (MS) Bold"/>
                  <a:cs typeface="Calibri (MS) Bold"/>
                  <a:sym typeface="Calibri (MS) Bold"/>
                </a:rPr>
                <a:t>opportunity_score</a:t>
              </a:r>
            </a:p>
            <a:p>
              <a:pPr algn="ctr">
                <a:lnSpc>
                  <a:spcPts val="1620"/>
                </a:lnSpc>
              </a:pPr>
              <a:r>
                <a:rPr lang="en-US" sz="1350" b="true">
                  <a:solidFill>
                    <a:srgbClr val="FFFFFF"/>
                  </a:solidFill>
                  <a:latin typeface="Calibri (MS) Bold"/>
                  <a:ea typeface="Calibri (MS) Bold"/>
                  <a:cs typeface="Calibri (MS) Bold"/>
                  <a:sym typeface="Calibri (MS) Bold"/>
                </a:rPr>
                <a:t>+ zone_index</a:t>
              </a:r>
            </a:p>
            <a:p>
              <a:pPr algn="ctr">
                <a:lnSpc>
                  <a:spcPts val="1620"/>
                </a:lnSpc>
              </a:pPr>
              <a:r>
                <a:rPr lang="en-US" sz="1350" b="true">
                  <a:solidFill>
                    <a:srgbClr val="FFFFFF"/>
                  </a:solidFill>
                  <a:latin typeface="Calibri (MS) Bold"/>
                  <a:ea typeface="Calibri (MS) Bold"/>
                  <a:cs typeface="Calibri (MS) Bold"/>
                  <a:sym typeface="Calibri (MS) Bold"/>
                </a:rPr>
                <a:t>+ constructora_score</a:t>
              </a:r>
            </a:p>
          </p:txBody>
        </p:sp>
      </p:grpSp>
      <p:grpSp>
        <p:nvGrpSpPr>
          <p:cNvPr name="Group 60" id="60"/>
          <p:cNvGrpSpPr/>
          <p:nvPr/>
        </p:nvGrpSpPr>
        <p:grpSpPr>
          <a:xfrm rot="0">
            <a:off x="13098780" y="4973003"/>
            <a:ext cx="164592" cy="685800"/>
            <a:chOff x="0" y="0"/>
            <a:chExt cx="219456" cy="914400"/>
          </a:xfrm>
        </p:grpSpPr>
        <p:sp>
          <p:nvSpPr>
            <p:cNvPr name="Freeform 61" id="61"/>
            <p:cNvSpPr/>
            <p:nvPr/>
          </p:nvSpPr>
          <p:spPr>
            <a:xfrm flipH="false" flipV="false" rot="0">
              <a:off x="0" y="0"/>
              <a:ext cx="219456" cy="914400"/>
            </a:xfrm>
            <a:custGeom>
              <a:avLst/>
              <a:gdLst/>
              <a:ahLst/>
              <a:cxnLst/>
              <a:rect r="r" b="b" t="t" l="l"/>
              <a:pathLst>
                <a:path h="914400" w="219456">
                  <a:moveTo>
                    <a:pt x="0" y="0"/>
                  </a:moveTo>
                  <a:lnTo>
                    <a:pt x="219456" y="0"/>
                  </a:lnTo>
                  <a:lnTo>
                    <a:pt x="219456" y="914400"/>
                  </a:lnTo>
                  <a:lnTo>
                    <a:pt x="0" y="914400"/>
                  </a:lnTo>
                  <a:close/>
                </a:path>
              </a:pathLst>
            </a:custGeom>
            <a:blipFill>
              <a:blip r:embed="rId2">
                <a:alphaModFix amt="0"/>
              </a:blip>
              <a:stretch>
                <a:fillRect l="-484971" t="0" r="-484971" b="0"/>
              </a:stretch>
            </a:blipFill>
          </p:spPr>
        </p:sp>
      </p:grpSp>
      <p:grpSp>
        <p:nvGrpSpPr>
          <p:cNvPr name="Group 62" id="62"/>
          <p:cNvGrpSpPr/>
          <p:nvPr/>
        </p:nvGrpSpPr>
        <p:grpSpPr>
          <a:xfrm rot="0">
            <a:off x="13098780" y="4965859"/>
            <a:ext cx="164592" cy="692944"/>
            <a:chOff x="0" y="0"/>
            <a:chExt cx="219456" cy="923925"/>
          </a:xfrm>
        </p:grpSpPr>
        <p:sp>
          <p:nvSpPr>
            <p:cNvPr name="Freeform 63" id="63"/>
            <p:cNvSpPr/>
            <p:nvPr/>
          </p:nvSpPr>
          <p:spPr>
            <a:xfrm flipH="false" flipV="false" rot="0">
              <a:off x="0" y="0"/>
              <a:ext cx="219456" cy="923925"/>
            </a:xfrm>
            <a:custGeom>
              <a:avLst/>
              <a:gdLst/>
              <a:ahLst/>
              <a:cxnLst/>
              <a:rect r="r" b="b" t="t" l="l"/>
              <a:pathLst>
                <a:path h="923925" w="219456">
                  <a:moveTo>
                    <a:pt x="0" y="0"/>
                  </a:moveTo>
                  <a:lnTo>
                    <a:pt x="219456" y="0"/>
                  </a:lnTo>
                  <a:lnTo>
                    <a:pt x="219456" y="923925"/>
                  </a:lnTo>
                  <a:lnTo>
                    <a:pt x="0" y="923925"/>
                  </a:lnTo>
                  <a:close/>
                </a:path>
              </a:pathLst>
            </a:custGeom>
            <a:blipFill>
              <a:blip r:embed="rId3">
                <a:alphaModFix amt="0"/>
              </a:blip>
              <a:stretch>
                <a:fillRect l="-490166" t="0" r="-490166" b="0"/>
              </a:stretch>
            </a:blipFill>
          </p:spPr>
        </p:sp>
        <p:sp>
          <p:nvSpPr>
            <p:cNvPr name="TextBox 64" id="64"/>
            <p:cNvSpPr txBox="true"/>
            <p:nvPr/>
          </p:nvSpPr>
          <p:spPr>
            <a:xfrm>
              <a:off x="0" y="-9525"/>
              <a:ext cx="219456" cy="933450"/>
            </a:xfrm>
            <a:prstGeom prst="rect">
              <a:avLst/>
            </a:prstGeom>
          </p:spPr>
          <p:txBody>
            <a:bodyPr anchor="ctr" rtlCol="false" tIns="0" lIns="0" bIns="0" rIns="0"/>
            <a:lstStyle/>
            <a:p>
              <a:pPr algn="ctr">
                <a:lnSpc>
                  <a:spcPts val="2520"/>
                </a:lnSpc>
              </a:pPr>
              <a:r>
                <a:rPr lang="en-US" sz="2100">
                  <a:solidFill>
                    <a:srgbClr val="5F669F"/>
                  </a:solidFill>
                  <a:latin typeface="Arial"/>
                  <a:ea typeface="Arial"/>
                  <a:cs typeface="Arial"/>
                  <a:sym typeface="Arial"/>
                </a:rPr>
                <a:t>→</a:t>
              </a:r>
            </a:p>
          </p:txBody>
        </p:sp>
      </p:grpSp>
      <p:grpSp>
        <p:nvGrpSpPr>
          <p:cNvPr name="Group 65" id="65"/>
          <p:cNvGrpSpPr/>
          <p:nvPr/>
        </p:nvGrpSpPr>
        <p:grpSpPr>
          <a:xfrm rot="0">
            <a:off x="13263372" y="4424362"/>
            <a:ext cx="1851660" cy="1783080"/>
            <a:chOff x="0" y="0"/>
            <a:chExt cx="2468880" cy="2377440"/>
          </a:xfrm>
        </p:grpSpPr>
        <p:sp>
          <p:nvSpPr>
            <p:cNvPr name="Freeform 66" id="66"/>
            <p:cNvSpPr/>
            <p:nvPr/>
          </p:nvSpPr>
          <p:spPr>
            <a:xfrm flipH="false" flipV="false" rot="0">
              <a:off x="0" y="0"/>
              <a:ext cx="2468880" cy="2377440"/>
            </a:xfrm>
            <a:custGeom>
              <a:avLst/>
              <a:gdLst/>
              <a:ahLst/>
              <a:cxnLst/>
              <a:rect r="r" b="b" t="t" l="l"/>
              <a:pathLst>
                <a:path h="2377440" w="2468880">
                  <a:moveTo>
                    <a:pt x="0" y="146304"/>
                  </a:moveTo>
                  <a:cubicBezTo>
                    <a:pt x="0" y="65532"/>
                    <a:pt x="65532" y="0"/>
                    <a:pt x="146304" y="0"/>
                  </a:cubicBezTo>
                  <a:lnTo>
                    <a:pt x="2322576" y="0"/>
                  </a:lnTo>
                  <a:cubicBezTo>
                    <a:pt x="2403348" y="0"/>
                    <a:pt x="2468880" y="65532"/>
                    <a:pt x="2468880" y="146304"/>
                  </a:cubicBezTo>
                  <a:lnTo>
                    <a:pt x="2468880" y="2231136"/>
                  </a:lnTo>
                  <a:cubicBezTo>
                    <a:pt x="2468880" y="2311908"/>
                    <a:pt x="2403348" y="2377440"/>
                    <a:pt x="2322576" y="2377440"/>
                  </a:cubicBezTo>
                  <a:lnTo>
                    <a:pt x="146304" y="2377440"/>
                  </a:lnTo>
                  <a:cubicBezTo>
                    <a:pt x="65532" y="2377440"/>
                    <a:pt x="0" y="2311908"/>
                    <a:pt x="0" y="2231136"/>
                  </a:cubicBezTo>
                  <a:close/>
                </a:path>
              </a:pathLst>
            </a:custGeom>
            <a:solidFill>
              <a:srgbClr val="ADB4D0"/>
            </a:solidFill>
          </p:spPr>
        </p:sp>
      </p:grpSp>
      <p:grpSp>
        <p:nvGrpSpPr>
          <p:cNvPr name="Group 67" id="67"/>
          <p:cNvGrpSpPr/>
          <p:nvPr/>
        </p:nvGrpSpPr>
        <p:grpSpPr>
          <a:xfrm rot="0">
            <a:off x="13373100" y="4424362"/>
            <a:ext cx="1632204" cy="1783080"/>
            <a:chOff x="0" y="0"/>
            <a:chExt cx="2176272" cy="2377440"/>
          </a:xfrm>
        </p:grpSpPr>
        <p:sp>
          <p:nvSpPr>
            <p:cNvPr name="Freeform 68" id="68"/>
            <p:cNvSpPr/>
            <p:nvPr/>
          </p:nvSpPr>
          <p:spPr>
            <a:xfrm flipH="false" flipV="false" rot="0">
              <a:off x="0" y="0"/>
              <a:ext cx="2176272" cy="2377440"/>
            </a:xfrm>
            <a:custGeom>
              <a:avLst/>
              <a:gdLst/>
              <a:ahLst/>
              <a:cxnLst/>
              <a:rect r="r" b="b" t="t" l="l"/>
              <a:pathLst>
                <a:path h="2377440" w="2176272">
                  <a:moveTo>
                    <a:pt x="0" y="0"/>
                  </a:moveTo>
                  <a:lnTo>
                    <a:pt x="2176272" y="0"/>
                  </a:lnTo>
                  <a:lnTo>
                    <a:pt x="2176272" y="2377440"/>
                  </a:lnTo>
                  <a:lnTo>
                    <a:pt x="0" y="2377440"/>
                  </a:lnTo>
                  <a:close/>
                </a:path>
              </a:pathLst>
            </a:custGeom>
            <a:blipFill>
              <a:blip r:embed="rId2">
                <a:alphaModFix amt="0"/>
              </a:blip>
              <a:stretch>
                <a:fillRect l="-90260" t="0" r="-90261" b="0"/>
              </a:stretch>
            </a:blipFill>
          </p:spPr>
        </p:sp>
      </p:grpSp>
      <p:grpSp>
        <p:nvGrpSpPr>
          <p:cNvPr name="Group 69" id="69"/>
          <p:cNvGrpSpPr/>
          <p:nvPr/>
        </p:nvGrpSpPr>
        <p:grpSpPr>
          <a:xfrm rot="0">
            <a:off x="13373100" y="4402931"/>
            <a:ext cx="1632204" cy="1804511"/>
            <a:chOff x="0" y="0"/>
            <a:chExt cx="2176272" cy="2406015"/>
          </a:xfrm>
        </p:grpSpPr>
        <p:sp>
          <p:nvSpPr>
            <p:cNvPr name="Freeform 70" id="70"/>
            <p:cNvSpPr/>
            <p:nvPr/>
          </p:nvSpPr>
          <p:spPr>
            <a:xfrm flipH="false" flipV="false" rot="0">
              <a:off x="0" y="0"/>
              <a:ext cx="2176272" cy="2406015"/>
            </a:xfrm>
            <a:custGeom>
              <a:avLst/>
              <a:gdLst/>
              <a:ahLst/>
              <a:cxnLst/>
              <a:rect r="r" b="b" t="t" l="l"/>
              <a:pathLst>
                <a:path h="2406015" w="2176272">
                  <a:moveTo>
                    <a:pt x="0" y="0"/>
                  </a:moveTo>
                  <a:lnTo>
                    <a:pt x="2176272" y="0"/>
                  </a:lnTo>
                  <a:lnTo>
                    <a:pt x="2176272" y="2406015"/>
                  </a:lnTo>
                  <a:lnTo>
                    <a:pt x="0" y="2406015"/>
                  </a:lnTo>
                  <a:close/>
                </a:path>
              </a:pathLst>
            </a:custGeom>
            <a:blipFill>
              <a:blip r:embed="rId3">
                <a:alphaModFix amt="0"/>
              </a:blip>
              <a:stretch>
                <a:fillRect l="-91848" t="0" r="-91848" b="0"/>
              </a:stretch>
            </a:blipFill>
          </p:spPr>
        </p:sp>
        <p:sp>
          <p:nvSpPr>
            <p:cNvPr name="TextBox 71" id="71"/>
            <p:cNvSpPr txBox="true"/>
            <p:nvPr/>
          </p:nvSpPr>
          <p:spPr>
            <a:xfrm>
              <a:off x="0" y="-28575"/>
              <a:ext cx="2176272" cy="2434590"/>
            </a:xfrm>
            <a:prstGeom prst="rect">
              <a:avLst/>
            </a:prstGeom>
          </p:spPr>
          <p:txBody>
            <a:bodyPr anchor="ctr" rtlCol="false" tIns="0" lIns="0" bIns="0" rIns="0"/>
            <a:lstStyle/>
            <a:p>
              <a:pPr algn="ctr">
                <a:lnSpc>
                  <a:spcPts val="1620"/>
                </a:lnSpc>
              </a:pPr>
              <a:r>
                <a:rPr lang="en-US" sz="1350" b="true">
                  <a:solidFill>
                    <a:srgbClr val="FFFFFF"/>
                  </a:solidFill>
                  <a:latin typeface="Calibri (MS) Bold"/>
                  <a:ea typeface="Calibri (MS) Bold"/>
                  <a:cs typeface="Calibri (MS) Bold"/>
                  <a:sym typeface="Calibri (MS) Bold"/>
                </a:rPr>
                <a:t>Motor de</a:t>
              </a:r>
            </a:p>
            <a:p>
              <a:pPr algn="ctr">
                <a:lnSpc>
                  <a:spcPts val="1620"/>
                </a:lnSpc>
              </a:pPr>
              <a:r>
                <a:rPr lang="en-US" sz="1350" b="true">
                  <a:solidFill>
                    <a:srgbClr val="FFFFFF"/>
                  </a:solidFill>
                  <a:latin typeface="Calibri (MS) Bold"/>
                  <a:ea typeface="Calibri (MS) Bold"/>
                  <a:cs typeface="Calibri (MS) Bold"/>
                  <a:sym typeface="Calibri (MS) Bold"/>
                </a:rPr>
                <a:t>recomendación</a:t>
              </a:r>
            </a:p>
          </p:txBody>
        </p:sp>
      </p:grpSp>
      <p:grpSp>
        <p:nvGrpSpPr>
          <p:cNvPr name="Group 72" id="72"/>
          <p:cNvGrpSpPr/>
          <p:nvPr/>
        </p:nvGrpSpPr>
        <p:grpSpPr>
          <a:xfrm rot="0">
            <a:off x="15115032" y="4973003"/>
            <a:ext cx="164592" cy="685800"/>
            <a:chOff x="0" y="0"/>
            <a:chExt cx="219456" cy="914400"/>
          </a:xfrm>
        </p:grpSpPr>
        <p:sp>
          <p:nvSpPr>
            <p:cNvPr name="Freeform 73" id="73"/>
            <p:cNvSpPr/>
            <p:nvPr/>
          </p:nvSpPr>
          <p:spPr>
            <a:xfrm flipH="false" flipV="false" rot="0">
              <a:off x="0" y="0"/>
              <a:ext cx="219456" cy="914400"/>
            </a:xfrm>
            <a:custGeom>
              <a:avLst/>
              <a:gdLst/>
              <a:ahLst/>
              <a:cxnLst/>
              <a:rect r="r" b="b" t="t" l="l"/>
              <a:pathLst>
                <a:path h="914400" w="219456">
                  <a:moveTo>
                    <a:pt x="0" y="0"/>
                  </a:moveTo>
                  <a:lnTo>
                    <a:pt x="219456" y="0"/>
                  </a:lnTo>
                  <a:lnTo>
                    <a:pt x="219456" y="914400"/>
                  </a:lnTo>
                  <a:lnTo>
                    <a:pt x="0" y="914400"/>
                  </a:lnTo>
                  <a:close/>
                </a:path>
              </a:pathLst>
            </a:custGeom>
            <a:blipFill>
              <a:blip r:embed="rId2">
                <a:alphaModFix amt="0"/>
              </a:blip>
              <a:stretch>
                <a:fillRect l="-484971" t="0" r="-484971" b="0"/>
              </a:stretch>
            </a:blipFill>
          </p:spPr>
        </p:sp>
      </p:grpSp>
      <p:grpSp>
        <p:nvGrpSpPr>
          <p:cNvPr name="Group 74" id="74"/>
          <p:cNvGrpSpPr/>
          <p:nvPr/>
        </p:nvGrpSpPr>
        <p:grpSpPr>
          <a:xfrm rot="0">
            <a:off x="15115032" y="4965859"/>
            <a:ext cx="164592" cy="692944"/>
            <a:chOff x="0" y="0"/>
            <a:chExt cx="219456" cy="923925"/>
          </a:xfrm>
        </p:grpSpPr>
        <p:sp>
          <p:nvSpPr>
            <p:cNvPr name="Freeform 75" id="75"/>
            <p:cNvSpPr/>
            <p:nvPr/>
          </p:nvSpPr>
          <p:spPr>
            <a:xfrm flipH="false" flipV="false" rot="0">
              <a:off x="0" y="0"/>
              <a:ext cx="219456" cy="923925"/>
            </a:xfrm>
            <a:custGeom>
              <a:avLst/>
              <a:gdLst/>
              <a:ahLst/>
              <a:cxnLst/>
              <a:rect r="r" b="b" t="t" l="l"/>
              <a:pathLst>
                <a:path h="923925" w="219456">
                  <a:moveTo>
                    <a:pt x="0" y="0"/>
                  </a:moveTo>
                  <a:lnTo>
                    <a:pt x="219456" y="0"/>
                  </a:lnTo>
                  <a:lnTo>
                    <a:pt x="219456" y="923925"/>
                  </a:lnTo>
                  <a:lnTo>
                    <a:pt x="0" y="923925"/>
                  </a:lnTo>
                  <a:close/>
                </a:path>
              </a:pathLst>
            </a:custGeom>
            <a:blipFill>
              <a:blip r:embed="rId3">
                <a:alphaModFix amt="0"/>
              </a:blip>
              <a:stretch>
                <a:fillRect l="-490166" t="0" r="-490166" b="0"/>
              </a:stretch>
            </a:blipFill>
          </p:spPr>
        </p:sp>
        <p:sp>
          <p:nvSpPr>
            <p:cNvPr name="TextBox 76" id="76"/>
            <p:cNvSpPr txBox="true"/>
            <p:nvPr/>
          </p:nvSpPr>
          <p:spPr>
            <a:xfrm>
              <a:off x="0" y="-9525"/>
              <a:ext cx="219456" cy="933450"/>
            </a:xfrm>
            <a:prstGeom prst="rect">
              <a:avLst/>
            </a:prstGeom>
          </p:spPr>
          <p:txBody>
            <a:bodyPr anchor="ctr" rtlCol="false" tIns="0" lIns="0" bIns="0" rIns="0"/>
            <a:lstStyle/>
            <a:p>
              <a:pPr algn="ctr">
                <a:lnSpc>
                  <a:spcPts val="2520"/>
                </a:lnSpc>
              </a:pPr>
              <a:r>
                <a:rPr lang="en-US" sz="2100">
                  <a:solidFill>
                    <a:srgbClr val="5F669F"/>
                  </a:solidFill>
                  <a:latin typeface="Arial"/>
                  <a:ea typeface="Arial"/>
                  <a:cs typeface="Arial"/>
                  <a:sym typeface="Arial"/>
                </a:rPr>
                <a:t>→</a:t>
              </a:r>
            </a:p>
          </p:txBody>
        </p:sp>
      </p:grpSp>
      <p:grpSp>
        <p:nvGrpSpPr>
          <p:cNvPr name="Group 77" id="77"/>
          <p:cNvGrpSpPr/>
          <p:nvPr/>
        </p:nvGrpSpPr>
        <p:grpSpPr>
          <a:xfrm rot="0">
            <a:off x="15279624" y="4424362"/>
            <a:ext cx="1851660" cy="1783080"/>
            <a:chOff x="0" y="0"/>
            <a:chExt cx="2468880" cy="2377440"/>
          </a:xfrm>
        </p:grpSpPr>
        <p:sp>
          <p:nvSpPr>
            <p:cNvPr name="Freeform 78" id="78"/>
            <p:cNvSpPr/>
            <p:nvPr/>
          </p:nvSpPr>
          <p:spPr>
            <a:xfrm flipH="false" flipV="false" rot="0">
              <a:off x="0" y="0"/>
              <a:ext cx="2468880" cy="2377440"/>
            </a:xfrm>
            <a:custGeom>
              <a:avLst/>
              <a:gdLst/>
              <a:ahLst/>
              <a:cxnLst/>
              <a:rect r="r" b="b" t="t" l="l"/>
              <a:pathLst>
                <a:path h="2377440" w="2468880">
                  <a:moveTo>
                    <a:pt x="0" y="146304"/>
                  </a:moveTo>
                  <a:cubicBezTo>
                    <a:pt x="0" y="65532"/>
                    <a:pt x="65532" y="0"/>
                    <a:pt x="146304" y="0"/>
                  </a:cubicBezTo>
                  <a:lnTo>
                    <a:pt x="2322576" y="0"/>
                  </a:lnTo>
                  <a:cubicBezTo>
                    <a:pt x="2403348" y="0"/>
                    <a:pt x="2468880" y="65532"/>
                    <a:pt x="2468880" y="146304"/>
                  </a:cubicBezTo>
                  <a:lnTo>
                    <a:pt x="2468880" y="2231136"/>
                  </a:lnTo>
                  <a:cubicBezTo>
                    <a:pt x="2468880" y="2311908"/>
                    <a:pt x="2403348" y="2377440"/>
                    <a:pt x="2322576" y="2377440"/>
                  </a:cubicBezTo>
                  <a:lnTo>
                    <a:pt x="146304" y="2377440"/>
                  </a:lnTo>
                  <a:cubicBezTo>
                    <a:pt x="65532" y="2377440"/>
                    <a:pt x="0" y="2311908"/>
                    <a:pt x="0" y="2231136"/>
                  </a:cubicBezTo>
                  <a:close/>
                </a:path>
              </a:pathLst>
            </a:custGeom>
            <a:solidFill>
              <a:srgbClr val="ADB4D0"/>
            </a:solidFill>
          </p:spPr>
        </p:sp>
      </p:grpSp>
      <p:grpSp>
        <p:nvGrpSpPr>
          <p:cNvPr name="Group 79" id="79"/>
          <p:cNvGrpSpPr/>
          <p:nvPr/>
        </p:nvGrpSpPr>
        <p:grpSpPr>
          <a:xfrm rot="0">
            <a:off x="15389352" y="4424362"/>
            <a:ext cx="1632204" cy="1783080"/>
            <a:chOff x="0" y="0"/>
            <a:chExt cx="2176272" cy="2377440"/>
          </a:xfrm>
        </p:grpSpPr>
        <p:sp>
          <p:nvSpPr>
            <p:cNvPr name="Freeform 80" id="80"/>
            <p:cNvSpPr/>
            <p:nvPr/>
          </p:nvSpPr>
          <p:spPr>
            <a:xfrm flipH="false" flipV="false" rot="0">
              <a:off x="0" y="0"/>
              <a:ext cx="2176272" cy="2377440"/>
            </a:xfrm>
            <a:custGeom>
              <a:avLst/>
              <a:gdLst/>
              <a:ahLst/>
              <a:cxnLst/>
              <a:rect r="r" b="b" t="t" l="l"/>
              <a:pathLst>
                <a:path h="2377440" w="2176272">
                  <a:moveTo>
                    <a:pt x="0" y="0"/>
                  </a:moveTo>
                  <a:lnTo>
                    <a:pt x="2176272" y="0"/>
                  </a:lnTo>
                  <a:lnTo>
                    <a:pt x="2176272" y="2377440"/>
                  </a:lnTo>
                  <a:lnTo>
                    <a:pt x="0" y="2377440"/>
                  </a:lnTo>
                  <a:close/>
                </a:path>
              </a:pathLst>
            </a:custGeom>
            <a:blipFill>
              <a:blip r:embed="rId2">
                <a:alphaModFix amt="0"/>
              </a:blip>
              <a:stretch>
                <a:fillRect l="-90260" t="0" r="-90261" b="0"/>
              </a:stretch>
            </a:blipFill>
          </p:spPr>
        </p:sp>
      </p:grpSp>
      <p:grpSp>
        <p:nvGrpSpPr>
          <p:cNvPr name="Group 81" id="81"/>
          <p:cNvGrpSpPr/>
          <p:nvPr/>
        </p:nvGrpSpPr>
        <p:grpSpPr>
          <a:xfrm rot="0">
            <a:off x="15389352" y="4402931"/>
            <a:ext cx="1632204" cy="1804511"/>
            <a:chOff x="0" y="0"/>
            <a:chExt cx="2176272" cy="2406015"/>
          </a:xfrm>
        </p:grpSpPr>
        <p:sp>
          <p:nvSpPr>
            <p:cNvPr name="Freeform 82" id="82"/>
            <p:cNvSpPr/>
            <p:nvPr/>
          </p:nvSpPr>
          <p:spPr>
            <a:xfrm flipH="false" flipV="false" rot="0">
              <a:off x="0" y="0"/>
              <a:ext cx="2176272" cy="2406015"/>
            </a:xfrm>
            <a:custGeom>
              <a:avLst/>
              <a:gdLst/>
              <a:ahLst/>
              <a:cxnLst/>
              <a:rect r="r" b="b" t="t" l="l"/>
              <a:pathLst>
                <a:path h="2406015" w="2176272">
                  <a:moveTo>
                    <a:pt x="0" y="0"/>
                  </a:moveTo>
                  <a:lnTo>
                    <a:pt x="2176272" y="0"/>
                  </a:lnTo>
                  <a:lnTo>
                    <a:pt x="2176272" y="2406015"/>
                  </a:lnTo>
                  <a:lnTo>
                    <a:pt x="0" y="2406015"/>
                  </a:lnTo>
                  <a:close/>
                </a:path>
              </a:pathLst>
            </a:custGeom>
            <a:blipFill>
              <a:blip r:embed="rId3">
                <a:alphaModFix amt="0"/>
              </a:blip>
              <a:stretch>
                <a:fillRect l="-91848" t="0" r="-91848" b="0"/>
              </a:stretch>
            </a:blipFill>
          </p:spPr>
        </p:sp>
        <p:sp>
          <p:nvSpPr>
            <p:cNvPr name="TextBox 83" id="83"/>
            <p:cNvSpPr txBox="true"/>
            <p:nvPr/>
          </p:nvSpPr>
          <p:spPr>
            <a:xfrm>
              <a:off x="0" y="-28575"/>
              <a:ext cx="2176272" cy="2434590"/>
            </a:xfrm>
            <a:prstGeom prst="rect">
              <a:avLst/>
            </a:prstGeom>
          </p:spPr>
          <p:txBody>
            <a:bodyPr anchor="ctr" rtlCol="false" tIns="0" lIns="0" bIns="0" rIns="0"/>
            <a:lstStyle/>
            <a:p>
              <a:pPr algn="ctr">
                <a:lnSpc>
                  <a:spcPts val="1620"/>
                </a:lnSpc>
              </a:pPr>
              <a:r>
                <a:rPr lang="en-US" sz="1350" b="true">
                  <a:solidFill>
                    <a:srgbClr val="FFFFFF"/>
                  </a:solidFill>
                  <a:latin typeface="Calibri (MS) Bold"/>
                  <a:ea typeface="Calibri (MS) Bold"/>
                  <a:cs typeface="Calibri (MS) Bold"/>
                  <a:sym typeface="Calibri (MS) Bold"/>
                </a:rPr>
                <a:t>Ranking</a:t>
              </a:r>
            </a:p>
            <a:p>
              <a:pPr algn="ctr">
                <a:lnSpc>
                  <a:spcPts val="1620"/>
                </a:lnSpc>
              </a:pPr>
              <a:r>
                <a:rPr lang="en-US" sz="1350" b="true">
                  <a:solidFill>
                    <a:srgbClr val="FFFFFF"/>
                  </a:solidFill>
                  <a:latin typeface="Calibri (MS) Bold"/>
                  <a:ea typeface="Calibri (MS) Bold"/>
                  <a:cs typeface="Calibri (MS) Bold"/>
                  <a:sym typeface="Calibri (MS) Bold"/>
                </a:rPr>
                <a:t>explicado</a:t>
              </a:r>
            </a:p>
          </p:txBody>
        </p:sp>
      </p:grpSp>
      <p:grpSp>
        <p:nvGrpSpPr>
          <p:cNvPr name="Group 84" id="84"/>
          <p:cNvGrpSpPr/>
          <p:nvPr/>
        </p:nvGrpSpPr>
        <p:grpSpPr>
          <a:xfrm rot="0">
            <a:off x="9230868" y="6416992"/>
            <a:ext cx="8092440" cy="817255"/>
            <a:chOff x="0" y="0"/>
            <a:chExt cx="10789920" cy="1089673"/>
          </a:xfrm>
        </p:grpSpPr>
        <p:sp>
          <p:nvSpPr>
            <p:cNvPr name="Freeform 85" id="85"/>
            <p:cNvSpPr/>
            <p:nvPr/>
          </p:nvSpPr>
          <p:spPr>
            <a:xfrm flipH="false" flipV="false" rot="0">
              <a:off x="0" y="0"/>
              <a:ext cx="10789920" cy="1089660"/>
            </a:xfrm>
            <a:custGeom>
              <a:avLst/>
              <a:gdLst/>
              <a:ahLst/>
              <a:cxnLst/>
              <a:rect r="r" b="b" t="t" l="l"/>
              <a:pathLst>
                <a:path h="1089660" w="10789920">
                  <a:moveTo>
                    <a:pt x="0" y="0"/>
                  </a:moveTo>
                  <a:lnTo>
                    <a:pt x="10789920" y="0"/>
                  </a:lnTo>
                  <a:lnTo>
                    <a:pt x="10789920" y="1089660"/>
                  </a:lnTo>
                  <a:lnTo>
                    <a:pt x="0" y="1089660"/>
                  </a:lnTo>
                  <a:close/>
                </a:path>
              </a:pathLst>
            </a:custGeom>
            <a:blipFill>
              <a:blip r:embed="rId2">
                <a:alphaModFix amt="0"/>
              </a:blip>
              <a:stretch>
                <a:fillRect l="0" t="-142807" r="0" b="-142810"/>
              </a:stretch>
            </a:blipFill>
          </p:spPr>
        </p:sp>
      </p:grpSp>
      <p:grpSp>
        <p:nvGrpSpPr>
          <p:cNvPr name="Group 86" id="86"/>
          <p:cNvGrpSpPr/>
          <p:nvPr/>
        </p:nvGrpSpPr>
        <p:grpSpPr>
          <a:xfrm rot="0">
            <a:off x="9230868" y="6359842"/>
            <a:ext cx="8092440" cy="874405"/>
            <a:chOff x="0" y="0"/>
            <a:chExt cx="10789920" cy="1165873"/>
          </a:xfrm>
        </p:grpSpPr>
        <p:sp>
          <p:nvSpPr>
            <p:cNvPr name="Freeform 87" id="87"/>
            <p:cNvSpPr/>
            <p:nvPr/>
          </p:nvSpPr>
          <p:spPr>
            <a:xfrm flipH="false" flipV="false" rot="0">
              <a:off x="0" y="0"/>
              <a:ext cx="10789920" cy="1165872"/>
            </a:xfrm>
            <a:custGeom>
              <a:avLst/>
              <a:gdLst/>
              <a:ahLst/>
              <a:cxnLst/>
              <a:rect r="r" b="b" t="t" l="l"/>
              <a:pathLst>
                <a:path h="1165872" w="10789920">
                  <a:moveTo>
                    <a:pt x="0" y="0"/>
                  </a:moveTo>
                  <a:lnTo>
                    <a:pt x="10789920" y="0"/>
                  </a:lnTo>
                  <a:lnTo>
                    <a:pt x="10789920" y="1165872"/>
                  </a:lnTo>
                  <a:lnTo>
                    <a:pt x="0" y="1165872"/>
                  </a:lnTo>
                  <a:close/>
                </a:path>
              </a:pathLst>
            </a:custGeom>
            <a:blipFill>
              <a:blip r:embed="rId3">
                <a:alphaModFix amt="0"/>
              </a:blip>
              <a:stretch>
                <a:fillRect l="0" t="-130330" r="0" b="-130330"/>
              </a:stretch>
            </a:blipFill>
          </p:spPr>
        </p:sp>
        <p:sp>
          <p:nvSpPr>
            <p:cNvPr name="TextBox 88" id="88"/>
            <p:cNvSpPr txBox="true"/>
            <p:nvPr/>
          </p:nvSpPr>
          <p:spPr>
            <a:xfrm>
              <a:off x="0" y="-76200"/>
              <a:ext cx="10789920" cy="1242073"/>
            </a:xfrm>
            <a:prstGeom prst="rect">
              <a:avLst/>
            </a:prstGeom>
          </p:spPr>
          <p:txBody>
            <a:bodyPr anchor="ctr" rtlCol="false" tIns="0" lIns="0" bIns="0" rIns="0"/>
            <a:lstStyle/>
            <a:p>
              <a:pPr algn="l">
                <a:lnSpc>
                  <a:spcPts val="2475"/>
                </a:lnSpc>
              </a:pPr>
              <a:r>
                <a:rPr lang="en-US" sz="1650">
                  <a:solidFill>
                    <a:srgbClr val="5F669F"/>
                  </a:solidFill>
                  <a:latin typeface="Calibri (MS)"/>
                  <a:ea typeface="Calibri (MS)"/>
                  <a:cs typeface="Calibri (MS)"/>
                  <a:sym typeface="Calibri (MS)"/>
                </a:rPr>
                <a:t>El diagrama muestra cómo los tres scores individuales, ponderados por el perfil del usuario, convergen en un ranking único y explicado por persona.</a:t>
              </a:r>
            </a:p>
          </p:txBody>
        </p:sp>
      </p:grpSp>
      <p:grpSp>
        <p:nvGrpSpPr>
          <p:cNvPr name="Group 89" id="89"/>
          <p:cNvGrpSpPr/>
          <p:nvPr/>
        </p:nvGrpSpPr>
        <p:grpSpPr>
          <a:xfrm rot="0">
            <a:off x="685800" y="9738360"/>
            <a:ext cx="8229600" cy="411480"/>
            <a:chOff x="0" y="0"/>
            <a:chExt cx="10972800" cy="548640"/>
          </a:xfrm>
        </p:grpSpPr>
        <p:sp>
          <p:nvSpPr>
            <p:cNvPr name="Freeform 90" id="90"/>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91" id="91"/>
          <p:cNvGrpSpPr/>
          <p:nvPr/>
        </p:nvGrpSpPr>
        <p:grpSpPr>
          <a:xfrm rot="0">
            <a:off x="685800" y="9709785"/>
            <a:ext cx="8229600" cy="440055"/>
            <a:chOff x="0" y="0"/>
            <a:chExt cx="10972800" cy="586740"/>
          </a:xfrm>
        </p:grpSpPr>
        <p:sp>
          <p:nvSpPr>
            <p:cNvPr name="Freeform 92" id="92"/>
            <p:cNvSpPr/>
            <p:nvPr/>
          </p:nvSpPr>
          <p:spPr>
            <a:xfrm flipH="false" flipV="false" rot="0">
              <a:off x="0" y="0"/>
              <a:ext cx="10972800" cy="586740"/>
            </a:xfrm>
            <a:custGeom>
              <a:avLst/>
              <a:gdLst/>
              <a:ahLst/>
              <a:cxnLst/>
              <a:rect r="r" b="b" t="t" l="l"/>
              <a:pathLst>
                <a:path h="586740" w="10972800">
                  <a:moveTo>
                    <a:pt x="0" y="0"/>
                  </a:moveTo>
                  <a:lnTo>
                    <a:pt x="10972800" y="0"/>
                  </a:lnTo>
                  <a:lnTo>
                    <a:pt x="10972800" y="586740"/>
                  </a:lnTo>
                  <a:lnTo>
                    <a:pt x="0" y="586740"/>
                  </a:lnTo>
                  <a:close/>
                </a:path>
              </a:pathLst>
            </a:custGeom>
            <a:blipFill>
              <a:blip r:embed="rId3">
                <a:alphaModFix amt="0"/>
              </a:blip>
              <a:stretch>
                <a:fillRect l="0" t="-314395" r="0" b="-314395"/>
              </a:stretch>
            </a:blipFill>
          </p:spPr>
        </p:sp>
        <p:sp>
          <p:nvSpPr>
            <p:cNvPr name="TextBox 93" id="93"/>
            <p:cNvSpPr txBox="true"/>
            <p:nvPr/>
          </p:nvSpPr>
          <p:spPr>
            <a:xfrm>
              <a:off x="0" y="-38100"/>
              <a:ext cx="10972800" cy="624840"/>
            </a:xfrm>
            <a:prstGeom prst="rect">
              <a:avLst/>
            </a:prstGeom>
          </p:spPr>
          <p:txBody>
            <a:bodyPr anchor="ctr" rtlCol="false" tIns="0" lIns="0" bIns="0" rIns="0"/>
            <a:lstStyle/>
            <a:p>
              <a:pPr algn="l">
                <a:lnSpc>
                  <a:spcPts val="1800"/>
                </a:lnSpc>
              </a:pPr>
              <a:r>
                <a:rPr lang="en-US" sz="1500">
                  <a:solidFill>
                    <a:srgbClr val="5F669F"/>
                  </a:solidFill>
                  <a:latin typeface="Calibri (MS)"/>
                  <a:ea typeface="Calibri (MS)"/>
                  <a:cs typeface="Calibri (MS)"/>
                  <a:sym typeface="Calibri (MS)"/>
                </a:rPr>
                <a:t>InmoScore · Requirements Artifacts</a:t>
              </a: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AFCFD"/>
        </a:solidFill>
      </p:bgPr>
    </p:bg>
    <p:spTree>
      <p:nvGrpSpPr>
        <p:cNvPr id="1" name=""/>
        <p:cNvGrpSpPr/>
        <p:nvPr/>
      </p:nvGrpSpPr>
      <p:grpSpPr>
        <a:xfrm>
          <a:off x="0" y="0"/>
          <a:ext cx="0" cy="0"/>
          <a:chOff x="0" y="0"/>
          <a:chExt cx="0" cy="0"/>
        </a:xfrm>
      </p:grpSpPr>
      <p:grpSp>
        <p:nvGrpSpPr>
          <p:cNvPr name="Group 2" id="2"/>
          <p:cNvGrpSpPr/>
          <p:nvPr/>
        </p:nvGrpSpPr>
        <p:grpSpPr>
          <a:xfrm rot="0">
            <a:off x="17048988" y="9738360"/>
            <a:ext cx="548640" cy="411480"/>
            <a:chOff x="0" y="0"/>
            <a:chExt cx="731520" cy="548640"/>
          </a:xfrm>
        </p:grpSpPr>
        <p:sp>
          <p:nvSpPr>
            <p:cNvPr name="Freeform 3" id="3"/>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4" id="4"/>
          <p:cNvGrpSpPr/>
          <p:nvPr/>
        </p:nvGrpSpPr>
        <p:grpSpPr>
          <a:xfrm rot="0">
            <a:off x="17048988" y="9709785"/>
            <a:ext cx="548640" cy="440055"/>
            <a:chOff x="0" y="0"/>
            <a:chExt cx="731520" cy="586740"/>
          </a:xfrm>
        </p:grpSpPr>
        <p:sp>
          <p:nvSpPr>
            <p:cNvPr name="Freeform 5" id="5"/>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6" id="6"/>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5F669F"/>
                  </a:solidFill>
                  <a:latin typeface="Calibri (MS)"/>
                  <a:ea typeface="Calibri (MS)"/>
                  <a:cs typeface="Calibri (MS)"/>
                  <a:sym typeface="Calibri (MS)"/>
                </a:rPr>
                <a:t>12</a:t>
              </a:r>
            </a:p>
          </p:txBody>
        </p:sp>
      </p:grpSp>
      <p:grpSp>
        <p:nvGrpSpPr>
          <p:cNvPr name="Group 7" id="7"/>
          <p:cNvGrpSpPr/>
          <p:nvPr/>
        </p:nvGrpSpPr>
        <p:grpSpPr>
          <a:xfrm rot="0">
            <a:off x="822960" y="438912"/>
            <a:ext cx="13716000" cy="480060"/>
            <a:chOff x="0" y="0"/>
            <a:chExt cx="18288000" cy="640080"/>
          </a:xfrm>
        </p:grpSpPr>
        <p:sp>
          <p:nvSpPr>
            <p:cNvPr name="Freeform 8" id="8"/>
            <p:cNvSpPr/>
            <p:nvPr/>
          </p:nvSpPr>
          <p:spPr>
            <a:xfrm flipH="false" flipV="false" rot="0">
              <a:off x="0" y="0"/>
              <a:ext cx="18288000" cy="640080"/>
            </a:xfrm>
            <a:custGeom>
              <a:avLst/>
              <a:gdLst/>
              <a:ahLst/>
              <a:cxnLst/>
              <a:rect r="r" b="b" t="t" l="l"/>
              <a:pathLst>
                <a:path h="640080" w="18288000">
                  <a:moveTo>
                    <a:pt x="0" y="0"/>
                  </a:moveTo>
                  <a:lnTo>
                    <a:pt x="18288000" y="0"/>
                  </a:lnTo>
                  <a:lnTo>
                    <a:pt x="18288000" y="640080"/>
                  </a:lnTo>
                  <a:lnTo>
                    <a:pt x="0" y="640080"/>
                  </a:lnTo>
                  <a:close/>
                </a:path>
              </a:pathLst>
            </a:custGeom>
            <a:blipFill>
              <a:blip r:embed="rId2">
                <a:alphaModFix amt="0"/>
              </a:blip>
              <a:stretch>
                <a:fillRect l="0" t="-506327" r="0" b="-506329"/>
              </a:stretch>
            </a:blipFill>
          </p:spPr>
        </p:sp>
      </p:grpSp>
      <p:grpSp>
        <p:nvGrpSpPr>
          <p:cNvPr name="Group 9" id="9"/>
          <p:cNvGrpSpPr/>
          <p:nvPr/>
        </p:nvGrpSpPr>
        <p:grpSpPr>
          <a:xfrm rot="0">
            <a:off x="822960" y="410337"/>
            <a:ext cx="13716000" cy="508635"/>
            <a:chOff x="0" y="0"/>
            <a:chExt cx="18288000" cy="678180"/>
          </a:xfrm>
        </p:grpSpPr>
        <p:sp>
          <p:nvSpPr>
            <p:cNvPr name="Freeform 10" id="10"/>
            <p:cNvSpPr/>
            <p:nvPr/>
          </p:nvSpPr>
          <p:spPr>
            <a:xfrm flipH="false" flipV="false" rot="0">
              <a:off x="0" y="0"/>
              <a:ext cx="18288000" cy="678180"/>
            </a:xfrm>
            <a:custGeom>
              <a:avLst/>
              <a:gdLst/>
              <a:ahLst/>
              <a:cxnLst/>
              <a:rect r="r" b="b" t="t" l="l"/>
              <a:pathLst>
                <a:path h="678180" w="18288000">
                  <a:moveTo>
                    <a:pt x="0" y="0"/>
                  </a:moveTo>
                  <a:lnTo>
                    <a:pt x="18288000" y="0"/>
                  </a:lnTo>
                  <a:lnTo>
                    <a:pt x="18288000" y="678180"/>
                  </a:lnTo>
                  <a:lnTo>
                    <a:pt x="0" y="678180"/>
                  </a:lnTo>
                  <a:close/>
                </a:path>
              </a:pathLst>
            </a:custGeom>
            <a:blipFill>
              <a:blip r:embed="rId3">
                <a:alphaModFix amt="0"/>
              </a:blip>
              <a:stretch>
                <a:fillRect l="0" t="-475439" r="0" b="-475439"/>
              </a:stretch>
            </a:blipFill>
          </p:spPr>
        </p:sp>
        <p:sp>
          <p:nvSpPr>
            <p:cNvPr name="TextBox 11" id="11"/>
            <p:cNvSpPr txBox="true"/>
            <p:nvPr/>
          </p:nvSpPr>
          <p:spPr>
            <a:xfrm>
              <a:off x="0" y="-38100"/>
              <a:ext cx="18288000" cy="716280"/>
            </a:xfrm>
            <a:prstGeom prst="rect">
              <a:avLst/>
            </a:prstGeom>
          </p:spPr>
          <p:txBody>
            <a:bodyPr anchor="ctr" rtlCol="false" tIns="0" lIns="0" bIns="0" rIns="0"/>
            <a:lstStyle/>
            <a:p>
              <a:pPr algn="l">
                <a:lnSpc>
                  <a:spcPts val="2160"/>
                </a:lnSpc>
              </a:pPr>
              <a:r>
                <a:rPr lang="en-US" b="true" sz="1800" spc="225">
                  <a:solidFill>
                    <a:srgbClr val="5F669F"/>
                  </a:solidFill>
                  <a:latin typeface="Calibri (MS) Bold"/>
                  <a:ea typeface="Calibri (MS) Bold"/>
                  <a:cs typeface="Calibri (MS) Bold"/>
                  <a:sym typeface="Calibri (MS) Bold"/>
                </a:rPr>
                <a:t>USER STORIES · CUBRE REQ-02</a:t>
              </a:r>
            </a:p>
          </p:txBody>
        </p:sp>
      </p:grpSp>
      <p:grpSp>
        <p:nvGrpSpPr>
          <p:cNvPr name="Group 12" id="12"/>
          <p:cNvGrpSpPr/>
          <p:nvPr/>
        </p:nvGrpSpPr>
        <p:grpSpPr>
          <a:xfrm rot="0">
            <a:off x="822960" y="850392"/>
            <a:ext cx="16459200" cy="822960"/>
            <a:chOff x="0" y="0"/>
            <a:chExt cx="21945600" cy="1097280"/>
          </a:xfrm>
        </p:grpSpPr>
        <p:sp>
          <p:nvSpPr>
            <p:cNvPr name="Freeform 13" id="13"/>
            <p:cNvSpPr/>
            <p:nvPr/>
          </p:nvSpPr>
          <p:spPr>
            <a:xfrm flipH="false" flipV="false" rot="0">
              <a:off x="0" y="0"/>
              <a:ext cx="21945600" cy="1097280"/>
            </a:xfrm>
            <a:custGeom>
              <a:avLst/>
              <a:gdLst/>
              <a:ahLst/>
              <a:cxnLst/>
              <a:rect r="r" b="b" t="t" l="l"/>
              <a:pathLst>
                <a:path h="1097280" w="21945600">
                  <a:moveTo>
                    <a:pt x="0" y="0"/>
                  </a:moveTo>
                  <a:lnTo>
                    <a:pt x="21945600" y="0"/>
                  </a:lnTo>
                  <a:lnTo>
                    <a:pt x="21945600" y="1097280"/>
                  </a:lnTo>
                  <a:lnTo>
                    <a:pt x="0" y="1097280"/>
                  </a:lnTo>
                  <a:close/>
                </a:path>
              </a:pathLst>
            </a:custGeom>
            <a:blipFill>
              <a:blip r:embed="rId2">
                <a:alphaModFix amt="0"/>
              </a:blip>
              <a:stretch>
                <a:fillRect l="0" t="-339429" r="0" b="-339430"/>
              </a:stretch>
            </a:blipFill>
          </p:spPr>
        </p:sp>
      </p:grpSp>
      <p:grpSp>
        <p:nvGrpSpPr>
          <p:cNvPr name="Group 14" id="14"/>
          <p:cNvGrpSpPr/>
          <p:nvPr/>
        </p:nvGrpSpPr>
        <p:grpSpPr>
          <a:xfrm rot="0">
            <a:off x="822960" y="850392"/>
            <a:ext cx="16459200" cy="822960"/>
            <a:chOff x="0" y="0"/>
            <a:chExt cx="21945600" cy="1097280"/>
          </a:xfrm>
        </p:grpSpPr>
        <p:sp>
          <p:nvSpPr>
            <p:cNvPr name="Freeform 15" id="15"/>
            <p:cNvSpPr/>
            <p:nvPr/>
          </p:nvSpPr>
          <p:spPr>
            <a:xfrm flipH="false" flipV="false" rot="0">
              <a:off x="0" y="0"/>
              <a:ext cx="21945600" cy="1097280"/>
            </a:xfrm>
            <a:custGeom>
              <a:avLst/>
              <a:gdLst/>
              <a:ahLst/>
              <a:cxnLst/>
              <a:rect r="r" b="b" t="t" l="l"/>
              <a:pathLst>
                <a:path h="1097280" w="21945600">
                  <a:moveTo>
                    <a:pt x="0" y="0"/>
                  </a:moveTo>
                  <a:lnTo>
                    <a:pt x="21945600" y="0"/>
                  </a:lnTo>
                  <a:lnTo>
                    <a:pt x="21945600" y="1097280"/>
                  </a:lnTo>
                  <a:lnTo>
                    <a:pt x="0" y="1097280"/>
                  </a:lnTo>
                  <a:close/>
                </a:path>
              </a:pathLst>
            </a:custGeom>
            <a:blipFill>
              <a:blip r:embed="rId3">
                <a:alphaModFix amt="0"/>
              </a:blip>
              <a:stretch>
                <a:fillRect l="0" t="-339700" r="0" b="-339700"/>
              </a:stretch>
            </a:blipFill>
          </p:spPr>
        </p:sp>
        <p:sp>
          <p:nvSpPr>
            <p:cNvPr name="TextBox 16" id="16"/>
            <p:cNvSpPr txBox="true"/>
            <p:nvPr/>
          </p:nvSpPr>
          <p:spPr>
            <a:xfrm>
              <a:off x="0" y="0"/>
              <a:ext cx="21945600" cy="1097280"/>
            </a:xfrm>
            <a:prstGeom prst="rect">
              <a:avLst/>
            </a:prstGeom>
          </p:spPr>
          <p:txBody>
            <a:bodyPr anchor="ctr" rtlCol="false" tIns="0" lIns="0" bIns="0" rIns="0"/>
            <a:lstStyle/>
            <a:p>
              <a:pPr algn="l">
                <a:lnSpc>
                  <a:spcPts val="4680"/>
                </a:lnSpc>
              </a:pPr>
              <a:r>
                <a:rPr lang="en-US" sz="3900" b="true">
                  <a:solidFill>
                    <a:srgbClr val="2F3E96"/>
                  </a:solidFill>
                  <a:latin typeface="Cambria Bold"/>
                  <a:ea typeface="Cambria Bold"/>
                  <a:cs typeface="Cambria Bold"/>
                  <a:sym typeface="Cambria Bold"/>
                </a:rPr>
                <a:t>US-02 · Explicabilidad de la recomendación</a:t>
              </a:r>
            </a:p>
          </p:txBody>
        </p:sp>
      </p:grpSp>
      <p:grpSp>
        <p:nvGrpSpPr>
          <p:cNvPr name="Group 17" id="17"/>
          <p:cNvGrpSpPr/>
          <p:nvPr/>
        </p:nvGrpSpPr>
        <p:grpSpPr>
          <a:xfrm rot="0">
            <a:off x="822960" y="2057400"/>
            <a:ext cx="8092440" cy="2948940"/>
            <a:chOff x="0" y="0"/>
            <a:chExt cx="10789920" cy="3931920"/>
          </a:xfrm>
        </p:grpSpPr>
        <p:sp>
          <p:nvSpPr>
            <p:cNvPr name="Freeform 18" id="18"/>
            <p:cNvSpPr/>
            <p:nvPr/>
          </p:nvSpPr>
          <p:spPr>
            <a:xfrm flipH="false" flipV="false" rot="0">
              <a:off x="0" y="0"/>
              <a:ext cx="10789920" cy="3931920"/>
            </a:xfrm>
            <a:custGeom>
              <a:avLst/>
              <a:gdLst/>
              <a:ahLst/>
              <a:cxnLst/>
              <a:rect r="r" b="b" t="t" l="l"/>
              <a:pathLst>
                <a:path h="3931920" w="10789920">
                  <a:moveTo>
                    <a:pt x="0" y="146304"/>
                  </a:moveTo>
                  <a:cubicBezTo>
                    <a:pt x="0" y="65532"/>
                    <a:pt x="65532" y="0"/>
                    <a:pt x="146304" y="0"/>
                  </a:cubicBezTo>
                  <a:lnTo>
                    <a:pt x="10643616" y="0"/>
                  </a:lnTo>
                  <a:cubicBezTo>
                    <a:pt x="10724388" y="0"/>
                    <a:pt x="10789920" y="65532"/>
                    <a:pt x="10789920" y="146304"/>
                  </a:cubicBezTo>
                  <a:lnTo>
                    <a:pt x="10789920" y="3785616"/>
                  </a:lnTo>
                  <a:cubicBezTo>
                    <a:pt x="10789920" y="3866388"/>
                    <a:pt x="10724388" y="3931920"/>
                    <a:pt x="10643616" y="3931920"/>
                  </a:cubicBezTo>
                  <a:lnTo>
                    <a:pt x="146304" y="3931920"/>
                  </a:lnTo>
                  <a:cubicBezTo>
                    <a:pt x="65532" y="3931920"/>
                    <a:pt x="0" y="3866388"/>
                    <a:pt x="0" y="3785616"/>
                  </a:cubicBezTo>
                  <a:close/>
                </a:path>
              </a:pathLst>
            </a:custGeom>
            <a:solidFill>
              <a:srgbClr val="5F669F"/>
            </a:solidFill>
          </p:spPr>
        </p:sp>
      </p:grpSp>
      <p:grpSp>
        <p:nvGrpSpPr>
          <p:cNvPr name="Group 19" id="19"/>
          <p:cNvGrpSpPr/>
          <p:nvPr/>
        </p:nvGrpSpPr>
        <p:grpSpPr>
          <a:xfrm rot="0">
            <a:off x="1165860" y="2263140"/>
            <a:ext cx="7680960" cy="2606040"/>
            <a:chOff x="0" y="0"/>
            <a:chExt cx="10241280" cy="3474720"/>
          </a:xfrm>
        </p:grpSpPr>
        <p:sp>
          <p:nvSpPr>
            <p:cNvPr name="Freeform 20" id="20"/>
            <p:cNvSpPr/>
            <p:nvPr/>
          </p:nvSpPr>
          <p:spPr>
            <a:xfrm flipH="false" flipV="false" rot="0">
              <a:off x="0" y="0"/>
              <a:ext cx="10241280" cy="3474720"/>
            </a:xfrm>
            <a:custGeom>
              <a:avLst/>
              <a:gdLst/>
              <a:ahLst/>
              <a:cxnLst/>
              <a:rect r="r" b="b" t="t" l="l"/>
              <a:pathLst>
                <a:path h="3474720" w="10241280">
                  <a:moveTo>
                    <a:pt x="0" y="0"/>
                  </a:moveTo>
                  <a:lnTo>
                    <a:pt x="10241280" y="0"/>
                  </a:lnTo>
                  <a:lnTo>
                    <a:pt x="10241280" y="3474720"/>
                  </a:lnTo>
                  <a:lnTo>
                    <a:pt x="0" y="3474720"/>
                  </a:lnTo>
                  <a:close/>
                </a:path>
              </a:pathLst>
            </a:custGeom>
            <a:blipFill>
              <a:blip r:embed="rId2">
                <a:alphaModFix amt="0"/>
              </a:blip>
              <a:stretch>
                <a:fillRect l="0" t="-7389" r="0" b="-7389"/>
              </a:stretch>
            </a:blipFill>
          </p:spPr>
        </p:sp>
      </p:grpSp>
      <p:grpSp>
        <p:nvGrpSpPr>
          <p:cNvPr name="Group 21" id="21"/>
          <p:cNvGrpSpPr/>
          <p:nvPr/>
        </p:nvGrpSpPr>
        <p:grpSpPr>
          <a:xfrm rot="0">
            <a:off x="1165860" y="2184559"/>
            <a:ext cx="7680960" cy="2684621"/>
            <a:chOff x="0" y="0"/>
            <a:chExt cx="10241280" cy="3579495"/>
          </a:xfrm>
        </p:grpSpPr>
        <p:sp>
          <p:nvSpPr>
            <p:cNvPr name="Freeform 22" id="22"/>
            <p:cNvSpPr/>
            <p:nvPr/>
          </p:nvSpPr>
          <p:spPr>
            <a:xfrm flipH="false" flipV="false" rot="0">
              <a:off x="0" y="0"/>
              <a:ext cx="10241280" cy="3579495"/>
            </a:xfrm>
            <a:custGeom>
              <a:avLst/>
              <a:gdLst/>
              <a:ahLst/>
              <a:cxnLst/>
              <a:rect r="r" b="b" t="t" l="l"/>
              <a:pathLst>
                <a:path h="3579495" w="10241280">
                  <a:moveTo>
                    <a:pt x="0" y="0"/>
                  </a:moveTo>
                  <a:lnTo>
                    <a:pt x="10241280" y="0"/>
                  </a:lnTo>
                  <a:lnTo>
                    <a:pt x="10241280" y="3579495"/>
                  </a:lnTo>
                  <a:lnTo>
                    <a:pt x="0" y="3579495"/>
                  </a:lnTo>
                  <a:close/>
                </a:path>
              </a:pathLst>
            </a:custGeom>
            <a:blipFill>
              <a:blip r:embed="rId3">
                <a:alphaModFix amt="0"/>
              </a:blip>
              <a:stretch>
                <a:fillRect l="0" t="-5748" r="0" b="-5748"/>
              </a:stretch>
            </a:blipFill>
          </p:spPr>
        </p:sp>
        <p:sp>
          <p:nvSpPr>
            <p:cNvPr name="TextBox 23" id="23"/>
            <p:cNvSpPr txBox="true"/>
            <p:nvPr/>
          </p:nvSpPr>
          <p:spPr>
            <a:xfrm>
              <a:off x="0" y="-104775"/>
              <a:ext cx="10241280" cy="3684270"/>
            </a:xfrm>
            <a:prstGeom prst="rect">
              <a:avLst/>
            </a:prstGeom>
          </p:spPr>
          <p:txBody>
            <a:bodyPr anchor="ctr" rtlCol="false" tIns="0" lIns="0" bIns="0" rIns="0"/>
            <a:lstStyle/>
            <a:p>
              <a:pPr algn="l">
                <a:lnSpc>
                  <a:spcPts val="3299"/>
                </a:lnSpc>
              </a:pPr>
              <a:r>
                <a:rPr lang="en-US" b="true" sz="2199" i="true">
                  <a:solidFill>
                    <a:srgbClr val="FAFCFD"/>
                  </a:solidFill>
                  <a:latin typeface="Calibri (MS) Bold Italics"/>
                  <a:ea typeface="Calibri (MS) Bold Italics"/>
                  <a:cs typeface="Calibri (MS) Bold Italics"/>
                  <a:sym typeface="Calibri (MS) Bold Italics"/>
                </a:rPr>
                <a:t>Como</a:t>
              </a:r>
              <a:r>
                <a:rPr lang="en-US" sz="2199" i="true">
                  <a:solidFill>
                    <a:srgbClr val="FAFCFD"/>
                  </a:solidFill>
                  <a:latin typeface="Calibri (MS) Italics"/>
                  <a:ea typeface="Calibri (MS) Italics"/>
                  <a:cs typeface="Calibri (MS) Italics"/>
                  <a:sym typeface="Calibri (MS) Italics"/>
                </a:rPr>
                <a:t> comprador de vivienda propia, </a:t>
              </a:r>
              <a:r>
                <a:rPr lang="en-US" b="true" sz="2199" i="true">
                  <a:solidFill>
                    <a:srgbClr val="FAFCFD"/>
                  </a:solidFill>
                  <a:latin typeface="Calibri (MS) Bold Italics"/>
                  <a:ea typeface="Calibri (MS) Bold Italics"/>
                  <a:cs typeface="Calibri (MS) Bold Italics"/>
                  <a:sym typeface="Calibri (MS) Bold Italics"/>
                </a:rPr>
                <a:t>quiero</a:t>
              </a:r>
              <a:r>
                <a:rPr lang="en-US" sz="2199" i="true">
                  <a:solidFill>
                    <a:srgbClr val="FAFCFD"/>
                  </a:solidFill>
                  <a:latin typeface="Calibri (MS) Italics"/>
                  <a:ea typeface="Calibri (MS) Italics"/>
                  <a:cs typeface="Calibri (MS) Italics"/>
                  <a:sym typeface="Calibri (MS) Italics"/>
                </a:rPr>
                <a:t> ver una explicación en lenguaje natural junto a cada propiedad recomendada, incluso cuando falte algún dato, </a:t>
              </a:r>
              <a:r>
                <a:rPr lang="en-US" b="true" sz="2199" i="true">
                  <a:solidFill>
                    <a:srgbClr val="FAFCFD"/>
                  </a:solidFill>
                  <a:latin typeface="Calibri (MS) Bold Italics"/>
                  <a:ea typeface="Calibri (MS) Bold Italics"/>
                  <a:cs typeface="Calibri (MS) Bold Italics"/>
                  <a:sym typeface="Calibri (MS) Bold Italics"/>
                </a:rPr>
                <a:t>para</a:t>
              </a:r>
              <a:r>
                <a:rPr lang="en-US" sz="2199" i="true">
                  <a:solidFill>
                    <a:srgbClr val="FAFCFD"/>
                  </a:solidFill>
                  <a:latin typeface="Calibri (MS) Italics"/>
                  <a:ea typeface="Calibri (MS) Italics"/>
                  <a:cs typeface="Calibri (MS) Italics"/>
                  <a:sym typeface="Calibri (MS) Italics"/>
                </a:rPr>
                <a:t> poder confiar en el ranking sin sentir que es una caja negra.</a:t>
              </a:r>
            </a:p>
          </p:txBody>
        </p:sp>
      </p:grpSp>
      <p:grpSp>
        <p:nvGrpSpPr>
          <p:cNvPr name="Group 24" id="24"/>
          <p:cNvGrpSpPr/>
          <p:nvPr/>
        </p:nvGrpSpPr>
        <p:grpSpPr>
          <a:xfrm rot="0">
            <a:off x="822960" y="5280660"/>
            <a:ext cx="8092440" cy="4114800"/>
            <a:chOff x="0" y="0"/>
            <a:chExt cx="10789920" cy="5486400"/>
          </a:xfrm>
        </p:grpSpPr>
        <p:sp>
          <p:nvSpPr>
            <p:cNvPr name="Freeform 25" id="25"/>
            <p:cNvSpPr/>
            <p:nvPr/>
          </p:nvSpPr>
          <p:spPr>
            <a:xfrm flipH="false" flipV="false" rot="0">
              <a:off x="0" y="0"/>
              <a:ext cx="10789920" cy="5486400"/>
            </a:xfrm>
            <a:custGeom>
              <a:avLst/>
              <a:gdLst/>
              <a:ahLst/>
              <a:cxnLst/>
              <a:rect r="r" b="b" t="t" l="l"/>
              <a:pathLst>
                <a:path h="5486400" w="10789920">
                  <a:moveTo>
                    <a:pt x="0" y="146304"/>
                  </a:moveTo>
                  <a:cubicBezTo>
                    <a:pt x="0" y="65532"/>
                    <a:pt x="65532" y="0"/>
                    <a:pt x="146304" y="0"/>
                  </a:cubicBezTo>
                  <a:lnTo>
                    <a:pt x="10643616" y="0"/>
                  </a:lnTo>
                  <a:cubicBezTo>
                    <a:pt x="10724388" y="0"/>
                    <a:pt x="10789920" y="65532"/>
                    <a:pt x="10789920" y="146304"/>
                  </a:cubicBezTo>
                  <a:lnTo>
                    <a:pt x="10789920" y="5340096"/>
                  </a:lnTo>
                  <a:cubicBezTo>
                    <a:pt x="10789920" y="5420868"/>
                    <a:pt x="10724388" y="5486400"/>
                    <a:pt x="10643616" y="5486400"/>
                  </a:cubicBezTo>
                  <a:lnTo>
                    <a:pt x="146304" y="5486400"/>
                  </a:lnTo>
                  <a:cubicBezTo>
                    <a:pt x="65532" y="5486400"/>
                    <a:pt x="0" y="5420868"/>
                    <a:pt x="0" y="5340096"/>
                  </a:cubicBezTo>
                  <a:close/>
                </a:path>
              </a:pathLst>
            </a:custGeom>
            <a:solidFill>
              <a:srgbClr val="293E9C"/>
            </a:solidFill>
          </p:spPr>
        </p:sp>
      </p:grpSp>
      <p:grpSp>
        <p:nvGrpSpPr>
          <p:cNvPr name="Group 26" id="26"/>
          <p:cNvGrpSpPr/>
          <p:nvPr/>
        </p:nvGrpSpPr>
        <p:grpSpPr>
          <a:xfrm rot="0">
            <a:off x="1165860" y="5486400"/>
            <a:ext cx="7406640" cy="480060"/>
            <a:chOff x="0" y="0"/>
            <a:chExt cx="9875520" cy="640080"/>
          </a:xfrm>
        </p:grpSpPr>
        <p:sp>
          <p:nvSpPr>
            <p:cNvPr name="Freeform 27" id="27"/>
            <p:cNvSpPr/>
            <p:nvPr/>
          </p:nvSpPr>
          <p:spPr>
            <a:xfrm flipH="false" flipV="false" rot="0">
              <a:off x="0" y="0"/>
              <a:ext cx="9875520" cy="640080"/>
            </a:xfrm>
            <a:custGeom>
              <a:avLst/>
              <a:gdLst/>
              <a:ahLst/>
              <a:cxnLst/>
              <a:rect r="r" b="b" t="t" l="l"/>
              <a:pathLst>
                <a:path h="640080" w="9875520">
                  <a:moveTo>
                    <a:pt x="0" y="0"/>
                  </a:moveTo>
                  <a:lnTo>
                    <a:pt x="9875520" y="0"/>
                  </a:lnTo>
                  <a:lnTo>
                    <a:pt x="9875520" y="640080"/>
                  </a:lnTo>
                  <a:lnTo>
                    <a:pt x="0" y="640080"/>
                  </a:lnTo>
                  <a:close/>
                </a:path>
              </a:pathLst>
            </a:custGeom>
            <a:blipFill>
              <a:blip r:embed="rId2">
                <a:alphaModFix amt="0"/>
              </a:blip>
              <a:stretch>
                <a:fillRect l="0" t="-250416" r="0" b="-250418"/>
              </a:stretch>
            </a:blipFill>
          </p:spPr>
        </p:sp>
      </p:grpSp>
      <p:grpSp>
        <p:nvGrpSpPr>
          <p:cNvPr name="Group 28" id="28"/>
          <p:cNvGrpSpPr/>
          <p:nvPr/>
        </p:nvGrpSpPr>
        <p:grpSpPr>
          <a:xfrm rot="0">
            <a:off x="1165860" y="5450681"/>
            <a:ext cx="7406640" cy="515779"/>
            <a:chOff x="0" y="0"/>
            <a:chExt cx="9875520" cy="687705"/>
          </a:xfrm>
        </p:grpSpPr>
        <p:sp>
          <p:nvSpPr>
            <p:cNvPr name="Freeform 29" id="29"/>
            <p:cNvSpPr/>
            <p:nvPr/>
          </p:nvSpPr>
          <p:spPr>
            <a:xfrm flipH="false" flipV="false" rot="0">
              <a:off x="0" y="0"/>
              <a:ext cx="9875520" cy="687705"/>
            </a:xfrm>
            <a:custGeom>
              <a:avLst/>
              <a:gdLst/>
              <a:ahLst/>
              <a:cxnLst/>
              <a:rect r="r" b="b" t="t" l="l"/>
              <a:pathLst>
                <a:path h="687705" w="9875520">
                  <a:moveTo>
                    <a:pt x="0" y="0"/>
                  </a:moveTo>
                  <a:lnTo>
                    <a:pt x="9875520" y="0"/>
                  </a:lnTo>
                  <a:lnTo>
                    <a:pt x="9875520" y="687705"/>
                  </a:lnTo>
                  <a:lnTo>
                    <a:pt x="0" y="687705"/>
                  </a:lnTo>
                  <a:close/>
                </a:path>
              </a:pathLst>
            </a:custGeom>
            <a:blipFill>
              <a:blip r:embed="rId3">
                <a:alphaModFix amt="0"/>
              </a:blip>
              <a:stretch>
                <a:fillRect l="0" t="-229807" r="0" b="-229807"/>
              </a:stretch>
            </a:blipFill>
          </p:spPr>
        </p:sp>
        <p:sp>
          <p:nvSpPr>
            <p:cNvPr name="TextBox 30" id="30"/>
            <p:cNvSpPr txBox="true"/>
            <p:nvPr/>
          </p:nvSpPr>
          <p:spPr>
            <a:xfrm>
              <a:off x="0" y="-47625"/>
              <a:ext cx="9875520" cy="735330"/>
            </a:xfrm>
            <a:prstGeom prst="rect">
              <a:avLst/>
            </a:prstGeom>
          </p:spPr>
          <p:txBody>
            <a:bodyPr anchor="ctr" rtlCol="false" tIns="0" lIns="0" bIns="0" rIns="0"/>
            <a:lstStyle/>
            <a:p>
              <a:pPr algn="l">
                <a:lnSpc>
                  <a:spcPts val="2340"/>
                </a:lnSpc>
              </a:pPr>
              <a:r>
                <a:rPr lang="en-US" sz="1950" b="true">
                  <a:solidFill>
                    <a:srgbClr val="FFFFFF"/>
                  </a:solidFill>
                  <a:latin typeface="Calibri (MS) Bold"/>
                  <a:ea typeface="Calibri (MS) Bold"/>
                  <a:cs typeface="Calibri (MS) Bold"/>
                  <a:sym typeface="Calibri (MS) Bold"/>
                </a:rPr>
                <a:t>Criterios de aceptación</a:t>
              </a:r>
            </a:p>
          </p:txBody>
        </p:sp>
      </p:grpSp>
      <p:grpSp>
        <p:nvGrpSpPr>
          <p:cNvPr name="Group 31" id="31"/>
          <p:cNvGrpSpPr/>
          <p:nvPr/>
        </p:nvGrpSpPr>
        <p:grpSpPr>
          <a:xfrm rot="0">
            <a:off x="1165860" y="6035040"/>
            <a:ext cx="7406640" cy="3291840"/>
            <a:chOff x="0" y="0"/>
            <a:chExt cx="9875520" cy="4389120"/>
          </a:xfrm>
        </p:grpSpPr>
        <p:sp>
          <p:nvSpPr>
            <p:cNvPr name="Freeform 32" id="32"/>
            <p:cNvSpPr/>
            <p:nvPr/>
          </p:nvSpPr>
          <p:spPr>
            <a:xfrm flipH="false" flipV="false" rot="0">
              <a:off x="0" y="0"/>
              <a:ext cx="9875520" cy="4389120"/>
            </a:xfrm>
            <a:custGeom>
              <a:avLst/>
              <a:gdLst/>
              <a:ahLst/>
              <a:cxnLst/>
              <a:rect r="r" b="b" t="t" l="l"/>
              <a:pathLst>
                <a:path h="4389120" w="9875520">
                  <a:moveTo>
                    <a:pt x="0" y="0"/>
                  </a:moveTo>
                  <a:lnTo>
                    <a:pt x="9875520" y="0"/>
                  </a:lnTo>
                  <a:lnTo>
                    <a:pt x="9875520" y="4389120"/>
                  </a:lnTo>
                  <a:lnTo>
                    <a:pt x="0" y="4389120"/>
                  </a:lnTo>
                  <a:close/>
                </a:path>
              </a:pathLst>
            </a:custGeom>
            <a:blipFill>
              <a:blip r:embed="rId2">
                <a:alphaModFix amt="0"/>
              </a:blip>
              <a:stretch>
                <a:fillRect l="-7063" t="0" r="-7063" b="0"/>
              </a:stretch>
            </a:blipFill>
          </p:spPr>
        </p:sp>
      </p:grpSp>
      <p:grpSp>
        <p:nvGrpSpPr>
          <p:cNvPr name="Group 33" id="33"/>
          <p:cNvGrpSpPr/>
          <p:nvPr/>
        </p:nvGrpSpPr>
        <p:grpSpPr>
          <a:xfrm rot="0">
            <a:off x="1165860" y="5985034"/>
            <a:ext cx="7406640" cy="3341846"/>
            <a:chOff x="0" y="0"/>
            <a:chExt cx="9875520" cy="4455795"/>
          </a:xfrm>
        </p:grpSpPr>
        <p:sp>
          <p:nvSpPr>
            <p:cNvPr name="Freeform 34" id="34"/>
            <p:cNvSpPr/>
            <p:nvPr/>
          </p:nvSpPr>
          <p:spPr>
            <a:xfrm flipH="false" flipV="false" rot="0">
              <a:off x="0" y="0"/>
              <a:ext cx="9875520" cy="4455795"/>
            </a:xfrm>
            <a:custGeom>
              <a:avLst/>
              <a:gdLst/>
              <a:ahLst/>
              <a:cxnLst/>
              <a:rect r="r" b="b" t="t" l="l"/>
              <a:pathLst>
                <a:path h="4455795" w="9875520">
                  <a:moveTo>
                    <a:pt x="0" y="0"/>
                  </a:moveTo>
                  <a:lnTo>
                    <a:pt x="9875520" y="0"/>
                  </a:lnTo>
                  <a:lnTo>
                    <a:pt x="9875520" y="4455795"/>
                  </a:lnTo>
                  <a:lnTo>
                    <a:pt x="0" y="4455795"/>
                  </a:lnTo>
                  <a:close/>
                </a:path>
              </a:pathLst>
            </a:custGeom>
            <a:blipFill>
              <a:blip r:embed="rId3">
                <a:alphaModFix amt="0"/>
              </a:blip>
              <a:stretch>
                <a:fillRect l="-7890" t="0" r="-7890" b="0"/>
              </a:stretch>
            </a:blipFill>
          </p:spPr>
        </p:sp>
        <p:sp>
          <p:nvSpPr>
            <p:cNvPr name="TextBox 35" id="35"/>
            <p:cNvSpPr txBox="true"/>
            <p:nvPr/>
          </p:nvSpPr>
          <p:spPr>
            <a:xfrm>
              <a:off x="0" y="-66675"/>
              <a:ext cx="9875520" cy="4522470"/>
            </a:xfrm>
            <a:prstGeom prst="rect">
              <a:avLst/>
            </a:prstGeom>
          </p:spPr>
          <p:txBody>
            <a:bodyPr anchor="ctr" rtlCol="false" tIns="0" lIns="0" bIns="0" rIns="0"/>
            <a:lstStyle/>
            <a:p>
              <a:pPr algn="l">
                <a:lnSpc>
                  <a:spcPts val="2760"/>
                </a:lnSpc>
              </a:pPr>
              <a:r>
                <a:rPr lang="en-US" sz="2000" b="true">
                  <a:solidFill>
                    <a:srgbClr val="FFFFFF"/>
                  </a:solidFill>
                  <a:latin typeface="Calibri (MS) Bold"/>
                  <a:ea typeface="Calibri (MS) Bold"/>
                  <a:cs typeface="Calibri (MS) Bold"/>
                  <a:sym typeface="Calibri (MS) Bold"/>
                </a:rPr>
                <a:t>Given</a:t>
              </a:r>
              <a:r>
                <a:rPr lang="en-US" sz="2000">
                  <a:solidFill>
                    <a:srgbClr val="FFFFFF"/>
                  </a:solidFill>
                  <a:latin typeface="Calibri (MS)"/>
                  <a:ea typeface="Calibri (MS)"/>
                  <a:cs typeface="Calibri (MS)"/>
                  <a:sym typeface="Calibri (MS)"/>
                </a:rPr>
                <a:t> que existe un ranking generado,</a:t>
              </a:r>
            </a:p>
            <a:p>
              <a:pPr algn="l">
                <a:lnSpc>
                  <a:spcPts val="2760"/>
                </a:lnSpc>
              </a:pPr>
              <a:r>
                <a:rPr lang="en-US" sz="2000" b="true">
                  <a:solidFill>
                    <a:srgbClr val="FFFFFF"/>
                  </a:solidFill>
                  <a:latin typeface="Calibri (MS) Bold"/>
                  <a:ea typeface="Calibri (MS) Bold"/>
                  <a:cs typeface="Calibri (MS) Bold"/>
                  <a:sym typeface="Calibri (MS) Bold"/>
                </a:rPr>
                <a:t>When</a:t>
              </a:r>
              <a:r>
                <a:rPr lang="en-US" sz="2000">
                  <a:solidFill>
                    <a:srgbClr val="FFFFFF"/>
                  </a:solidFill>
                  <a:latin typeface="Calibri (MS)"/>
                  <a:ea typeface="Calibri (MS)"/>
                  <a:cs typeface="Calibri (MS)"/>
                  <a:sym typeface="Calibri (MS)"/>
                </a:rPr>
                <a:t> se muestra cada propiedad,</a:t>
              </a:r>
            </a:p>
            <a:p>
              <a:pPr algn="l">
                <a:lnSpc>
                  <a:spcPts val="2760"/>
                </a:lnSpc>
              </a:pPr>
              <a:r>
                <a:rPr lang="en-US" sz="2000" b="true">
                  <a:solidFill>
                    <a:srgbClr val="FFFFFF"/>
                  </a:solidFill>
                  <a:latin typeface="Calibri (MS) Bold"/>
                  <a:ea typeface="Calibri (MS) Bold"/>
                  <a:cs typeface="Calibri (MS) Bold"/>
                  <a:sym typeface="Calibri (MS) Bold"/>
                </a:rPr>
                <a:t>Then</a:t>
              </a:r>
              <a:r>
                <a:rPr lang="en-US" sz="2000">
                  <a:solidFill>
                    <a:srgbClr val="FFFFFF"/>
                  </a:solidFill>
                  <a:latin typeface="Calibri (MS)"/>
                  <a:ea typeface="Calibri (MS)"/>
                  <a:cs typeface="Calibri (MS)"/>
                  <a:sym typeface="Calibri (MS)"/>
                </a:rPr>
                <a:t> debe incluir una explicación textual asociada.</a:t>
              </a:r>
            </a:p>
            <a:p>
              <a:pPr algn="l">
                <a:lnSpc>
                  <a:spcPts val="2760"/>
                </a:lnSpc>
              </a:pPr>
            </a:p>
            <a:p>
              <a:pPr algn="l">
                <a:lnSpc>
                  <a:spcPts val="2760"/>
                </a:lnSpc>
              </a:pPr>
              <a:r>
                <a:rPr lang="en-US" sz="2000" b="true">
                  <a:solidFill>
                    <a:srgbClr val="FFFFFF"/>
                  </a:solidFill>
                  <a:latin typeface="Calibri (MS) Bold"/>
                  <a:ea typeface="Calibri (MS) Bold"/>
                  <a:cs typeface="Calibri (MS) Bold"/>
                  <a:sym typeface="Calibri (MS) Bold"/>
                </a:rPr>
                <a:t>Given</a:t>
              </a:r>
              <a:r>
                <a:rPr lang="en-US" sz="2000">
                  <a:solidFill>
                    <a:srgbClr val="FFFFFF"/>
                  </a:solidFill>
                  <a:latin typeface="Calibri (MS)"/>
                  <a:ea typeface="Calibri (MS)"/>
                  <a:cs typeface="Calibri (MS)"/>
                  <a:sym typeface="Calibri (MS)"/>
                </a:rPr>
                <a:t> que falta un componente del score,</a:t>
              </a:r>
            </a:p>
            <a:p>
              <a:pPr algn="l">
                <a:lnSpc>
                  <a:spcPts val="2760"/>
                </a:lnSpc>
              </a:pPr>
              <a:r>
                <a:rPr lang="en-US" sz="2000" b="true">
                  <a:solidFill>
                    <a:srgbClr val="FFFFFF"/>
                  </a:solidFill>
                  <a:latin typeface="Calibri (MS) Bold"/>
                  <a:ea typeface="Calibri (MS) Bold"/>
                  <a:cs typeface="Calibri (MS) Bold"/>
                  <a:sym typeface="Calibri (MS) Bold"/>
                </a:rPr>
                <a:t>When</a:t>
              </a:r>
              <a:r>
                <a:rPr lang="en-US" sz="2000">
                  <a:solidFill>
                    <a:srgbClr val="FFFFFF"/>
                  </a:solidFill>
                  <a:latin typeface="Calibri (MS)"/>
                  <a:ea typeface="Calibri (MS)"/>
                  <a:cs typeface="Calibri (MS)"/>
                  <a:sym typeface="Calibri (MS)"/>
                </a:rPr>
                <a:t> se genera la explicación,</a:t>
              </a:r>
            </a:p>
            <a:p>
              <a:pPr algn="l">
                <a:lnSpc>
                  <a:spcPts val="2760"/>
                </a:lnSpc>
              </a:pPr>
              <a:r>
                <a:rPr lang="en-US" sz="2000" b="true">
                  <a:solidFill>
                    <a:srgbClr val="FFFFFF"/>
                  </a:solidFill>
                  <a:latin typeface="Calibri (MS) Bold"/>
                  <a:ea typeface="Calibri (MS) Bold"/>
                  <a:cs typeface="Calibri (MS) Bold"/>
                  <a:sym typeface="Calibri (MS) Bold"/>
                </a:rPr>
                <a:t>Then</a:t>
              </a:r>
              <a:r>
                <a:rPr lang="en-US" sz="2000">
                  <a:solidFill>
                    <a:srgbClr val="FFFFFF"/>
                  </a:solidFill>
                  <a:latin typeface="Calibri (MS)"/>
                  <a:ea typeface="Calibri (MS)"/>
                  <a:cs typeface="Calibri (MS)"/>
                  <a:sym typeface="Calibri (MS)"/>
                </a:rPr>
                <a:t> el sistema indica "dato parcial" en vez de omitirlo.</a:t>
              </a:r>
            </a:p>
          </p:txBody>
        </p:sp>
      </p:grpSp>
      <p:grpSp>
        <p:nvGrpSpPr>
          <p:cNvPr name="Group 36" id="36"/>
          <p:cNvGrpSpPr/>
          <p:nvPr/>
        </p:nvGrpSpPr>
        <p:grpSpPr>
          <a:xfrm rot="0">
            <a:off x="9230868" y="3771900"/>
            <a:ext cx="8092440" cy="480060"/>
            <a:chOff x="0" y="0"/>
            <a:chExt cx="10789920" cy="640080"/>
          </a:xfrm>
        </p:grpSpPr>
        <p:sp>
          <p:nvSpPr>
            <p:cNvPr name="Freeform 37" id="37"/>
            <p:cNvSpPr/>
            <p:nvPr/>
          </p:nvSpPr>
          <p:spPr>
            <a:xfrm flipH="false" flipV="false" rot="0">
              <a:off x="0" y="0"/>
              <a:ext cx="10789920" cy="640080"/>
            </a:xfrm>
            <a:custGeom>
              <a:avLst/>
              <a:gdLst/>
              <a:ahLst/>
              <a:cxnLst/>
              <a:rect r="r" b="b" t="t" l="l"/>
              <a:pathLst>
                <a:path h="640080" w="10789920">
                  <a:moveTo>
                    <a:pt x="0" y="0"/>
                  </a:moveTo>
                  <a:lnTo>
                    <a:pt x="10789920" y="0"/>
                  </a:lnTo>
                  <a:lnTo>
                    <a:pt x="10789920" y="640080"/>
                  </a:lnTo>
                  <a:lnTo>
                    <a:pt x="0" y="640080"/>
                  </a:lnTo>
                  <a:close/>
                </a:path>
              </a:pathLst>
            </a:custGeom>
            <a:blipFill>
              <a:blip r:embed="rId2">
                <a:alphaModFix amt="0"/>
              </a:blip>
              <a:stretch>
                <a:fillRect l="0" t="-278234" r="0" b="-278234"/>
              </a:stretch>
            </a:blipFill>
          </p:spPr>
        </p:sp>
      </p:grpSp>
      <p:grpSp>
        <p:nvGrpSpPr>
          <p:cNvPr name="Group 38" id="38"/>
          <p:cNvGrpSpPr/>
          <p:nvPr/>
        </p:nvGrpSpPr>
        <p:grpSpPr>
          <a:xfrm rot="0">
            <a:off x="9230868" y="3736181"/>
            <a:ext cx="8092440" cy="515779"/>
            <a:chOff x="0" y="0"/>
            <a:chExt cx="10789920" cy="687705"/>
          </a:xfrm>
        </p:grpSpPr>
        <p:sp>
          <p:nvSpPr>
            <p:cNvPr name="Freeform 39" id="39"/>
            <p:cNvSpPr/>
            <p:nvPr/>
          </p:nvSpPr>
          <p:spPr>
            <a:xfrm flipH="false" flipV="false" rot="0">
              <a:off x="0" y="0"/>
              <a:ext cx="10789920" cy="687705"/>
            </a:xfrm>
            <a:custGeom>
              <a:avLst/>
              <a:gdLst/>
              <a:ahLst/>
              <a:cxnLst/>
              <a:rect r="r" b="b" t="t" l="l"/>
              <a:pathLst>
                <a:path h="687705" w="10789920">
                  <a:moveTo>
                    <a:pt x="0" y="0"/>
                  </a:moveTo>
                  <a:lnTo>
                    <a:pt x="10789920" y="0"/>
                  </a:lnTo>
                  <a:lnTo>
                    <a:pt x="10789920" y="687705"/>
                  </a:lnTo>
                  <a:lnTo>
                    <a:pt x="0" y="687705"/>
                  </a:lnTo>
                  <a:close/>
                </a:path>
              </a:pathLst>
            </a:custGeom>
            <a:blipFill>
              <a:blip r:embed="rId3">
                <a:alphaModFix amt="0"/>
              </a:blip>
              <a:stretch>
                <a:fillRect l="0" t="-255715" r="0" b="-255715"/>
              </a:stretch>
            </a:blipFill>
          </p:spPr>
        </p:sp>
        <p:sp>
          <p:nvSpPr>
            <p:cNvPr name="TextBox 40" id="40"/>
            <p:cNvSpPr txBox="true"/>
            <p:nvPr/>
          </p:nvSpPr>
          <p:spPr>
            <a:xfrm>
              <a:off x="0" y="-47625"/>
              <a:ext cx="10789920" cy="735330"/>
            </a:xfrm>
            <a:prstGeom prst="rect">
              <a:avLst/>
            </a:prstGeom>
          </p:spPr>
          <p:txBody>
            <a:bodyPr anchor="ctr" rtlCol="false" tIns="0" lIns="0" bIns="0" rIns="0"/>
            <a:lstStyle/>
            <a:p>
              <a:pPr algn="l">
                <a:lnSpc>
                  <a:spcPts val="2340"/>
                </a:lnSpc>
              </a:pPr>
              <a:r>
                <a:rPr lang="en-US" sz="1950" b="true">
                  <a:solidFill>
                    <a:srgbClr val="5F669F"/>
                  </a:solidFill>
                  <a:latin typeface="Calibri (MS) Bold"/>
                  <a:ea typeface="Calibri (MS) Bold"/>
                  <a:cs typeface="Calibri (MS) Bold"/>
                  <a:sym typeface="Calibri (MS) Bold"/>
                </a:rPr>
                <a:t>Diagrama de flujo</a:t>
              </a:r>
            </a:p>
          </p:txBody>
        </p:sp>
      </p:grpSp>
      <p:grpSp>
        <p:nvGrpSpPr>
          <p:cNvPr name="Group 41" id="41"/>
          <p:cNvGrpSpPr/>
          <p:nvPr/>
        </p:nvGrpSpPr>
        <p:grpSpPr>
          <a:xfrm rot="0">
            <a:off x="9230868" y="4457700"/>
            <a:ext cx="1851660" cy="1783080"/>
            <a:chOff x="0" y="0"/>
            <a:chExt cx="2468880" cy="2377440"/>
          </a:xfrm>
        </p:grpSpPr>
        <p:sp>
          <p:nvSpPr>
            <p:cNvPr name="Freeform 42" id="42"/>
            <p:cNvSpPr/>
            <p:nvPr/>
          </p:nvSpPr>
          <p:spPr>
            <a:xfrm flipH="false" flipV="false" rot="0">
              <a:off x="0" y="0"/>
              <a:ext cx="2468880" cy="2377440"/>
            </a:xfrm>
            <a:custGeom>
              <a:avLst/>
              <a:gdLst/>
              <a:ahLst/>
              <a:cxnLst/>
              <a:rect r="r" b="b" t="t" l="l"/>
              <a:pathLst>
                <a:path h="2377440" w="2468880">
                  <a:moveTo>
                    <a:pt x="0" y="146304"/>
                  </a:moveTo>
                  <a:cubicBezTo>
                    <a:pt x="0" y="65532"/>
                    <a:pt x="65532" y="0"/>
                    <a:pt x="146304" y="0"/>
                  </a:cubicBezTo>
                  <a:lnTo>
                    <a:pt x="2322576" y="0"/>
                  </a:lnTo>
                  <a:cubicBezTo>
                    <a:pt x="2403348" y="0"/>
                    <a:pt x="2468880" y="65532"/>
                    <a:pt x="2468880" y="146304"/>
                  </a:cubicBezTo>
                  <a:lnTo>
                    <a:pt x="2468880" y="2231136"/>
                  </a:lnTo>
                  <a:cubicBezTo>
                    <a:pt x="2468880" y="2311908"/>
                    <a:pt x="2403348" y="2377440"/>
                    <a:pt x="2322576" y="2377440"/>
                  </a:cubicBezTo>
                  <a:lnTo>
                    <a:pt x="146304" y="2377440"/>
                  </a:lnTo>
                  <a:cubicBezTo>
                    <a:pt x="65532" y="2377440"/>
                    <a:pt x="0" y="2311908"/>
                    <a:pt x="0" y="2231136"/>
                  </a:cubicBezTo>
                  <a:close/>
                </a:path>
              </a:pathLst>
            </a:custGeom>
            <a:solidFill>
              <a:srgbClr val="ADB4D0"/>
            </a:solidFill>
          </p:spPr>
        </p:sp>
      </p:grpSp>
      <p:grpSp>
        <p:nvGrpSpPr>
          <p:cNvPr name="Group 43" id="43"/>
          <p:cNvGrpSpPr/>
          <p:nvPr/>
        </p:nvGrpSpPr>
        <p:grpSpPr>
          <a:xfrm rot="0">
            <a:off x="9340596" y="4457700"/>
            <a:ext cx="1632204" cy="1783080"/>
            <a:chOff x="0" y="0"/>
            <a:chExt cx="2176272" cy="2377440"/>
          </a:xfrm>
        </p:grpSpPr>
        <p:sp>
          <p:nvSpPr>
            <p:cNvPr name="Freeform 44" id="44"/>
            <p:cNvSpPr/>
            <p:nvPr/>
          </p:nvSpPr>
          <p:spPr>
            <a:xfrm flipH="false" flipV="false" rot="0">
              <a:off x="0" y="0"/>
              <a:ext cx="2176272" cy="2377440"/>
            </a:xfrm>
            <a:custGeom>
              <a:avLst/>
              <a:gdLst/>
              <a:ahLst/>
              <a:cxnLst/>
              <a:rect r="r" b="b" t="t" l="l"/>
              <a:pathLst>
                <a:path h="2377440" w="2176272">
                  <a:moveTo>
                    <a:pt x="0" y="0"/>
                  </a:moveTo>
                  <a:lnTo>
                    <a:pt x="2176272" y="0"/>
                  </a:lnTo>
                  <a:lnTo>
                    <a:pt x="2176272" y="2377440"/>
                  </a:lnTo>
                  <a:lnTo>
                    <a:pt x="0" y="2377440"/>
                  </a:lnTo>
                  <a:close/>
                </a:path>
              </a:pathLst>
            </a:custGeom>
            <a:blipFill>
              <a:blip r:embed="rId2">
                <a:alphaModFix amt="0"/>
              </a:blip>
              <a:stretch>
                <a:fillRect l="-90260" t="0" r="-90261" b="0"/>
              </a:stretch>
            </a:blipFill>
          </p:spPr>
        </p:sp>
      </p:grpSp>
      <p:grpSp>
        <p:nvGrpSpPr>
          <p:cNvPr name="Group 45" id="45"/>
          <p:cNvGrpSpPr/>
          <p:nvPr/>
        </p:nvGrpSpPr>
        <p:grpSpPr>
          <a:xfrm rot="0">
            <a:off x="9340596" y="4436269"/>
            <a:ext cx="1632204" cy="1804511"/>
            <a:chOff x="0" y="0"/>
            <a:chExt cx="2176272" cy="2406015"/>
          </a:xfrm>
        </p:grpSpPr>
        <p:sp>
          <p:nvSpPr>
            <p:cNvPr name="Freeform 46" id="46"/>
            <p:cNvSpPr/>
            <p:nvPr/>
          </p:nvSpPr>
          <p:spPr>
            <a:xfrm flipH="false" flipV="false" rot="0">
              <a:off x="0" y="0"/>
              <a:ext cx="2176272" cy="2406015"/>
            </a:xfrm>
            <a:custGeom>
              <a:avLst/>
              <a:gdLst/>
              <a:ahLst/>
              <a:cxnLst/>
              <a:rect r="r" b="b" t="t" l="l"/>
              <a:pathLst>
                <a:path h="2406015" w="2176272">
                  <a:moveTo>
                    <a:pt x="0" y="0"/>
                  </a:moveTo>
                  <a:lnTo>
                    <a:pt x="2176272" y="0"/>
                  </a:lnTo>
                  <a:lnTo>
                    <a:pt x="2176272" y="2406015"/>
                  </a:lnTo>
                  <a:lnTo>
                    <a:pt x="0" y="2406015"/>
                  </a:lnTo>
                  <a:close/>
                </a:path>
              </a:pathLst>
            </a:custGeom>
            <a:blipFill>
              <a:blip r:embed="rId3">
                <a:alphaModFix amt="0"/>
              </a:blip>
              <a:stretch>
                <a:fillRect l="-91848" t="0" r="-91848" b="0"/>
              </a:stretch>
            </a:blipFill>
          </p:spPr>
        </p:sp>
        <p:sp>
          <p:nvSpPr>
            <p:cNvPr name="TextBox 47" id="47"/>
            <p:cNvSpPr txBox="true"/>
            <p:nvPr/>
          </p:nvSpPr>
          <p:spPr>
            <a:xfrm>
              <a:off x="0" y="-28575"/>
              <a:ext cx="2176272" cy="2434590"/>
            </a:xfrm>
            <a:prstGeom prst="rect">
              <a:avLst/>
            </a:prstGeom>
          </p:spPr>
          <p:txBody>
            <a:bodyPr anchor="ctr" rtlCol="false" tIns="0" lIns="0" bIns="0" rIns="0"/>
            <a:lstStyle/>
            <a:p>
              <a:pPr algn="ctr">
                <a:lnSpc>
                  <a:spcPts val="1620"/>
                </a:lnSpc>
              </a:pPr>
              <a:r>
                <a:rPr lang="en-US" sz="1350">
                  <a:solidFill>
                    <a:srgbClr val="FFFFFF"/>
                  </a:solidFill>
                  <a:latin typeface="Calibri (MS)"/>
                  <a:ea typeface="Calibri (MS)"/>
                  <a:cs typeface="Calibri (MS)"/>
                  <a:sym typeface="Calibri (MS)"/>
                </a:rPr>
                <a:t>Scores +</a:t>
              </a:r>
            </a:p>
            <a:p>
              <a:pPr algn="ctr">
                <a:lnSpc>
                  <a:spcPts val="1620"/>
                </a:lnSpc>
              </a:pPr>
              <a:r>
                <a:rPr lang="en-US" sz="1350">
                  <a:solidFill>
                    <a:srgbClr val="FFFFFF"/>
                  </a:solidFill>
                  <a:latin typeface="Calibri (MS)"/>
                  <a:ea typeface="Calibri (MS)"/>
                  <a:cs typeface="Calibri (MS)"/>
                  <a:sym typeface="Calibri (MS)"/>
                </a:rPr>
                <a:t>variables que</a:t>
              </a:r>
            </a:p>
            <a:p>
              <a:pPr algn="ctr">
                <a:lnSpc>
                  <a:spcPts val="1620"/>
                </a:lnSpc>
              </a:pPr>
              <a:r>
                <a:rPr lang="en-US" sz="1350">
                  <a:solidFill>
                    <a:srgbClr val="FFFFFF"/>
                  </a:solidFill>
                  <a:latin typeface="Calibri (MS)"/>
                  <a:ea typeface="Calibri (MS)"/>
                  <a:cs typeface="Calibri (MS)"/>
                  <a:sym typeface="Calibri (MS)"/>
                </a:rPr>
                <a:t>más pesaron</a:t>
              </a:r>
            </a:p>
          </p:txBody>
        </p:sp>
      </p:grpSp>
      <p:grpSp>
        <p:nvGrpSpPr>
          <p:cNvPr name="Group 48" id="48"/>
          <p:cNvGrpSpPr/>
          <p:nvPr/>
        </p:nvGrpSpPr>
        <p:grpSpPr>
          <a:xfrm rot="0">
            <a:off x="11082528" y="5006340"/>
            <a:ext cx="164592" cy="685800"/>
            <a:chOff x="0" y="0"/>
            <a:chExt cx="219456" cy="914400"/>
          </a:xfrm>
        </p:grpSpPr>
        <p:sp>
          <p:nvSpPr>
            <p:cNvPr name="Freeform 49" id="49"/>
            <p:cNvSpPr/>
            <p:nvPr/>
          </p:nvSpPr>
          <p:spPr>
            <a:xfrm flipH="false" flipV="false" rot="0">
              <a:off x="0" y="0"/>
              <a:ext cx="219456" cy="914400"/>
            </a:xfrm>
            <a:custGeom>
              <a:avLst/>
              <a:gdLst/>
              <a:ahLst/>
              <a:cxnLst/>
              <a:rect r="r" b="b" t="t" l="l"/>
              <a:pathLst>
                <a:path h="914400" w="219456">
                  <a:moveTo>
                    <a:pt x="0" y="0"/>
                  </a:moveTo>
                  <a:lnTo>
                    <a:pt x="219456" y="0"/>
                  </a:lnTo>
                  <a:lnTo>
                    <a:pt x="219456" y="914400"/>
                  </a:lnTo>
                  <a:lnTo>
                    <a:pt x="0" y="914400"/>
                  </a:lnTo>
                  <a:close/>
                </a:path>
              </a:pathLst>
            </a:custGeom>
            <a:blipFill>
              <a:blip r:embed="rId2">
                <a:alphaModFix amt="0"/>
              </a:blip>
              <a:stretch>
                <a:fillRect l="-484971" t="0" r="-484971" b="0"/>
              </a:stretch>
            </a:blipFill>
          </p:spPr>
        </p:sp>
      </p:grpSp>
      <p:grpSp>
        <p:nvGrpSpPr>
          <p:cNvPr name="Group 50" id="50"/>
          <p:cNvGrpSpPr/>
          <p:nvPr/>
        </p:nvGrpSpPr>
        <p:grpSpPr>
          <a:xfrm rot="0">
            <a:off x="11082528" y="4999196"/>
            <a:ext cx="164592" cy="692944"/>
            <a:chOff x="0" y="0"/>
            <a:chExt cx="219456" cy="923925"/>
          </a:xfrm>
        </p:grpSpPr>
        <p:sp>
          <p:nvSpPr>
            <p:cNvPr name="Freeform 51" id="51"/>
            <p:cNvSpPr/>
            <p:nvPr/>
          </p:nvSpPr>
          <p:spPr>
            <a:xfrm flipH="false" flipV="false" rot="0">
              <a:off x="0" y="0"/>
              <a:ext cx="219456" cy="923925"/>
            </a:xfrm>
            <a:custGeom>
              <a:avLst/>
              <a:gdLst/>
              <a:ahLst/>
              <a:cxnLst/>
              <a:rect r="r" b="b" t="t" l="l"/>
              <a:pathLst>
                <a:path h="923925" w="219456">
                  <a:moveTo>
                    <a:pt x="0" y="0"/>
                  </a:moveTo>
                  <a:lnTo>
                    <a:pt x="219456" y="0"/>
                  </a:lnTo>
                  <a:lnTo>
                    <a:pt x="219456" y="923925"/>
                  </a:lnTo>
                  <a:lnTo>
                    <a:pt x="0" y="923925"/>
                  </a:lnTo>
                  <a:close/>
                </a:path>
              </a:pathLst>
            </a:custGeom>
            <a:blipFill>
              <a:blip r:embed="rId3">
                <a:alphaModFix amt="0"/>
              </a:blip>
              <a:stretch>
                <a:fillRect l="-490166" t="0" r="-490166" b="0"/>
              </a:stretch>
            </a:blipFill>
          </p:spPr>
        </p:sp>
        <p:sp>
          <p:nvSpPr>
            <p:cNvPr name="TextBox 52" id="52"/>
            <p:cNvSpPr txBox="true"/>
            <p:nvPr/>
          </p:nvSpPr>
          <p:spPr>
            <a:xfrm>
              <a:off x="0" y="-9525"/>
              <a:ext cx="219456" cy="933450"/>
            </a:xfrm>
            <a:prstGeom prst="rect">
              <a:avLst/>
            </a:prstGeom>
          </p:spPr>
          <p:txBody>
            <a:bodyPr anchor="ctr" rtlCol="false" tIns="0" lIns="0" bIns="0" rIns="0"/>
            <a:lstStyle/>
            <a:p>
              <a:pPr algn="ctr">
                <a:lnSpc>
                  <a:spcPts val="2520"/>
                </a:lnSpc>
              </a:pPr>
              <a:r>
                <a:rPr lang="en-US" sz="2100">
                  <a:solidFill>
                    <a:srgbClr val="5F669F"/>
                  </a:solidFill>
                  <a:latin typeface="Arial"/>
                  <a:ea typeface="Arial"/>
                  <a:cs typeface="Arial"/>
                  <a:sym typeface="Arial"/>
                </a:rPr>
                <a:t>→</a:t>
              </a:r>
            </a:p>
          </p:txBody>
        </p:sp>
      </p:grpSp>
      <p:grpSp>
        <p:nvGrpSpPr>
          <p:cNvPr name="Group 53" id="53"/>
          <p:cNvGrpSpPr/>
          <p:nvPr/>
        </p:nvGrpSpPr>
        <p:grpSpPr>
          <a:xfrm rot="0">
            <a:off x="11247120" y="4457700"/>
            <a:ext cx="1851660" cy="1783080"/>
            <a:chOff x="0" y="0"/>
            <a:chExt cx="2468880" cy="2377440"/>
          </a:xfrm>
        </p:grpSpPr>
        <p:sp>
          <p:nvSpPr>
            <p:cNvPr name="Freeform 54" id="54"/>
            <p:cNvSpPr/>
            <p:nvPr/>
          </p:nvSpPr>
          <p:spPr>
            <a:xfrm flipH="false" flipV="false" rot="0">
              <a:off x="0" y="0"/>
              <a:ext cx="2468880" cy="2377440"/>
            </a:xfrm>
            <a:custGeom>
              <a:avLst/>
              <a:gdLst/>
              <a:ahLst/>
              <a:cxnLst/>
              <a:rect r="r" b="b" t="t" l="l"/>
              <a:pathLst>
                <a:path h="2377440" w="2468880">
                  <a:moveTo>
                    <a:pt x="0" y="146304"/>
                  </a:moveTo>
                  <a:cubicBezTo>
                    <a:pt x="0" y="65532"/>
                    <a:pt x="65532" y="0"/>
                    <a:pt x="146304" y="0"/>
                  </a:cubicBezTo>
                  <a:lnTo>
                    <a:pt x="2322576" y="0"/>
                  </a:lnTo>
                  <a:cubicBezTo>
                    <a:pt x="2403348" y="0"/>
                    <a:pt x="2468880" y="65532"/>
                    <a:pt x="2468880" y="146304"/>
                  </a:cubicBezTo>
                  <a:lnTo>
                    <a:pt x="2468880" y="2231136"/>
                  </a:lnTo>
                  <a:cubicBezTo>
                    <a:pt x="2468880" y="2311908"/>
                    <a:pt x="2403348" y="2377440"/>
                    <a:pt x="2322576" y="2377440"/>
                  </a:cubicBezTo>
                  <a:lnTo>
                    <a:pt x="146304" y="2377440"/>
                  </a:lnTo>
                  <a:cubicBezTo>
                    <a:pt x="65532" y="2377440"/>
                    <a:pt x="0" y="2311908"/>
                    <a:pt x="0" y="2231136"/>
                  </a:cubicBezTo>
                  <a:close/>
                </a:path>
              </a:pathLst>
            </a:custGeom>
            <a:solidFill>
              <a:srgbClr val="ADB4D0"/>
            </a:solidFill>
          </p:spPr>
        </p:sp>
      </p:grpSp>
      <p:grpSp>
        <p:nvGrpSpPr>
          <p:cNvPr name="Group 55" id="55"/>
          <p:cNvGrpSpPr/>
          <p:nvPr/>
        </p:nvGrpSpPr>
        <p:grpSpPr>
          <a:xfrm rot="0">
            <a:off x="11356848" y="4457700"/>
            <a:ext cx="1632204" cy="1783080"/>
            <a:chOff x="0" y="0"/>
            <a:chExt cx="2176272" cy="2377440"/>
          </a:xfrm>
        </p:grpSpPr>
        <p:sp>
          <p:nvSpPr>
            <p:cNvPr name="Freeform 56" id="56"/>
            <p:cNvSpPr/>
            <p:nvPr/>
          </p:nvSpPr>
          <p:spPr>
            <a:xfrm flipH="false" flipV="false" rot="0">
              <a:off x="0" y="0"/>
              <a:ext cx="2176272" cy="2377440"/>
            </a:xfrm>
            <a:custGeom>
              <a:avLst/>
              <a:gdLst/>
              <a:ahLst/>
              <a:cxnLst/>
              <a:rect r="r" b="b" t="t" l="l"/>
              <a:pathLst>
                <a:path h="2377440" w="2176272">
                  <a:moveTo>
                    <a:pt x="0" y="0"/>
                  </a:moveTo>
                  <a:lnTo>
                    <a:pt x="2176272" y="0"/>
                  </a:lnTo>
                  <a:lnTo>
                    <a:pt x="2176272" y="2377440"/>
                  </a:lnTo>
                  <a:lnTo>
                    <a:pt x="0" y="2377440"/>
                  </a:lnTo>
                  <a:close/>
                </a:path>
              </a:pathLst>
            </a:custGeom>
            <a:blipFill>
              <a:blip r:embed="rId2">
                <a:alphaModFix amt="0"/>
              </a:blip>
              <a:stretch>
                <a:fillRect l="-90260" t="0" r="-90261" b="0"/>
              </a:stretch>
            </a:blipFill>
          </p:spPr>
        </p:sp>
      </p:grpSp>
      <p:grpSp>
        <p:nvGrpSpPr>
          <p:cNvPr name="Group 57" id="57"/>
          <p:cNvGrpSpPr/>
          <p:nvPr/>
        </p:nvGrpSpPr>
        <p:grpSpPr>
          <a:xfrm rot="0">
            <a:off x="11356848" y="4436269"/>
            <a:ext cx="1632204" cy="1804511"/>
            <a:chOff x="0" y="0"/>
            <a:chExt cx="2176272" cy="2406015"/>
          </a:xfrm>
        </p:grpSpPr>
        <p:sp>
          <p:nvSpPr>
            <p:cNvPr name="Freeform 58" id="58"/>
            <p:cNvSpPr/>
            <p:nvPr/>
          </p:nvSpPr>
          <p:spPr>
            <a:xfrm flipH="false" flipV="false" rot="0">
              <a:off x="0" y="0"/>
              <a:ext cx="2176272" cy="2406015"/>
            </a:xfrm>
            <a:custGeom>
              <a:avLst/>
              <a:gdLst/>
              <a:ahLst/>
              <a:cxnLst/>
              <a:rect r="r" b="b" t="t" l="l"/>
              <a:pathLst>
                <a:path h="2406015" w="2176272">
                  <a:moveTo>
                    <a:pt x="0" y="0"/>
                  </a:moveTo>
                  <a:lnTo>
                    <a:pt x="2176272" y="0"/>
                  </a:lnTo>
                  <a:lnTo>
                    <a:pt x="2176272" y="2406015"/>
                  </a:lnTo>
                  <a:lnTo>
                    <a:pt x="0" y="2406015"/>
                  </a:lnTo>
                  <a:close/>
                </a:path>
              </a:pathLst>
            </a:custGeom>
            <a:blipFill>
              <a:blip r:embed="rId3">
                <a:alphaModFix amt="0"/>
              </a:blip>
              <a:stretch>
                <a:fillRect l="-91848" t="0" r="-91848" b="0"/>
              </a:stretch>
            </a:blipFill>
          </p:spPr>
        </p:sp>
        <p:sp>
          <p:nvSpPr>
            <p:cNvPr name="TextBox 59" id="59"/>
            <p:cNvSpPr txBox="true"/>
            <p:nvPr/>
          </p:nvSpPr>
          <p:spPr>
            <a:xfrm>
              <a:off x="0" y="-28575"/>
              <a:ext cx="2176272" cy="2434590"/>
            </a:xfrm>
            <a:prstGeom prst="rect">
              <a:avLst/>
            </a:prstGeom>
          </p:spPr>
          <p:txBody>
            <a:bodyPr anchor="ctr" rtlCol="false" tIns="0" lIns="0" bIns="0" rIns="0"/>
            <a:lstStyle/>
            <a:p>
              <a:pPr algn="ctr">
                <a:lnSpc>
                  <a:spcPts val="1620"/>
                </a:lnSpc>
              </a:pPr>
              <a:r>
                <a:rPr lang="en-US" sz="1350" b="true">
                  <a:solidFill>
                    <a:srgbClr val="FFFFFF"/>
                  </a:solidFill>
                  <a:latin typeface="Calibri (MS) Bold"/>
                  <a:ea typeface="Calibri (MS) Bold"/>
                  <a:cs typeface="Calibri (MS) Bold"/>
                  <a:sym typeface="Calibri (MS) Bold"/>
                </a:rPr>
                <a:t>Generador de</a:t>
              </a:r>
            </a:p>
            <a:p>
              <a:pPr algn="ctr">
                <a:lnSpc>
                  <a:spcPts val="1620"/>
                </a:lnSpc>
              </a:pPr>
              <a:r>
                <a:rPr lang="en-US" sz="1350" b="true">
                  <a:solidFill>
                    <a:srgbClr val="FFFFFF"/>
                  </a:solidFill>
                  <a:latin typeface="Calibri (MS) Bold"/>
                  <a:ea typeface="Calibri (MS) Bold"/>
                  <a:cs typeface="Calibri (MS) Bold"/>
                  <a:sym typeface="Calibri (MS) Bold"/>
                </a:rPr>
                <a:t>explicación</a:t>
              </a:r>
            </a:p>
            <a:p>
              <a:pPr algn="ctr">
                <a:lnSpc>
                  <a:spcPts val="1620"/>
                </a:lnSpc>
              </a:pPr>
              <a:r>
                <a:rPr lang="en-US" sz="1350" b="true">
                  <a:solidFill>
                    <a:srgbClr val="FFFFFF"/>
                  </a:solidFill>
                  <a:latin typeface="Calibri (MS) Bold"/>
                  <a:ea typeface="Calibri (MS) Bold"/>
                  <a:cs typeface="Calibri (MS) Bold"/>
                  <a:sym typeface="Calibri (MS) Bold"/>
                </a:rPr>
                <a:t>(lenguaje natural)</a:t>
              </a:r>
            </a:p>
          </p:txBody>
        </p:sp>
      </p:grpSp>
      <p:grpSp>
        <p:nvGrpSpPr>
          <p:cNvPr name="Group 60" id="60"/>
          <p:cNvGrpSpPr/>
          <p:nvPr/>
        </p:nvGrpSpPr>
        <p:grpSpPr>
          <a:xfrm rot="0">
            <a:off x="13098780" y="5006340"/>
            <a:ext cx="164592" cy="685800"/>
            <a:chOff x="0" y="0"/>
            <a:chExt cx="219456" cy="914400"/>
          </a:xfrm>
        </p:grpSpPr>
        <p:sp>
          <p:nvSpPr>
            <p:cNvPr name="Freeform 61" id="61"/>
            <p:cNvSpPr/>
            <p:nvPr/>
          </p:nvSpPr>
          <p:spPr>
            <a:xfrm flipH="false" flipV="false" rot="0">
              <a:off x="0" y="0"/>
              <a:ext cx="219456" cy="914400"/>
            </a:xfrm>
            <a:custGeom>
              <a:avLst/>
              <a:gdLst/>
              <a:ahLst/>
              <a:cxnLst/>
              <a:rect r="r" b="b" t="t" l="l"/>
              <a:pathLst>
                <a:path h="914400" w="219456">
                  <a:moveTo>
                    <a:pt x="0" y="0"/>
                  </a:moveTo>
                  <a:lnTo>
                    <a:pt x="219456" y="0"/>
                  </a:lnTo>
                  <a:lnTo>
                    <a:pt x="219456" y="914400"/>
                  </a:lnTo>
                  <a:lnTo>
                    <a:pt x="0" y="914400"/>
                  </a:lnTo>
                  <a:close/>
                </a:path>
              </a:pathLst>
            </a:custGeom>
            <a:blipFill>
              <a:blip r:embed="rId2">
                <a:alphaModFix amt="0"/>
              </a:blip>
              <a:stretch>
                <a:fillRect l="-484971" t="0" r="-484971" b="0"/>
              </a:stretch>
            </a:blipFill>
          </p:spPr>
        </p:sp>
      </p:grpSp>
      <p:grpSp>
        <p:nvGrpSpPr>
          <p:cNvPr name="Group 62" id="62"/>
          <p:cNvGrpSpPr/>
          <p:nvPr/>
        </p:nvGrpSpPr>
        <p:grpSpPr>
          <a:xfrm rot="0">
            <a:off x="13098780" y="4999196"/>
            <a:ext cx="164592" cy="692944"/>
            <a:chOff x="0" y="0"/>
            <a:chExt cx="219456" cy="923925"/>
          </a:xfrm>
        </p:grpSpPr>
        <p:sp>
          <p:nvSpPr>
            <p:cNvPr name="Freeform 63" id="63"/>
            <p:cNvSpPr/>
            <p:nvPr/>
          </p:nvSpPr>
          <p:spPr>
            <a:xfrm flipH="false" flipV="false" rot="0">
              <a:off x="0" y="0"/>
              <a:ext cx="219456" cy="923925"/>
            </a:xfrm>
            <a:custGeom>
              <a:avLst/>
              <a:gdLst/>
              <a:ahLst/>
              <a:cxnLst/>
              <a:rect r="r" b="b" t="t" l="l"/>
              <a:pathLst>
                <a:path h="923925" w="219456">
                  <a:moveTo>
                    <a:pt x="0" y="0"/>
                  </a:moveTo>
                  <a:lnTo>
                    <a:pt x="219456" y="0"/>
                  </a:lnTo>
                  <a:lnTo>
                    <a:pt x="219456" y="923925"/>
                  </a:lnTo>
                  <a:lnTo>
                    <a:pt x="0" y="923925"/>
                  </a:lnTo>
                  <a:close/>
                </a:path>
              </a:pathLst>
            </a:custGeom>
            <a:blipFill>
              <a:blip r:embed="rId3">
                <a:alphaModFix amt="0"/>
              </a:blip>
              <a:stretch>
                <a:fillRect l="-490166" t="0" r="-490166" b="0"/>
              </a:stretch>
            </a:blipFill>
          </p:spPr>
        </p:sp>
        <p:sp>
          <p:nvSpPr>
            <p:cNvPr name="TextBox 64" id="64"/>
            <p:cNvSpPr txBox="true"/>
            <p:nvPr/>
          </p:nvSpPr>
          <p:spPr>
            <a:xfrm>
              <a:off x="0" y="-9525"/>
              <a:ext cx="219456" cy="933450"/>
            </a:xfrm>
            <a:prstGeom prst="rect">
              <a:avLst/>
            </a:prstGeom>
          </p:spPr>
          <p:txBody>
            <a:bodyPr anchor="ctr" rtlCol="false" tIns="0" lIns="0" bIns="0" rIns="0"/>
            <a:lstStyle/>
            <a:p>
              <a:pPr algn="ctr">
                <a:lnSpc>
                  <a:spcPts val="2520"/>
                </a:lnSpc>
              </a:pPr>
              <a:r>
                <a:rPr lang="en-US" sz="2100">
                  <a:solidFill>
                    <a:srgbClr val="5F669F"/>
                  </a:solidFill>
                  <a:latin typeface="Arial"/>
                  <a:ea typeface="Arial"/>
                  <a:cs typeface="Arial"/>
                  <a:sym typeface="Arial"/>
                </a:rPr>
                <a:t>→</a:t>
              </a:r>
            </a:p>
          </p:txBody>
        </p:sp>
      </p:grpSp>
      <p:grpSp>
        <p:nvGrpSpPr>
          <p:cNvPr name="Group 65" id="65"/>
          <p:cNvGrpSpPr/>
          <p:nvPr/>
        </p:nvGrpSpPr>
        <p:grpSpPr>
          <a:xfrm rot="0">
            <a:off x="13263372" y="4457700"/>
            <a:ext cx="1851660" cy="1783080"/>
            <a:chOff x="0" y="0"/>
            <a:chExt cx="2468880" cy="2377440"/>
          </a:xfrm>
        </p:grpSpPr>
        <p:sp>
          <p:nvSpPr>
            <p:cNvPr name="Freeform 66" id="66"/>
            <p:cNvSpPr/>
            <p:nvPr/>
          </p:nvSpPr>
          <p:spPr>
            <a:xfrm flipH="false" flipV="false" rot="0">
              <a:off x="0" y="0"/>
              <a:ext cx="2468880" cy="2377440"/>
            </a:xfrm>
            <a:custGeom>
              <a:avLst/>
              <a:gdLst/>
              <a:ahLst/>
              <a:cxnLst/>
              <a:rect r="r" b="b" t="t" l="l"/>
              <a:pathLst>
                <a:path h="2377440" w="2468880">
                  <a:moveTo>
                    <a:pt x="0" y="146304"/>
                  </a:moveTo>
                  <a:cubicBezTo>
                    <a:pt x="0" y="65532"/>
                    <a:pt x="65532" y="0"/>
                    <a:pt x="146304" y="0"/>
                  </a:cubicBezTo>
                  <a:lnTo>
                    <a:pt x="2322576" y="0"/>
                  </a:lnTo>
                  <a:cubicBezTo>
                    <a:pt x="2403348" y="0"/>
                    <a:pt x="2468880" y="65532"/>
                    <a:pt x="2468880" y="146304"/>
                  </a:cubicBezTo>
                  <a:lnTo>
                    <a:pt x="2468880" y="2231136"/>
                  </a:lnTo>
                  <a:cubicBezTo>
                    <a:pt x="2468880" y="2311908"/>
                    <a:pt x="2403348" y="2377440"/>
                    <a:pt x="2322576" y="2377440"/>
                  </a:cubicBezTo>
                  <a:lnTo>
                    <a:pt x="146304" y="2377440"/>
                  </a:lnTo>
                  <a:cubicBezTo>
                    <a:pt x="65532" y="2377440"/>
                    <a:pt x="0" y="2311908"/>
                    <a:pt x="0" y="2231136"/>
                  </a:cubicBezTo>
                  <a:close/>
                </a:path>
              </a:pathLst>
            </a:custGeom>
            <a:solidFill>
              <a:srgbClr val="ADB4D0"/>
            </a:solidFill>
          </p:spPr>
        </p:sp>
      </p:grpSp>
      <p:grpSp>
        <p:nvGrpSpPr>
          <p:cNvPr name="Group 67" id="67"/>
          <p:cNvGrpSpPr/>
          <p:nvPr/>
        </p:nvGrpSpPr>
        <p:grpSpPr>
          <a:xfrm rot="0">
            <a:off x="13373100" y="4457700"/>
            <a:ext cx="1632204" cy="1783080"/>
            <a:chOff x="0" y="0"/>
            <a:chExt cx="2176272" cy="2377440"/>
          </a:xfrm>
        </p:grpSpPr>
        <p:sp>
          <p:nvSpPr>
            <p:cNvPr name="Freeform 68" id="68"/>
            <p:cNvSpPr/>
            <p:nvPr/>
          </p:nvSpPr>
          <p:spPr>
            <a:xfrm flipH="false" flipV="false" rot="0">
              <a:off x="0" y="0"/>
              <a:ext cx="2176272" cy="2377440"/>
            </a:xfrm>
            <a:custGeom>
              <a:avLst/>
              <a:gdLst/>
              <a:ahLst/>
              <a:cxnLst/>
              <a:rect r="r" b="b" t="t" l="l"/>
              <a:pathLst>
                <a:path h="2377440" w="2176272">
                  <a:moveTo>
                    <a:pt x="0" y="0"/>
                  </a:moveTo>
                  <a:lnTo>
                    <a:pt x="2176272" y="0"/>
                  </a:lnTo>
                  <a:lnTo>
                    <a:pt x="2176272" y="2377440"/>
                  </a:lnTo>
                  <a:lnTo>
                    <a:pt x="0" y="2377440"/>
                  </a:lnTo>
                  <a:close/>
                </a:path>
              </a:pathLst>
            </a:custGeom>
            <a:blipFill>
              <a:blip r:embed="rId2">
                <a:alphaModFix amt="0"/>
              </a:blip>
              <a:stretch>
                <a:fillRect l="-90260" t="0" r="-90261" b="0"/>
              </a:stretch>
            </a:blipFill>
          </p:spPr>
        </p:sp>
      </p:grpSp>
      <p:grpSp>
        <p:nvGrpSpPr>
          <p:cNvPr name="Group 69" id="69"/>
          <p:cNvGrpSpPr/>
          <p:nvPr/>
        </p:nvGrpSpPr>
        <p:grpSpPr>
          <a:xfrm rot="0">
            <a:off x="13373100" y="4436269"/>
            <a:ext cx="1632204" cy="1804511"/>
            <a:chOff x="0" y="0"/>
            <a:chExt cx="2176272" cy="2406015"/>
          </a:xfrm>
        </p:grpSpPr>
        <p:sp>
          <p:nvSpPr>
            <p:cNvPr name="Freeform 70" id="70"/>
            <p:cNvSpPr/>
            <p:nvPr/>
          </p:nvSpPr>
          <p:spPr>
            <a:xfrm flipH="false" flipV="false" rot="0">
              <a:off x="0" y="0"/>
              <a:ext cx="2176272" cy="2406015"/>
            </a:xfrm>
            <a:custGeom>
              <a:avLst/>
              <a:gdLst/>
              <a:ahLst/>
              <a:cxnLst/>
              <a:rect r="r" b="b" t="t" l="l"/>
              <a:pathLst>
                <a:path h="2406015" w="2176272">
                  <a:moveTo>
                    <a:pt x="0" y="0"/>
                  </a:moveTo>
                  <a:lnTo>
                    <a:pt x="2176272" y="0"/>
                  </a:lnTo>
                  <a:lnTo>
                    <a:pt x="2176272" y="2406015"/>
                  </a:lnTo>
                  <a:lnTo>
                    <a:pt x="0" y="2406015"/>
                  </a:lnTo>
                  <a:close/>
                </a:path>
              </a:pathLst>
            </a:custGeom>
            <a:blipFill>
              <a:blip r:embed="rId3">
                <a:alphaModFix amt="0"/>
              </a:blip>
              <a:stretch>
                <a:fillRect l="-91848" t="0" r="-91848" b="0"/>
              </a:stretch>
            </a:blipFill>
          </p:spPr>
        </p:sp>
        <p:sp>
          <p:nvSpPr>
            <p:cNvPr name="TextBox 71" id="71"/>
            <p:cNvSpPr txBox="true"/>
            <p:nvPr/>
          </p:nvSpPr>
          <p:spPr>
            <a:xfrm>
              <a:off x="0" y="-28575"/>
              <a:ext cx="2176272" cy="2434590"/>
            </a:xfrm>
            <a:prstGeom prst="rect">
              <a:avLst/>
            </a:prstGeom>
          </p:spPr>
          <p:txBody>
            <a:bodyPr anchor="ctr" rtlCol="false" tIns="0" lIns="0" bIns="0" rIns="0"/>
            <a:lstStyle/>
            <a:p>
              <a:pPr algn="ctr">
                <a:lnSpc>
                  <a:spcPts val="1620"/>
                </a:lnSpc>
              </a:pPr>
              <a:r>
                <a:rPr lang="en-US" sz="1350">
                  <a:solidFill>
                    <a:srgbClr val="FFFFFF"/>
                  </a:solidFill>
                  <a:latin typeface="Calibri (MS)"/>
                  <a:ea typeface="Calibri (MS)"/>
                  <a:cs typeface="Calibri (MS)"/>
                  <a:sym typeface="Calibri (MS)"/>
                </a:rPr>
                <a:t>Texto explicativo</a:t>
              </a:r>
            </a:p>
            <a:p>
              <a:pPr algn="ctr">
                <a:lnSpc>
                  <a:spcPts val="1620"/>
                </a:lnSpc>
              </a:pPr>
              <a:r>
                <a:rPr lang="en-US" sz="1350">
                  <a:solidFill>
                    <a:srgbClr val="FFFFFF"/>
                  </a:solidFill>
                  <a:latin typeface="Calibri (MS)"/>
                  <a:ea typeface="Calibri (MS)"/>
                  <a:cs typeface="Calibri (MS)"/>
                  <a:sym typeface="Calibri (MS)"/>
                </a:rPr>
                <a:t>por propiedad</a:t>
              </a:r>
            </a:p>
          </p:txBody>
        </p:sp>
      </p:grpSp>
      <p:grpSp>
        <p:nvGrpSpPr>
          <p:cNvPr name="Group 72" id="72"/>
          <p:cNvGrpSpPr/>
          <p:nvPr/>
        </p:nvGrpSpPr>
        <p:grpSpPr>
          <a:xfrm rot="0">
            <a:off x="15115032" y="5006340"/>
            <a:ext cx="164592" cy="685800"/>
            <a:chOff x="0" y="0"/>
            <a:chExt cx="219456" cy="914400"/>
          </a:xfrm>
        </p:grpSpPr>
        <p:sp>
          <p:nvSpPr>
            <p:cNvPr name="Freeform 73" id="73"/>
            <p:cNvSpPr/>
            <p:nvPr/>
          </p:nvSpPr>
          <p:spPr>
            <a:xfrm flipH="false" flipV="false" rot="0">
              <a:off x="0" y="0"/>
              <a:ext cx="219456" cy="914400"/>
            </a:xfrm>
            <a:custGeom>
              <a:avLst/>
              <a:gdLst/>
              <a:ahLst/>
              <a:cxnLst/>
              <a:rect r="r" b="b" t="t" l="l"/>
              <a:pathLst>
                <a:path h="914400" w="219456">
                  <a:moveTo>
                    <a:pt x="0" y="0"/>
                  </a:moveTo>
                  <a:lnTo>
                    <a:pt x="219456" y="0"/>
                  </a:lnTo>
                  <a:lnTo>
                    <a:pt x="219456" y="914400"/>
                  </a:lnTo>
                  <a:lnTo>
                    <a:pt x="0" y="914400"/>
                  </a:lnTo>
                  <a:close/>
                </a:path>
              </a:pathLst>
            </a:custGeom>
            <a:blipFill>
              <a:blip r:embed="rId2">
                <a:alphaModFix amt="0"/>
              </a:blip>
              <a:stretch>
                <a:fillRect l="-484971" t="0" r="-484971" b="0"/>
              </a:stretch>
            </a:blipFill>
          </p:spPr>
        </p:sp>
      </p:grpSp>
      <p:grpSp>
        <p:nvGrpSpPr>
          <p:cNvPr name="Group 74" id="74"/>
          <p:cNvGrpSpPr/>
          <p:nvPr/>
        </p:nvGrpSpPr>
        <p:grpSpPr>
          <a:xfrm rot="0">
            <a:off x="15115032" y="4999196"/>
            <a:ext cx="164592" cy="692944"/>
            <a:chOff x="0" y="0"/>
            <a:chExt cx="219456" cy="923925"/>
          </a:xfrm>
        </p:grpSpPr>
        <p:sp>
          <p:nvSpPr>
            <p:cNvPr name="Freeform 75" id="75"/>
            <p:cNvSpPr/>
            <p:nvPr/>
          </p:nvSpPr>
          <p:spPr>
            <a:xfrm flipH="false" flipV="false" rot="0">
              <a:off x="0" y="0"/>
              <a:ext cx="219456" cy="923925"/>
            </a:xfrm>
            <a:custGeom>
              <a:avLst/>
              <a:gdLst/>
              <a:ahLst/>
              <a:cxnLst/>
              <a:rect r="r" b="b" t="t" l="l"/>
              <a:pathLst>
                <a:path h="923925" w="219456">
                  <a:moveTo>
                    <a:pt x="0" y="0"/>
                  </a:moveTo>
                  <a:lnTo>
                    <a:pt x="219456" y="0"/>
                  </a:lnTo>
                  <a:lnTo>
                    <a:pt x="219456" y="923925"/>
                  </a:lnTo>
                  <a:lnTo>
                    <a:pt x="0" y="923925"/>
                  </a:lnTo>
                  <a:close/>
                </a:path>
              </a:pathLst>
            </a:custGeom>
            <a:blipFill>
              <a:blip r:embed="rId3">
                <a:alphaModFix amt="0"/>
              </a:blip>
              <a:stretch>
                <a:fillRect l="-490166" t="0" r="-490166" b="0"/>
              </a:stretch>
            </a:blipFill>
          </p:spPr>
        </p:sp>
        <p:sp>
          <p:nvSpPr>
            <p:cNvPr name="TextBox 76" id="76"/>
            <p:cNvSpPr txBox="true"/>
            <p:nvPr/>
          </p:nvSpPr>
          <p:spPr>
            <a:xfrm>
              <a:off x="0" y="-9525"/>
              <a:ext cx="219456" cy="933450"/>
            </a:xfrm>
            <a:prstGeom prst="rect">
              <a:avLst/>
            </a:prstGeom>
          </p:spPr>
          <p:txBody>
            <a:bodyPr anchor="ctr" rtlCol="false" tIns="0" lIns="0" bIns="0" rIns="0"/>
            <a:lstStyle/>
            <a:p>
              <a:pPr algn="ctr">
                <a:lnSpc>
                  <a:spcPts val="2520"/>
                </a:lnSpc>
              </a:pPr>
              <a:r>
                <a:rPr lang="en-US" sz="2100">
                  <a:solidFill>
                    <a:srgbClr val="5F669F"/>
                  </a:solidFill>
                  <a:latin typeface="Arial"/>
                  <a:ea typeface="Arial"/>
                  <a:cs typeface="Arial"/>
                  <a:sym typeface="Arial"/>
                </a:rPr>
                <a:t>→</a:t>
              </a:r>
            </a:p>
          </p:txBody>
        </p:sp>
      </p:grpSp>
      <p:grpSp>
        <p:nvGrpSpPr>
          <p:cNvPr name="Group 77" id="77"/>
          <p:cNvGrpSpPr/>
          <p:nvPr/>
        </p:nvGrpSpPr>
        <p:grpSpPr>
          <a:xfrm rot="0">
            <a:off x="15279624" y="4457700"/>
            <a:ext cx="1851660" cy="1783080"/>
            <a:chOff x="0" y="0"/>
            <a:chExt cx="2468880" cy="2377440"/>
          </a:xfrm>
        </p:grpSpPr>
        <p:sp>
          <p:nvSpPr>
            <p:cNvPr name="Freeform 78" id="78"/>
            <p:cNvSpPr/>
            <p:nvPr/>
          </p:nvSpPr>
          <p:spPr>
            <a:xfrm flipH="false" flipV="false" rot="0">
              <a:off x="0" y="0"/>
              <a:ext cx="2468880" cy="2377440"/>
            </a:xfrm>
            <a:custGeom>
              <a:avLst/>
              <a:gdLst/>
              <a:ahLst/>
              <a:cxnLst/>
              <a:rect r="r" b="b" t="t" l="l"/>
              <a:pathLst>
                <a:path h="2377440" w="2468880">
                  <a:moveTo>
                    <a:pt x="0" y="146304"/>
                  </a:moveTo>
                  <a:cubicBezTo>
                    <a:pt x="0" y="65532"/>
                    <a:pt x="65532" y="0"/>
                    <a:pt x="146304" y="0"/>
                  </a:cubicBezTo>
                  <a:lnTo>
                    <a:pt x="2322576" y="0"/>
                  </a:lnTo>
                  <a:cubicBezTo>
                    <a:pt x="2403348" y="0"/>
                    <a:pt x="2468880" y="65532"/>
                    <a:pt x="2468880" y="146304"/>
                  </a:cubicBezTo>
                  <a:lnTo>
                    <a:pt x="2468880" y="2231136"/>
                  </a:lnTo>
                  <a:cubicBezTo>
                    <a:pt x="2468880" y="2311908"/>
                    <a:pt x="2403348" y="2377440"/>
                    <a:pt x="2322576" y="2377440"/>
                  </a:cubicBezTo>
                  <a:lnTo>
                    <a:pt x="146304" y="2377440"/>
                  </a:lnTo>
                  <a:cubicBezTo>
                    <a:pt x="65532" y="2377440"/>
                    <a:pt x="0" y="2311908"/>
                    <a:pt x="0" y="2231136"/>
                  </a:cubicBezTo>
                  <a:close/>
                </a:path>
              </a:pathLst>
            </a:custGeom>
            <a:solidFill>
              <a:srgbClr val="ADB4D0"/>
            </a:solidFill>
          </p:spPr>
        </p:sp>
      </p:grpSp>
      <p:grpSp>
        <p:nvGrpSpPr>
          <p:cNvPr name="Group 79" id="79"/>
          <p:cNvGrpSpPr/>
          <p:nvPr/>
        </p:nvGrpSpPr>
        <p:grpSpPr>
          <a:xfrm rot="0">
            <a:off x="15389352" y="4457700"/>
            <a:ext cx="1632204" cy="1783080"/>
            <a:chOff x="0" y="0"/>
            <a:chExt cx="2176272" cy="2377440"/>
          </a:xfrm>
        </p:grpSpPr>
        <p:sp>
          <p:nvSpPr>
            <p:cNvPr name="Freeform 80" id="80"/>
            <p:cNvSpPr/>
            <p:nvPr/>
          </p:nvSpPr>
          <p:spPr>
            <a:xfrm flipH="false" flipV="false" rot="0">
              <a:off x="0" y="0"/>
              <a:ext cx="2176272" cy="2377440"/>
            </a:xfrm>
            <a:custGeom>
              <a:avLst/>
              <a:gdLst/>
              <a:ahLst/>
              <a:cxnLst/>
              <a:rect r="r" b="b" t="t" l="l"/>
              <a:pathLst>
                <a:path h="2377440" w="2176272">
                  <a:moveTo>
                    <a:pt x="0" y="0"/>
                  </a:moveTo>
                  <a:lnTo>
                    <a:pt x="2176272" y="0"/>
                  </a:lnTo>
                  <a:lnTo>
                    <a:pt x="2176272" y="2377440"/>
                  </a:lnTo>
                  <a:lnTo>
                    <a:pt x="0" y="2377440"/>
                  </a:lnTo>
                  <a:close/>
                </a:path>
              </a:pathLst>
            </a:custGeom>
            <a:blipFill>
              <a:blip r:embed="rId2">
                <a:alphaModFix amt="0"/>
              </a:blip>
              <a:stretch>
                <a:fillRect l="-90260" t="0" r="-90261" b="0"/>
              </a:stretch>
            </a:blipFill>
          </p:spPr>
        </p:sp>
      </p:grpSp>
      <p:grpSp>
        <p:nvGrpSpPr>
          <p:cNvPr name="Group 81" id="81"/>
          <p:cNvGrpSpPr/>
          <p:nvPr/>
        </p:nvGrpSpPr>
        <p:grpSpPr>
          <a:xfrm rot="0">
            <a:off x="15389352" y="4436269"/>
            <a:ext cx="1632204" cy="1804511"/>
            <a:chOff x="0" y="0"/>
            <a:chExt cx="2176272" cy="2406015"/>
          </a:xfrm>
        </p:grpSpPr>
        <p:sp>
          <p:nvSpPr>
            <p:cNvPr name="Freeform 82" id="82"/>
            <p:cNvSpPr/>
            <p:nvPr/>
          </p:nvSpPr>
          <p:spPr>
            <a:xfrm flipH="false" flipV="false" rot="0">
              <a:off x="0" y="0"/>
              <a:ext cx="2176272" cy="2406015"/>
            </a:xfrm>
            <a:custGeom>
              <a:avLst/>
              <a:gdLst/>
              <a:ahLst/>
              <a:cxnLst/>
              <a:rect r="r" b="b" t="t" l="l"/>
              <a:pathLst>
                <a:path h="2406015" w="2176272">
                  <a:moveTo>
                    <a:pt x="0" y="0"/>
                  </a:moveTo>
                  <a:lnTo>
                    <a:pt x="2176272" y="0"/>
                  </a:lnTo>
                  <a:lnTo>
                    <a:pt x="2176272" y="2406015"/>
                  </a:lnTo>
                  <a:lnTo>
                    <a:pt x="0" y="2406015"/>
                  </a:lnTo>
                  <a:close/>
                </a:path>
              </a:pathLst>
            </a:custGeom>
            <a:blipFill>
              <a:blip r:embed="rId3">
                <a:alphaModFix amt="0"/>
              </a:blip>
              <a:stretch>
                <a:fillRect l="-91848" t="0" r="-91848" b="0"/>
              </a:stretch>
            </a:blipFill>
          </p:spPr>
        </p:sp>
        <p:sp>
          <p:nvSpPr>
            <p:cNvPr name="TextBox 83" id="83"/>
            <p:cNvSpPr txBox="true"/>
            <p:nvPr/>
          </p:nvSpPr>
          <p:spPr>
            <a:xfrm>
              <a:off x="0" y="-28575"/>
              <a:ext cx="2176272" cy="2434590"/>
            </a:xfrm>
            <a:prstGeom prst="rect">
              <a:avLst/>
            </a:prstGeom>
          </p:spPr>
          <p:txBody>
            <a:bodyPr anchor="ctr" rtlCol="false" tIns="0" lIns="0" bIns="0" rIns="0"/>
            <a:lstStyle/>
            <a:p>
              <a:pPr algn="ctr">
                <a:lnSpc>
                  <a:spcPts val="1620"/>
                </a:lnSpc>
              </a:pPr>
              <a:r>
                <a:rPr lang="en-US" sz="1350">
                  <a:solidFill>
                    <a:srgbClr val="5F669F"/>
                  </a:solidFill>
                  <a:latin typeface="Calibri (MS)"/>
                  <a:ea typeface="Calibri (MS)"/>
                  <a:cs typeface="Calibri (MS)"/>
                  <a:sym typeface="Calibri (MS)"/>
                </a:rPr>
                <a:t>Mostrado junto</a:t>
              </a:r>
            </a:p>
            <a:p>
              <a:pPr algn="ctr">
                <a:lnSpc>
                  <a:spcPts val="1620"/>
                </a:lnSpc>
              </a:pPr>
              <a:r>
                <a:rPr lang="en-US" sz="1350">
                  <a:solidFill>
                    <a:srgbClr val="5F669F"/>
                  </a:solidFill>
                  <a:latin typeface="Calibri (MS)"/>
                  <a:ea typeface="Calibri (MS)"/>
                  <a:cs typeface="Calibri (MS)"/>
                  <a:sym typeface="Calibri (MS)"/>
                </a:rPr>
                <a:t>al ranking</a:t>
              </a:r>
            </a:p>
          </p:txBody>
        </p:sp>
      </p:grpSp>
      <p:grpSp>
        <p:nvGrpSpPr>
          <p:cNvPr name="Group 84" id="84"/>
          <p:cNvGrpSpPr/>
          <p:nvPr/>
        </p:nvGrpSpPr>
        <p:grpSpPr>
          <a:xfrm rot="0">
            <a:off x="9230868" y="6412230"/>
            <a:ext cx="8092440" cy="788670"/>
            <a:chOff x="0" y="0"/>
            <a:chExt cx="10789920" cy="1051560"/>
          </a:xfrm>
        </p:grpSpPr>
        <p:sp>
          <p:nvSpPr>
            <p:cNvPr name="Freeform 85" id="85"/>
            <p:cNvSpPr/>
            <p:nvPr/>
          </p:nvSpPr>
          <p:spPr>
            <a:xfrm flipH="false" flipV="false" rot="0">
              <a:off x="0" y="0"/>
              <a:ext cx="10789920" cy="1051560"/>
            </a:xfrm>
            <a:custGeom>
              <a:avLst/>
              <a:gdLst/>
              <a:ahLst/>
              <a:cxnLst/>
              <a:rect r="r" b="b" t="t" l="l"/>
              <a:pathLst>
                <a:path h="1051560" w="10789920">
                  <a:moveTo>
                    <a:pt x="0" y="0"/>
                  </a:moveTo>
                  <a:lnTo>
                    <a:pt x="10789920" y="0"/>
                  </a:lnTo>
                  <a:lnTo>
                    <a:pt x="10789920" y="1051560"/>
                  </a:lnTo>
                  <a:lnTo>
                    <a:pt x="0" y="1051560"/>
                  </a:lnTo>
                  <a:close/>
                </a:path>
              </a:pathLst>
            </a:custGeom>
            <a:blipFill>
              <a:blip r:embed="rId2">
                <a:alphaModFix amt="0"/>
              </a:blip>
              <a:stretch>
                <a:fillRect l="0" t="-149794" r="0" b="-149794"/>
              </a:stretch>
            </a:blipFill>
          </p:spPr>
        </p:sp>
      </p:grpSp>
      <p:grpSp>
        <p:nvGrpSpPr>
          <p:cNvPr name="Group 86" id="86"/>
          <p:cNvGrpSpPr/>
          <p:nvPr/>
        </p:nvGrpSpPr>
        <p:grpSpPr>
          <a:xfrm rot="0">
            <a:off x="9230868" y="6355080"/>
            <a:ext cx="8092440" cy="845820"/>
            <a:chOff x="0" y="0"/>
            <a:chExt cx="10789920" cy="1127760"/>
          </a:xfrm>
        </p:grpSpPr>
        <p:sp>
          <p:nvSpPr>
            <p:cNvPr name="Freeform 87" id="87"/>
            <p:cNvSpPr/>
            <p:nvPr/>
          </p:nvSpPr>
          <p:spPr>
            <a:xfrm flipH="false" flipV="false" rot="0">
              <a:off x="0" y="0"/>
              <a:ext cx="10789920" cy="1127760"/>
            </a:xfrm>
            <a:custGeom>
              <a:avLst/>
              <a:gdLst/>
              <a:ahLst/>
              <a:cxnLst/>
              <a:rect r="r" b="b" t="t" l="l"/>
              <a:pathLst>
                <a:path h="1127760" w="10789920">
                  <a:moveTo>
                    <a:pt x="0" y="0"/>
                  </a:moveTo>
                  <a:lnTo>
                    <a:pt x="10789920" y="0"/>
                  </a:lnTo>
                  <a:lnTo>
                    <a:pt x="10789920" y="1127760"/>
                  </a:lnTo>
                  <a:lnTo>
                    <a:pt x="0" y="1127760"/>
                  </a:lnTo>
                  <a:close/>
                </a:path>
              </a:pathLst>
            </a:custGeom>
            <a:blipFill>
              <a:blip r:embed="rId3">
                <a:alphaModFix amt="0"/>
              </a:blip>
              <a:stretch>
                <a:fillRect l="0" t="-136424" r="0" b="-136424"/>
              </a:stretch>
            </a:blipFill>
          </p:spPr>
        </p:sp>
        <p:sp>
          <p:nvSpPr>
            <p:cNvPr name="TextBox 88" id="88"/>
            <p:cNvSpPr txBox="true"/>
            <p:nvPr/>
          </p:nvSpPr>
          <p:spPr>
            <a:xfrm>
              <a:off x="0" y="-76200"/>
              <a:ext cx="10789920" cy="1203960"/>
            </a:xfrm>
            <a:prstGeom prst="rect">
              <a:avLst/>
            </a:prstGeom>
          </p:spPr>
          <p:txBody>
            <a:bodyPr anchor="ctr" rtlCol="false" tIns="0" lIns="0" bIns="0" rIns="0"/>
            <a:lstStyle/>
            <a:p>
              <a:pPr algn="l">
                <a:lnSpc>
                  <a:spcPts val="2475"/>
                </a:lnSpc>
              </a:pPr>
              <a:r>
                <a:rPr lang="en-US" sz="1650">
                  <a:solidFill>
                    <a:srgbClr val="5F669F"/>
                  </a:solidFill>
                  <a:latin typeface="Calibri (MS)"/>
                  <a:ea typeface="Calibri (MS)"/>
                  <a:cs typeface="Calibri (MS)"/>
                  <a:sym typeface="Calibri (MS)"/>
                </a:rPr>
                <a:t>El diagrama muestra cómo los scores y sus variables clave se traducen en texto explicativo, mostrado siempre junto a la propiedad en el ranking.</a:t>
              </a:r>
            </a:p>
          </p:txBody>
        </p:sp>
      </p:grpSp>
      <p:grpSp>
        <p:nvGrpSpPr>
          <p:cNvPr name="Group 89" id="89"/>
          <p:cNvGrpSpPr/>
          <p:nvPr/>
        </p:nvGrpSpPr>
        <p:grpSpPr>
          <a:xfrm rot="0">
            <a:off x="685800" y="9738360"/>
            <a:ext cx="8229600" cy="411480"/>
            <a:chOff x="0" y="0"/>
            <a:chExt cx="10972800" cy="548640"/>
          </a:xfrm>
        </p:grpSpPr>
        <p:sp>
          <p:nvSpPr>
            <p:cNvPr name="Freeform 90" id="90"/>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91" id="91"/>
          <p:cNvGrpSpPr/>
          <p:nvPr/>
        </p:nvGrpSpPr>
        <p:grpSpPr>
          <a:xfrm rot="0">
            <a:off x="685800" y="9709785"/>
            <a:ext cx="8229600" cy="440055"/>
            <a:chOff x="0" y="0"/>
            <a:chExt cx="10972800" cy="586740"/>
          </a:xfrm>
        </p:grpSpPr>
        <p:sp>
          <p:nvSpPr>
            <p:cNvPr name="Freeform 92" id="92"/>
            <p:cNvSpPr/>
            <p:nvPr/>
          </p:nvSpPr>
          <p:spPr>
            <a:xfrm flipH="false" flipV="false" rot="0">
              <a:off x="0" y="0"/>
              <a:ext cx="10972800" cy="586740"/>
            </a:xfrm>
            <a:custGeom>
              <a:avLst/>
              <a:gdLst/>
              <a:ahLst/>
              <a:cxnLst/>
              <a:rect r="r" b="b" t="t" l="l"/>
              <a:pathLst>
                <a:path h="586740" w="10972800">
                  <a:moveTo>
                    <a:pt x="0" y="0"/>
                  </a:moveTo>
                  <a:lnTo>
                    <a:pt x="10972800" y="0"/>
                  </a:lnTo>
                  <a:lnTo>
                    <a:pt x="10972800" y="586740"/>
                  </a:lnTo>
                  <a:lnTo>
                    <a:pt x="0" y="586740"/>
                  </a:lnTo>
                  <a:close/>
                </a:path>
              </a:pathLst>
            </a:custGeom>
            <a:blipFill>
              <a:blip r:embed="rId3">
                <a:alphaModFix amt="0"/>
              </a:blip>
              <a:stretch>
                <a:fillRect l="0" t="-314395" r="0" b="-314395"/>
              </a:stretch>
            </a:blipFill>
          </p:spPr>
        </p:sp>
        <p:sp>
          <p:nvSpPr>
            <p:cNvPr name="TextBox 93" id="93"/>
            <p:cNvSpPr txBox="true"/>
            <p:nvPr/>
          </p:nvSpPr>
          <p:spPr>
            <a:xfrm>
              <a:off x="0" y="-38100"/>
              <a:ext cx="10972800" cy="624840"/>
            </a:xfrm>
            <a:prstGeom prst="rect">
              <a:avLst/>
            </a:prstGeom>
          </p:spPr>
          <p:txBody>
            <a:bodyPr anchor="ctr" rtlCol="false" tIns="0" lIns="0" bIns="0" rIns="0"/>
            <a:lstStyle/>
            <a:p>
              <a:pPr algn="l">
                <a:lnSpc>
                  <a:spcPts val="1800"/>
                </a:lnSpc>
              </a:pPr>
              <a:r>
                <a:rPr lang="en-US" sz="1500">
                  <a:solidFill>
                    <a:srgbClr val="5F669F"/>
                  </a:solidFill>
                  <a:latin typeface="Calibri (MS)"/>
                  <a:ea typeface="Calibri (MS)"/>
                  <a:cs typeface="Calibri (MS)"/>
                  <a:sym typeface="Calibri (MS)"/>
                </a:rPr>
                <a:t>InmoScore · Requirements Artifacts</a:t>
              </a:r>
            </a:p>
          </p:txBody>
        </p:sp>
      </p:gr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AFCFD"/>
        </a:solidFill>
      </p:bgPr>
    </p:bg>
    <p:spTree>
      <p:nvGrpSpPr>
        <p:cNvPr id="1" name=""/>
        <p:cNvGrpSpPr/>
        <p:nvPr/>
      </p:nvGrpSpPr>
      <p:grpSpPr>
        <a:xfrm>
          <a:off x="0" y="0"/>
          <a:ext cx="0" cy="0"/>
          <a:chOff x="0" y="0"/>
          <a:chExt cx="0" cy="0"/>
        </a:xfrm>
      </p:grpSpPr>
      <p:grpSp>
        <p:nvGrpSpPr>
          <p:cNvPr name="Group 2" id="2"/>
          <p:cNvGrpSpPr/>
          <p:nvPr/>
        </p:nvGrpSpPr>
        <p:grpSpPr>
          <a:xfrm rot="0">
            <a:off x="17048988" y="9738360"/>
            <a:ext cx="548640" cy="411480"/>
            <a:chOff x="0" y="0"/>
            <a:chExt cx="731520" cy="548640"/>
          </a:xfrm>
        </p:grpSpPr>
        <p:sp>
          <p:nvSpPr>
            <p:cNvPr name="Freeform 3" id="3"/>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4" id="4"/>
          <p:cNvGrpSpPr/>
          <p:nvPr/>
        </p:nvGrpSpPr>
        <p:grpSpPr>
          <a:xfrm rot="0">
            <a:off x="17048988" y="9709785"/>
            <a:ext cx="548640" cy="440055"/>
            <a:chOff x="0" y="0"/>
            <a:chExt cx="731520" cy="586740"/>
          </a:xfrm>
        </p:grpSpPr>
        <p:sp>
          <p:nvSpPr>
            <p:cNvPr name="Freeform 5" id="5"/>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6" id="6"/>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5F669F"/>
                  </a:solidFill>
                  <a:latin typeface="Calibri (MS)"/>
                  <a:ea typeface="Calibri (MS)"/>
                  <a:cs typeface="Calibri (MS)"/>
                  <a:sym typeface="Calibri (MS)"/>
                </a:rPr>
                <a:t>13</a:t>
              </a:r>
            </a:p>
          </p:txBody>
        </p:sp>
      </p:grpSp>
      <p:grpSp>
        <p:nvGrpSpPr>
          <p:cNvPr name="Group 7" id="7"/>
          <p:cNvGrpSpPr/>
          <p:nvPr/>
        </p:nvGrpSpPr>
        <p:grpSpPr>
          <a:xfrm rot="0">
            <a:off x="822960" y="438912"/>
            <a:ext cx="13716000" cy="480060"/>
            <a:chOff x="0" y="0"/>
            <a:chExt cx="18288000" cy="640080"/>
          </a:xfrm>
        </p:grpSpPr>
        <p:sp>
          <p:nvSpPr>
            <p:cNvPr name="Freeform 8" id="8"/>
            <p:cNvSpPr/>
            <p:nvPr/>
          </p:nvSpPr>
          <p:spPr>
            <a:xfrm flipH="false" flipV="false" rot="0">
              <a:off x="0" y="0"/>
              <a:ext cx="18288000" cy="640080"/>
            </a:xfrm>
            <a:custGeom>
              <a:avLst/>
              <a:gdLst/>
              <a:ahLst/>
              <a:cxnLst/>
              <a:rect r="r" b="b" t="t" l="l"/>
              <a:pathLst>
                <a:path h="640080" w="18288000">
                  <a:moveTo>
                    <a:pt x="0" y="0"/>
                  </a:moveTo>
                  <a:lnTo>
                    <a:pt x="18288000" y="0"/>
                  </a:lnTo>
                  <a:lnTo>
                    <a:pt x="18288000" y="640080"/>
                  </a:lnTo>
                  <a:lnTo>
                    <a:pt x="0" y="640080"/>
                  </a:lnTo>
                  <a:close/>
                </a:path>
              </a:pathLst>
            </a:custGeom>
            <a:blipFill>
              <a:blip r:embed="rId2">
                <a:alphaModFix amt="0"/>
              </a:blip>
              <a:stretch>
                <a:fillRect l="0" t="-506327" r="0" b="-506329"/>
              </a:stretch>
            </a:blipFill>
          </p:spPr>
        </p:sp>
      </p:grpSp>
      <p:grpSp>
        <p:nvGrpSpPr>
          <p:cNvPr name="Group 9" id="9"/>
          <p:cNvGrpSpPr/>
          <p:nvPr/>
        </p:nvGrpSpPr>
        <p:grpSpPr>
          <a:xfrm rot="0">
            <a:off x="822960" y="410337"/>
            <a:ext cx="13716000" cy="508635"/>
            <a:chOff x="0" y="0"/>
            <a:chExt cx="18288000" cy="678180"/>
          </a:xfrm>
        </p:grpSpPr>
        <p:sp>
          <p:nvSpPr>
            <p:cNvPr name="Freeform 10" id="10"/>
            <p:cNvSpPr/>
            <p:nvPr/>
          </p:nvSpPr>
          <p:spPr>
            <a:xfrm flipH="false" flipV="false" rot="0">
              <a:off x="0" y="0"/>
              <a:ext cx="18288000" cy="678180"/>
            </a:xfrm>
            <a:custGeom>
              <a:avLst/>
              <a:gdLst/>
              <a:ahLst/>
              <a:cxnLst/>
              <a:rect r="r" b="b" t="t" l="l"/>
              <a:pathLst>
                <a:path h="678180" w="18288000">
                  <a:moveTo>
                    <a:pt x="0" y="0"/>
                  </a:moveTo>
                  <a:lnTo>
                    <a:pt x="18288000" y="0"/>
                  </a:lnTo>
                  <a:lnTo>
                    <a:pt x="18288000" y="678180"/>
                  </a:lnTo>
                  <a:lnTo>
                    <a:pt x="0" y="678180"/>
                  </a:lnTo>
                  <a:close/>
                </a:path>
              </a:pathLst>
            </a:custGeom>
            <a:blipFill>
              <a:blip r:embed="rId3">
                <a:alphaModFix amt="0"/>
              </a:blip>
              <a:stretch>
                <a:fillRect l="0" t="-475439" r="0" b="-475439"/>
              </a:stretch>
            </a:blipFill>
          </p:spPr>
        </p:sp>
        <p:sp>
          <p:nvSpPr>
            <p:cNvPr name="TextBox 11" id="11"/>
            <p:cNvSpPr txBox="true"/>
            <p:nvPr/>
          </p:nvSpPr>
          <p:spPr>
            <a:xfrm>
              <a:off x="0" y="-38100"/>
              <a:ext cx="18288000" cy="716280"/>
            </a:xfrm>
            <a:prstGeom prst="rect">
              <a:avLst/>
            </a:prstGeom>
          </p:spPr>
          <p:txBody>
            <a:bodyPr anchor="ctr" rtlCol="false" tIns="0" lIns="0" bIns="0" rIns="0"/>
            <a:lstStyle/>
            <a:p>
              <a:pPr algn="l">
                <a:lnSpc>
                  <a:spcPts val="2160"/>
                </a:lnSpc>
              </a:pPr>
              <a:r>
                <a:rPr lang="en-US" b="true" sz="1800" spc="225">
                  <a:solidFill>
                    <a:srgbClr val="5F669F"/>
                  </a:solidFill>
                  <a:latin typeface="Calibri (MS) Bold"/>
                  <a:ea typeface="Calibri (MS) Bold"/>
                  <a:cs typeface="Calibri (MS) Bold"/>
                  <a:sym typeface="Calibri (MS) Bold"/>
                </a:rPr>
                <a:t>WIREFRAMES · CUBRE REQ-01</a:t>
              </a:r>
            </a:p>
          </p:txBody>
        </p:sp>
      </p:grpSp>
      <p:grpSp>
        <p:nvGrpSpPr>
          <p:cNvPr name="Group 12" id="12"/>
          <p:cNvGrpSpPr/>
          <p:nvPr/>
        </p:nvGrpSpPr>
        <p:grpSpPr>
          <a:xfrm rot="0">
            <a:off x="822960" y="850392"/>
            <a:ext cx="16459200" cy="822960"/>
            <a:chOff x="0" y="0"/>
            <a:chExt cx="21945600" cy="1097280"/>
          </a:xfrm>
        </p:grpSpPr>
        <p:sp>
          <p:nvSpPr>
            <p:cNvPr name="Freeform 13" id="13"/>
            <p:cNvSpPr/>
            <p:nvPr/>
          </p:nvSpPr>
          <p:spPr>
            <a:xfrm flipH="false" flipV="false" rot="0">
              <a:off x="0" y="0"/>
              <a:ext cx="21945600" cy="1097280"/>
            </a:xfrm>
            <a:custGeom>
              <a:avLst/>
              <a:gdLst/>
              <a:ahLst/>
              <a:cxnLst/>
              <a:rect r="r" b="b" t="t" l="l"/>
              <a:pathLst>
                <a:path h="1097280" w="21945600">
                  <a:moveTo>
                    <a:pt x="0" y="0"/>
                  </a:moveTo>
                  <a:lnTo>
                    <a:pt x="21945600" y="0"/>
                  </a:lnTo>
                  <a:lnTo>
                    <a:pt x="21945600" y="1097280"/>
                  </a:lnTo>
                  <a:lnTo>
                    <a:pt x="0" y="1097280"/>
                  </a:lnTo>
                  <a:close/>
                </a:path>
              </a:pathLst>
            </a:custGeom>
            <a:blipFill>
              <a:blip r:embed="rId2">
                <a:alphaModFix amt="0"/>
              </a:blip>
              <a:stretch>
                <a:fillRect l="0" t="-339429" r="0" b="-339430"/>
              </a:stretch>
            </a:blipFill>
          </p:spPr>
        </p:sp>
      </p:grpSp>
      <p:grpSp>
        <p:nvGrpSpPr>
          <p:cNvPr name="Group 14" id="14"/>
          <p:cNvGrpSpPr/>
          <p:nvPr/>
        </p:nvGrpSpPr>
        <p:grpSpPr>
          <a:xfrm rot="0">
            <a:off x="822960" y="850392"/>
            <a:ext cx="16459200" cy="822960"/>
            <a:chOff x="0" y="0"/>
            <a:chExt cx="21945600" cy="1097280"/>
          </a:xfrm>
        </p:grpSpPr>
        <p:sp>
          <p:nvSpPr>
            <p:cNvPr name="Freeform 15" id="15"/>
            <p:cNvSpPr/>
            <p:nvPr/>
          </p:nvSpPr>
          <p:spPr>
            <a:xfrm flipH="false" flipV="false" rot="0">
              <a:off x="0" y="0"/>
              <a:ext cx="21945600" cy="1097280"/>
            </a:xfrm>
            <a:custGeom>
              <a:avLst/>
              <a:gdLst/>
              <a:ahLst/>
              <a:cxnLst/>
              <a:rect r="r" b="b" t="t" l="l"/>
              <a:pathLst>
                <a:path h="1097280" w="21945600">
                  <a:moveTo>
                    <a:pt x="0" y="0"/>
                  </a:moveTo>
                  <a:lnTo>
                    <a:pt x="21945600" y="0"/>
                  </a:lnTo>
                  <a:lnTo>
                    <a:pt x="21945600" y="1097280"/>
                  </a:lnTo>
                  <a:lnTo>
                    <a:pt x="0" y="1097280"/>
                  </a:lnTo>
                  <a:close/>
                </a:path>
              </a:pathLst>
            </a:custGeom>
            <a:blipFill>
              <a:blip r:embed="rId3">
                <a:alphaModFix amt="0"/>
              </a:blip>
              <a:stretch>
                <a:fillRect l="0" t="-339700" r="0" b="-339700"/>
              </a:stretch>
            </a:blipFill>
          </p:spPr>
        </p:sp>
        <p:sp>
          <p:nvSpPr>
            <p:cNvPr name="TextBox 16" id="16"/>
            <p:cNvSpPr txBox="true"/>
            <p:nvPr/>
          </p:nvSpPr>
          <p:spPr>
            <a:xfrm>
              <a:off x="0" y="0"/>
              <a:ext cx="21945600" cy="1097280"/>
            </a:xfrm>
            <a:prstGeom prst="rect">
              <a:avLst/>
            </a:prstGeom>
          </p:spPr>
          <p:txBody>
            <a:bodyPr anchor="ctr" rtlCol="false" tIns="0" lIns="0" bIns="0" rIns="0"/>
            <a:lstStyle/>
            <a:p>
              <a:pPr algn="l">
                <a:lnSpc>
                  <a:spcPts val="4680"/>
                </a:lnSpc>
              </a:pPr>
              <a:r>
                <a:rPr lang="en-US" sz="3900" b="true">
                  <a:solidFill>
                    <a:srgbClr val="2F3E96"/>
                  </a:solidFill>
                  <a:latin typeface="Cambria Bold"/>
                  <a:ea typeface="Cambria Bold"/>
                  <a:cs typeface="Cambria Bold"/>
                  <a:sym typeface="Cambria Bold"/>
                </a:rPr>
                <a:t>Pantalla de perfil y preferencias del usuario</a:t>
              </a:r>
            </a:p>
          </p:txBody>
        </p:sp>
      </p:grpSp>
      <p:grpSp>
        <p:nvGrpSpPr>
          <p:cNvPr name="Group 17" id="17"/>
          <p:cNvGrpSpPr/>
          <p:nvPr/>
        </p:nvGrpSpPr>
        <p:grpSpPr>
          <a:xfrm rot="0">
            <a:off x="3086100" y="9258300"/>
            <a:ext cx="11658600" cy="480060"/>
            <a:chOff x="0" y="0"/>
            <a:chExt cx="15544800" cy="640080"/>
          </a:xfrm>
        </p:grpSpPr>
        <p:sp>
          <p:nvSpPr>
            <p:cNvPr name="Freeform 18" id="18"/>
            <p:cNvSpPr/>
            <p:nvPr/>
          </p:nvSpPr>
          <p:spPr>
            <a:xfrm flipH="false" flipV="false" rot="0">
              <a:off x="0" y="0"/>
              <a:ext cx="15544800" cy="640080"/>
            </a:xfrm>
            <a:custGeom>
              <a:avLst/>
              <a:gdLst/>
              <a:ahLst/>
              <a:cxnLst/>
              <a:rect r="r" b="b" t="t" l="l"/>
              <a:pathLst>
                <a:path h="640080" w="15544800">
                  <a:moveTo>
                    <a:pt x="0" y="0"/>
                  </a:moveTo>
                  <a:lnTo>
                    <a:pt x="15544800" y="0"/>
                  </a:lnTo>
                  <a:lnTo>
                    <a:pt x="15544800" y="640080"/>
                  </a:lnTo>
                  <a:lnTo>
                    <a:pt x="0" y="640080"/>
                  </a:lnTo>
                  <a:close/>
                </a:path>
              </a:pathLst>
            </a:custGeom>
            <a:blipFill>
              <a:blip r:embed="rId2">
                <a:alphaModFix amt="0"/>
              </a:blip>
              <a:stretch>
                <a:fillRect l="0" t="-422878" r="0" b="-422878"/>
              </a:stretch>
            </a:blipFill>
          </p:spPr>
        </p:sp>
      </p:grpSp>
      <p:grpSp>
        <p:nvGrpSpPr>
          <p:cNvPr name="Group 19" id="19"/>
          <p:cNvGrpSpPr/>
          <p:nvPr/>
        </p:nvGrpSpPr>
        <p:grpSpPr>
          <a:xfrm rot="0">
            <a:off x="3086100" y="9244012"/>
            <a:ext cx="11658600" cy="494347"/>
            <a:chOff x="0" y="0"/>
            <a:chExt cx="15544800" cy="659130"/>
          </a:xfrm>
        </p:grpSpPr>
        <p:sp>
          <p:nvSpPr>
            <p:cNvPr name="Freeform 20" id="20"/>
            <p:cNvSpPr/>
            <p:nvPr/>
          </p:nvSpPr>
          <p:spPr>
            <a:xfrm flipH="false" flipV="false" rot="0">
              <a:off x="0" y="0"/>
              <a:ext cx="15544800" cy="659130"/>
            </a:xfrm>
            <a:custGeom>
              <a:avLst/>
              <a:gdLst/>
              <a:ahLst/>
              <a:cxnLst/>
              <a:rect r="r" b="b" t="t" l="l"/>
              <a:pathLst>
                <a:path h="659130" w="15544800">
                  <a:moveTo>
                    <a:pt x="0" y="0"/>
                  </a:moveTo>
                  <a:lnTo>
                    <a:pt x="15544800" y="0"/>
                  </a:lnTo>
                  <a:lnTo>
                    <a:pt x="15544800" y="659130"/>
                  </a:lnTo>
                  <a:lnTo>
                    <a:pt x="0" y="659130"/>
                  </a:lnTo>
                  <a:close/>
                </a:path>
              </a:pathLst>
            </a:custGeom>
            <a:blipFill>
              <a:blip r:embed="rId3">
                <a:alphaModFix amt="0"/>
              </a:blip>
              <a:stretch>
                <a:fillRect l="0" t="-409531" r="0" b="-409531"/>
              </a:stretch>
            </a:blipFill>
          </p:spPr>
        </p:sp>
        <p:sp>
          <p:nvSpPr>
            <p:cNvPr name="TextBox 21" id="21"/>
            <p:cNvSpPr txBox="true"/>
            <p:nvPr/>
          </p:nvSpPr>
          <p:spPr>
            <a:xfrm>
              <a:off x="0" y="-19050"/>
              <a:ext cx="15544800" cy="678180"/>
            </a:xfrm>
            <a:prstGeom prst="rect">
              <a:avLst/>
            </a:prstGeom>
          </p:spPr>
          <p:txBody>
            <a:bodyPr anchor="ctr" rtlCol="false" tIns="0" lIns="0" bIns="0" rIns="0"/>
            <a:lstStyle/>
            <a:p>
              <a:pPr algn="ctr">
                <a:lnSpc>
                  <a:spcPts val="1889"/>
                </a:lnSpc>
              </a:pPr>
              <a:r>
                <a:rPr lang="en-US" sz="1575" i="true">
                  <a:solidFill>
                    <a:srgbClr val="5F669F"/>
                  </a:solidFill>
                  <a:latin typeface="Calibri (MS) Italics"/>
                  <a:ea typeface="Calibri (MS) Italics"/>
                  <a:cs typeface="Calibri (MS) Italics"/>
                  <a:sym typeface="Calibri (MS) Italics"/>
                </a:rPr>
                <a:t>Wireframe de alta fidelidad — perfil financiero + pesos de estilo de vida, las dos entradas que exige REQ-01.</a:t>
              </a:r>
            </a:p>
          </p:txBody>
        </p:sp>
      </p:grpSp>
      <p:grpSp>
        <p:nvGrpSpPr>
          <p:cNvPr name="Group 22" id="22"/>
          <p:cNvGrpSpPr/>
          <p:nvPr/>
        </p:nvGrpSpPr>
        <p:grpSpPr>
          <a:xfrm rot="0">
            <a:off x="685800" y="9738360"/>
            <a:ext cx="8229600" cy="411480"/>
            <a:chOff x="0" y="0"/>
            <a:chExt cx="10972800" cy="548640"/>
          </a:xfrm>
        </p:grpSpPr>
        <p:sp>
          <p:nvSpPr>
            <p:cNvPr name="Freeform 23" id="2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24" id="24"/>
          <p:cNvGrpSpPr/>
          <p:nvPr/>
        </p:nvGrpSpPr>
        <p:grpSpPr>
          <a:xfrm rot="0">
            <a:off x="685800" y="9709785"/>
            <a:ext cx="8229600" cy="440055"/>
            <a:chOff x="0" y="0"/>
            <a:chExt cx="10972800" cy="586740"/>
          </a:xfrm>
        </p:grpSpPr>
        <p:sp>
          <p:nvSpPr>
            <p:cNvPr name="Freeform 25" id="25"/>
            <p:cNvSpPr/>
            <p:nvPr/>
          </p:nvSpPr>
          <p:spPr>
            <a:xfrm flipH="false" flipV="false" rot="0">
              <a:off x="0" y="0"/>
              <a:ext cx="10972800" cy="586740"/>
            </a:xfrm>
            <a:custGeom>
              <a:avLst/>
              <a:gdLst/>
              <a:ahLst/>
              <a:cxnLst/>
              <a:rect r="r" b="b" t="t" l="l"/>
              <a:pathLst>
                <a:path h="586740" w="10972800">
                  <a:moveTo>
                    <a:pt x="0" y="0"/>
                  </a:moveTo>
                  <a:lnTo>
                    <a:pt x="10972800" y="0"/>
                  </a:lnTo>
                  <a:lnTo>
                    <a:pt x="10972800" y="586740"/>
                  </a:lnTo>
                  <a:lnTo>
                    <a:pt x="0" y="586740"/>
                  </a:lnTo>
                  <a:close/>
                </a:path>
              </a:pathLst>
            </a:custGeom>
            <a:blipFill>
              <a:blip r:embed="rId3">
                <a:alphaModFix amt="0"/>
              </a:blip>
              <a:stretch>
                <a:fillRect l="0" t="-314395" r="0" b="-314395"/>
              </a:stretch>
            </a:blipFill>
          </p:spPr>
        </p:sp>
        <p:sp>
          <p:nvSpPr>
            <p:cNvPr name="TextBox 26" id="26"/>
            <p:cNvSpPr txBox="true"/>
            <p:nvPr/>
          </p:nvSpPr>
          <p:spPr>
            <a:xfrm>
              <a:off x="0" y="-38100"/>
              <a:ext cx="10972800" cy="624840"/>
            </a:xfrm>
            <a:prstGeom prst="rect">
              <a:avLst/>
            </a:prstGeom>
          </p:spPr>
          <p:txBody>
            <a:bodyPr anchor="ctr" rtlCol="false" tIns="0" lIns="0" bIns="0" rIns="0"/>
            <a:lstStyle/>
            <a:p>
              <a:pPr algn="l">
                <a:lnSpc>
                  <a:spcPts val="1800"/>
                </a:lnSpc>
              </a:pPr>
              <a:r>
                <a:rPr lang="en-US" sz="1500">
                  <a:solidFill>
                    <a:srgbClr val="5F669F"/>
                  </a:solidFill>
                  <a:latin typeface="Calibri (MS)"/>
                  <a:ea typeface="Calibri (MS)"/>
                  <a:cs typeface="Calibri (MS)"/>
                  <a:sym typeface="Calibri (MS)"/>
                </a:rPr>
                <a:t>InmoScore · Requirements Artifacts</a:t>
              </a:r>
            </a:p>
          </p:txBody>
        </p:sp>
      </p:grpSp>
      <p:grpSp>
        <p:nvGrpSpPr>
          <p:cNvPr name="Group 27" id="27"/>
          <p:cNvGrpSpPr/>
          <p:nvPr/>
        </p:nvGrpSpPr>
        <p:grpSpPr>
          <a:xfrm rot="0">
            <a:off x="3340608" y="1819456"/>
            <a:ext cx="11149594" cy="7344156"/>
            <a:chOff x="0" y="0"/>
            <a:chExt cx="14866125" cy="9792208"/>
          </a:xfrm>
        </p:grpSpPr>
        <p:sp>
          <p:nvSpPr>
            <p:cNvPr name="Freeform 28" id="28"/>
            <p:cNvSpPr/>
            <p:nvPr/>
          </p:nvSpPr>
          <p:spPr>
            <a:xfrm flipH="false" flipV="false" rot="0">
              <a:off x="0" y="0"/>
              <a:ext cx="14866113" cy="9792208"/>
            </a:xfrm>
            <a:custGeom>
              <a:avLst/>
              <a:gdLst/>
              <a:ahLst/>
              <a:cxnLst/>
              <a:rect r="r" b="b" t="t" l="l"/>
              <a:pathLst>
                <a:path h="9792208" w="14866113">
                  <a:moveTo>
                    <a:pt x="0" y="0"/>
                  </a:moveTo>
                  <a:lnTo>
                    <a:pt x="14866113" y="0"/>
                  </a:lnTo>
                  <a:lnTo>
                    <a:pt x="14866113" y="9792208"/>
                  </a:lnTo>
                  <a:lnTo>
                    <a:pt x="0" y="9792208"/>
                  </a:lnTo>
                  <a:lnTo>
                    <a:pt x="0" y="0"/>
                  </a:lnTo>
                  <a:close/>
                </a:path>
              </a:pathLst>
            </a:custGeom>
            <a:blipFill>
              <a:blip r:embed="rId4"/>
              <a:stretch>
                <a:fillRect l="0" t="-871" r="0" b="-871"/>
              </a:stretch>
            </a:blipFill>
          </p:spPr>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AFCFD"/>
        </a:solidFill>
      </p:bgPr>
    </p:bg>
    <p:spTree>
      <p:nvGrpSpPr>
        <p:cNvPr id="1" name=""/>
        <p:cNvGrpSpPr/>
        <p:nvPr/>
      </p:nvGrpSpPr>
      <p:grpSpPr>
        <a:xfrm>
          <a:off x="0" y="0"/>
          <a:ext cx="0" cy="0"/>
          <a:chOff x="0" y="0"/>
          <a:chExt cx="0" cy="0"/>
        </a:xfrm>
      </p:grpSpPr>
      <p:grpSp>
        <p:nvGrpSpPr>
          <p:cNvPr name="Group 2" id="2"/>
          <p:cNvGrpSpPr/>
          <p:nvPr/>
        </p:nvGrpSpPr>
        <p:grpSpPr>
          <a:xfrm rot="0">
            <a:off x="17048988" y="9738360"/>
            <a:ext cx="548640" cy="411480"/>
            <a:chOff x="0" y="0"/>
            <a:chExt cx="731520" cy="548640"/>
          </a:xfrm>
        </p:grpSpPr>
        <p:sp>
          <p:nvSpPr>
            <p:cNvPr name="Freeform 3" id="3"/>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4" id="4"/>
          <p:cNvGrpSpPr/>
          <p:nvPr/>
        </p:nvGrpSpPr>
        <p:grpSpPr>
          <a:xfrm rot="0">
            <a:off x="17048988" y="9709785"/>
            <a:ext cx="548640" cy="440055"/>
            <a:chOff x="0" y="0"/>
            <a:chExt cx="731520" cy="586740"/>
          </a:xfrm>
        </p:grpSpPr>
        <p:sp>
          <p:nvSpPr>
            <p:cNvPr name="Freeform 5" id="5"/>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6" id="6"/>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5F669F"/>
                  </a:solidFill>
                  <a:latin typeface="Calibri (MS)"/>
                  <a:ea typeface="Calibri (MS)"/>
                  <a:cs typeface="Calibri (MS)"/>
                  <a:sym typeface="Calibri (MS)"/>
                </a:rPr>
                <a:t>14</a:t>
              </a:r>
            </a:p>
          </p:txBody>
        </p:sp>
      </p:grpSp>
      <p:grpSp>
        <p:nvGrpSpPr>
          <p:cNvPr name="Group 7" id="7"/>
          <p:cNvGrpSpPr/>
          <p:nvPr/>
        </p:nvGrpSpPr>
        <p:grpSpPr>
          <a:xfrm rot="0">
            <a:off x="822960" y="438912"/>
            <a:ext cx="13716000" cy="480060"/>
            <a:chOff x="0" y="0"/>
            <a:chExt cx="18288000" cy="640080"/>
          </a:xfrm>
        </p:grpSpPr>
        <p:sp>
          <p:nvSpPr>
            <p:cNvPr name="Freeform 8" id="8"/>
            <p:cNvSpPr/>
            <p:nvPr/>
          </p:nvSpPr>
          <p:spPr>
            <a:xfrm flipH="false" flipV="false" rot="0">
              <a:off x="0" y="0"/>
              <a:ext cx="18288000" cy="640080"/>
            </a:xfrm>
            <a:custGeom>
              <a:avLst/>
              <a:gdLst/>
              <a:ahLst/>
              <a:cxnLst/>
              <a:rect r="r" b="b" t="t" l="l"/>
              <a:pathLst>
                <a:path h="640080" w="18288000">
                  <a:moveTo>
                    <a:pt x="0" y="0"/>
                  </a:moveTo>
                  <a:lnTo>
                    <a:pt x="18288000" y="0"/>
                  </a:lnTo>
                  <a:lnTo>
                    <a:pt x="18288000" y="640080"/>
                  </a:lnTo>
                  <a:lnTo>
                    <a:pt x="0" y="640080"/>
                  </a:lnTo>
                  <a:close/>
                </a:path>
              </a:pathLst>
            </a:custGeom>
            <a:blipFill>
              <a:blip r:embed="rId2">
                <a:alphaModFix amt="0"/>
              </a:blip>
              <a:stretch>
                <a:fillRect l="0" t="-506327" r="0" b="-506329"/>
              </a:stretch>
            </a:blipFill>
          </p:spPr>
        </p:sp>
      </p:grpSp>
      <p:grpSp>
        <p:nvGrpSpPr>
          <p:cNvPr name="Group 9" id="9"/>
          <p:cNvGrpSpPr/>
          <p:nvPr/>
        </p:nvGrpSpPr>
        <p:grpSpPr>
          <a:xfrm rot="0">
            <a:off x="822960" y="410337"/>
            <a:ext cx="13716000" cy="508635"/>
            <a:chOff x="0" y="0"/>
            <a:chExt cx="18288000" cy="678180"/>
          </a:xfrm>
        </p:grpSpPr>
        <p:sp>
          <p:nvSpPr>
            <p:cNvPr name="Freeform 10" id="10"/>
            <p:cNvSpPr/>
            <p:nvPr/>
          </p:nvSpPr>
          <p:spPr>
            <a:xfrm flipH="false" flipV="false" rot="0">
              <a:off x="0" y="0"/>
              <a:ext cx="18288000" cy="678180"/>
            </a:xfrm>
            <a:custGeom>
              <a:avLst/>
              <a:gdLst/>
              <a:ahLst/>
              <a:cxnLst/>
              <a:rect r="r" b="b" t="t" l="l"/>
              <a:pathLst>
                <a:path h="678180" w="18288000">
                  <a:moveTo>
                    <a:pt x="0" y="0"/>
                  </a:moveTo>
                  <a:lnTo>
                    <a:pt x="18288000" y="0"/>
                  </a:lnTo>
                  <a:lnTo>
                    <a:pt x="18288000" y="678180"/>
                  </a:lnTo>
                  <a:lnTo>
                    <a:pt x="0" y="678180"/>
                  </a:lnTo>
                  <a:close/>
                </a:path>
              </a:pathLst>
            </a:custGeom>
            <a:blipFill>
              <a:blip r:embed="rId3">
                <a:alphaModFix amt="0"/>
              </a:blip>
              <a:stretch>
                <a:fillRect l="0" t="-475439" r="0" b="-475439"/>
              </a:stretch>
            </a:blipFill>
          </p:spPr>
        </p:sp>
        <p:sp>
          <p:nvSpPr>
            <p:cNvPr name="TextBox 11" id="11"/>
            <p:cNvSpPr txBox="true"/>
            <p:nvPr/>
          </p:nvSpPr>
          <p:spPr>
            <a:xfrm>
              <a:off x="0" y="-38100"/>
              <a:ext cx="18288000" cy="716280"/>
            </a:xfrm>
            <a:prstGeom prst="rect">
              <a:avLst/>
            </a:prstGeom>
          </p:spPr>
          <p:txBody>
            <a:bodyPr anchor="ctr" rtlCol="false" tIns="0" lIns="0" bIns="0" rIns="0"/>
            <a:lstStyle/>
            <a:p>
              <a:pPr algn="l">
                <a:lnSpc>
                  <a:spcPts val="2160"/>
                </a:lnSpc>
              </a:pPr>
              <a:r>
                <a:rPr lang="en-US" b="true" sz="1800" spc="225">
                  <a:solidFill>
                    <a:srgbClr val="A5ABDF"/>
                  </a:solidFill>
                  <a:latin typeface="Calibri (MS) Bold"/>
                  <a:ea typeface="Calibri (MS) Bold"/>
                  <a:cs typeface="Calibri (MS) Bold"/>
                  <a:sym typeface="Calibri (MS) Bold"/>
                </a:rPr>
                <a:t>WIREFRAMES · CUBRE REQ-02</a:t>
              </a:r>
            </a:p>
          </p:txBody>
        </p:sp>
      </p:grpSp>
      <p:grpSp>
        <p:nvGrpSpPr>
          <p:cNvPr name="Group 12" id="12"/>
          <p:cNvGrpSpPr/>
          <p:nvPr/>
        </p:nvGrpSpPr>
        <p:grpSpPr>
          <a:xfrm rot="0">
            <a:off x="822960" y="850392"/>
            <a:ext cx="16459200" cy="822960"/>
            <a:chOff x="0" y="0"/>
            <a:chExt cx="21945600" cy="1097280"/>
          </a:xfrm>
        </p:grpSpPr>
        <p:sp>
          <p:nvSpPr>
            <p:cNvPr name="Freeform 13" id="13"/>
            <p:cNvSpPr/>
            <p:nvPr/>
          </p:nvSpPr>
          <p:spPr>
            <a:xfrm flipH="false" flipV="false" rot="0">
              <a:off x="0" y="0"/>
              <a:ext cx="21945600" cy="1097280"/>
            </a:xfrm>
            <a:custGeom>
              <a:avLst/>
              <a:gdLst/>
              <a:ahLst/>
              <a:cxnLst/>
              <a:rect r="r" b="b" t="t" l="l"/>
              <a:pathLst>
                <a:path h="1097280" w="21945600">
                  <a:moveTo>
                    <a:pt x="0" y="0"/>
                  </a:moveTo>
                  <a:lnTo>
                    <a:pt x="21945600" y="0"/>
                  </a:lnTo>
                  <a:lnTo>
                    <a:pt x="21945600" y="1097280"/>
                  </a:lnTo>
                  <a:lnTo>
                    <a:pt x="0" y="1097280"/>
                  </a:lnTo>
                  <a:close/>
                </a:path>
              </a:pathLst>
            </a:custGeom>
            <a:blipFill>
              <a:blip r:embed="rId2">
                <a:alphaModFix amt="0"/>
              </a:blip>
              <a:stretch>
                <a:fillRect l="0" t="-339429" r="0" b="-339430"/>
              </a:stretch>
            </a:blipFill>
          </p:spPr>
        </p:sp>
      </p:grpSp>
      <p:grpSp>
        <p:nvGrpSpPr>
          <p:cNvPr name="Group 14" id="14"/>
          <p:cNvGrpSpPr/>
          <p:nvPr/>
        </p:nvGrpSpPr>
        <p:grpSpPr>
          <a:xfrm rot="0">
            <a:off x="822960" y="850392"/>
            <a:ext cx="16459200" cy="822960"/>
            <a:chOff x="0" y="0"/>
            <a:chExt cx="21945600" cy="1097280"/>
          </a:xfrm>
        </p:grpSpPr>
        <p:sp>
          <p:nvSpPr>
            <p:cNvPr name="Freeform 15" id="15"/>
            <p:cNvSpPr/>
            <p:nvPr/>
          </p:nvSpPr>
          <p:spPr>
            <a:xfrm flipH="false" flipV="false" rot="0">
              <a:off x="0" y="0"/>
              <a:ext cx="21945600" cy="1097280"/>
            </a:xfrm>
            <a:custGeom>
              <a:avLst/>
              <a:gdLst/>
              <a:ahLst/>
              <a:cxnLst/>
              <a:rect r="r" b="b" t="t" l="l"/>
              <a:pathLst>
                <a:path h="1097280" w="21945600">
                  <a:moveTo>
                    <a:pt x="0" y="0"/>
                  </a:moveTo>
                  <a:lnTo>
                    <a:pt x="21945600" y="0"/>
                  </a:lnTo>
                  <a:lnTo>
                    <a:pt x="21945600" y="1097280"/>
                  </a:lnTo>
                  <a:lnTo>
                    <a:pt x="0" y="1097280"/>
                  </a:lnTo>
                  <a:close/>
                </a:path>
              </a:pathLst>
            </a:custGeom>
            <a:blipFill>
              <a:blip r:embed="rId3">
                <a:alphaModFix amt="0"/>
              </a:blip>
              <a:stretch>
                <a:fillRect l="0" t="-339700" r="0" b="-339700"/>
              </a:stretch>
            </a:blipFill>
          </p:spPr>
        </p:sp>
        <p:sp>
          <p:nvSpPr>
            <p:cNvPr name="TextBox 16" id="16"/>
            <p:cNvSpPr txBox="true"/>
            <p:nvPr/>
          </p:nvSpPr>
          <p:spPr>
            <a:xfrm>
              <a:off x="0" y="0"/>
              <a:ext cx="21945600" cy="1097280"/>
            </a:xfrm>
            <a:prstGeom prst="rect">
              <a:avLst/>
            </a:prstGeom>
          </p:spPr>
          <p:txBody>
            <a:bodyPr anchor="ctr" rtlCol="false" tIns="0" lIns="0" bIns="0" rIns="0"/>
            <a:lstStyle/>
            <a:p>
              <a:pPr algn="l">
                <a:lnSpc>
                  <a:spcPts val="4680"/>
                </a:lnSpc>
              </a:pPr>
              <a:r>
                <a:rPr lang="en-US" sz="3900" b="true">
                  <a:solidFill>
                    <a:srgbClr val="2F3E96"/>
                  </a:solidFill>
                  <a:latin typeface="Cambria Bold"/>
                  <a:ea typeface="Cambria Bold"/>
                  <a:cs typeface="Cambria Bold"/>
                  <a:sym typeface="Cambria Bold"/>
                </a:rPr>
                <a:t>Tarjeta de propiedad con explicación</a:t>
              </a:r>
            </a:p>
          </p:txBody>
        </p:sp>
      </p:grpSp>
      <p:grpSp>
        <p:nvGrpSpPr>
          <p:cNvPr name="Group 17" id="17"/>
          <p:cNvGrpSpPr/>
          <p:nvPr/>
        </p:nvGrpSpPr>
        <p:grpSpPr>
          <a:xfrm rot="0">
            <a:off x="3678688" y="9018270"/>
            <a:ext cx="10930633" cy="480060"/>
            <a:chOff x="0" y="0"/>
            <a:chExt cx="14574177" cy="640080"/>
          </a:xfrm>
        </p:grpSpPr>
        <p:sp>
          <p:nvSpPr>
            <p:cNvPr name="Freeform 18" id="18"/>
            <p:cNvSpPr/>
            <p:nvPr/>
          </p:nvSpPr>
          <p:spPr>
            <a:xfrm flipH="false" flipV="false" rot="0">
              <a:off x="0" y="0"/>
              <a:ext cx="14574138" cy="640080"/>
            </a:xfrm>
            <a:custGeom>
              <a:avLst/>
              <a:gdLst/>
              <a:ahLst/>
              <a:cxnLst/>
              <a:rect r="r" b="b" t="t" l="l"/>
              <a:pathLst>
                <a:path h="640080" w="14574138">
                  <a:moveTo>
                    <a:pt x="0" y="0"/>
                  </a:moveTo>
                  <a:lnTo>
                    <a:pt x="14574138" y="0"/>
                  </a:lnTo>
                  <a:lnTo>
                    <a:pt x="14574138" y="640080"/>
                  </a:lnTo>
                  <a:lnTo>
                    <a:pt x="0" y="640080"/>
                  </a:lnTo>
                  <a:close/>
                </a:path>
              </a:pathLst>
            </a:custGeom>
            <a:blipFill>
              <a:blip r:embed="rId2">
                <a:alphaModFix amt="0"/>
              </a:blip>
              <a:stretch>
                <a:fillRect l="0" t="-393353" r="0" b="-393351"/>
              </a:stretch>
            </a:blipFill>
          </p:spPr>
        </p:sp>
      </p:grpSp>
      <p:grpSp>
        <p:nvGrpSpPr>
          <p:cNvPr name="Group 19" id="19"/>
          <p:cNvGrpSpPr/>
          <p:nvPr/>
        </p:nvGrpSpPr>
        <p:grpSpPr>
          <a:xfrm rot="0">
            <a:off x="3678688" y="9003982"/>
            <a:ext cx="10930633" cy="494347"/>
            <a:chOff x="0" y="0"/>
            <a:chExt cx="14574177" cy="659130"/>
          </a:xfrm>
        </p:grpSpPr>
        <p:sp>
          <p:nvSpPr>
            <p:cNvPr name="Freeform 20" id="20"/>
            <p:cNvSpPr/>
            <p:nvPr/>
          </p:nvSpPr>
          <p:spPr>
            <a:xfrm flipH="false" flipV="false" rot="0">
              <a:off x="0" y="0"/>
              <a:ext cx="14574176" cy="659130"/>
            </a:xfrm>
            <a:custGeom>
              <a:avLst/>
              <a:gdLst/>
              <a:ahLst/>
              <a:cxnLst/>
              <a:rect r="r" b="b" t="t" l="l"/>
              <a:pathLst>
                <a:path h="659130" w="14574176">
                  <a:moveTo>
                    <a:pt x="0" y="0"/>
                  </a:moveTo>
                  <a:lnTo>
                    <a:pt x="14574176" y="0"/>
                  </a:lnTo>
                  <a:lnTo>
                    <a:pt x="14574176" y="659130"/>
                  </a:lnTo>
                  <a:lnTo>
                    <a:pt x="0" y="659130"/>
                  </a:lnTo>
                  <a:close/>
                </a:path>
              </a:pathLst>
            </a:custGeom>
            <a:blipFill>
              <a:blip r:embed="rId3">
                <a:alphaModFix amt="0"/>
              </a:blip>
              <a:stretch>
                <a:fillRect l="0" t="-380838" r="0" b="-380838"/>
              </a:stretch>
            </a:blipFill>
          </p:spPr>
        </p:sp>
        <p:sp>
          <p:nvSpPr>
            <p:cNvPr name="TextBox 21" id="21"/>
            <p:cNvSpPr txBox="true"/>
            <p:nvPr/>
          </p:nvSpPr>
          <p:spPr>
            <a:xfrm>
              <a:off x="0" y="-19050"/>
              <a:ext cx="14574177" cy="678180"/>
            </a:xfrm>
            <a:prstGeom prst="rect">
              <a:avLst/>
            </a:prstGeom>
          </p:spPr>
          <p:txBody>
            <a:bodyPr anchor="ctr" rtlCol="false" tIns="0" lIns="0" bIns="0" rIns="0"/>
            <a:lstStyle/>
            <a:p>
              <a:pPr algn="ctr">
                <a:lnSpc>
                  <a:spcPts val="1889"/>
                </a:lnSpc>
              </a:pPr>
              <a:r>
                <a:rPr lang="en-US" sz="1575" i="true">
                  <a:solidFill>
                    <a:srgbClr val="2F3E96"/>
                  </a:solidFill>
                  <a:latin typeface="Calibri (MS) Italics"/>
                  <a:ea typeface="Calibri (MS) Italics"/>
                  <a:cs typeface="Calibri (MS) Italics"/>
                  <a:sym typeface="Calibri (MS) Italics"/>
                </a:rPr>
                <a:t>Wireframe de alta fidelidad — cada score viene con su explicación en texto plano, incluyendo el caso de "dato parcial" exigido por REQ-02.</a:t>
              </a:r>
            </a:p>
          </p:txBody>
        </p:sp>
      </p:grpSp>
      <p:grpSp>
        <p:nvGrpSpPr>
          <p:cNvPr name="Group 22" id="22"/>
          <p:cNvGrpSpPr/>
          <p:nvPr/>
        </p:nvGrpSpPr>
        <p:grpSpPr>
          <a:xfrm rot="0">
            <a:off x="685800" y="9738360"/>
            <a:ext cx="8229600" cy="411480"/>
            <a:chOff x="0" y="0"/>
            <a:chExt cx="10972800" cy="548640"/>
          </a:xfrm>
        </p:grpSpPr>
        <p:sp>
          <p:nvSpPr>
            <p:cNvPr name="Freeform 23" id="2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24" id="24"/>
          <p:cNvGrpSpPr/>
          <p:nvPr/>
        </p:nvGrpSpPr>
        <p:grpSpPr>
          <a:xfrm rot="0">
            <a:off x="685800" y="9709785"/>
            <a:ext cx="8229600" cy="440055"/>
            <a:chOff x="0" y="0"/>
            <a:chExt cx="10972800" cy="586740"/>
          </a:xfrm>
        </p:grpSpPr>
        <p:sp>
          <p:nvSpPr>
            <p:cNvPr name="Freeform 25" id="25"/>
            <p:cNvSpPr/>
            <p:nvPr/>
          </p:nvSpPr>
          <p:spPr>
            <a:xfrm flipH="false" flipV="false" rot="0">
              <a:off x="0" y="0"/>
              <a:ext cx="10972800" cy="586740"/>
            </a:xfrm>
            <a:custGeom>
              <a:avLst/>
              <a:gdLst/>
              <a:ahLst/>
              <a:cxnLst/>
              <a:rect r="r" b="b" t="t" l="l"/>
              <a:pathLst>
                <a:path h="586740" w="10972800">
                  <a:moveTo>
                    <a:pt x="0" y="0"/>
                  </a:moveTo>
                  <a:lnTo>
                    <a:pt x="10972800" y="0"/>
                  </a:lnTo>
                  <a:lnTo>
                    <a:pt x="10972800" y="586740"/>
                  </a:lnTo>
                  <a:lnTo>
                    <a:pt x="0" y="586740"/>
                  </a:lnTo>
                  <a:close/>
                </a:path>
              </a:pathLst>
            </a:custGeom>
            <a:blipFill>
              <a:blip r:embed="rId3">
                <a:alphaModFix amt="0"/>
              </a:blip>
              <a:stretch>
                <a:fillRect l="0" t="-314395" r="0" b="-314395"/>
              </a:stretch>
            </a:blipFill>
          </p:spPr>
        </p:sp>
        <p:sp>
          <p:nvSpPr>
            <p:cNvPr name="TextBox 26" id="26"/>
            <p:cNvSpPr txBox="true"/>
            <p:nvPr/>
          </p:nvSpPr>
          <p:spPr>
            <a:xfrm>
              <a:off x="0" y="-38100"/>
              <a:ext cx="10972800" cy="624840"/>
            </a:xfrm>
            <a:prstGeom prst="rect">
              <a:avLst/>
            </a:prstGeom>
          </p:spPr>
          <p:txBody>
            <a:bodyPr anchor="ctr" rtlCol="false" tIns="0" lIns="0" bIns="0" rIns="0"/>
            <a:lstStyle/>
            <a:p>
              <a:pPr algn="l">
                <a:lnSpc>
                  <a:spcPts val="1800"/>
                </a:lnSpc>
              </a:pPr>
              <a:r>
                <a:rPr lang="en-US" sz="1500">
                  <a:solidFill>
                    <a:srgbClr val="2F3E96"/>
                  </a:solidFill>
                  <a:latin typeface="Calibri (MS)"/>
                  <a:ea typeface="Calibri (MS)"/>
                  <a:cs typeface="Calibri (MS)"/>
                  <a:sym typeface="Calibri (MS)"/>
                </a:rPr>
                <a:t>InmoScore · Requirements Artifacts</a:t>
              </a:r>
            </a:p>
          </p:txBody>
        </p:sp>
      </p:grpSp>
      <p:grpSp>
        <p:nvGrpSpPr>
          <p:cNvPr name="Group 27" id="27"/>
          <p:cNvGrpSpPr/>
          <p:nvPr/>
        </p:nvGrpSpPr>
        <p:grpSpPr>
          <a:xfrm rot="0">
            <a:off x="17048988" y="9738360"/>
            <a:ext cx="548640" cy="411480"/>
            <a:chOff x="0" y="0"/>
            <a:chExt cx="731520" cy="548640"/>
          </a:xfrm>
        </p:grpSpPr>
        <p:sp>
          <p:nvSpPr>
            <p:cNvPr name="Freeform 28" id="28"/>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29" id="29"/>
          <p:cNvGrpSpPr/>
          <p:nvPr/>
        </p:nvGrpSpPr>
        <p:grpSpPr>
          <a:xfrm rot="0">
            <a:off x="17048988" y="9709785"/>
            <a:ext cx="548640" cy="440055"/>
            <a:chOff x="0" y="0"/>
            <a:chExt cx="731520" cy="586740"/>
          </a:xfrm>
        </p:grpSpPr>
        <p:sp>
          <p:nvSpPr>
            <p:cNvPr name="Freeform 30" id="30"/>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31" id="31"/>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5F669F"/>
                  </a:solidFill>
                  <a:latin typeface="Calibri (MS)"/>
                  <a:ea typeface="Calibri (MS)"/>
                  <a:cs typeface="Calibri (MS)"/>
                  <a:sym typeface="Calibri (MS)"/>
                </a:rPr>
                <a:t>5</a:t>
              </a:r>
            </a:p>
          </p:txBody>
        </p:sp>
      </p:grpSp>
      <p:grpSp>
        <p:nvGrpSpPr>
          <p:cNvPr name="Group 32" id="32"/>
          <p:cNvGrpSpPr/>
          <p:nvPr/>
        </p:nvGrpSpPr>
        <p:grpSpPr>
          <a:xfrm rot="0">
            <a:off x="3649847" y="1673352"/>
            <a:ext cx="10988307" cy="7344918"/>
            <a:chOff x="0" y="0"/>
            <a:chExt cx="14651076" cy="9793224"/>
          </a:xfrm>
        </p:grpSpPr>
        <p:sp>
          <p:nvSpPr>
            <p:cNvPr name="Freeform 33" id="33"/>
            <p:cNvSpPr/>
            <p:nvPr/>
          </p:nvSpPr>
          <p:spPr>
            <a:xfrm flipH="false" flipV="false" rot="0">
              <a:off x="0" y="0"/>
              <a:ext cx="14651101" cy="9793224"/>
            </a:xfrm>
            <a:custGeom>
              <a:avLst/>
              <a:gdLst/>
              <a:ahLst/>
              <a:cxnLst/>
              <a:rect r="r" b="b" t="t" l="l"/>
              <a:pathLst>
                <a:path h="9793224" w="14651101">
                  <a:moveTo>
                    <a:pt x="0" y="0"/>
                  </a:moveTo>
                  <a:lnTo>
                    <a:pt x="14651101" y="0"/>
                  </a:lnTo>
                  <a:lnTo>
                    <a:pt x="14651101" y="9793224"/>
                  </a:lnTo>
                  <a:lnTo>
                    <a:pt x="0" y="9793224"/>
                  </a:lnTo>
                  <a:lnTo>
                    <a:pt x="0" y="0"/>
                  </a:lnTo>
                  <a:close/>
                </a:path>
              </a:pathLst>
            </a:custGeom>
            <a:blipFill>
              <a:blip r:embed="rId4"/>
              <a:stretch>
                <a:fillRect l="0" t="0" r="0" b="0"/>
              </a:stretch>
            </a:blipFill>
          </p:spPr>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AFCFD"/>
        </a:solidFill>
      </p:bgPr>
    </p:bg>
    <p:spTree>
      <p:nvGrpSpPr>
        <p:cNvPr id="1" name=""/>
        <p:cNvGrpSpPr/>
        <p:nvPr/>
      </p:nvGrpSpPr>
      <p:grpSpPr>
        <a:xfrm>
          <a:off x="0" y="0"/>
          <a:ext cx="0" cy="0"/>
          <a:chOff x="0" y="0"/>
          <a:chExt cx="0" cy="0"/>
        </a:xfrm>
      </p:grpSpPr>
      <p:grpSp>
        <p:nvGrpSpPr>
          <p:cNvPr name="Group 2" id="2"/>
          <p:cNvGrpSpPr/>
          <p:nvPr/>
        </p:nvGrpSpPr>
        <p:grpSpPr>
          <a:xfrm rot="0">
            <a:off x="17048988" y="9738360"/>
            <a:ext cx="548640" cy="411480"/>
            <a:chOff x="0" y="0"/>
            <a:chExt cx="731520" cy="548640"/>
          </a:xfrm>
        </p:grpSpPr>
        <p:sp>
          <p:nvSpPr>
            <p:cNvPr name="Freeform 3" id="3"/>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4" id="4"/>
          <p:cNvGrpSpPr/>
          <p:nvPr/>
        </p:nvGrpSpPr>
        <p:grpSpPr>
          <a:xfrm rot="0">
            <a:off x="17048988" y="9709785"/>
            <a:ext cx="548640" cy="440055"/>
            <a:chOff x="0" y="0"/>
            <a:chExt cx="731520" cy="586740"/>
          </a:xfrm>
        </p:grpSpPr>
        <p:sp>
          <p:nvSpPr>
            <p:cNvPr name="Freeform 5" id="5"/>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6" id="6"/>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5F669F"/>
                  </a:solidFill>
                  <a:latin typeface="Calibri (MS)"/>
                  <a:ea typeface="Calibri (MS)"/>
                  <a:cs typeface="Calibri (MS)"/>
                  <a:sym typeface="Calibri (MS)"/>
                </a:rPr>
                <a:t>15</a:t>
              </a:r>
            </a:p>
          </p:txBody>
        </p:sp>
      </p:grpSp>
      <p:grpSp>
        <p:nvGrpSpPr>
          <p:cNvPr name="Group 7" id="7"/>
          <p:cNvGrpSpPr/>
          <p:nvPr/>
        </p:nvGrpSpPr>
        <p:grpSpPr>
          <a:xfrm rot="0">
            <a:off x="822960" y="438912"/>
            <a:ext cx="13716000" cy="480060"/>
            <a:chOff x="0" y="0"/>
            <a:chExt cx="18288000" cy="640080"/>
          </a:xfrm>
        </p:grpSpPr>
        <p:sp>
          <p:nvSpPr>
            <p:cNvPr name="Freeform 8" id="8"/>
            <p:cNvSpPr/>
            <p:nvPr/>
          </p:nvSpPr>
          <p:spPr>
            <a:xfrm flipH="false" flipV="false" rot="0">
              <a:off x="0" y="0"/>
              <a:ext cx="18288000" cy="640080"/>
            </a:xfrm>
            <a:custGeom>
              <a:avLst/>
              <a:gdLst/>
              <a:ahLst/>
              <a:cxnLst/>
              <a:rect r="r" b="b" t="t" l="l"/>
              <a:pathLst>
                <a:path h="640080" w="18288000">
                  <a:moveTo>
                    <a:pt x="0" y="0"/>
                  </a:moveTo>
                  <a:lnTo>
                    <a:pt x="18288000" y="0"/>
                  </a:lnTo>
                  <a:lnTo>
                    <a:pt x="18288000" y="640080"/>
                  </a:lnTo>
                  <a:lnTo>
                    <a:pt x="0" y="640080"/>
                  </a:lnTo>
                  <a:close/>
                </a:path>
              </a:pathLst>
            </a:custGeom>
            <a:blipFill>
              <a:blip r:embed="rId2">
                <a:alphaModFix amt="0"/>
              </a:blip>
              <a:stretch>
                <a:fillRect l="0" t="-506327" r="0" b="-506329"/>
              </a:stretch>
            </a:blipFill>
          </p:spPr>
        </p:sp>
      </p:grpSp>
      <p:grpSp>
        <p:nvGrpSpPr>
          <p:cNvPr name="Group 9" id="9"/>
          <p:cNvGrpSpPr/>
          <p:nvPr/>
        </p:nvGrpSpPr>
        <p:grpSpPr>
          <a:xfrm rot="0">
            <a:off x="822960" y="410337"/>
            <a:ext cx="13716000" cy="508635"/>
            <a:chOff x="0" y="0"/>
            <a:chExt cx="18288000" cy="678180"/>
          </a:xfrm>
        </p:grpSpPr>
        <p:sp>
          <p:nvSpPr>
            <p:cNvPr name="Freeform 10" id="10"/>
            <p:cNvSpPr/>
            <p:nvPr/>
          </p:nvSpPr>
          <p:spPr>
            <a:xfrm flipH="false" flipV="false" rot="0">
              <a:off x="0" y="0"/>
              <a:ext cx="18288000" cy="678180"/>
            </a:xfrm>
            <a:custGeom>
              <a:avLst/>
              <a:gdLst/>
              <a:ahLst/>
              <a:cxnLst/>
              <a:rect r="r" b="b" t="t" l="l"/>
              <a:pathLst>
                <a:path h="678180" w="18288000">
                  <a:moveTo>
                    <a:pt x="0" y="0"/>
                  </a:moveTo>
                  <a:lnTo>
                    <a:pt x="18288000" y="0"/>
                  </a:lnTo>
                  <a:lnTo>
                    <a:pt x="18288000" y="678180"/>
                  </a:lnTo>
                  <a:lnTo>
                    <a:pt x="0" y="678180"/>
                  </a:lnTo>
                  <a:close/>
                </a:path>
              </a:pathLst>
            </a:custGeom>
            <a:blipFill>
              <a:blip r:embed="rId3">
                <a:alphaModFix amt="0"/>
              </a:blip>
              <a:stretch>
                <a:fillRect l="0" t="-475439" r="0" b="-475439"/>
              </a:stretch>
            </a:blipFill>
          </p:spPr>
        </p:sp>
        <p:sp>
          <p:nvSpPr>
            <p:cNvPr name="TextBox 11" id="11"/>
            <p:cNvSpPr txBox="true"/>
            <p:nvPr/>
          </p:nvSpPr>
          <p:spPr>
            <a:xfrm>
              <a:off x="0" y="-38100"/>
              <a:ext cx="18288000" cy="716280"/>
            </a:xfrm>
            <a:prstGeom prst="rect">
              <a:avLst/>
            </a:prstGeom>
          </p:spPr>
          <p:txBody>
            <a:bodyPr anchor="ctr" rtlCol="false" tIns="0" lIns="0" bIns="0" rIns="0"/>
            <a:lstStyle/>
            <a:p>
              <a:pPr algn="l">
                <a:lnSpc>
                  <a:spcPts val="2160"/>
                </a:lnSpc>
              </a:pPr>
              <a:r>
                <a:rPr lang="en-US" b="true" sz="1800" spc="225">
                  <a:solidFill>
                    <a:srgbClr val="A5ABDF"/>
                  </a:solidFill>
                  <a:latin typeface="Calibri (MS) Bold"/>
                  <a:ea typeface="Calibri (MS) Bold"/>
                  <a:cs typeface="Calibri (MS) Bold"/>
                  <a:sym typeface="Calibri (MS) Bold"/>
                </a:rPr>
                <a:t>STORYBOARDS · CUBRE REQ-01</a:t>
              </a:r>
            </a:p>
          </p:txBody>
        </p:sp>
      </p:grpSp>
      <p:grpSp>
        <p:nvGrpSpPr>
          <p:cNvPr name="Group 12" id="12"/>
          <p:cNvGrpSpPr/>
          <p:nvPr/>
        </p:nvGrpSpPr>
        <p:grpSpPr>
          <a:xfrm rot="0">
            <a:off x="822960" y="850392"/>
            <a:ext cx="16459200" cy="822960"/>
            <a:chOff x="0" y="0"/>
            <a:chExt cx="21945600" cy="1097280"/>
          </a:xfrm>
        </p:grpSpPr>
        <p:sp>
          <p:nvSpPr>
            <p:cNvPr name="Freeform 13" id="13"/>
            <p:cNvSpPr/>
            <p:nvPr/>
          </p:nvSpPr>
          <p:spPr>
            <a:xfrm flipH="false" flipV="false" rot="0">
              <a:off x="0" y="0"/>
              <a:ext cx="21945600" cy="1097280"/>
            </a:xfrm>
            <a:custGeom>
              <a:avLst/>
              <a:gdLst/>
              <a:ahLst/>
              <a:cxnLst/>
              <a:rect r="r" b="b" t="t" l="l"/>
              <a:pathLst>
                <a:path h="1097280" w="21945600">
                  <a:moveTo>
                    <a:pt x="0" y="0"/>
                  </a:moveTo>
                  <a:lnTo>
                    <a:pt x="21945600" y="0"/>
                  </a:lnTo>
                  <a:lnTo>
                    <a:pt x="21945600" y="1097280"/>
                  </a:lnTo>
                  <a:lnTo>
                    <a:pt x="0" y="1097280"/>
                  </a:lnTo>
                  <a:close/>
                </a:path>
              </a:pathLst>
            </a:custGeom>
            <a:blipFill>
              <a:blip r:embed="rId2">
                <a:alphaModFix amt="0"/>
              </a:blip>
              <a:stretch>
                <a:fillRect l="0" t="-339429" r="0" b="-339430"/>
              </a:stretch>
            </a:blipFill>
          </p:spPr>
        </p:sp>
      </p:grpSp>
      <p:grpSp>
        <p:nvGrpSpPr>
          <p:cNvPr name="Group 14" id="14"/>
          <p:cNvGrpSpPr/>
          <p:nvPr/>
        </p:nvGrpSpPr>
        <p:grpSpPr>
          <a:xfrm rot="0">
            <a:off x="822960" y="850392"/>
            <a:ext cx="16459200" cy="822960"/>
            <a:chOff x="0" y="0"/>
            <a:chExt cx="21945600" cy="1097280"/>
          </a:xfrm>
        </p:grpSpPr>
        <p:sp>
          <p:nvSpPr>
            <p:cNvPr name="Freeform 15" id="15"/>
            <p:cNvSpPr/>
            <p:nvPr/>
          </p:nvSpPr>
          <p:spPr>
            <a:xfrm flipH="false" flipV="false" rot="0">
              <a:off x="0" y="0"/>
              <a:ext cx="21945600" cy="1097280"/>
            </a:xfrm>
            <a:custGeom>
              <a:avLst/>
              <a:gdLst/>
              <a:ahLst/>
              <a:cxnLst/>
              <a:rect r="r" b="b" t="t" l="l"/>
              <a:pathLst>
                <a:path h="1097280" w="21945600">
                  <a:moveTo>
                    <a:pt x="0" y="0"/>
                  </a:moveTo>
                  <a:lnTo>
                    <a:pt x="21945600" y="0"/>
                  </a:lnTo>
                  <a:lnTo>
                    <a:pt x="21945600" y="1097280"/>
                  </a:lnTo>
                  <a:lnTo>
                    <a:pt x="0" y="1097280"/>
                  </a:lnTo>
                  <a:close/>
                </a:path>
              </a:pathLst>
            </a:custGeom>
            <a:blipFill>
              <a:blip r:embed="rId3">
                <a:alphaModFix amt="0"/>
              </a:blip>
              <a:stretch>
                <a:fillRect l="0" t="-339700" r="0" b="-339700"/>
              </a:stretch>
            </a:blipFill>
          </p:spPr>
        </p:sp>
        <p:sp>
          <p:nvSpPr>
            <p:cNvPr name="TextBox 16" id="16"/>
            <p:cNvSpPr txBox="true"/>
            <p:nvPr/>
          </p:nvSpPr>
          <p:spPr>
            <a:xfrm>
              <a:off x="0" y="0"/>
              <a:ext cx="21945600" cy="1097280"/>
            </a:xfrm>
            <a:prstGeom prst="rect">
              <a:avLst/>
            </a:prstGeom>
          </p:spPr>
          <p:txBody>
            <a:bodyPr anchor="ctr" rtlCol="false" tIns="0" lIns="0" bIns="0" rIns="0"/>
            <a:lstStyle/>
            <a:p>
              <a:pPr algn="l">
                <a:lnSpc>
                  <a:spcPts val="4680"/>
                </a:lnSpc>
              </a:pPr>
              <a:r>
                <a:rPr lang="en-US" sz="3900" b="true">
                  <a:solidFill>
                    <a:srgbClr val="2F3E96"/>
                  </a:solidFill>
                  <a:latin typeface="Cambria Bold"/>
                  <a:ea typeface="Cambria Bold"/>
                  <a:cs typeface="Cambria Bold"/>
                  <a:sym typeface="Cambria Bold"/>
                </a:rPr>
                <a:t>María recibe un ranking hecho a su medida</a:t>
              </a:r>
            </a:p>
          </p:txBody>
        </p:sp>
      </p:grpSp>
      <p:grpSp>
        <p:nvGrpSpPr>
          <p:cNvPr name="Group 17" id="17"/>
          <p:cNvGrpSpPr/>
          <p:nvPr/>
        </p:nvGrpSpPr>
        <p:grpSpPr>
          <a:xfrm rot="0">
            <a:off x="800100" y="8230076"/>
            <a:ext cx="16459200" cy="548640"/>
            <a:chOff x="0" y="0"/>
            <a:chExt cx="21945600" cy="731520"/>
          </a:xfrm>
        </p:grpSpPr>
        <p:sp>
          <p:nvSpPr>
            <p:cNvPr name="Freeform 18" id="18"/>
            <p:cNvSpPr/>
            <p:nvPr/>
          </p:nvSpPr>
          <p:spPr>
            <a:xfrm flipH="false" flipV="false" rot="0">
              <a:off x="0" y="0"/>
              <a:ext cx="21945600" cy="731520"/>
            </a:xfrm>
            <a:custGeom>
              <a:avLst/>
              <a:gdLst/>
              <a:ahLst/>
              <a:cxnLst/>
              <a:rect r="r" b="b" t="t" l="l"/>
              <a:pathLst>
                <a:path h="731520" w="21945600">
                  <a:moveTo>
                    <a:pt x="0" y="0"/>
                  </a:moveTo>
                  <a:lnTo>
                    <a:pt x="21945600" y="0"/>
                  </a:lnTo>
                  <a:lnTo>
                    <a:pt x="21945600" y="731520"/>
                  </a:lnTo>
                  <a:lnTo>
                    <a:pt x="0" y="731520"/>
                  </a:lnTo>
                  <a:close/>
                </a:path>
              </a:pathLst>
            </a:custGeom>
            <a:blipFill>
              <a:blip r:embed="rId2">
                <a:alphaModFix amt="0"/>
              </a:blip>
              <a:stretch>
                <a:fillRect l="0" t="-534144" r="0" b="-534145"/>
              </a:stretch>
            </a:blipFill>
          </p:spPr>
        </p:sp>
      </p:grpSp>
      <p:grpSp>
        <p:nvGrpSpPr>
          <p:cNvPr name="Group 19" id="19"/>
          <p:cNvGrpSpPr/>
          <p:nvPr/>
        </p:nvGrpSpPr>
        <p:grpSpPr>
          <a:xfrm rot="0">
            <a:off x="800100" y="8208645"/>
            <a:ext cx="16459200" cy="570071"/>
            <a:chOff x="0" y="0"/>
            <a:chExt cx="21945600" cy="760095"/>
          </a:xfrm>
        </p:grpSpPr>
        <p:sp>
          <p:nvSpPr>
            <p:cNvPr name="Freeform 20" id="20"/>
            <p:cNvSpPr/>
            <p:nvPr/>
          </p:nvSpPr>
          <p:spPr>
            <a:xfrm flipH="false" flipV="false" rot="0">
              <a:off x="0" y="0"/>
              <a:ext cx="21945600" cy="760095"/>
            </a:xfrm>
            <a:custGeom>
              <a:avLst/>
              <a:gdLst/>
              <a:ahLst/>
              <a:cxnLst/>
              <a:rect r="r" b="b" t="t" l="l"/>
              <a:pathLst>
                <a:path h="760095" w="21945600">
                  <a:moveTo>
                    <a:pt x="0" y="0"/>
                  </a:moveTo>
                  <a:lnTo>
                    <a:pt x="21945600" y="0"/>
                  </a:lnTo>
                  <a:lnTo>
                    <a:pt x="21945600" y="760095"/>
                  </a:lnTo>
                  <a:lnTo>
                    <a:pt x="0" y="760095"/>
                  </a:lnTo>
                  <a:close/>
                </a:path>
              </a:pathLst>
            </a:custGeom>
            <a:blipFill>
              <a:blip r:embed="rId3">
                <a:alphaModFix amt="0"/>
              </a:blip>
              <a:stretch>
                <a:fillRect l="0" t="-512575" r="0" b="-512575"/>
              </a:stretch>
            </a:blipFill>
          </p:spPr>
        </p:sp>
        <p:sp>
          <p:nvSpPr>
            <p:cNvPr name="TextBox 21" id="21"/>
            <p:cNvSpPr txBox="true"/>
            <p:nvPr/>
          </p:nvSpPr>
          <p:spPr>
            <a:xfrm>
              <a:off x="0" y="-28575"/>
              <a:ext cx="21945600" cy="788670"/>
            </a:xfrm>
            <a:prstGeom prst="rect">
              <a:avLst/>
            </a:prstGeom>
          </p:spPr>
          <p:txBody>
            <a:bodyPr anchor="ctr" rtlCol="false" tIns="0" lIns="0" bIns="0" rIns="0"/>
            <a:lstStyle/>
            <a:p>
              <a:pPr algn="l">
                <a:lnSpc>
                  <a:spcPts val="1980"/>
                </a:lnSpc>
              </a:pPr>
              <a:r>
                <a:rPr lang="en-US" sz="1650" i="true">
                  <a:solidFill>
                    <a:srgbClr val="2F3E96"/>
                  </a:solidFill>
                  <a:latin typeface="Calibri (MS) Italics"/>
                  <a:ea typeface="Calibri (MS) Italics"/>
                  <a:cs typeface="Calibri (MS) Italics"/>
                  <a:sym typeface="Calibri (MS) Italics"/>
                </a:rPr>
                <a:t>Storyboard — ilustra REQ-01: perfil declarado → combinación de los 3 scores → ranking único por persona.</a:t>
              </a:r>
            </a:p>
          </p:txBody>
        </p:sp>
      </p:grpSp>
      <p:grpSp>
        <p:nvGrpSpPr>
          <p:cNvPr name="Group 22" id="22"/>
          <p:cNvGrpSpPr/>
          <p:nvPr/>
        </p:nvGrpSpPr>
        <p:grpSpPr>
          <a:xfrm rot="0">
            <a:off x="685800" y="9738360"/>
            <a:ext cx="8229600" cy="411480"/>
            <a:chOff x="0" y="0"/>
            <a:chExt cx="10972800" cy="548640"/>
          </a:xfrm>
        </p:grpSpPr>
        <p:sp>
          <p:nvSpPr>
            <p:cNvPr name="Freeform 23" id="2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24" id="24"/>
          <p:cNvGrpSpPr/>
          <p:nvPr/>
        </p:nvGrpSpPr>
        <p:grpSpPr>
          <a:xfrm rot="0">
            <a:off x="685800" y="9709785"/>
            <a:ext cx="8229600" cy="440055"/>
            <a:chOff x="0" y="0"/>
            <a:chExt cx="10972800" cy="586740"/>
          </a:xfrm>
        </p:grpSpPr>
        <p:sp>
          <p:nvSpPr>
            <p:cNvPr name="Freeform 25" id="25"/>
            <p:cNvSpPr/>
            <p:nvPr/>
          </p:nvSpPr>
          <p:spPr>
            <a:xfrm flipH="false" flipV="false" rot="0">
              <a:off x="0" y="0"/>
              <a:ext cx="10972800" cy="586740"/>
            </a:xfrm>
            <a:custGeom>
              <a:avLst/>
              <a:gdLst/>
              <a:ahLst/>
              <a:cxnLst/>
              <a:rect r="r" b="b" t="t" l="l"/>
              <a:pathLst>
                <a:path h="586740" w="10972800">
                  <a:moveTo>
                    <a:pt x="0" y="0"/>
                  </a:moveTo>
                  <a:lnTo>
                    <a:pt x="10972800" y="0"/>
                  </a:lnTo>
                  <a:lnTo>
                    <a:pt x="10972800" y="586740"/>
                  </a:lnTo>
                  <a:lnTo>
                    <a:pt x="0" y="586740"/>
                  </a:lnTo>
                  <a:close/>
                </a:path>
              </a:pathLst>
            </a:custGeom>
            <a:blipFill>
              <a:blip r:embed="rId3">
                <a:alphaModFix amt="0"/>
              </a:blip>
              <a:stretch>
                <a:fillRect l="0" t="-314395" r="0" b="-314395"/>
              </a:stretch>
            </a:blipFill>
          </p:spPr>
        </p:sp>
        <p:sp>
          <p:nvSpPr>
            <p:cNvPr name="TextBox 26" id="26"/>
            <p:cNvSpPr txBox="true"/>
            <p:nvPr/>
          </p:nvSpPr>
          <p:spPr>
            <a:xfrm>
              <a:off x="0" y="-38100"/>
              <a:ext cx="10972800" cy="624840"/>
            </a:xfrm>
            <a:prstGeom prst="rect">
              <a:avLst/>
            </a:prstGeom>
          </p:spPr>
          <p:txBody>
            <a:bodyPr anchor="ctr" rtlCol="false" tIns="0" lIns="0" bIns="0" rIns="0"/>
            <a:lstStyle/>
            <a:p>
              <a:pPr algn="l">
                <a:lnSpc>
                  <a:spcPts val="1800"/>
                </a:lnSpc>
              </a:pPr>
              <a:r>
                <a:rPr lang="en-US" sz="1500">
                  <a:solidFill>
                    <a:srgbClr val="2F3E96"/>
                  </a:solidFill>
                  <a:latin typeface="Calibri (MS)"/>
                  <a:ea typeface="Calibri (MS)"/>
                  <a:cs typeface="Calibri (MS)"/>
                  <a:sym typeface="Calibri (MS)"/>
                </a:rPr>
                <a:t>InmoScore · Requirements Artifacts</a:t>
              </a:r>
            </a:p>
          </p:txBody>
        </p:sp>
      </p:grpSp>
      <p:grpSp>
        <p:nvGrpSpPr>
          <p:cNvPr name="Group 27" id="27"/>
          <p:cNvGrpSpPr/>
          <p:nvPr/>
        </p:nvGrpSpPr>
        <p:grpSpPr>
          <a:xfrm rot="0">
            <a:off x="3706501" y="2160308"/>
            <a:ext cx="10874997" cy="6069768"/>
            <a:chOff x="0" y="0"/>
            <a:chExt cx="14499996" cy="8093024"/>
          </a:xfrm>
        </p:grpSpPr>
        <p:sp>
          <p:nvSpPr>
            <p:cNvPr name="Freeform 28" id="28"/>
            <p:cNvSpPr/>
            <p:nvPr/>
          </p:nvSpPr>
          <p:spPr>
            <a:xfrm flipH="false" flipV="false" rot="0">
              <a:off x="0" y="0"/>
              <a:ext cx="14499971" cy="8093075"/>
            </a:xfrm>
            <a:custGeom>
              <a:avLst/>
              <a:gdLst/>
              <a:ahLst/>
              <a:cxnLst/>
              <a:rect r="r" b="b" t="t" l="l"/>
              <a:pathLst>
                <a:path h="8093075" w="14499971">
                  <a:moveTo>
                    <a:pt x="0" y="0"/>
                  </a:moveTo>
                  <a:lnTo>
                    <a:pt x="14499971" y="0"/>
                  </a:lnTo>
                  <a:lnTo>
                    <a:pt x="14499971" y="8093075"/>
                  </a:lnTo>
                  <a:lnTo>
                    <a:pt x="0" y="8093075"/>
                  </a:lnTo>
                  <a:lnTo>
                    <a:pt x="0" y="0"/>
                  </a:lnTo>
                  <a:close/>
                </a:path>
              </a:pathLst>
            </a:custGeom>
            <a:blipFill>
              <a:blip r:embed="rId4"/>
              <a:stretch>
                <a:fillRect l="0" t="0" r="0" b="0"/>
              </a:stretch>
            </a:blipFill>
          </p:spPr>
        </p:sp>
      </p:gr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AFCFD"/>
        </a:solidFill>
      </p:bgPr>
    </p:bg>
    <p:spTree>
      <p:nvGrpSpPr>
        <p:cNvPr id="1" name=""/>
        <p:cNvGrpSpPr/>
        <p:nvPr/>
      </p:nvGrpSpPr>
      <p:grpSpPr>
        <a:xfrm>
          <a:off x="0" y="0"/>
          <a:ext cx="0" cy="0"/>
          <a:chOff x="0" y="0"/>
          <a:chExt cx="0" cy="0"/>
        </a:xfrm>
      </p:grpSpPr>
      <p:grpSp>
        <p:nvGrpSpPr>
          <p:cNvPr name="Group 2" id="2"/>
          <p:cNvGrpSpPr/>
          <p:nvPr/>
        </p:nvGrpSpPr>
        <p:grpSpPr>
          <a:xfrm rot="0">
            <a:off x="17048988" y="9738360"/>
            <a:ext cx="548640" cy="411480"/>
            <a:chOff x="0" y="0"/>
            <a:chExt cx="731520" cy="548640"/>
          </a:xfrm>
        </p:grpSpPr>
        <p:sp>
          <p:nvSpPr>
            <p:cNvPr name="Freeform 3" id="3"/>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4" id="4"/>
          <p:cNvGrpSpPr/>
          <p:nvPr/>
        </p:nvGrpSpPr>
        <p:grpSpPr>
          <a:xfrm rot="0">
            <a:off x="17048988" y="9709785"/>
            <a:ext cx="548640" cy="440055"/>
            <a:chOff x="0" y="0"/>
            <a:chExt cx="731520" cy="586740"/>
          </a:xfrm>
        </p:grpSpPr>
        <p:sp>
          <p:nvSpPr>
            <p:cNvPr name="Freeform 5" id="5"/>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6" id="6"/>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5F669F"/>
                  </a:solidFill>
                  <a:latin typeface="Calibri (MS)"/>
                  <a:ea typeface="Calibri (MS)"/>
                  <a:cs typeface="Calibri (MS)"/>
                  <a:sym typeface="Calibri (MS)"/>
                </a:rPr>
                <a:t>16</a:t>
              </a:r>
            </a:p>
          </p:txBody>
        </p:sp>
      </p:grpSp>
      <p:grpSp>
        <p:nvGrpSpPr>
          <p:cNvPr name="Group 7" id="7"/>
          <p:cNvGrpSpPr/>
          <p:nvPr/>
        </p:nvGrpSpPr>
        <p:grpSpPr>
          <a:xfrm rot="0">
            <a:off x="822960" y="438912"/>
            <a:ext cx="13716000" cy="480060"/>
            <a:chOff x="0" y="0"/>
            <a:chExt cx="18288000" cy="640080"/>
          </a:xfrm>
        </p:grpSpPr>
        <p:sp>
          <p:nvSpPr>
            <p:cNvPr name="Freeform 8" id="8"/>
            <p:cNvSpPr/>
            <p:nvPr/>
          </p:nvSpPr>
          <p:spPr>
            <a:xfrm flipH="false" flipV="false" rot="0">
              <a:off x="0" y="0"/>
              <a:ext cx="18288000" cy="640080"/>
            </a:xfrm>
            <a:custGeom>
              <a:avLst/>
              <a:gdLst/>
              <a:ahLst/>
              <a:cxnLst/>
              <a:rect r="r" b="b" t="t" l="l"/>
              <a:pathLst>
                <a:path h="640080" w="18288000">
                  <a:moveTo>
                    <a:pt x="0" y="0"/>
                  </a:moveTo>
                  <a:lnTo>
                    <a:pt x="18288000" y="0"/>
                  </a:lnTo>
                  <a:lnTo>
                    <a:pt x="18288000" y="640080"/>
                  </a:lnTo>
                  <a:lnTo>
                    <a:pt x="0" y="640080"/>
                  </a:lnTo>
                  <a:close/>
                </a:path>
              </a:pathLst>
            </a:custGeom>
            <a:blipFill>
              <a:blip r:embed="rId2">
                <a:alphaModFix amt="0"/>
              </a:blip>
              <a:stretch>
                <a:fillRect l="0" t="-506327" r="0" b="-506329"/>
              </a:stretch>
            </a:blipFill>
          </p:spPr>
        </p:sp>
      </p:grpSp>
      <p:grpSp>
        <p:nvGrpSpPr>
          <p:cNvPr name="Group 9" id="9"/>
          <p:cNvGrpSpPr/>
          <p:nvPr/>
        </p:nvGrpSpPr>
        <p:grpSpPr>
          <a:xfrm rot="0">
            <a:off x="822960" y="410337"/>
            <a:ext cx="13716000" cy="508635"/>
            <a:chOff x="0" y="0"/>
            <a:chExt cx="18288000" cy="678180"/>
          </a:xfrm>
        </p:grpSpPr>
        <p:sp>
          <p:nvSpPr>
            <p:cNvPr name="Freeform 10" id="10"/>
            <p:cNvSpPr/>
            <p:nvPr/>
          </p:nvSpPr>
          <p:spPr>
            <a:xfrm flipH="false" flipV="false" rot="0">
              <a:off x="0" y="0"/>
              <a:ext cx="18288000" cy="678180"/>
            </a:xfrm>
            <a:custGeom>
              <a:avLst/>
              <a:gdLst/>
              <a:ahLst/>
              <a:cxnLst/>
              <a:rect r="r" b="b" t="t" l="l"/>
              <a:pathLst>
                <a:path h="678180" w="18288000">
                  <a:moveTo>
                    <a:pt x="0" y="0"/>
                  </a:moveTo>
                  <a:lnTo>
                    <a:pt x="18288000" y="0"/>
                  </a:lnTo>
                  <a:lnTo>
                    <a:pt x="18288000" y="678180"/>
                  </a:lnTo>
                  <a:lnTo>
                    <a:pt x="0" y="678180"/>
                  </a:lnTo>
                  <a:close/>
                </a:path>
              </a:pathLst>
            </a:custGeom>
            <a:blipFill>
              <a:blip r:embed="rId3">
                <a:alphaModFix amt="0"/>
              </a:blip>
              <a:stretch>
                <a:fillRect l="0" t="-475439" r="0" b="-475439"/>
              </a:stretch>
            </a:blipFill>
          </p:spPr>
        </p:sp>
        <p:sp>
          <p:nvSpPr>
            <p:cNvPr name="TextBox 11" id="11"/>
            <p:cNvSpPr txBox="true"/>
            <p:nvPr/>
          </p:nvSpPr>
          <p:spPr>
            <a:xfrm>
              <a:off x="0" y="-38100"/>
              <a:ext cx="18288000" cy="716280"/>
            </a:xfrm>
            <a:prstGeom prst="rect">
              <a:avLst/>
            </a:prstGeom>
          </p:spPr>
          <p:txBody>
            <a:bodyPr anchor="ctr" rtlCol="false" tIns="0" lIns="0" bIns="0" rIns="0"/>
            <a:lstStyle/>
            <a:p>
              <a:pPr algn="l">
                <a:lnSpc>
                  <a:spcPts val="2160"/>
                </a:lnSpc>
              </a:pPr>
              <a:r>
                <a:rPr lang="en-US" b="true" sz="1800" spc="225">
                  <a:solidFill>
                    <a:srgbClr val="5F669F"/>
                  </a:solidFill>
                  <a:latin typeface="Calibri (MS) Bold"/>
                  <a:ea typeface="Calibri (MS) Bold"/>
                  <a:cs typeface="Calibri (MS) Bold"/>
                  <a:sym typeface="Calibri (MS) Bold"/>
                </a:rPr>
                <a:t>STORYBOARDS · CUBRE REQ-02</a:t>
              </a:r>
            </a:p>
          </p:txBody>
        </p:sp>
      </p:grpSp>
      <p:grpSp>
        <p:nvGrpSpPr>
          <p:cNvPr name="Group 12" id="12"/>
          <p:cNvGrpSpPr/>
          <p:nvPr/>
        </p:nvGrpSpPr>
        <p:grpSpPr>
          <a:xfrm rot="0">
            <a:off x="822960" y="850392"/>
            <a:ext cx="16459200" cy="822960"/>
            <a:chOff x="0" y="0"/>
            <a:chExt cx="21945600" cy="1097280"/>
          </a:xfrm>
        </p:grpSpPr>
        <p:sp>
          <p:nvSpPr>
            <p:cNvPr name="Freeform 13" id="13"/>
            <p:cNvSpPr/>
            <p:nvPr/>
          </p:nvSpPr>
          <p:spPr>
            <a:xfrm flipH="false" flipV="false" rot="0">
              <a:off x="0" y="0"/>
              <a:ext cx="21945600" cy="1097280"/>
            </a:xfrm>
            <a:custGeom>
              <a:avLst/>
              <a:gdLst/>
              <a:ahLst/>
              <a:cxnLst/>
              <a:rect r="r" b="b" t="t" l="l"/>
              <a:pathLst>
                <a:path h="1097280" w="21945600">
                  <a:moveTo>
                    <a:pt x="0" y="0"/>
                  </a:moveTo>
                  <a:lnTo>
                    <a:pt x="21945600" y="0"/>
                  </a:lnTo>
                  <a:lnTo>
                    <a:pt x="21945600" y="1097280"/>
                  </a:lnTo>
                  <a:lnTo>
                    <a:pt x="0" y="1097280"/>
                  </a:lnTo>
                  <a:close/>
                </a:path>
              </a:pathLst>
            </a:custGeom>
            <a:blipFill>
              <a:blip r:embed="rId2">
                <a:alphaModFix amt="0"/>
              </a:blip>
              <a:stretch>
                <a:fillRect l="0" t="-339429" r="0" b="-339430"/>
              </a:stretch>
            </a:blipFill>
          </p:spPr>
        </p:sp>
      </p:grpSp>
      <p:grpSp>
        <p:nvGrpSpPr>
          <p:cNvPr name="Group 14" id="14"/>
          <p:cNvGrpSpPr/>
          <p:nvPr/>
        </p:nvGrpSpPr>
        <p:grpSpPr>
          <a:xfrm rot="0">
            <a:off x="822960" y="850392"/>
            <a:ext cx="16459200" cy="822960"/>
            <a:chOff x="0" y="0"/>
            <a:chExt cx="21945600" cy="1097280"/>
          </a:xfrm>
        </p:grpSpPr>
        <p:sp>
          <p:nvSpPr>
            <p:cNvPr name="Freeform 15" id="15"/>
            <p:cNvSpPr/>
            <p:nvPr/>
          </p:nvSpPr>
          <p:spPr>
            <a:xfrm flipH="false" flipV="false" rot="0">
              <a:off x="0" y="0"/>
              <a:ext cx="21945600" cy="1097280"/>
            </a:xfrm>
            <a:custGeom>
              <a:avLst/>
              <a:gdLst/>
              <a:ahLst/>
              <a:cxnLst/>
              <a:rect r="r" b="b" t="t" l="l"/>
              <a:pathLst>
                <a:path h="1097280" w="21945600">
                  <a:moveTo>
                    <a:pt x="0" y="0"/>
                  </a:moveTo>
                  <a:lnTo>
                    <a:pt x="21945600" y="0"/>
                  </a:lnTo>
                  <a:lnTo>
                    <a:pt x="21945600" y="1097280"/>
                  </a:lnTo>
                  <a:lnTo>
                    <a:pt x="0" y="1097280"/>
                  </a:lnTo>
                  <a:close/>
                </a:path>
              </a:pathLst>
            </a:custGeom>
            <a:blipFill>
              <a:blip r:embed="rId3">
                <a:alphaModFix amt="0"/>
              </a:blip>
              <a:stretch>
                <a:fillRect l="0" t="-339700" r="0" b="-339700"/>
              </a:stretch>
            </a:blipFill>
          </p:spPr>
        </p:sp>
        <p:sp>
          <p:nvSpPr>
            <p:cNvPr name="TextBox 16" id="16"/>
            <p:cNvSpPr txBox="true"/>
            <p:nvPr/>
          </p:nvSpPr>
          <p:spPr>
            <a:xfrm>
              <a:off x="0" y="0"/>
              <a:ext cx="21945600" cy="1097280"/>
            </a:xfrm>
            <a:prstGeom prst="rect">
              <a:avLst/>
            </a:prstGeom>
          </p:spPr>
          <p:txBody>
            <a:bodyPr anchor="ctr" rtlCol="false" tIns="0" lIns="0" bIns="0" rIns="0"/>
            <a:lstStyle/>
            <a:p>
              <a:pPr algn="l">
                <a:lnSpc>
                  <a:spcPts val="4680"/>
                </a:lnSpc>
              </a:pPr>
              <a:r>
                <a:rPr lang="en-US" sz="3900" b="true">
                  <a:solidFill>
                    <a:srgbClr val="2F3E96"/>
                  </a:solidFill>
                  <a:latin typeface="Cambria Bold"/>
                  <a:ea typeface="Cambria Bold"/>
                  <a:cs typeface="Cambria Bold"/>
                  <a:sym typeface="Cambria Bold"/>
                </a:rPr>
                <a:t>Carlos entiende el porqué de cada recomendación</a:t>
              </a:r>
            </a:p>
          </p:txBody>
        </p:sp>
      </p:grpSp>
      <p:grpSp>
        <p:nvGrpSpPr>
          <p:cNvPr name="Group 17" id="17"/>
          <p:cNvGrpSpPr/>
          <p:nvPr/>
        </p:nvGrpSpPr>
        <p:grpSpPr>
          <a:xfrm rot="0">
            <a:off x="822960" y="7964043"/>
            <a:ext cx="16459200" cy="328994"/>
            <a:chOff x="0" y="0"/>
            <a:chExt cx="21945600" cy="438658"/>
          </a:xfrm>
        </p:grpSpPr>
        <p:sp>
          <p:nvSpPr>
            <p:cNvPr name="Freeform 18" id="18"/>
            <p:cNvSpPr/>
            <p:nvPr/>
          </p:nvSpPr>
          <p:spPr>
            <a:xfrm flipH="false" flipV="false" rot="0">
              <a:off x="0" y="0"/>
              <a:ext cx="21945600" cy="438658"/>
            </a:xfrm>
            <a:custGeom>
              <a:avLst/>
              <a:gdLst/>
              <a:ahLst/>
              <a:cxnLst/>
              <a:rect r="r" b="b" t="t" l="l"/>
              <a:pathLst>
                <a:path h="438658" w="21945600">
                  <a:moveTo>
                    <a:pt x="0" y="0"/>
                  </a:moveTo>
                  <a:lnTo>
                    <a:pt x="21945600" y="0"/>
                  </a:lnTo>
                  <a:lnTo>
                    <a:pt x="21945600" y="438658"/>
                  </a:lnTo>
                  <a:lnTo>
                    <a:pt x="0" y="438658"/>
                  </a:lnTo>
                  <a:close/>
                </a:path>
              </a:pathLst>
            </a:custGeom>
            <a:blipFill>
              <a:blip r:embed="rId2">
                <a:alphaModFix amt="0"/>
              </a:blip>
              <a:stretch>
                <a:fillRect l="0" t="-924137" r="0" b="-924140"/>
              </a:stretch>
            </a:blipFill>
          </p:spPr>
        </p:sp>
      </p:grpSp>
      <p:grpSp>
        <p:nvGrpSpPr>
          <p:cNvPr name="Group 19" id="19"/>
          <p:cNvGrpSpPr/>
          <p:nvPr/>
        </p:nvGrpSpPr>
        <p:grpSpPr>
          <a:xfrm rot="0">
            <a:off x="822960" y="7942612"/>
            <a:ext cx="16459200" cy="350425"/>
            <a:chOff x="0" y="0"/>
            <a:chExt cx="21945600" cy="467233"/>
          </a:xfrm>
        </p:grpSpPr>
        <p:sp>
          <p:nvSpPr>
            <p:cNvPr name="Freeform 20" id="20"/>
            <p:cNvSpPr/>
            <p:nvPr/>
          </p:nvSpPr>
          <p:spPr>
            <a:xfrm flipH="false" flipV="false" rot="0">
              <a:off x="0" y="0"/>
              <a:ext cx="21945600" cy="467234"/>
            </a:xfrm>
            <a:custGeom>
              <a:avLst/>
              <a:gdLst/>
              <a:ahLst/>
              <a:cxnLst/>
              <a:rect r="r" b="b" t="t" l="l"/>
              <a:pathLst>
                <a:path h="467234" w="21945600">
                  <a:moveTo>
                    <a:pt x="0" y="0"/>
                  </a:moveTo>
                  <a:lnTo>
                    <a:pt x="21945600" y="0"/>
                  </a:lnTo>
                  <a:lnTo>
                    <a:pt x="21945600" y="467234"/>
                  </a:lnTo>
                  <a:lnTo>
                    <a:pt x="0" y="467234"/>
                  </a:lnTo>
                  <a:close/>
                </a:path>
              </a:pathLst>
            </a:custGeom>
            <a:blipFill>
              <a:blip r:embed="rId3">
                <a:alphaModFix amt="0"/>
              </a:blip>
              <a:stretch>
                <a:fillRect l="0" t="-865197" r="0" b="-865196"/>
              </a:stretch>
            </a:blipFill>
          </p:spPr>
        </p:sp>
        <p:sp>
          <p:nvSpPr>
            <p:cNvPr name="TextBox 21" id="21"/>
            <p:cNvSpPr txBox="true"/>
            <p:nvPr/>
          </p:nvSpPr>
          <p:spPr>
            <a:xfrm>
              <a:off x="0" y="-28575"/>
              <a:ext cx="21945600" cy="495808"/>
            </a:xfrm>
            <a:prstGeom prst="rect">
              <a:avLst/>
            </a:prstGeom>
          </p:spPr>
          <p:txBody>
            <a:bodyPr anchor="ctr" rtlCol="false" tIns="0" lIns="0" bIns="0" rIns="0"/>
            <a:lstStyle/>
            <a:p>
              <a:pPr algn="l">
                <a:lnSpc>
                  <a:spcPts val="1980"/>
                </a:lnSpc>
              </a:pPr>
              <a:r>
                <a:rPr lang="en-US" sz="1650" i="true">
                  <a:solidFill>
                    <a:srgbClr val="2F3E96"/>
                  </a:solidFill>
                  <a:latin typeface="Calibri (MS) Italics"/>
                  <a:ea typeface="Calibri (MS) Italics"/>
                  <a:cs typeface="Calibri (MS) Italics"/>
                  <a:sym typeface="Calibri (MS) Italics"/>
                </a:rPr>
                <a:t>Storyboard — ilustra REQ-02: cada score viene con explicación en lenguaje natural, incluso cuando falta un dato.</a:t>
              </a:r>
            </a:p>
          </p:txBody>
        </p:sp>
      </p:grpSp>
      <p:grpSp>
        <p:nvGrpSpPr>
          <p:cNvPr name="Group 22" id="22"/>
          <p:cNvGrpSpPr/>
          <p:nvPr/>
        </p:nvGrpSpPr>
        <p:grpSpPr>
          <a:xfrm rot="0">
            <a:off x="685800" y="9738360"/>
            <a:ext cx="8229600" cy="411480"/>
            <a:chOff x="0" y="0"/>
            <a:chExt cx="10972800" cy="548640"/>
          </a:xfrm>
        </p:grpSpPr>
        <p:sp>
          <p:nvSpPr>
            <p:cNvPr name="Freeform 23" id="2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24" id="24"/>
          <p:cNvGrpSpPr/>
          <p:nvPr/>
        </p:nvGrpSpPr>
        <p:grpSpPr>
          <a:xfrm rot="0">
            <a:off x="685800" y="9709785"/>
            <a:ext cx="8229600" cy="440055"/>
            <a:chOff x="0" y="0"/>
            <a:chExt cx="10972800" cy="586740"/>
          </a:xfrm>
        </p:grpSpPr>
        <p:sp>
          <p:nvSpPr>
            <p:cNvPr name="Freeform 25" id="25"/>
            <p:cNvSpPr/>
            <p:nvPr/>
          </p:nvSpPr>
          <p:spPr>
            <a:xfrm flipH="false" flipV="false" rot="0">
              <a:off x="0" y="0"/>
              <a:ext cx="10972800" cy="586740"/>
            </a:xfrm>
            <a:custGeom>
              <a:avLst/>
              <a:gdLst/>
              <a:ahLst/>
              <a:cxnLst/>
              <a:rect r="r" b="b" t="t" l="l"/>
              <a:pathLst>
                <a:path h="586740" w="10972800">
                  <a:moveTo>
                    <a:pt x="0" y="0"/>
                  </a:moveTo>
                  <a:lnTo>
                    <a:pt x="10972800" y="0"/>
                  </a:lnTo>
                  <a:lnTo>
                    <a:pt x="10972800" y="586740"/>
                  </a:lnTo>
                  <a:lnTo>
                    <a:pt x="0" y="586740"/>
                  </a:lnTo>
                  <a:close/>
                </a:path>
              </a:pathLst>
            </a:custGeom>
            <a:blipFill>
              <a:blip r:embed="rId3">
                <a:alphaModFix amt="0"/>
              </a:blip>
              <a:stretch>
                <a:fillRect l="0" t="-314395" r="0" b="-314395"/>
              </a:stretch>
            </a:blipFill>
          </p:spPr>
        </p:sp>
        <p:sp>
          <p:nvSpPr>
            <p:cNvPr name="TextBox 26" id="26"/>
            <p:cNvSpPr txBox="true"/>
            <p:nvPr/>
          </p:nvSpPr>
          <p:spPr>
            <a:xfrm>
              <a:off x="0" y="-38100"/>
              <a:ext cx="10972800" cy="624840"/>
            </a:xfrm>
            <a:prstGeom prst="rect">
              <a:avLst/>
            </a:prstGeom>
          </p:spPr>
          <p:txBody>
            <a:bodyPr anchor="ctr" rtlCol="false" tIns="0" lIns="0" bIns="0" rIns="0"/>
            <a:lstStyle/>
            <a:p>
              <a:pPr algn="l">
                <a:lnSpc>
                  <a:spcPts val="1800"/>
                </a:lnSpc>
              </a:pPr>
              <a:r>
                <a:rPr lang="en-US" sz="1500">
                  <a:solidFill>
                    <a:srgbClr val="2F3E96"/>
                  </a:solidFill>
                  <a:latin typeface="Calibri (MS)"/>
                  <a:ea typeface="Calibri (MS)"/>
                  <a:cs typeface="Calibri (MS)"/>
                  <a:sym typeface="Calibri (MS)"/>
                </a:rPr>
                <a:t>InmoScore · Requirements Artifacts</a:t>
              </a:r>
            </a:p>
          </p:txBody>
        </p:sp>
      </p:grpSp>
      <p:grpSp>
        <p:nvGrpSpPr>
          <p:cNvPr name="Group 27" id="27"/>
          <p:cNvGrpSpPr/>
          <p:nvPr/>
        </p:nvGrpSpPr>
        <p:grpSpPr>
          <a:xfrm rot="0">
            <a:off x="2057400" y="2628900"/>
            <a:ext cx="13716000" cy="4263200"/>
            <a:chOff x="0" y="0"/>
            <a:chExt cx="18288000" cy="5684266"/>
          </a:xfrm>
        </p:grpSpPr>
        <p:sp>
          <p:nvSpPr>
            <p:cNvPr name="Freeform 28" id="28"/>
            <p:cNvSpPr/>
            <p:nvPr/>
          </p:nvSpPr>
          <p:spPr>
            <a:xfrm flipH="false" flipV="false" rot="0">
              <a:off x="0" y="0"/>
              <a:ext cx="18288000" cy="5684266"/>
            </a:xfrm>
            <a:custGeom>
              <a:avLst/>
              <a:gdLst/>
              <a:ahLst/>
              <a:cxnLst/>
              <a:rect r="r" b="b" t="t" l="l"/>
              <a:pathLst>
                <a:path h="5684266" w="18288000">
                  <a:moveTo>
                    <a:pt x="0" y="0"/>
                  </a:moveTo>
                  <a:lnTo>
                    <a:pt x="18288000" y="0"/>
                  </a:lnTo>
                  <a:lnTo>
                    <a:pt x="18288000" y="5684266"/>
                  </a:lnTo>
                  <a:lnTo>
                    <a:pt x="0" y="5684266"/>
                  </a:lnTo>
                  <a:lnTo>
                    <a:pt x="0" y="0"/>
                  </a:lnTo>
                  <a:close/>
                </a:path>
              </a:pathLst>
            </a:custGeom>
            <a:blipFill>
              <a:blip r:embed="rId4"/>
              <a:stretch>
                <a:fillRect l="-2155" t="0" r="-2155" b="0"/>
              </a:stretch>
            </a:blipFill>
          </p:spPr>
        </p:sp>
      </p:gr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FAFCFD"/>
        </a:solidFill>
      </p:bgPr>
    </p:bg>
    <p:spTree>
      <p:nvGrpSpPr>
        <p:cNvPr id="1" name=""/>
        <p:cNvGrpSpPr/>
        <p:nvPr/>
      </p:nvGrpSpPr>
      <p:grpSpPr>
        <a:xfrm>
          <a:off x="0" y="0"/>
          <a:ext cx="0" cy="0"/>
          <a:chOff x="0" y="0"/>
          <a:chExt cx="0" cy="0"/>
        </a:xfrm>
      </p:grpSpPr>
      <p:grpSp>
        <p:nvGrpSpPr>
          <p:cNvPr name="Group 2" id="2"/>
          <p:cNvGrpSpPr/>
          <p:nvPr/>
        </p:nvGrpSpPr>
        <p:grpSpPr>
          <a:xfrm rot="0">
            <a:off x="17048988" y="9738360"/>
            <a:ext cx="548640" cy="411480"/>
            <a:chOff x="0" y="0"/>
            <a:chExt cx="731520" cy="548640"/>
          </a:xfrm>
        </p:grpSpPr>
        <p:sp>
          <p:nvSpPr>
            <p:cNvPr name="Freeform 3" id="3"/>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4" id="4"/>
          <p:cNvGrpSpPr/>
          <p:nvPr/>
        </p:nvGrpSpPr>
        <p:grpSpPr>
          <a:xfrm rot="0">
            <a:off x="17048988" y="9709785"/>
            <a:ext cx="548640" cy="440055"/>
            <a:chOff x="0" y="0"/>
            <a:chExt cx="731520" cy="586740"/>
          </a:xfrm>
        </p:grpSpPr>
        <p:sp>
          <p:nvSpPr>
            <p:cNvPr name="Freeform 5" id="5"/>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6" id="6"/>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5F669F"/>
                  </a:solidFill>
                  <a:latin typeface="Calibri (MS)"/>
                  <a:ea typeface="Calibri (MS)"/>
                  <a:cs typeface="Calibri (MS)"/>
                  <a:sym typeface="Calibri (MS)"/>
                </a:rPr>
                <a:t>17</a:t>
              </a:r>
            </a:p>
          </p:txBody>
        </p:sp>
      </p:grpSp>
      <p:grpSp>
        <p:nvGrpSpPr>
          <p:cNvPr name="Group 7" id="7"/>
          <p:cNvGrpSpPr/>
          <p:nvPr/>
        </p:nvGrpSpPr>
        <p:grpSpPr>
          <a:xfrm rot="0">
            <a:off x="822960" y="438912"/>
            <a:ext cx="13716000" cy="480060"/>
            <a:chOff x="0" y="0"/>
            <a:chExt cx="18288000" cy="640080"/>
          </a:xfrm>
        </p:grpSpPr>
        <p:sp>
          <p:nvSpPr>
            <p:cNvPr name="Freeform 8" id="8"/>
            <p:cNvSpPr/>
            <p:nvPr/>
          </p:nvSpPr>
          <p:spPr>
            <a:xfrm flipH="false" flipV="false" rot="0">
              <a:off x="0" y="0"/>
              <a:ext cx="18288000" cy="640080"/>
            </a:xfrm>
            <a:custGeom>
              <a:avLst/>
              <a:gdLst/>
              <a:ahLst/>
              <a:cxnLst/>
              <a:rect r="r" b="b" t="t" l="l"/>
              <a:pathLst>
                <a:path h="640080" w="18288000">
                  <a:moveTo>
                    <a:pt x="0" y="0"/>
                  </a:moveTo>
                  <a:lnTo>
                    <a:pt x="18288000" y="0"/>
                  </a:lnTo>
                  <a:lnTo>
                    <a:pt x="18288000" y="640080"/>
                  </a:lnTo>
                  <a:lnTo>
                    <a:pt x="0" y="640080"/>
                  </a:lnTo>
                  <a:close/>
                </a:path>
              </a:pathLst>
            </a:custGeom>
            <a:blipFill>
              <a:blip r:embed="rId2">
                <a:alphaModFix amt="0"/>
              </a:blip>
              <a:stretch>
                <a:fillRect l="0" t="-506327" r="0" b="-506329"/>
              </a:stretch>
            </a:blipFill>
          </p:spPr>
        </p:sp>
      </p:grpSp>
      <p:grpSp>
        <p:nvGrpSpPr>
          <p:cNvPr name="Group 9" id="9"/>
          <p:cNvGrpSpPr/>
          <p:nvPr/>
        </p:nvGrpSpPr>
        <p:grpSpPr>
          <a:xfrm rot="0">
            <a:off x="822960" y="410337"/>
            <a:ext cx="13716000" cy="508635"/>
            <a:chOff x="0" y="0"/>
            <a:chExt cx="18288000" cy="678180"/>
          </a:xfrm>
        </p:grpSpPr>
        <p:sp>
          <p:nvSpPr>
            <p:cNvPr name="Freeform 10" id="10"/>
            <p:cNvSpPr/>
            <p:nvPr/>
          </p:nvSpPr>
          <p:spPr>
            <a:xfrm flipH="false" flipV="false" rot="0">
              <a:off x="0" y="0"/>
              <a:ext cx="18288000" cy="678180"/>
            </a:xfrm>
            <a:custGeom>
              <a:avLst/>
              <a:gdLst/>
              <a:ahLst/>
              <a:cxnLst/>
              <a:rect r="r" b="b" t="t" l="l"/>
              <a:pathLst>
                <a:path h="678180" w="18288000">
                  <a:moveTo>
                    <a:pt x="0" y="0"/>
                  </a:moveTo>
                  <a:lnTo>
                    <a:pt x="18288000" y="0"/>
                  </a:lnTo>
                  <a:lnTo>
                    <a:pt x="18288000" y="678180"/>
                  </a:lnTo>
                  <a:lnTo>
                    <a:pt x="0" y="678180"/>
                  </a:lnTo>
                  <a:close/>
                </a:path>
              </a:pathLst>
            </a:custGeom>
            <a:blipFill>
              <a:blip r:embed="rId3">
                <a:alphaModFix amt="0"/>
              </a:blip>
              <a:stretch>
                <a:fillRect l="0" t="-475439" r="0" b="-475439"/>
              </a:stretch>
            </a:blipFill>
          </p:spPr>
        </p:sp>
        <p:sp>
          <p:nvSpPr>
            <p:cNvPr name="TextBox 11" id="11"/>
            <p:cNvSpPr txBox="true"/>
            <p:nvPr/>
          </p:nvSpPr>
          <p:spPr>
            <a:xfrm>
              <a:off x="0" y="-38100"/>
              <a:ext cx="18288000" cy="716280"/>
            </a:xfrm>
            <a:prstGeom prst="rect">
              <a:avLst/>
            </a:prstGeom>
          </p:spPr>
          <p:txBody>
            <a:bodyPr anchor="ctr" rtlCol="false" tIns="0" lIns="0" bIns="0" rIns="0"/>
            <a:lstStyle/>
            <a:p>
              <a:pPr algn="l">
                <a:lnSpc>
                  <a:spcPts val="2160"/>
                </a:lnSpc>
              </a:pPr>
              <a:r>
                <a:rPr lang="en-US" b="true" sz="1800" spc="225">
                  <a:solidFill>
                    <a:srgbClr val="A5ABDF"/>
                  </a:solidFill>
                  <a:latin typeface="Calibri (MS) Bold"/>
                  <a:ea typeface="Calibri (MS) Bold"/>
                  <a:cs typeface="Calibri (MS) Bold"/>
                  <a:sym typeface="Calibri (MS) Bold"/>
                </a:rPr>
                <a:t>CASOS DE USO · CUBRE REQ-01</a:t>
              </a:r>
            </a:p>
          </p:txBody>
        </p:sp>
      </p:grpSp>
      <p:grpSp>
        <p:nvGrpSpPr>
          <p:cNvPr name="Group 12" id="12"/>
          <p:cNvGrpSpPr/>
          <p:nvPr/>
        </p:nvGrpSpPr>
        <p:grpSpPr>
          <a:xfrm rot="0">
            <a:off x="822960" y="850392"/>
            <a:ext cx="16459200" cy="822960"/>
            <a:chOff x="0" y="0"/>
            <a:chExt cx="21945600" cy="1097280"/>
          </a:xfrm>
        </p:grpSpPr>
        <p:sp>
          <p:nvSpPr>
            <p:cNvPr name="Freeform 13" id="13"/>
            <p:cNvSpPr/>
            <p:nvPr/>
          </p:nvSpPr>
          <p:spPr>
            <a:xfrm flipH="false" flipV="false" rot="0">
              <a:off x="0" y="0"/>
              <a:ext cx="21945600" cy="1097280"/>
            </a:xfrm>
            <a:custGeom>
              <a:avLst/>
              <a:gdLst/>
              <a:ahLst/>
              <a:cxnLst/>
              <a:rect r="r" b="b" t="t" l="l"/>
              <a:pathLst>
                <a:path h="1097280" w="21945600">
                  <a:moveTo>
                    <a:pt x="0" y="0"/>
                  </a:moveTo>
                  <a:lnTo>
                    <a:pt x="21945600" y="0"/>
                  </a:lnTo>
                  <a:lnTo>
                    <a:pt x="21945600" y="1097280"/>
                  </a:lnTo>
                  <a:lnTo>
                    <a:pt x="0" y="1097280"/>
                  </a:lnTo>
                  <a:close/>
                </a:path>
              </a:pathLst>
            </a:custGeom>
            <a:blipFill>
              <a:blip r:embed="rId2">
                <a:alphaModFix amt="0"/>
              </a:blip>
              <a:stretch>
                <a:fillRect l="0" t="-339429" r="0" b="-339430"/>
              </a:stretch>
            </a:blipFill>
          </p:spPr>
        </p:sp>
      </p:grpSp>
      <p:grpSp>
        <p:nvGrpSpPr>
          <p:cNvPr name="Group 14" id="14"/>
          <p:cNvGrpSpPr/>
          <p:nvPr/>
        </p:nvGrpSpPr>
        <p:grpSpPr>
          <a:xfrm rot="0">
            <a:off x="822960" y="850392"/>
            <a:ext cx="16459200" cy="822960"/>
            <a:chOff x="0" y="0"/>
            <a:chExt cx="21945600" cy="1097280"/>
          </a:xfrm>
        </p:grpSpPr>
        <p:sp>
          <p:nvSpPr>
            <p:cNvPr name="Freeform 15" id="15"/>
            <p:cNvSpPr/>
            <p:nvPr/>
          </p:nvSpPr>
          <p:spPr>
            <a:xfrm flipH="false" flipV="false" rot="0">
              <a:off x="0" y="0"/>
              <a:ext cx="21945600" cy="1097280"/>
            </a:xfrm>
            <a:custGeom>
              <a:avLst/>
              <a:gdLst/>
              <a:ahLst/>
              <a:cxnLst/>
              <a:rect r="r" b="b" t="t" l="l"/>
              <a:pathLst>
                <a:path h="1097280" w="21945600">
                  <a:moveTo>
                    <a:pt x="0" y="0"/>
                  </a:moveTo>
                  <a:lnTo>
                    <a:pt x="21945600" y="0"/>
                  </a:lnTo>
                  <a:lnTo>
                    <a:pt x="21945600" y="1097280"/>
                  </a:lnTo>
                  <a:lnTo>
                    <a:pt x="0" y="1097280"/>
                  </a:lnTo>
                  <a:close/>
                </a:path>
              </a:pathLst>
            </a:custGeom>
            <a:blipFill>
              <a:blip r:embed="rId3">
                <a:alphaModFix amt="0"/>
              </a:blip>
              <a:stretch>
                <a:fillRect l="0" t="-339700" r="0" b="-339700"/>
              </a:stretch>
            </a:blipFill>
          </p:spPr>
        </p:sp>
        <p:sp>
          <p:nvSpPr>
            <p:cNvPr name="TextBox 16" id="16"/>
            <p:cNvSpPr txBox="true"/>
            <p:nvPr/>
          </p:nvSpPr>
          <p:spPr>
            <a:xfrm>
              <a:off x="0" y="0"/>
              <a:ext cx="21945600" cy="1097280"/>
            </a:xfrm>
            <a:prstGeom prst="rect">
              <a:avLst/>
            </a:prstGeom>
          </p:spPr>
          <p:txBody>
            <a:bodyPr anchor="ctr" rtlCol="false" tIns="0" lIns="0" bIns="0" rIns="0"/>
            <a:lstStyle/>
            <a:p>
              <a:pPr algn="l">
                <a:lnSpc>
                  <a:spcPts val="4680"/>
                </a:lnSpc>
              </a:pPr>
              <a:r>
                <a:rPr lang="en-US" sz="3900" b="true">
                  <a:solidFill>
                    <a:srgbClr val="2F3E96"/>
                  </a:solidFill>
                  <a:latin typeface="Cambria Bold"/>
                  <a:ea typeface="Cambria Bold"/>
                  <a:cs typeface="Cambria Bold"/>
                  <a:sym typeface="Cambria Bold"/>
                </a:rPr>
                <a:t>UC-01 · Generar ranking personalizado de propiedades</a:t>
              </a:r>
            </a:p>
          </p:txBody>
        </p:sp>
      </p:grpSp>
      <p:grpSp>
        <p:nvGrpSpPr>
          <p:cNvPr name="Group 17" id="17"/>
          <p:cNvGrpSpPr/>
          <p:nvPr/>
        </p:nvGrpSpPr>
        <p:grpSpPr>
          <a:xfrm rot="0">
            <a:off x="822960" y="1920240"/>
            <a:ext cx="16596360" cy="1165860"/>
            <a:chOff x="0" y="0"/>
            <a:chExt cx="22128480" cy="1554480"/>
          </a:xfrm>
        </p:grpSpPr>
        <p:sp>
          <p:nvSpPr>
            <p:cNvPr name="Freeform 18" id="18"/>
            <p:cNvSpPr/>
            <p:nvPr/>
          </p:nvSpPr>
          <p:spPr>
            <a:xfrm flipH="false" flipV="false" rot="0">
              <a:off x="0" y="0"/>
              <a:ext cx="22128480" cy="1554480"/>
            </a:xfrm>
            <a:custGeom>
              <a:avLst/>
              <a:gdLst/>
              <a:ahLst/>
              <a:cxnLst/>
              <a:rect r="r" b="b" t="t" l="l"/>
              <a:pathLst>
                <a:path h="1554480" w="22128480">
                  <a:moveTo>
                    <a:pt x="0" y="146304"/>
                  </a:moveTo>
                  <a:cubicBezTo>
                    <a:pt x="0" y="65532"/>
                    <a:pt x="65532" y="0"/>
                    <a:pt x="146304" y="0"/>
                  </a:cubicBezTo>
                  <a:lnTo>
                    <a:pt x="21982176" y="0"/>
                  </a:lnTo>
                  <a:cubicBezTo>
                    <a:pt x="22062948" y="0"/>
                    <a:pt x="22128480" y="65532"/>
                    <a:pt x="22128480" y="146304"/>
                  </a:cubicBezTo>
                  <a:lnTo>
                    <a:pt x="22128480" y="1408176"/>
                  </a:lnTo>
                  <a:cubicBezTo>
                    <a:pt x="22128480" y="1488948"/>
                    <a:pt x="22062948" y="1554480"/>
                    <a:pt x="21982176" y="1554480"/>
                  </a:cubicBezTo>
                  <a:lnTo>
                    <a:pt x="146304" y="1554480"/>
                  </a:lnTo>
                  <a:cubicBezTo>
                    <a:pt x="65532" y="1554480"/>
                    <a:pt x="0" y="1488948"/>
                    <a:pt x="0" y="1408176"/>
                  </a:cubicBezTo>
                  <a:close/>
                </a:path>
              </a:pathLst>
            </a:custGeom>
            <a:solidFill>
              <a:srgbClr val="293E9C"/>
            </a:solidFill>
          </p:spPr>
        </p:sp>
      </p:grpSp>
      <p:grpSp>
        <p:nvGrpSpPr>
          <p:cNvPr name="Group 19" id="19"/>
          <p:cNvGrpSpPr/>
          <p:nvPr/>
        </p:nvGrpSpPr>
        <p:grpSpPr>
          <a:xfrm rot="0">
            <a:off x="1234440" y="1920240"/>
            <a:ext cx="15773400" cy="1165860"/>
            <a:chOff x="0" y="0"/>
            <a:chExt cx="21031200" cy="1554480"/>
          </a:xfrm>
        </p:grpSpPr>
        <p:sp>
          <p:nvSpPr>
            <p:cNvPr name="Freeform 20" id="20"/>
            <p:cNvSpPr/>
            <p:nvPr/>
          </p:nvSpPr>
          <p:spPr>
            <a:xfrm flipH="false" flipV="false" rot="0">
              <a:off x="0" y="0"/>
              <a:ext cx="21031200" cy="1554480"/>
            </a:xfrm>
            <a:custGeom>
              <a:avLst/>
              <a:gdLst/>
              <a:ahLst/>
              <a:cxnLst/>
              <a:rect r="r" b="b" t="t" l="l"/>
              <a:pathLst>
                <a:path h="1554480" w="21031200">
                  <a:moveTo>
                    <a:pt x="0" y="0"/>
                  </a:moveTo>
                  <a:lnTo>
                    <a:pt x="21031200" y="0"/>
                  </a:lnTo>
                  <a:lnTo>
                    <a:pt x="21031200" y="1554480"/>
                  </a:lnTo>
                  <a:lnTo>
                    <a:pt x="0" y="1554480"/>
                  </a:lnTo>
                  <a:close/>
                </a:path>
              </a:pathLst>
            </a:custGeom>
            <a:blipFill>
              <a:blip r:embed="rId2">
                <a:alphaModFix amt="0"/>
              </a:blip>
              <a:stretch>
                <a:fillRect l="0" t="-213437" r="0" b="-213437"/>
              </a:stretch>
            </a:blipFill>
          </p:spPr>
        </p:sp>
      </p:grpSp>
      <p:grpSp>
        <p:nvGrpSpPr>
          <p:cNvPr name="Group 21" id="21"/>
          <p:cNvGrpSpPr/>
          <p:nvPr/>
        </p:nvGrpSpPr>
        <p:grpSpPr>
          <a:xfrm rot="0">
            <a:off x="1234440" y="1891665"/>
            <a:ext cx="15773400" cy="1194435"/>
            <a:chOff x="0" y="0"/>
            <a:chExt cx="21031200" cy="1592580"/>
          </a:xfrm>
        </p:grpSpPr>
        <p:sp>
          <p:nvSpPr>
            <p:cNvPr name="Freeform 22" id="22"/>
            <p:cNvSpPr/>
            <p:nvPr/>
          </p:nvSpPr>
          <p:spPr>
            <a:xfrm flipH="false" flipV="false" rot="0">
              <a:off x="0" y="0"/>
              <a:ext cx="21031200" cy="1592580"/>
            </a:xfrm>
            <a:custGeom>
              <a:avLst/>
              <a:gdLst/>
              <a:ahLst/>
              <a:cxnLst/>
              <a:rect r="r" b="b" t="t" l="l"/>
              <a:pathLst>
                <a:path h="1592580" w="21031200">
                  <a:moveTo>
                    <a:pt x="0" y="0"/>
                  </a:moveTo>
                  <a:lnTo>
                    <a:pt x="21031200" y="0"/>
                  </a:lnTo>
                  <a:lnTo>
                    <a:pt x="21031200" y="1592580"/>
                  </a:lnTo>
                  <a:lnTo>
                    <a:pt x="0" y="1592580"/>
                  </a:lnTo>
                  <a:close/>
                </a:path>
              </a:pathLst>
            </a:custGeom>
            <a:blipFill>
              <a:blip r:embed="rId3">
                <a:alphaModFix amt="0"/>
              </a:blip>
              <a:stretch>
                <a:fillRect l="0" t="-207314" r="0" b="-207314"/>
              </a:stretch>
            </a:blipFill>
          </p:spPr>
        </p:sp>
        <p:sp>
          <p:nvSpPr>
            <p:cNvPr name="TextBox 23" id="23"/>
            <p:cNvSpPr txBox="true"/>
            <p:nvPr/>
          </p:nvSpPr>
          <p:spPr>
            <a:xfrm>
              <a:off x="0" y="-38100"/>
              <a:ext cx="21031200" cy="1630680"/>
            </a:xfrm>
            <a:prstGeom prst="rect">
              <a:avLst/>
            </a:prstGeom>
          </p:spPr>
          <p:txBody>
            <a:bodyPr anchor="ctr" rtlCol="false" tIns="0" lIns="0" bIns="0" rIns="0"/>
            <a:lstStyle/>
            <a:p>
              <a:pPr algn="l">
                <a:lnSpc>
                  <a:spcPts val="2160"/>
                </a:lnSpc>
              </a:pPr>
              <a:r>
                <a:rPr lang="en-US" sz="1800" b="true">
                  <a:solidFill>
                    <a:srgbClr val="FAFCFD"/>
                  </a:solidFill>
                  <a:latin typeface="Calibri (MS) Bold"/>
                  <a:ea typeface="Calibri (MS) Bold"/>
                  <a:cs typeface="Calibri (MS) Bold"/>
                  <a:sym typeface="Calibri (MS) Bold"/>
                </a:rPr>
                <a:t>Actor: </a:t>
              </a:r>
              <a:r>
                <a:rPr lang="en-US" sz="1800">
                  <a:solidFill>
                    <a:srgbClr val="FAFCFD"/>
                  </a:solidFill>
                  <a:latin typeface="Calibri (MS)"/>
                  <a:ea typeface="Calibri (MS)"/>
                  <a:cs typeface="Calibri (MS)"/>
                  <a:sym typeface="Calibri (MS)"/>
                </a:rPr>
                <a:t>Comprador de vivienda propia   </a:t>
              </a:r>
              <a:r>
                <a:rPr lang="en-US" sz="1800" b="true">
                  <a:solidFill>
                    <a:srgbClr val="FAFCFD"/>
                  </a:solidFill>
                  <a:latin typeface="Calibri (MS) Bold"/>
                  <a:ea typeface="Calibri (MS) Bold"/>
                  <a:cs typeface="Calibri (MS) Bold"/>
                  <a:sym typeface="Calibri (MS) Bold"/>
                </a:rPr>
                <a:t>Precondición: </a:t>
              </a:r>
              <a:r>
                <a:rPr lang="en-US" sz="1800">
                  <a:solidFill>
                    <a:srgbClr val="FAFCFD"/>
                  </a:solidFill>
                  <a:latin typeface="Calibri (MS)"/>
                  <a:ea typeface="Calibri (MS)"/>
                  <a:cs typeface="Calibri (MS)"/>
                  <a:sym typeface="Calibri (MS)"/>
                </a:rPr>
                <a:t>el usuario configuró su perfil financiero y de estilo de vida; existen propiedades con opportunity_score, zone_composite_index y constructora_reliability_score calculados</a:t>
              </a:r>
            </a:p>
          </p:txBody>
        </p:sp>
      </p:grpSp>
      <p:grpSp>
        <p:nvGrpSpPr>
          <p:cNvPr name="Group 24" id="24"/>
          <p:cNvGrpSpPr/>
          <p:nvPr/>
        </p:nvGrpSpPr>
        <p:grpSpPr>
          <a:xfrm rot="0">
            <a:off x="822960" y="3360420"/>
            <a:ext cx="9738455" cy="5897880"/>
            <a:chOff x="0" y="0"/>
            <a:chExt cx="12984607" cy="7863840"/>
          </a:xfrm>
        </p:grpSpPr>
        <p:sp>
          <p:nvSpPr>
            <p:cNvPr name="Freeform 25" id="25"/>
            <p:cNvSpPr/>
            <p:nvPr/>
          </p:nvSpPr>
          <p:spPr>
            <a:xfrm flipH="false" flipV="false" rot="0">
              <a:off x="0" y="0"/>
              <a:ext cx="12984607" cy="7863840"/>
            </a:xfrm>
            <a:custGeom>
              <a:avLst/>
              <a:gdLst/>
              <a:ahLst/>
              <a:cxnLst/>
              <a:rect r="r" b="b" t="t" l="l"/>
              <a:pathLst>
                <a:path h="7863840" w="12984607">
                  <a:moveTo>
                    <a:pt x="0" y="146304"/>
                  </a:moveTo>
                  <a:cubicBezTo>
                    <a:pt x="0" y="65532"/>
                    <a:pt x="65532" y="0"/>
                    <a:pt x="146304" y="0"/>
                  </a:cubicBezTo>
                  <a:lnTo>
                    <a:pt x="12838303" y="0"/>
                  </a:lnTo>
                  <a:cubicBezTo>
                    <a:pt x="12919075" y="0"/>
                    <a:pt x="12984607" y="65532"/>
                    <a:pt x="12984607" y="146304"/>
                  </a:cubicBezTo>
                  <a:lnTo>
                    <a:pt x="12984607" y="7717536"/>
                  </a:lnTo>
                  <a:cubicBezTo>
                    <a:pt x="12984607" y="7798308"/>
                    <a:pt x="12919075" y="7863840"/>
                    <a:pt x="12838303" y="7863840"/>
                  </a:cubicBezTo>
                  <a:lnTo>
                    <a:pt x="146304" y="7863840"/>
                  </a:lnTo>
                  <a:cubicBezTo>
                    <a:pt x="65532" y="7863840"/>
                    <a:pt x="0" y="7798308"/>
                    <a:pt x="0" y="7717536"/>
                  </a:cubicBezTo>
                  <a:close/>
                </a:path>
              </a:pathLst>
            </a:custGeom>
            <a:solidFill>
              <a:srgbClr val="E5E9F5"/>
            </a:solidFill>
          </p:spPr>
        </p:sp>
      </p:grpSp>
      <p:grpSp>
        <p:nvGrpSpPr>
          <p:cNvPr name="Group 26" id="26"/>
          <p:cNvGrpSpPr/>
          <p:nvPr/>
        </p:nvGrpSpPr>
        <p:grpSpPr>
          <a:xfrm rot="0">
            <a:off x="1234440" y="3634740"/>
            <a:ext cx="8915400" cy="480060"/>
            <a:chOff x="0" y="0"/>
            <a:chExt cx="11887200" cy="640080"/>
          </a:xfrm>
        </p:grpSpPr>
        <p:sp>
          <p:nvSpPr>
            <p:cNvPr name="Freeform 27" id="27"/>
            <p:cNvSpPr/>
            <p:nvPr/>
          </p:nvSpPr>
          <p:spPr>
            <a:xfrm flipH="false" flipV="false" rot="0">
              <a:off x="0" y="0"/>
              <a:ext cx="11887200" cy="640080"/>
            </a:xfrm>
            <a:custGeom>
              <a:avLst/>
              <a:gdLst/>
              <a:ahLst/>
              <a:cxnLst/>
              <a:rect r="r" b="b" t="t" l="l"/>
              <a:pathLst>
                <a:path h="640080" w="11887200">
                  <a:moveTo>
                    <a:pt x="0" y="0"/>
                  </a:moveTo>
                  <a:lnTo>
                    <a:pt x="11887200" y="0"/>
                  </a:lnTo>
                  <a:lnTo>
                    <a:pt x="11887200" y="640080"/>
                  </a:lnTo>
                  <a:lnTo>
                    <a:pt x="0" y="640080"/>
                  </a:lnTo>
                  <a:close/>
                </a:path>
              </a:pathLst>
            </a:custGeom>
            <a:blipFill>
              <a:blip r:embed="rId2">
                <a:alphaModFix amt="0"/>
              </a:blip>
              <a:stretch>
                <a:fillRect l="0" t="-311613" r="0" b="-311613"/>
              </a:stretch>
            </a:blipFill>
          </p:spPr>
        </p:sp>
      </p:grpSp>
      <p:grpSp>
        <p:nvGrpSpPr>
          <p:cNvPr name="Group 28" id="28"/>
          <p:cNvGrpSpPr/>
          <p:nvPr/>
        </p:nvGrpSpPr>
        <p:grpSpPr>
          <a:xfrm rot="0">
            <a:off x="1234440" y="3599021"/>
            <a:ext cx="8915400" cy="515779"/>
            <a:chOff x="0" y="0"/>
            <a:chExt cx="11887200" cy="687705"/>
          </a:xfrm>
        </p:grpSpPr>
        <p:sp>
          <p:nvSpPr>
            <p:cNvPr name="Freeform 29" id="29"/>
            <p:cNvSpPr/>
            <p:nvPr/>
          </p:nvSpPr>
          <p:spPr>
            <a:xfrm flipH="false" flipV="false" rot="0">
              <a:off x="0" y="0"/>
              <a:ext cx="11887200" cy="687705"/>
            </a:xfrm>
            <a:custGeom>
              <a:avLst/>
              <a:gdLst/>
              <a:ahLst/>
              <a:cxnLst/>
              <a:rect r="r" b="b" t="t" l="l"/>
              <a:pathLst>
                <a:path h="687705" w="11887200">
                  <a:moveTo>
                    <a:pt x="0" y="0"/>
                  </a:moveTo>
                  <a:lnTo>
                    <a:pt x="11887200" y="0"/>
                  </a:lnTo>
                  <a:lnTo>
                    <a:pt x="11887200" y="687705"/>
                  </a:lnTo>
                  <a:lnTo>
                    <a:pt x="0" y="687705"/>
                  </a:lnTo>
                  <a:close/>
                </a:path>
              </a:pathLst>
            </a:custGeom>
            <a:blipFill>
              <a:blip r:embed="rId3">
                <a:alphaModFix amt="0"/>
              </a:blip>
              <a:stretch>
                <a:fillRect l="0" t="-286805" r="0" b="-286805"/>
              </a:stretch>
            </a:blipFill>
          </p:spPr>
        </p:sp>
        <p:sp>
          <p:nvSpPr>
            <p:cNvPr name="TextBox 30" id="30"/>
            <p:cNvSpPr txBox="true"/>
            <p:nvPr/>
          </p:nvSpPr>
          <p:spPr>
            <a:xfrm>
              <a:off x="0" y="-47625"/>
              <a:ext cx="11887200" cy="735330"/>
            </a:xfrm>
            <a:prstGeom prst="rect">
              <a:avLst/>
            </a:prstGeom>
          </p:spPr>
          <p:txBody>
            <a:bodyPr anchor="ctr" rtlCol="false" tIns="0" lIns="0" bIns="0" rIns="0"/>
            <a:lstStyle/>
            <a:p>
              <a:pPr algn="l">
                <a:lnSpc>
                  <a:spcPts val="2340"/>
                </a:lnSpc>
              </a:pPr>
              <a:r>
                <a:rPr lang="en-US" sz="1950" b="true">
                  <a:solidFill>
                    <a:srgbClr val="5F669F"/>
                  </a:solidFill>
                  <a:latin typeface="Calibri (MS) Bold"/>
                  <a:ea typeface="Calibri (MS) Bold"/>
                  <a:cs typeface="Calibri (MS) Bold"/>
                  <a:sym typeface="Calibri (MS) Bold"/>
                </a:rPr>
                <a:t>Flujo principal</a:t>
              </a:r>
            </a:p>
          </p:txBody>
        </p:sp>
      </p:grpSp>
      <p:grpSp>
        <p:nvGrpSpPr>
          <p:cNvPr name="Group 31" id="31"/>
          <p:cNvGrpSpPr/>
          <p:nvPr/>
        </p:nvGrpSpPr>
        <p:grpSpPr>
          <a:xfrm rot="0">
            <a:off x="1234440" y="4362450"/>
            <a:ext cx="8915400" cy="4609062"/>
            <a:chOff x="0" y="0"/>
            <a:chExt cx="11887200" cy="6145416"/>
          </a:xfrm>
        </p:grpSpPr>
        <p:sp>
          <p:nvSpPr>
            <p:cNvPr name="Freeform 32" id="32"/>
            <p:cNvSpPr/>
            <p:nvPr/>
          </p:nvSpPr>
          <p:spPr>
            <a:xfrm flipH="false" flipV="false" rot="0">
              <a:off x="0" y="0"/>
              <a:ext cx="11887200" cy="6145403"/>
            </a:xfrm>
            <a:custGeom>
              <a:avLst/>
              <a:gdLst/>
              <a:ahLst/>
              <a:cxnLst/>
              <a:rect r="r" b="b" t="t" l="l"/>
              <a:pathLst>
                <a:path h="6145403" w="11887200">
                  <a:moveTo>
                    <a:pt x="0" y="0"/>
                  </a:moveTo>
                  <a:lnTo>
                    <a:pt x="11887200" y="0"/>
                  </a:lnTo>
                  <a:lnTo>
                    <a:pt x="11887200" y="6145403"/>
                  </a:lnTo>
                  <a:lnTo>
                    <a:pt x="0" y="6145403"/>
                  </a:lnTo>
                  <a:close/>
                </a:path>
              </a:pathLst>
            </a:custGeom>
            <a:blipFill>
              <a:blip r:embed="rId2">
                <a:alphaModFix amt="0"/>
              </a:blip>
              <a:stretch>
                <a:fillRect l="-16376" t="0" r="-16376" b="0"/>
              </a:stretch>
            </a:blipFill>
          </p:spPr>
        </p:sp>
      </p:grpSp>
      <p:grpSp>
        <p:nvGrpSpPr>
          <p:cNvPr name="Group 33" id="33"/>
          <p:cNvGrpSpPr/>
          <p:nvPr/>
        </p:nvGrpSpPr>
        <p:grpSpPr>
          <a:xfrm rot="0">
            <a:off x="1234440" y="4326731"/>
            <a:ext cx="8915400" cy="4644781"/>
            <a:chOff x="0" y="0"/>
            <a:chExt cx="11887200" cy="6193041"/>
          </a:xfrm>
        </p:grpSpPr>
        <p:sp>
          <p:nvSpPr>
            <p:cNvPr name="Freeform 34" id="34"/>
            <p:cNvSpPr/>
            <p:nvPr/>
          </p:nvSpPr>
          <p:spPr>
            <a:xfrm flipH="false" flipV="false" rot="0">
              <a:off x="0" y="0"/>
              <a:ext cx="11887200" cy="6193037"/>
            </a:xfrm>
            <a:custGeom>
              <a:avLst/>
              <a:gdLst/>
              <a:ahLst/>
              <a:cxnLst/>
              <a:rect r="r" b="b" t="t" l="l"/>
              <a:pathLst>
                <a:path h="6193037" w="11887200">
                  <a:moveTo>
                    <a:pt x="0" y="0"/>
                  </a:moveTo>
                  <a:lnTo>
                    <a:pt x="11887200" y="0"/>
                  </a:lnTo>
                  <a:lnTo>
                    <a:pt x="11887200" y="6193037"/>
                  </a:lnTo>
                  <a:lnTo>
                    <a:pt x="0" y="6193037"/>
                  </a:lnTo>
                  <a:close/>
                </a:path>
              </a:pathLst>
            </a:custGeom>
            <a:blipFill>
              <a:blip r:embed="rId3">
                <a:alphaModFix amt="0"/>
              </a:blip>
              <a:stretch>
                <a:fillRect l="-16844" t="0" r="-16844" b="0"/>
              </a:stretch>
            </a:blipFill>
          </p:spPr>
        </p:sp>
        <p:sp>
          <p:nvSpPr>
            <p:cNvPr name="TextBox 35" id="35"/>
            <p:cNvSpPr txBox="true"/>
            <p:nvPr/>
          </p:nvSpPr>
          <p:spPr>
            <a:xfrm>
              <a:off x="0" y="-47625"/>
              <a:ext cx="11887200" cy="6240666"/>
            </a:xfrm>
            <a:prstGeom prst="rect">
              <a:avLst/>
            </a:prstGeom>
          </p:spPr>
          <p:txBody>
            <a:bodyPr anchor="ctr" rtlCol="false" tIns="0" lIns="0" bIns="0" rIns="0"/>
            <a:lstStyle/>
            <a:p>
              <a:pPr algn="l" marL="527721" indent="-175907" lvl="2">
                <a:lnSpc>
                  <a:spcPts val="2998"/>
                </a:lnSpc>
                <a:buAutoNum type="arabicPeriod" startAt="1"/>
              </a:pPr>
              <a:r>
                <a:rPr lang="en-US" sz="2499">
                  <a:solidFill>
                    <a:srgbClr val="5F669F"/>
                  </a:solidFill>
                  <a:latin typeface="Calibri (MS)"/>
                  <a:ea typeface="Calibri (MS)"/>
                  <a:cs typeface="Calibri (MS)"/>
                  <a:sym typeface="Calibri (MS)"/>
                </a:rPr>
                <a:t>El usuario ingresa a la plataforma y accede al formulario de preferencias.</a:t>
              </a:r>
            </a:p>
            <a:p>
              <a:pPr algn="l" marL="527721" indent="-175907" lvl="2">
                <a:lnSpc>
                  <a:spcPts val="2998"/>
                </a:lnSpc>
                <a:buAutoNum type="arabicPeriod" startAt="1"/>
              </a:pPr>
              <a:r>
                <a:rPr lang="en-US" sz="2499">
                  <a:solidFill>
                    <a:srgbClr val="5F669F"/>
                  </a:solidFill>
                  <a:latin typeface="Calibri (MS)"/>
                  <a:ea typeface="Calibri (MS)"/>
                  <a:cs typeface="Calibri (MS)"/>
                  <a:sym typeface="Calibri (MS)"/>
                </a:rPr>
                <a:t>Define pesos para precio, ubicación, seguridad, colegios y confiabilidad de constructora.</a:t>
              </a:r>
            </a:p>
            <a:p>
              <a:pPr algn="l" marL="527721" indent="-175907" lvl="2">
                <a:lnSpc>
                  <a:spcPts val="2998"/>
                </a:lnSpc>
                <a:buAutoNum type="arabicPeriod" startAt="1"/>
              </a:pPr>
              <a:r>
                <a:rPr lang="en-US" sz="2499">
                  <a:solidFill>
                    <a:srgbClr val="5F669F"/>
                  </a:solidFill>
                  <a:latin typeface="Calibri (MS)"/>
                  <a:ea typeface="Calibri (MS)"/>
                  <a:cs typeface="Calibri (MS)"/>
                  <a:sym typeface="Calibri (MS)"/>
                </a:rPr>
                <a:t>El sistema recupera opportunity_score, zone_composite_index y constructora_reliability_score de cada inmueble activo.</a:t>
              </a:r>
            </a:p>
            <a:p>
              <a:pPr algn="l" marL="527721" indent="-175907" lvl="2">
                <a:lnSpc>
                  <a:spcPts val="2998"/>
                </a:lnSpc>
                <a:buAutoNum type="arabicPeriod" startAt="1"/>
              </a:pPr>
              <a:r>
                <a:rPr lang="en-US" sz="2499">
                  <a:solidFill>
                    <a:srgbClr val="5F669F"/>
                  </a:solidFill>
                  <a:latin typeface="Calibri (MS)"/>
                  <a:ea typeface="Calibri (MS)"/>
                  <a:cs typeface="Calibri (MS)"/>
                  <a:sym typeface="Calibri (MS)"/>
                </a:rPr>
                <a:t>El sistema combina los tres scores, ponderados según los pesos declarados por el usuario.</a:t>
              </a:r>
            </a:p>
            <a:p>
              <a:pPr algn="l" marL="527721" indent="-175907" lvl="2">
                <a:lnSpc>
                  <a:spcPts val="2998"/>
                </a:lnSpc>
                <a:buAutoNum type="arabicPeriod" startAt="1"/>
              </a:pPr>
              <a:r>
                <a:rPr lang="en-US" sz="2499">
                  <a:solidFill>
                    <a:srgbClr val="5F669F"/>
                  </a:solidFill>
                  <a:latin typeface="Calibri (MS)"/>
                  <a:ea typeface="Calibri (MS)"/>
                  <a:cs typeface="Calibri (MS)"/>
                  <a:sym typeface="Calibri (MS)"/>
                </a:rPr>
                <a:t>El sistema genera un ranking ordenado por el score compuesto resultante.</a:t>
              </a:r>
            </a:p>
            <a:p>
              <a:pPr algn="l" marL="527721" indent="-175907" lvl="2">
                <a:lnSpc>
                  <a:spcPts val="2998"/>
                </a:lnSpc>
                <a:buAutoNum type="arabicPeriod" startAt="1"/>
              </a:pPr>
              <a:r>
                <a:rPr lang="en-US" sz="2499">
                  <a:solidFill>
                    <a:srgbClr val="5F669F"/>
                  </a:solidFill>
                  <a:latin typeface="Calibri (MS)"/>
                  <a:ea typeface="Calibri (MS)"/>
                  <a:cs typeface="Calibri (MS)"/>
                  <a:sym typeface="Calibri (MS)"/>
                </a:rPr>
                <a:t>El sistema despliega el ranking personalizado al usuario.</a:t>
              </a:r>
            </a:p>
          </p:txBody>
        </p:sp>
      </p:grpSp>
      <p:grpSp>
        <p:nvGrpSpPr>
          <p:cNvPr name="Group 36" id="36"/>
          <p:cNvGrpSpPr/>
          <p:nvPr/>
        </p:nvGrpSpPr>
        <p:grpSpPr>
          <a:xfrm rot="0">
            <a:off x="10835640" y="3360420"/>
            <a:ext cx="6583680" cy="5897880"/>
            <a:chOff x="0" y="0"/>
            <a:chExt cx="8778240" cy="7863840"/>
          </a:xfrm>
        </p:grpSpPr>
        <p:sp>
          <p:nvSpPr>
            <p:cNvPr name="Freeform 37" id="37"/>
            <p:cNvSpPr/>
            <p:nvPr/>
          </p:nvSpPr>
          <p:spPr>
            <a:xfrm flipH="false" flipV="false" rot="0">
              <a:off x="0" y="0"/>
              <a:ext cx="8778240" cy="7863840"/>
            </a:xfrm>
            <a:custGeom>
              <a:avLst/>
              <a:gdLst/>
              <a:ahLst/>
              <a:cxnLst/>
              <a:rect r="r" b="b" t="t" l="l"/>
              <a:pathLst>
                <a:path h="7863840" w="8778240">
                  <a:moveTo>
                    <a:pt x="0" y="146304"/>
                  </a:moveTo>
                  <a:cubicBezTo>
                    <a:pt x="0" y="65532"/>
                    <a:pt x="65532" y="0"/>
                    <a:pt x="146304" y="0"/>
                  </a:cubicBezTo>
                  <a:lnTo>
                    <a:pt x="8631936" y="0"/>
                  </a:lnTo>
                  <a:cubicBezTo>
                    <a:pt x="8712708" y="0"/>
                    <a:pt x="8778240" y="65532"/>
                    <a:pt x="8778240" y="146304"/>
                  </a:cubicBezTo>
                  <a:lnTo>
                    <a:pt x="8778240" y="7717536"/>
                  </a:lnTo>
                  <a:cubicBezTo>
                    <a:pt x="8778240" y="7798308"/>
                    <a:pt x="8712708" y="7863840"/>
                    <a:pt x="8631936" y="7863840"/>
                  </a:cubicBezTo>
                  <a:lnTo>
                    <a:pt x="146304" y="7863840"/>
                  </a:lnTo>
                  <a:cubicBezTo>
                    <a:pt x="65532" y="7863840"/>
                    <a:pt x="0" y="7798308"/>
                    <a:pt x="0" y="7717536"/>
                  </a:cubicBezTo>
                  <a:close/>
                </a:path>
              </a:pathLst>
            </a:custGeom>
            <a:solidFill>
              <a:srgbClr val="293E9C"/>
            </a:solidFill>
          </p:spPr>
        </p:sp>
      </p:grpSp>
      <p:grpSp>
        <p:nvGrpSpPr>
          <p:cNvPr name="Group 38" id="38"/>
          <p:cNvGrpSpPr/>
          <p:nvPr/>
        </p:nvGrpSpPr>
        <p:grpSpPr>
          <a:xfrm rot="0">
            <a:off x="11178540" y="3634740"/>
            <a:ext cx="5897880" cy="480060"/>
            <a:chOff x="0" y="0"/>
            <a:chExt cx="7863840" cy="640080"/>
          </a:xfrm>
        </p:grpSpPr>
        <p:sp>
          <p:nvSpPr>
            <p:cNvPr name="Freeform 39" id="39"/>
            <p:cNvSpPr/>
            <p:nvPr/>
          </p:nvSpPr>
          <p:spPr>
            <a:xfrm flipH="false" flipV="false" rot="0">
              <a:off x="0" y="0"/>
              <a:ext cx="7863840" cy="640080"/>
            </a:xfrm>
            <a:custGeom>
              <a:avLst/>
              <a:gdLst/>
              <a:ahLst/>
              <a:cxnLst/>
              <a:rect r="r" b="b" t="t" l="l"/>
              <a:pathLst>
                <a:path h="640080" w="7863840">
                  <a:moveTo>
                    <a:pt x="0" y="0"/>
                  </a:moveTo>
                  <a:lnTo>
                    <a:pt x="7863840" y="0"/>
                  </a:lnTo>
                  <a:lnTo>
                    <a:pt x="7863840" y="640080"/>
                  </a:lnTo>
                  <a:lnTo>
                    <a:pt x="0" y="640080"/>
                  </a:lnTo>
                  <a:close/>
                </a:path>
              </a:pathLst>
            </a:custGeom>
            <a:blipFill>
              <a:blip r:embed="rId2">
                <a:alphaModFix amt="0"/>
              </a:blip>
              <a:stretch>
                <a:fillRect l="0" t="-189220" r="0" b="-189222"/>
              </a:stretch>
            </a:blipFill>
          </p:spPr>
        </p:sp>
      </p:grpSp>
      <p:grpSp>
        <p:nvGrpSpPr>
          <p:cNvPr name="Group 40" id="40"/>
          <p:cNvGrpSpPr/>
          <p:nvPr/>
        </p:nvGrpSpPr>
        <p:grpSpPr>
          <a:xfrm rot="0">
            <a:off x="11178540" y="3599021"/>
            <a:ext cx="5897880" cy="515779"/>
            <a:chOff x="0" y="0"/>
            <a:chExt cx="7863840" cy="687705"/>
          </a:xfrm>
        </p:grpSpPr>
        <p:sp>
          <p:nvSpPr>
            <p:cNvPr name="Freeform 41" id="41"/>
            <p:cNvSpPr/>
            <p:nvPr/>
          </p:nvSpPr>
          <p:spPr>
            <a:xfrm flipH="false" flipV="false" rot="0">
              <a:off x="0" y="0"/>
              <a:ext cx="7863840" cy="687705"/>
            </a:xfrm>
            <a:custGeom>
              <a:avLst/>
              <a:gdLst/>
              <a:ahLst/>
              <a:cxnLst/>
              <a:rect r="r" b="b" t="t" l="l"/>
              <a:pathLst>
                <a:path h="687705" w="7863840">
                  <a:moveTo>
                    <a:pt x="0" y="0"/>
                  </a:moveTo>
                  <a:lnTo>
                    <a:pt x="7863840" y="0"/>
                  </a:lnTo>
                  <a:lnTo>
                    <a:pt x="7863840" y="687705"/>
                  </a:lnTo>
                  <a:lnTo>
                    <a:pt x="0" y="687705"/>
                  </a:lnTo>
                  <a:close/>
                </a:path>
              </a:pathLst>
            </a:custGeom>
            <a:blipFill>
              <a:blip r:embed="rId3">
                <a:alphaModFix amt="0"/>
              </a:blip>
              <a:stretch>
                <a:fillRect l="0" t="-172809" r="0" b="-172809"/>
              </a:stretch>
            </a:blipFill>
          </p:spPr>
        </p:sp>
        <p:sp>
          <p:nvSpPr>
            <p:cNvPr name="TextBox 42" id="42"/>
            <p:cNvSpPr txBox="true"/>
            <p:nvPr/>
          </p:nvSpPr>
          <p:spPr>
            <a:xfrm>
              <a:off x="0" y="-47625"/>
              <a:ext cx="7863840" cy="735330"/>
            </a:xfrm>
            <a:prstGeom prst="rect">
              <a:avLst/>
            </a:prstGeom>
          </p:spPr>
          <p:txBody>
            <a:bodyPr anchor="ctr" rtlCol="false" tIns="0" lIns="0" bIns="0" rIns="0"/>
            <a:lstStyle/>
            <a:p>
              <a:pPr algn="l">
                <a:lnSpc>
                  <a:spcPts val="2340"/>
                </a:lnSpc>
              </a:pPr>
              <a:r>
                <a:rPr lang="en-US" sz="1950" b="true">
                  <a:solidFill>
                    <a:srgbClr val="FFFFFF"/>
                  </a:solidFill>
                  <a:latin typeface="Calibri (MS) Bold"/>
                  <a:ea typeface="Calibri (MS) Bold"/>
                  <a:cs typeface="Calibri (MS) Bold"/>
                  <a:sym typeface="Calibri (MS) Bold"/>
                </a:rPr>
                <a:t>Flujos alternativos</a:t>
              </a:r>
            </a:p>
          </p:txBody>
        </p:sp>
      </p:grpSp>
      <p:grpSp>
        <p:nvGrpSpPr>
          <p:cNvPr name="Group 43" id="43"/>
          <p:cNvGrpSpPr/>
          <p:nvPr/>
        </p:nvGrpSpPr>
        <p:grpSpPr>
          <a:xfrm rot="0">
            <a:off x="11178540" y="4183380"/>
            <a:ext cx="5897880" cy="2932271"/>
            <a:chOff x="0" y="0"/>
            <a:chExt cx="7863840" cy="3909695"/>
          </a:xfrm>
        </p:grpSpPr>
        <p:sp>
          <p:nvSpPr>
            <p:cNvPr name="Freeform 44" id="44"/>
            <p:cNvSpPr/>
            <p:nvPr/>
          </p:nvSpPr>
          <p:spPr>
            <a:xfrm flipH="false" flipV="false" rot="0">
              <a:off x="0" y="0"/>
              <a:ext cx="7863840" cy="3909695"/>
            </a:xfrm>
            <a:custGeom>
              <a:avLst/>
              <a:gdLst/>
              <a:ahLst/>
              <a:cxnLst/>
              <a:rect r="r" b="b" t="t" l="l"/>
              <a:pathLst>
                <a:path h="3909695" w="7863840">
                  <a:moveTo>
                    <a:pt x="0" y="0"/>
                  </a:moveTo>
                  <a:lnTo>
                    <a:pt x="7863840" y="0"/>
                  </a:lnTo>
                  <a:lnTo>
                    <a:pt x="7863840" y="3909695"/>
                  </a:lnTo>
                  <a:lnTo>
                    <a:pt x="0" y="3909695"/>
                  </a:lnTo>
                  <a:close/>
                </a:path>
              </a:pathLst>
            </a:custGeom>
            <a:blipFill>
              <a:blip r:embed="rId2">
                <a:alphaModFix amt="0"/>
              </a:blip>
              <a:stretch>
                <a:fillRect l="-13833" t="0" r="-13833" b="0"/>
              </a:stretch>
            </a:blipFill>
          </p:spPr>
        </p:sp>
      </p:grpSp>
      <p:grpSp>
        <p:nvGrpSpPr>
          <p:cNvPr name="Group 45" id="45"/>
          <p:cNvGrpSpPr/>
          <p:nvPr/>
        </p:nvGrpSpPr>
        <p:grpSpPr>
          <a:xfrm rot="0">
            <a:off x="11178540" y="4111942"/>
            <a:ext cx="5897880" cy="3003709"/>
            <a:chOff x="0" y="0"/>
            <a:chExt cx="7863840" cy="4004945"/>
          </a:xfrm>
        </p:grpSpPr>
        <p:sp>
          <p:nvSpPr>
            <p:cNvPr name="Freeform 46" id="46"/>
            <p:cNvSpPr/>
            <p:nvPr/>
          </p:nvSpPr>
          <p:spPr>
            <a:xfrm flipH="false" flipV="false" rot="0">
              <a:off x="0" y="0"/>
              <a:ext cx="7863840" cy="4004949"/>
            </a:xfrm>
            <a:custGeom>
              <a:avLst/>
              <a:gdLst/>
              <a:ahLst/>
              <a:cxnLst/>
              <a:rect r="r" b="b" t="t" l="l"/>
              <a:pathLst>
                <a:path h="4004949" w="7863840">
                  <a:moveTo>
                    <a:pt x="0" y="0"/>
                  </a:moveTo>
                  <a:lnTo>
                    <a:pt x="7863840" y="0"/>
                  </a:lnTo>
                  <a:lnTo>
                    <a:pt x="7863840" y="4004949"/>
                  </a:lnTo>
                  <a:lnTo>
                    <a:pt x="0" y="4004949"/>
                  </a:lnTo>
                  <a:close/>
                </a:path>
              </a:pathLst>
            </a:custGeom>
            <a:blipFill>
              <a:blip r:embed="rId3">
                <a:alphaModFix amt="0"/>
              </a:blip>
              <a:stretch>
                <a:fillRect l="-15343" t="0" r="-15343" b="0"/>
              </a:stretch>
            </a:blipFill>
          </p:spPr>
        </p:sp>
        <p:sp>
          <p:nvSpPr>
            <p:cNvPr name="TextBox 47" id="47"/>
            <p:cNvSpPr txBox="true"/>
            <p:nvPr/>
          </p:nvSpPr>
          <p:spPr>
            <a:xfrm>
              <a:off x="0" y="-95250"/>
              <a:ext cx="7863840" cy="4100195"/>
            </a:xfrm>
            <a:prstGeom prst="rect">
              <a:avLst/>
            </a:prstGeom>
          </p:spPr>
          <p:txBody>
            <a:bodyPr anchor="ctr" rtlCol="false" tIns="0" lIns="0" bIns="0" rIns="0"/>
            <a:lstStyle/>
            <a:p>
              <a:pPr algn="l">
                <a:lnSpc>
                  <a:spcPts val="3000"/>
                </a:lnSpc>
              </a:pPr>
              <a:r>
                <a:rPr lang="en-US" sz="2000" b="true">
                  <a:solidFill>
                    <a:srgbClr val="FFFFFF"/>
                  </a:solidFill>
                  <a:latin typeface="Calibri (MS) Bold"/>
                  <a:ea typeface="Calibri (MS) Bold"/>
                  <a:cs typeface="Calibri (MS) Bold"/>
                  <a:sym typeface="Calibri (MS) Bold"/>
                </a:rPr>
                <a:t>3a. </a:t>
              </a:r>
              <a:r>
                <a:rPr lang="en-US" sz="2000">
                  <a:solidFill>
                    <a:srgbClr val="FFFFFF"/>
                  </a:solidFill>
                  <a:latin typeface="Calibri (MS)"/>
                  <a:ea typeface="Calibri (MS)"/>
                  <a:cs typeface="Calibri (MS)"/>
                  <a:sym typeface="Calibri (MS)"/>
                </a:rPr>
                <a:t>Si falta un componente del score (ej. sin visual_quality_score), el sistema marca la propiedad como "dato parcial" en vez de omitirla o inventar el valor.</a:t>
              </a:r>
            </a:p>
            <a:p>
              <a:pPr algn="l">
                <a:lnSpc>
                  <a:spcPts val="3000"/>
                </a:lnSpc>
              </a:pPr>
            </a:p>
            <a:p>
              <a:pPr algn="l">
                <a:lnSpc>
                  <a:spcPts val="3000"/>
                </a:lnSpc>
              </a:pPr>
              <a:r>
                <a:rPr lang="en-US" sz="2000" b="true">
                  <a:solidFill>
                    <a:srgbClr val="FFFFFF"/>
                  </a:solidFill>
                  <a:latin typeface="Calibri (MS) Bold"/>
                  <a:ea typeface="Calibri (MS) Bold"/>
                  <a:cs typeface="Calibri (MS) Bold"/>
                  <a:sym typeface="Calibri (MS) Bold"/>
                </a:rPr>
                <a:t>4a. </a:t>
              </a:r>
              <a:r>
                <a:rPr lang="en-US" sz="2000">
                  <a:solidFill>
                    <a:srgbClr val="FFFFFF"/>
                  </a:solidFill>
                  <a:latin typeface="Calibri (MS)"/>
                  <a:ea typeface="Calibri (MS)"/>
                  <a:cs typeface="Calibri (MS)"/>
                  <a:sym typeface="Calibri (MS)"/>
                </a:rPr>
                <a:t>Dos usuarios con perfiles distintos que consultan el mismo inventario reciben rankings diferentes.</a:t>
              </a:r>
            </a:p>
          </p:txBody>
        </p:sp>
      </p:grpSp>
      <p:grpSp>
        <p:nvGrpSpPr>
          <p:cNvPr name="Group 48" id="48"/>
          <p:cNvGrpSpPr/>
          <p:nvPr/>
        </p:nvGrpSpPr>
        <p:grpSpPr>
          <a:xfrm rot="0">
            <a:off x="11178540" y="7269480"/>
            <a:ext cx="5897880" cy="411480"/>
            <a:chOff x="0" y="0"/>
            <a:chExt cx="7863840" cy="548640"/>
          </a:xfrm>
        </p:grpSpPr>
        <p:sp>
          <p:nvSpPr>
            <p:cNvPr name="Freeform 49" id="49"/>
            <p:cNvSpPr/>
            <p:nvPr/>
          </p:nvSpPr>
          <p:spPr>
            <a:xfrm flipH="false" flipV="false" rot="0">
              <a:off x="0" y="0"/>
              <a:ext cx="7863840" cy="548640"/>
            </a:xfrm>
            <a:custGeom>
              <a:avLst/>
              <a:gdLst/>
              <a:ahLst/>
              <a:cxnLst/>
              <a:rect r="r" b="b" t="t" l="l"/>
              <a:pathLst>
                <a:path h="548640" w="7863840">
                  <a:moveTo>
                    <a:pt x="0" y="0"/>
                  </a:moveTo>
                  <a:lnTo>
                    <a:pt x="7863840" y="0"/>
                  </a:lnTo>
                  <a:lnTo>
                    <a:pt x="7863840" y="548640"/>
                  </a:lnTo>
                  <a:lnTo>
                    <a:pt x="0" y="548640"/>
                  </a:lnTo>
                  <a:close/>
                </a:path>
              </a:pathLst>
            </a:custGeom>
            <a:blipFill>
              <a:blip r:embed="rId2">
                <a:alphaModFix amt="0"/>
              </a:blip>
              <a:stretch>
                <a:fillRect l="0" t="-229090" r="0" b="-229092"/>
              </a:stretch>
            </a:blipFill>
          </p:spPr>
        </p:sp>
      </p:grpSp>
      <p:grpSp>
        <p:nvGrpSpPr>
          <p:cNvPr name="Group 50" id="50"/>
          <p:cNvGrpSpPr/>
          <p:nvPr/>
        </p:nvGrpSpPr>
        <p:grpSpPr>
          <a:xfrm rot="0">
            <a:off x="11178540" y="7233761"/>
            <a:ext cx="5897880" cy="447199"/>
            <a:chOff x="0" y="0"/>
            <a:chExt cx="7863840" cy="596265"/>
          </a:xfrm>
        </p:grpSpPr>
        <p:sp>
          <p:nvSpPr>
            <p:cNvPr name="Freeform 51" id="51"/>
            <p:cNvSpPr/>
            <p:nvPr/>
          </p:nvSpPr>
          <p:spPr>
            <a:xfrm flipH="false" flipV="false" rot="0">
              <a:off x="0" y="0"/>
              <a:ext cx="7863840" cy="596265"/>
            </a:xfrm>
            <a:custGeom>
              <a:avLst/>
              <a:gdLst/>
              <a:ahLst/>
              <a:cxnLst/>
              <a:rect r="r" b="b" t="t" l="l"/>
              <a:pathLst>
                <a:path h="596265" w="7863840">
                  <a:moveTo>
                    <a:pt x="0" y="0"/>
                  </a:moveTo>
                  <a:lnTo>
                    <a:pt x="7863840" y="0"/>
                  </a:lnTo>
                  <a:lnTo>
                    <a:pt x="7863840" y="596265"/>
                  </a:lnTo>
                  <a:lnTo>
                    <a:pt x="0" y="596265"/>
                  </a:lnTo>
                  <a:close/>
                </a:path>
              </a:pathLst>
            </a:custGeom>
            <a:blipFill>
              <a:blip r:embed="rId3">
                <a:alphaModFix amt="0"/>
              </a:blip>
              <a:stretch>
                <a:fillRect l="0" t="-206978" r="0" b="-206978"/>
              </a:stretch>
            </a:blipFill>
          </p:spPr>
        </p:sp>
        <p:sp>
          <p:nvSpPr>
            <p:cNvPr name="TextBox 52" id="52"/>
            <p:cNvSpPr txBox="true"/>
            <p:nvPr/>
          </p:nvSpPr>
          <p:spPr>
            <a:xfrm>
              <a:off x="0" y="-47625"/>
              <a:ext cx="7863840" cy="643890"/>
            </a:xfrm>
            <a:prstGeom prst="rect">
              <a:avLst/>
            </a:prstGeom>
          </p:spPr>
          <p:txBody>
            <a:bodyPr anchor="ctr" rtlCol="false" tIns="0" lIns="0" bIns="0" rIns="0"/>
            <a:lstStyle/>
            <a:p>
              <a:pPr algn="l">
                <a:lnSpc>
                  <a:spcPts val="2340"/>
                </a:lnSpc>
              </a:pPr>
              <a:r>
                <a:rPr lang="en-US" sz="1950" b="true">
                  <a:solidFill>
                    <a:srgbClr val="FFFFFF"/>
                  </a:solidFill>
                  <a:latin typeface="Calibri (MS) Bold"/>
                  <a:ea typeface="Calibri (MS) Bold"/>
                  <a:cs typeface="Calibri (MS) Bold"/>
                  <a:sym typeface="Calibri (MS) Bold"/>
                </a:rPr>
                <a:t>Postcondición</a:t>
              </a:r>
            </a:p>
          </p:txBody>
        </p:sp>
      </p:grpSp>
      <p:grpSp>
        <p:nvGrpSpPr>
          <p:cNvPr name="Group 53" id="53"/>
          <p:cNvGrpSpPr/>
          <p:nvPr/>
        </p:nvGrpSpPr>
        <p:grpSpPr>
          <a:xfrm rot="0">
            <a:off x="11178540" y="7749540"/>
            <a:ext cx="5897880" cy="1234440"/>
            <a:chOff x="0" y="0"/>
            <a:chExt cx="7863840" cy="1645920"/>
          </a:xfrm>
        </p:grpSpPr>
        <p:sp>
          <p:nvSpPr>
            <p:cNvPr name="Freeform 54" id="54"/>
            <p:cNvSpPr/>
            <p:nvPr/>
          </p:nvSpPr>
          <p:spPr>
            <a:xfrm flipH="false" flipV="false" rot="0">
              <a:off x="0" y="0"/>
              <a:ext cx="7863840" cy="1645920"/>
            </a:xfrm>
            <a:custGeom>
              <a:avLst/>
              <a:gdLst/>
              <a:ahLst/>
              <a:cxnLst/>
              <a:rect r="r" b="b" t="t" l="l"/>
              <a:pathLst>
                <a:path h="1645920" w="7863840">
                  <a:moveTo>
                    <a:pt x="0" y="0"/>
                  </a:moveTo>
                  <a:lnTo>
                    <a:pt x="7863840" y="0"/>
                  </a:lnTo>
                  <a:lnTo>
                    <a:pt x="7863840" y="1645920"/>
                  </a:lnTo>
                  <a:lnTo>
                    <a:pt x="0" y="1645920"/>
                  </a:lnTo>
                  <a:close/>
                </a:path>
              </a:pathLst>
            </a:custGeom>
            <a:blipFill>
              <a:blip r:embed="rId2">
                <a:alphaModFix amt="0"/>
              </a:blip>
              <a:stretch>
                <a:fillRect l="0" t="-43030" r="0" b="-43030"/>
              </a:stretch>
            </a:blipFill>
          </p:spPr>
        </p:sp>
      </p:grpSp>
      <p:grpSp>
        <p:nvGrpSpPr>
          <p:cNvPr name="Group 55" id="55"/>
          <p:cNvGrpSpPr/>
          <p:nvPr/>
        </p:nvGrpSpPr>
        <p:grpSpPr>
          <a:xfrm rot="0">
            <a:off x="11178540" y="7720965"/>
            <a:ext cx="5897880" cy="1263015"/>
            <a:chOff x="0" y="0"/>
            <a:chExt cx="7863840" cy="1684020"/>
          </a:xfrm>
        </p:grpSpPr>
        <p:sp>
          <p:nvSpPr>
            <p:cNvPr name="Freeform 56" id="56"/>
            <p:cNvSpPr/>
            <p:nvPr/>
          </p:nvSpPr>
          <p:spPr>
            <a:xfrm flipH="false" flipV="false" rot="0">
              <a:off x="0" y="0"/>
              <a:ext cx="7863840" cy="1684020"/>
            </a:xfrm>
            <a:custGeom>
              <a:avLst/>
              <a:gdLst/>
              <a:ahLst/>
              <a:cxnLst/>
              <a:rect r="r" b="b" t="t" l="l"/>
              <a:pathLst>
                <a:path h="1684020" w="7863840">
                  <a:moveTo>
                    <a:pt x="0" y="0"/>
                  </a:moveTo>
                  <a:lnTo>
                    <a:pt x="7863840" y="0"/>
                  </a:lnTo>
                  <a:lnTo>
                    <a:pt x="7863840" y="1684020"/>
                  </a:lnTo>
                  <a:lnTo>
                    <a:pt x="0" y="1684020"/>
                  </a:lnTo>
                  <a:close/>
                </a:path>
              </a:pathLst>
            </a:custGeom>
            <a:blipFill>
              <a:blip r:embed="rId3">
                <a:alphaModFix amt="0"/>
              </a:blip>
              <a:stretch>
                <a:fillRect l="0" t="-40988" r="0" b="-40988"/>
              </a:stretch>
            </a:blipFill>
          </p:spPr>
        </p:sp>
        <p:sp>
          <p:nvSpPr>
            <p:cNvPr name="TextBox 57" id="57"/>
            <p:cNvSpPr txBox="true"/>
            <p:nvPr/>
          </p:nvSpPr>
          <p:spPr>
            <a:xfrm>
              <a:off x="0" y="-38100"/>
              <a:ext cx="7863840" cy="1722120"/>
            </a:xfrm>
            <a:prstGeom prst="rect">
              <a:avLst/>
            </a:prstGeom>
          </p:spPr>
          <p:txBody>
            <a:bodyPr anchor="ctr" rtlCol="false" tIns="0" lIns="0" bIns="0" rIns="0"/>
            <a:lstStyle/>
            <a:p>
              <a:pPr algn="l">
                <a:lnSpc>
                  <a:spcPts val="2400"/>
                </a:lnSpc>
              </a:pPr>
              <a:r>
                <a:rPr lang="en-US" sz="2000" i="true">
                  <a:solidFill>
                    <a:srgbClr val="FFFFFF"/>
                  </a:solidFill>
                  <a:latin typeface="Calibri (MS) Italics"/>
                  <a:ea typeface="Calibri (MS) Italics"/>
                  <a:cs typeface="Calibri (MS) Italics"/>
                  <a:sym typeface="Calibri (MS) Italics"/>
                </a:rPr>
                <a:t>El usuario recibe una lista de propiedades ordenada de forma única según su propio perfil.</a:t>
              </a:r>
            </a:p>
          </p:txBody>
        </p:sp>
      </p:grpSp>
      <p:grpSp>
        <p:nvGrpSpPr>
          <p:cNvPr name="Group 58" id="58"/>
          <p:cNvGrpSpPr/>
          <p:nvPr/>
        </p:nvGrpSpPr>
        <p:grpSpPr>
          <a:xfrm rot="0">
            <a:off x="685800" y="9738360"/>
            <a:ext cx="8229600" cy="411480"/>
            <a:chOff x="0" y="0"/>
            <a:chExt cx="10972800" cy="548640"/>
          </a:xfrm>
        </p:grpSpPr>
        <p:sp>
          <p:nvSpPr>
            <p:cNvPr name="Freeform 59" id="59"/>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60" id="60"/>
          <p:cNvGrpSpPr/>
          <p:nvPr/>
        </p:nvGrpSpPr>
        <p:grpSpPr>
          <a:xfrm rot="0">
            <a:off x="685800" y="9709785"/>
            <a:ext cx="8229600" cy="440055"/>
            <a:chOff x="0" y="0"/>
            <a:chExt cx="10972800" cy="586740"/>
          </a:xfrm>
        </p:grpSpPr>
        <p:sp>
          <p:nvSpPr>
            <p:cNvPr name="Freeform 61" id="61"/>
            <p:cNvSpPr/>
            <p:nvPr/>
          </p:nvSpPr>
          <p:spPr>
            <a:xfrm flipH="false" flipV="false" rot="0">
              <a:off x="0" y="0"/>
              <a:ext cx="10972800" cy="586740"/>
            </a:xfrm>
            <a:custGeom>
              <a:avLst/>
              <a:gdLst/>
              <a:ahLst/>
              <a:cxnLst/>
              <a:rect r="r" b="b" t="t" l="l"/>
              <a:pathLst>
                <a:path h="586740" w="10972800">
                  <a:moveTo>
                    <a:pt x="0" y="0"/>
                  </a:moveTo>
                  <a:lnTo>
                    <a:pt x="10972800" y="0"/>
                  </a:lnTo>
                  <a:lnTo>
                    <a:pt x="10972800" y="586740"/>
                  </a:lnTo>
                  <a:lnTo>
                    <a:pt x="0" y="586740"/>
                  </a:lnTo>
                  <a:close/>
                </a:path>
              </a:pathLst>
            </a:custGeom>
            <a:blipFill>
              <a:blip r:embed="rId3">
                <a:alphaModFix amt="0"/>
              </a:blip>
              <a:stretch>
                <a:fillRect l="0" t="-314395" r="0" b="-314395"/>
              </a:stretch>
            </a:blipFill>
          </p:spPr>
        </p:sp>
        <p:sp>
          <p:nvSpPr>
            <p:cNvPr name="TextBox 62" id="62"/>
            <p:cNvSpPr txBox="true"/>
            <p:nvPr/>
          </p:nvSpPr>
          <p:spPr>
            <a:xfrm>
              <a:off x="0" y="-38100"/>
              <a:ext cx="10972800" cy="624840"/>
            </a:xfrm>
            <a:prstGeom prst="rect">
              <a:avLst/>
            </a:prstGeom>
          </p:spPr>
          <p:txBody>
            <a:bodyPr anchor="ctr" rtlCol="false" tIns="0" lIns="0" bIns="0" rIns="0"/>
            <a:lstStyle/>
            <a:p>
              <a:pPr algn="l">
                <a:lnSpc>
                  <a:spcPts val="1800"/>
                </a:lnSpc>
              </a:pPr>
              <a:r>
                <a:rPr lang="en-US" sz="1500">
                  <a:solidFill>
                    <a:srgbClr val="5F669F"/>
                  </a:solidFill>
                  <a:latin typeface="Calibri (MS)"/>
                  <a:ea typeface="Calibri (MS)"/>
                  <a:cs typeface="Calibri (MS)"/>
                  <a:sym typeface="Calibri (MS)"/>
                </a:rPr>
                <a:t>InmoScore · Requirements Artifacts</a:t>
              </a:r>
            </a:p>
          </p:txBody>
        </p:sp>
      </p:gr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FAFCFD"/>
        </a:solidFill>
      </p:bgPr>
    </p:bg>
    <p:spTree>
      <p:nvGrpSpPr>
        <p:cNvPr id="1" name=""/>
        <p:cNvGrpSpPr/>
        <p:nvPr/>
      </p:nvGrpSpPr>
      <p:grpSpPr>
        <a:xfrm>
          <a:off x="0" y="0"/>
          <a:ext cx="0" cy="0"/>
          <a:chOff x="0" y="0"/>
          <a:chExt cx="0" cy="0"/>
        </a:xfrm>
      </p:grpSpPr>
      <p:grpSp>
        <p:nvGrpSpPr>
          <p:cNvPr name="Group 2" id="2"/>
          <p:cNvGrpSpPr/>
          <p:nvPr/>
        </p:nvGrpSpPr>
        <p:grpSpPr>
          <a:xfrm rot="0">
            <a:off x="17048988" y="9738360"/>
            <a:ext cx="548640" cy="411480"/>
            <a:chOff x="0" y="0"/>
            <a:chExt cx="731520" cy="548640"/>
          </a:xfrm>
        </p:grpSpPr>
        <p:sp>
          <p:nvSpPr>
            <p:cNvPr name="Freeform 3" id="3"/>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4" id="4"/>
          <p:cNvGrpSpPr/>
          <p:nvPr/>
        </p:nvGrpSpPr>
        <p:grpSpPr>
          <a:xfrm rot="0">
            <a:off x="17048988" y="9709785"/>
            <a:ext cx="548640" cy="440055"/>
            <a:chOff x="0" y="0"/>
            <a:chExt cx="731520" cy="586740"/>
          </a:xfrm>
        </p:grpSpPr>
        <p:sp>
          <p:nvSpPr>
            <p:cNvPr name="Freeform 5" id="5"/>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6" id="6"/>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5F669F"/>
                  </a:solidFill>
                  <a:latin typeface="Calibri (MS)"/>
                  <a:ea typeface="Calibri (MS)"/>
                  <a:cs typeface="Calibri (MS)"/>
                  <a:sym typeface="Calibri (MS)"/>
                </a:rPr>
                <a:t>18</a:t>
              </a:r>
            </a:p>
          </p:txBody>
        </p:sp>
      </p:grpSp>
      <p:grpSp>
        <p:nvGrpSpPr>
          <p:cNvPr name="Group 7" id="7"/>
          <p:cNvGrpSpPr/>
          <p:nvPr/>
        </p:nvGrpSpPr>
        <p:grpSpPr>
          <a:xfrm rot="0">
            <a:off x="822960" y="438912"/>
            <a:ext cx="13716000" cy="480060"/>
            <a:chOff x="0" y="0"/>
            <a:chExt cx="18288000" cy="640080"/>
          </a:xfrm>
        </p:grpSpPr>
        <p:sp>
          <p:nvSpPr>
            <p:cNvPr name="Freeform 8" id="8"/>
            <p:cNvSpPr/>
            <p:nvPr/>
          </p:nvSpPr>
          <p:spPr>
            <a:xfrm flipH="false" flipV="false" rot="0">
              <a:off x="0" y="0"/>
              <a:ext cx="18288000" cy="640080"/>
            </a:xfrm>
            <a:custGeom>
              <a:avLst/>
              <a:gdLst/>
              <a:ahLst/>
              <a:cxnLst/>
              <a:rect r="r" b="b" t="t" l="l"/>
              <a:pathLst>
                <a:path h="640080" w="18288000">
                  <a:moveTo>
                    <a:pt x="0" y="0"/>
                  </a:moveTo>
                  <a:lnTo>
                    <a:pt x="18288000" y="0"/>
                  </a:lnTo>
                  <a:lnTo>
                    <a:pt x="18288000" y="640080"/>
                  </a:lnTo>
                  <a:lnTo>
                    <a:pt x="0" y="640080"/>
                  </a:lnTo>
                  <a:close/>
                </a:path>
              </a:pathLst>
            </a:custGeom>
            <a:blipFill>
              <a:blip r:embed="rId2">
                <a:alphaModFix amt="0"/>
              </a:blip>
              <a:stretch>
                <a:fillRect l="0" t="-506327" r="0" b="-506329"/>
              </a:stretch>
            </a:blipFill>
          </p:spPr>
        </p:sp>
      </p:grpSp>
      <p:grpSp>
        <p:nvGrpSpPr>
          <p:cNvPr name="Group 9" id="9"/>
          <p:cNvGrpSpPr/>
          <p:nvPr/>
        </p:nvGrpSpPr>
        <p:grpSpPr>
          <a:xfrm rot="0">
            <a:off x="822960" y="410337"/>
            <a:ext cx="13716000" cy="508635"/>
            <a:chOff x="0" y="0"/>
            <a:chExt cx="18288000" cy="678180"/>
          </a:xfrm>
        </p:grpSpPr>
        <p:sp>
          <p:nvSpPr>
            <p:cNvPr name="Freeform 10" id="10"/>
            <p:cNvSpPr/>
            <p:nvPr/>
          </p:nvSpPr>
          <p:spPr>
            <a:xfrm flipH="false" flipV="false" rot="0">
              <a:off x="0" y="0"/>
              <a:ext cx="18288000" cy="678180"/>
            </a:xfrm>
            <a:custGeom>
              <a:avLst/>
              <a:gdLst/>
              <a:ahLst/>
              <a:cxnLst/>
              <a:rect r="r" b="b" t="t" l="l"/>
              <a:pathLst>
                <a:path h="678180" w="18288000">
                  <a:moveTo>
                    <a:pt x="0" y="0"/>
                  </a:moveTo>
                  <a:lnTo>
                    <a:pt x="18288000" y="0"/>
                  </a:lnTo>
                  <a:lnTo>
                    <a:pt x="18288000" y="678180"/>
                  </a:lnTo>
                  <a:lnTo>
                    <a:pt x="0" y="678180"/>
                  </a:lnTo>
                  <a:close/>
                </a:path>
              </a:pathLst>
            </a:custGeom>
            <a:blipFill>
              <a:blip r:embed="rId3">
                <a:alphaModFix amt="0"/>
              </a:blip>
              <a:stretch>
                <a:fillRect l="0" t="-475439" r="0" b="-475439"/>
              </a:stretch>
            </a:blipFill>
          </p:spPr>
        </p:sp>
        <p:sp>
          <p:nvSpPr>
            <p:cNvPr name="TextBox 11" id="11"/>
            <p:cNvSpPr txBox="true"/>
            <p:nvPr/>
          </p:nvSpPr>
          <p:spPr>
            <a:xfrm>
              <a:off x="0" y="-38100"/>
              <a:ext cx="18288000" cy="716280"/>
            </a:xfrm>
            <a:prstGeom prst="rect">
              <a:avLst/>
            </a:prstGeom>
          </p:spPr>
          <p:txBody>
            <a:bodyPr anchor="ctr" rtlCol="false" tIns="0" lIns="0" bIns="0" rIns="0"/>
            <a:lstStyle/>
            <a:p>
              <a:pPr algn="l">
                <a:lnSpc>
                  <a:spcPts val="2160"/>
                </a:lnSpc>
              </a:pPr>
              <a:r>
                <a:rPr lang="en-US" b="true" sz="1800" spc="225">
                  <a:solidFill>
                    <a:srgbClr val="A5ABDF"/>
                  </a:solidFill>
                  <a:latin typeface="Calibri (MS) Bold"/>
                  <a:ea typeface="Calibri (MS) Bold"/>
                  <a:cs typeface="Calibri (MS) Bold"/>
                  <a:sym typeface="Calibri (MS) Bold"/>
                </a:rPr>
                <a:t>CASOS DE USO · CUBRE REQ-02</a:t>
              </a:r>
            </a:p>
          </p:txBody>
        </p:sp>
      </p:grpSp>
      <p:grpSp>
        <p:nvGrpSpPr>
          <p:cNvPr name="Group 12" id="12"/>
          <p:cNvGrpSpPr/>
          <p:nvPr/>
        </p:nvGrpSpPr>
        <p:grpSpPr>
          <a:xfrm rot="0">
            <a:off x="822960" y="850392"/>
            <a:ext cx="16459200" cy="822960"/>
            <a:chOff x="0" y="0"/>
            <a:chExt cx="21945600" cy="1097280"/>
          </a:xfrm>
        </p:grpSpPr>
        <p:sp>
          <p:nvSpPr>
            <p:cNvPr name="Freeform 13" id="13"/>
            <p:cNvSpPr/>
            <p:nvPr/>
          </p:nvSpPr>
          <p:spPr>
            <a:xfrm flipH="false" flipV="false" rot="0">
              <a:off x="0" y="0"/>
              <a:ext cx="21945600" cy="1097280"/>
            </a:xfrm>
            <a:custGeom>
              <a:avLst/>
              <a:gdLst/>
              <a:ahLst/>
              <a:cxnLst/>
              <a:rect r="r" b="b" t="t" l="l"/>
              <a:pathLst>
                <a:path h="1097280" w="21945600">
                  <a:moveTo>
                    <a:pt x="0" y="0"/>
                  </a:moveTo>
                  <a:lnTo>
                    <a:pt x="21945600" y="0"/>
                  </a:lnTo>
                  <a:lnTo>
                    <a:pt x="21945600" y="1097280"/>
                  </a:lnTo>
                  <a:lnTo>
                    <a:pt x="0" y="1097280"/>
                  </a:lnTo>
                  <a:close/>
                </a:path>
              </a:pathLst>
            </a:custGeom>
            <a:blipFill>
              <a:blip r:embed="rId2">
                <a:alphaModFix amt="0"/>
              </a:blip>
              <a:stretch>
                <a:fillRect l="0" t="-339429" r="0" b="-339430"/>
              </a:stretch>
            </a:blipFill>
          </p:spPr>
        </p:sp>
      </p:grpSp>
      <p:grpSp>
        <p:nvGrpSpPr>
          <p:cNvPr name="Group 14" id="14"/>
          <p:cNvGrpSpPr/>
          <p:nvPr/>
        </p:nvGrpSpPr>
        <p:grpSpPr>
          <a:xfrm rot="0">
            <a:off x="822960" y="850392"/>
            <a:ext cx="16459200" cy="822960"/>
            <a:chOff x="0" y="0"/>
            <a:chExt cx="21945600" cy="1097280"/>
          </a:xfrm>
        </p:grpSpPr>
        <p:sp>
          <p:nvSpPr>
            <p:cNvPr name="Freeform 15" id="15"/>
            <p:cNvSpPr/>
            <p:nvPr/>
          </p:nvSpPr>
          <p:spPr>
            <a:xfrm flipH="false" flipV="false" rot="0">
              <a:off x="0" y="0"/>
              <a:ext cx="21945600" cy="1097280"/>
            </a:xfrm>
            <a:custGeom>
              <a:avLst/>
              <a:gdLst/>
              <a:ahLst/>
              <a:cxnLst/>
              <a:rect r="r" b="b" t="t" l="l"/>
              <a:pathLst>
                <a:path h="1097280" w="21945600">
                  <a:moveTo>
                    <a:pt x="0" y="0"/>
                  </a:moveTo>
                  <a:lnTo>
                    <a:pt x="21945600" y="0"/>
                  </a:lnTo>
                  <a:lnTo>
                    <a:pt x="21945600" y="1097280"/>
                  </a:lnTo>
                  <a:lnTo>
                    <a:pt x="0" y="1097280"/>
                  </a:lnTo>
                  <a:close/>
                </a:path>
              </a:pathLst>
            </a:custGeom>
            <a:blipFill>
              <a:blip r:embed="rId3">
                <a:alphaModFix amt="0"/>
              </a:blip>
              <a:stretch>
                <a:fillRect l="0" t="-339700" r="0" b="-339700"/>
              </a:stretch>
            </a:blipFill>
          </p:spPr>
        </p:sp>
        <p:sp>
          <p:nvSpPr>
            <p:cNvPr name="TextBox 16" id="16"/>
            <p:cNvSpPr txBox="true"/>
            <p:nvPr/>
          </p:nvSpPr>
          <p:spPr>
            <a:xfrm>
              <a:off x="0" y="0"/>
              <a:ext cx="21945600" cy="1097280"/>
            </a:xfrm>
            <a:prstGeom prst="rect">
              <a:avLst/>
            </a:prstGeom>
          </p:spPr>
          <p:txBody>
            <a:bodyPr anchor="ctr" rtlCol="false" tIns="0" lIns="0" bIns="0" rIns="0"/>
            <a:lstStyle/>
            <a:p>
              <a:pPr algn="l">
                <a:lnSpc>
                  <a:spcPts val="4680"/>
                </a:lnSpc>
              </a:pPr>
              <a:r>
                <a:rPr lang="en-US" sz="3900" b="true">
                  <a:solidFill>
                    <a:srgbClr val="2F3E96"/>
                  </a:solidFill>
                  <a:latin typeface="Cambria Bold"/>
                  <a:ea typeface="Cambria Bold"/>
                  <a:cs typeface="Cambria Bold"/>
                  <a:sym typeface="Cambria Bold"/>
                </a:rPr>
                <a:t>UC-02 · Consultar la explicación de una recomendación</a:t>
              </a:r>
            </a:p>
          </p:txBody>
        </p:sp>
      </p:grpSp>
      <p:grpSp>
        <p:nvGrpSpPr>
          <p:cNvPr name="Group 17" id="17"/>
          <p:cNvGrpSpPr/>
          <p:nvPr/>
        </p:nvGrpSpPr>
        <p:grpSpPr>
          <a:xfrm rot="0">
            <a:off x="822960" y="1920240"/>
            <a:ext cx="16596360" cy="1165860"/>
            <a:chOff x="0" y="0"/>
            <a:chExt cx="22128480" cy="1554480"/>
          </a:xfrm>
        </p:grpSpPr>
        <p:sp>
          <p:nvSpPr>
            <p:cNvPr name="Freeform 18" id="18"/>
            <p:cNvSpPr/>
            <p:nvPr/>
          </p:nvSpPr>
          <p:spPr>
            <a:xfrm flipH="false" flipV="false" rot="0">
              <a:off x="0" y="0"/>
              <a:ext cx="22128480" cy="1554480"/>
            </a:xfrm>
            <a:custGeom>
              <a:avLst/>
              <a:gdLst/>
              <a:ahLst/>
              <a:cxnLst/>
              <a:rect r="r" b="b" t="t" l="l"/>
              <a:pathLst>
                <a:path h="1554480" w="22128480">
                  <a:moveTo>
                    <a:pt x="0" y="146304"/>
                  </a:moveTo>
                  <a:cubicBezTo>
                    <a:pt x="0" y="65532"/>
                    <a:pt x="65532" y="0"/>
                    <a:pt x="146304" y="0"/>
                  </a:cubicBezTo>
                  <a:lnTo>
                    <a:pt x="21982176" y="0"/>
                  </a:lnTo>
                  <a:cubicBezTo>
                    <a:pt x="22062948" y="0"/>
                    <a:pt x="22128480" y="65532"/>
                    <a:pt x="22128480" y="146304"/>
                  </a:cubicBezTo>
                  <a:lnTo>
                    <a:pt x="22128480" y="1408176"/>
                  </a:lnTo>
                  <a:cubicBezTo>
                    <a:pt x="22128480" y="1488948"/>
                    <a:pt x="22062948" y="1554480"/>
                    <a:pt x="21982176" y="1554480"/>
                  </a:cubicBezTo>
                  <a:lnTo>
                    <a:pt x="146304" y="1554480"/>
                  </a:lnTo>
                  <a:cubicBezTo>
                    <a:pt x="65532" y="1554480"/>
                    <a:pt x="0" y="1488948"/>
                    <a:pt x="0" y="1408176"/>
                  </a:cubicBezTo>
                  <a:close/>
                </a:path>
              </a:pathLst>
            </a:custGeom>
            <a:solidFill>
              <a:srgbClr val="293E9C"/>
            </a:solidFill>
          </p:spPr>
        </p:sp>
      </p:grpSp>
      <p:grpSp>
        <p:nvGrpSpPr>
          <p:cNvPr name="Group 19" id="19"/>
          <p:cNvGrpSpPr/>
          <p:nvPr/>
        </p:nvGrpSpPr>
        <p:grpSpPr>
          <a:xfrm rot="0">
            <a:off x="1234440" y="1920240"/>
            <a:ext cx="15773400" cy="1165860"/>
            <a:chOff x="0" y="0"/>
            <a:chExt cx="21031200" cy="1554480"/>
          </a:xfrm>
        </p:grpSpPr>
        <p:sp>
          <p:nvSpPr>
            <p:cNvPr name="Freeform 20" id="20"/>
            <p:cNvSpPr/>
            <p:nvPr/>
          </p:nvSpPr>
          <p:spPr>
            <a:xfrm flipH="false" flipV="false" rot="0">
              <a:off x="0" y="0"/>
              <a:ext cx="21031200" cy="1554480"/>
            </a:xfrm>
            <a:custGeom>
              <a:avLst/>
              <a:gdLst/>
              <a:ahLst/>
              <a:cxnLst/>
              <a:rect r="r" b="b" t="t" l="l"/>
              <a:pathLst>
                <a:path h="1554480" w="21031200">
                  <a:moveTo>
                    <a:pt x="0" y="0"/>
                  </a:moveTo>
                  <a:lnTo>
                    <a:pt x="21031200" y="0"/>
                  </a:lnTo>
                  <a:lnTo>
                    <a:pt x="21031200" y="1554480"/>
                  </a:lnTo>
                  <a:lnTo>
                    <a:pt x="0" y="1554480"/>
                  </a:lnTo>
                  <a:close/>
                </a:path>
              </a:pathLst>
            </a:custGeom>
            <a:blipFill>
              <a:blip r:embed="rId2">
                <a:alphaModFix amt="0"/>
              </a:blip>
              <a:stretch>
                <a:fillRect l="0" t="-213437" r="0" b="-213437"/>
              </a:stretch>
            </a:blipFill>
          </p:spPr>
        </p:sp>
      </p:grpSp>
      <p:grpSp>
        <p:nvGrpSpPr>
          <p:cNvPr name="Group 21" id="21"/>
          <p:cNvGrpSpPr/>
          <p:nvPr/>
        </p:nvGrpSpPr>
        <p:grpSpPr>
          <a:xfrm rot="0">
            <a:off x="1234440" y="1884521"/>
            <a:ext cx="15773400" cy="1201579"/>
            <a:chOff x="0" y="0"/>
            <a:chExt cx="21031200" cy="1602105"/>
          </a:xfrm>
        </p:grpSpPr>
        <p:sp>
          <p:nvSpPr>
            <p:cNvPr name="Freeform 22" id="22"/>
            <p:cNvSpPr/>
            <p:nvPr/>
          </p:nvSpPr>
          <p:spPr>
            <a:xfrm flipH="false" flipV="false" rot="0">
              <a:off x="0" y="0"/>
              <a:ext cx="21031200" cy="1602105"/>
            </a:xfrm>
            <a:custGeom>
              <a:avLst/>
              <a:gdLst/>
              <a:ahLst/>
              <a:cxnLst/>
              <a:rect r="r" b="b" t="t" l="l"/>
              <a:pathLst>
                <a:path h="1602105" w="21031200">
                  <a:moveTo>
                    <a:pt x="0" y="0"/>
                  </a:moveTo>
                  <a:lnTo>
                    <a:pt x="21031200" y="0"/>
                  </a:lnTo>
                  <a:lnTo>
                    <a:pt x="21031200" y="1602105"/>
                  </a:lnTo>
                  <a:lnTo>
                    <a:pt x="0" y="1602105"/>
                  </a:lnTo>
                  <a:close/>
                </a:path>
              </a:pathLst>
            </a:custGeom>
            <a:blipFill>
              <a:blip r:embed="rId3">
                <a:alphaModFix amt="0"/>
              </a:blip>
              <a:stretch>
                <a:fillRect l="0" t="-205784" r="0" b="-205784"/>
              </a:stretch>
            </a:blipFill>
          </p:spPr>
        </p:sp>
        <p:sp>
          <p:nvSpPr>
            <p:cNvPr name="TextBox 23" id="23"/>
            <p:cNvSpPr txBox="true"/>
            <p:nvPr/>
          </p:nvSpPr>
          <p:spPr>
            <a:xfrm>
              <a:off x="0" y="-47625"/>
              <a:ext cx="21031200" cy="1649730"/>
            </a:xfrm>
            <a:prstGeom prst="rect">
              <a:avLst/>
            </a:prstGeom>
          </p:spPr>
          <p:txBody>
            <a:bodyPr anchor="ctr" rtlCol="false" tIns="0" lIns="0" bIns="0" rIns="0"/>
            <a:lstStyle/>
            <a:p>
              <a:pPr algn="l">
                <a:lnSpc>
                  <a:spcPts val="2340"/>
                </a:lnSpc>
              </a:pPr>
              <a:r>
                <a:rPr lang="en-US" sz="1950" b="true">
                  <a:solidFill>
                    <a:srgbClr val="FAFCFD"/>
                  </a:solidFill>
                  <a:latin typeface="Calibri (MS) Bold"/>
                  <a:ea typeface="Calibri (MS) Bold"/>
                  <a:cs typeface="Calibri (MS) Bold"/>
                  <a:sym typeface="Calibri (MS) Bold"/>
                </a:rPr>
                <a:t>Actor: </a:t>
              </a:r>
              <a:r>
                <a:rPr lang="en-US" sz="1950">
                  <a:solidFill>
                    <a:srgbClr val="FAFCFD"/>
                  </a:solidFill>
                  <a:latin typeface="Calibri (MS)"/>
                  <a:ea typeface="Calibri (MS)"/>
                  <a:cs typeface="Calibri (MS)"/>
                  <a:sym typeface="Calibri (MS)"/>
                </a:rPr>
                <a:t>Comprador de vivienda propia   </a:t>
              </a:r>
              <a:r>
                <a:rPr lang="en-US" sz="1950" b="true">
                  <a:solidFill>
                    <a:srgbClr val="FAFCFD"/>
                  </a:solidFill>
                  <a:latin typeface="Calibri (MS) Bold"/>
                  <a:ea typeface="Calibri (MS) Bold"/>
                  <a:cs typeface="Calibri (MS) Bold"/>
                  <a:sym typeface="Calibri (MS) Bold"/>
                </a:rPr>
                <a:t>Precondición: </a:t>
              </a:r>
              <a:r>
                <a:rPr lang="en-US" sz="1950">
                  <a:solidFill>
                    <a:srgbClr val="FAFCFD"/>
                  </a:solidFill>
                  <a:latin typeface="Calibri (MS)"/>
                  <a:ea typeface="Calibri (MS)"/>
                  <a:cs typeface="Calibri (MS)"/>
                  <a:sym typeface="Calibri (MS)"/>
                </a:rPr>
                <a:t>existe un ranking generado (resultado de UC-01) con al menos una propiedad recomendada</a:t>
              </a:r>
            </a:p>
          </p:txBody>
        </p:sp>
      </p:grpSp>
      <p:grpSp>
        <p:nvGrpSpPr>
          <p:cNvPr name="Group 24" id="24"/>
          <p:cNvGrpSpPr/>
          <p:nvPr/>
        </p:nvGrpSpPr>
        <p:grpSpPr>
          <a:xfrm rot="0">
            <a:off x="822960" y="3360420"/>
            <a:ext cx="9738455" cy="5897880"/>
            <a:chOff x="0" y="0"/>
            <a:chExt cx="12984607" cy="7863840"/>
          </a:xfrm>
        </p:grpSpPr>
        <p:sp>
          <p:nvSpPr>
            <p:cNvPr name="Freeform 25" id="25"/>
            <p:cNvSpPr/>
            <p:nvPr/>
          </p:nvSpPr>
          <p:spPr>
            <a:xfrm flipH="false" flipV="false" rot="0">
              <a:off x="0" y="0"/>
              <a:ext cx="12984607" cy="7863840"/>
            </a:xfrm>
            <a:custGeom>
              <a:avLst/>
              <a:gdLst/>
              <a:ahLst/>
              <a:cxnLst/>
              <a:rect r="r" b="b" t="t" l="l"/>
              <a:pathLst>
                <a:path h="7863840" w="12984607">
                  <a:moveTo>
                    <a:pt x="0" y="146304"/>
                  </a:moveTo>
                  <a:cubicBezTo>
                    <a:pt x="0" y="65532"/>
                    <a:pt x="65532" y="0"/>
                    <a:pt x="146304" y="0"/>
                  </a:cubicBezTo>
                  <a:lnTo>
                    <a:pt x="12838303" y="0"/>
                  </a:lnTo>
                  <a:cubicBezTo>
                    <a:pt x="12919075" y="0"/>
                    <a:pt x="12984607" y="65532"/>
                    <a:pt x="12984607" y="146304"/>
                  </a:cubicBezTo>
                  <a:lnTo>
                    <a:pt x="12984607" y="7717536"/>
                  </a:lnTo>
                  <a:cubicBezTo>
                    <a:pt x="12984607" y="7798308"/>
                    <a:pt x="12919075" y="7863840"/>
                    <a:pt x="12838303" y="7863840"/>
                  </a:cubicBezTo>
                  <a:lnTo>
                    <a:pt x="146304" y="7863840"/>
                  </a:lnTo>
                  <a:cubicBezTo>
                    <a:pt x="65532" y="7863840"/>
                    <a:pt x="0" y="7798308"/>
                    <a:pt x="0" y="7717536"/>
                  </a:cubicBezTo>
                  <a:close/>
                </a:path>
              </a:pathLst>
            </a:custGeom>
            <a:solidFill>
              <a:srgbClr val="E5E9F5"/>
            </a:solidFill>
          </p:spPr>
        </p:sp>
      </p:grpSp>
      <p:grpSp>
        <p:nvGrpSpPr>
          <p:cNvPr name="Group 26" id="26"/>
          <p:cNvGrpSpPr/>
          <p:nvPr/>
        </p:nvGrpSpPr>
        <p:grpSpPr>
          <a:xfrm rot="0">
            <a:off x="1234440" y="3634740"/>
            <a:ext cx="8915400" cy="480060"/>
            <a:chOff x="0" y="0"/>
            <a:chExt cx="11887200" cy="640080"/>
          </a:xfrm>
        </p:grpSpPr>
        <p:sp>
          <p:nvSpPr>
            <p:cNvPr name="Freeform 27" id="27"/>
            <p:cNvSpPr/>
            <p:nvPr/>
          </p:nvSpPr>
          <p:spPr>
            <a:xfrm flipH="false" flipV="false" rot="0">
              <a:off x="0" y="0"/>
              <a:ext cx="11887200" cy="640080"/>
            </a:xfrm>
            <a:custGeom>
              <a:avLst/>
              <a:gdLst/>
              <a:ahLst/>
              <a:cxnLst/>
              <a:rect r="r" b="b" t="t" l="l"/>
              <a:pathLst>
                <a:path h="640080" w="11887200">
                  <a:moveTo>
                    <a:pt x="0" y="0"/>
                  </a:moveTo>
                  <a:lnTo>
                    <a:pt x="11887200" y="0"/>
                  </a:lnTo>
                  <a:lnTo>
                    <a:pt x="11887200" y="640080"/>
                  </a:lnTo>
                  <a:lnTo>
                    <a:pt x="0" y="640080"/>
                  </a:lnTo>
                  <a:close/>
                </a:path>
              </a:pathLst>
            </a:custGeom>
            <a:blipFill>
              <a:blip r:embed="rId2">
                <a:alphaModFix amt="0"/>
              </a:blip>
              <a:stretch>
                <a:fillRect l="0" t="-311613" r="0" b="-311613"/>
              </a:stretch>
            </a:blipFill>
          </p:spPr>
        </p:sp>
      </p:grpSp>
      <p:grpSp>
        <p:nvGrpSpPr>
          <p:cNvPr name="Group 28" id="28"/>
          <p:cNvGrpSpPr/>
          <p:nvPr/>
        </p:nvGrpSpPr>
        <p:grpSpPr>
          <a:xfrm rot="0">
            <a:off x="1234440" y="3599021"/>
            <a:ext cx="8915400" cy="515779"/>
            <a:chOff x="0" y="0"/>
            <a:chExt cx="11887200" cy="687705"/>
          </a:xfrm>
        </p:grpSpPr>
        <p:sp>
          <p:nvSpPr>
            <p:cNvPr name="Freeform 29" id="29"/>
            <p:cNvSpPr/>
            <p:nvPr/>
          </p:nvSpPr>
          <p:spPr>
            <a:xfrm flipH="false" flipV="false" rot="0">
              <a:off x="0" y="0"/>
              <a:ext cx="11887200" cy="687705"/>
            </a:xfrm>
            <a:custGeom>
              <a:avLst/>
              <a:gdLst/>
              <a:ahLst/>
              <a:cxnLst/>
              <a:rect r="r" b="b" t="t" l="l"/>
              <a:pathLst>
                <a:path h="687705" w="11887200">
                  <a:moveTo>
                    <a:pt x="0" y="0"/>
                  </a:moveTo>
                  <a:lnTo>
                    <a:pt x="11887200" y="0"/>
                  </a:lnTo>
                  <a:lnTo>
                    <a:pt x="11887200" y="687705"/>
                  </a:lnTo>
                  <a:lnTo>
                    <a:pt x="0" y="687705"/>
                  </a:lnTo>
                  <a:close/>
                </a:path>
              </a:pathLst>
            </a:custGeom>
            <a:blipFill>
              <a:blip r:embed="rId3">
                <a:alphaModFix amt="0"/>
              </a:blip>
              <a:stretch>
                <a:fillRect l="0" t="-286805" r="0" b="-286805"/>
              </a:stretch>
            </a:blipFill>
          </p:spPr>
        </p:sp>
        <p:sp>
          <p:nvSpPr>
            <p:cNvPr name="TextBox 30" id="30"/>
            <p:cNvSpPr txBox="true"/>
            <p:nvPr/>
          </p:nvSpPr>
          <p:spPr>
            <a:xfrm>
              <a:off x="0" y="-47625"/>
              <a:ext cx="11887200" cy="735330"/>
            </a:xfrm>
            <a:prstGeom prst="rect">
              <a:avLst/>
            </a:prstGeom>
          </p:spPr>
          <p:txBody>
            <a:bodyPr anchor="ctr" rtlCol="false" tIns="0" lIns="0" bIns="0" rIns="0"/>
            <a:lstStyle/>
            <a:p>
              <a:pPr algn="l">
                <a:lnSpc>
                  <a:spcPts val="2340"/>
                </a:lnSpc>
              </a:pPr>
              <a:r>
                <a:rPr lang="en-US" sz="1950" b="true">
                  <a:solidFill>
                    <a:srgbClr val="5F669F"/>
                  </a:solidFill>
                  <a:latin typeface="Calibri (MS) Bold"/>
                  <a:ea typeface="Calibri (MS) Bold"/>
                  <a:cs typeface="Calibri (MS) Bold"/>
                  <a:sym typeface="Calibri (MS) Bold"/>
                </a:rPr>
                <a:t>Flujo principal</a:t>
              </a:r>
            </a:p>
          </p:txBody>
        </p:sp>
      </p:grpSp>
      <p:grpSp>
        <p:nvGrpSpPr>
          <p:cNvPr name="Group 31" id="31"/>
          <p:cNvGrpSpPr/>
          <p:nvPr/>
        </p:nvGrpSpPr>
        <p:grpSpPr>
          <a:xfrm rot="0">
            <a:off x="1234440" y="4183380"/>
            <a:ext cx="8915400" cy="4869180"/>
            <a:chOff x="0" y="0"/>
            <a:chExt cx="11887200" cy="6492240"/>
          </a:xfrm>
        </p:grpSpPr>
        <p:sp>
          <p:nvSpPr>
            <p:cNvPr name="Freeform 32" id="32"/>
            <p:cNvSpPr/>
            <p:nvPr/>
          </p:nvSpPr>
          <p:spPr>
            <a:xfrm flipH="false" flipV="false" rot="0">
              <a:off x="0" y="0"/>
              <a:ext cx="11887200" cy="6492240"/>
            </a:xfrm>
            <a:custGeom>
              <a:avLst/>
              <a:gdLst/>
              <a:ahLst/>
              <a:cxnLst/>
              <a:rect r="r" b="b" t="t" l="l"/>
              <a:pathLst>
                <a:path h="6492240" w="11887200">
                  <a:moveTo>
                    <a:pt x="0" y="0"/>
                  </a:moveTo>
                  <a:lnTo>
                    <a:pt x="11887200" y="0"/>
                  </a:lnTo>
                  <a:lnTo>
                    <a:pt x="11887200" y="6492240"/>
                  </a:lnTo>
                  <a:lnTo>
                    <a:pt x="0" y="6492240"/>
                  </a:lnTo>
                  <a:close/>
                </a:path>
              </a:pathLst>
            </a:custGeom>
            <a:blipFill>
              <a:blip r:embed="rId2">
                <a:alphaModFix amt="0"/>
              </a:blip>
              <a:stretch>
                <a:fillRect l="-20122" t="0" r="-20122" b="0"/>
              </a:stretch>
            </a:blipFill>
          </p:spPr>
        </p:sp>
      </p:grpSp>
      <p:grpSp>
        <p:nvGrpSpPr>
          <p:cNvPr name="Group 33" id="33"/>
          <p:cNvGrpSpPr/>
          <p:nvPr/>
        </p:nvGrpSpPr>
        <p:grpSpPr>
          <a:xfrm rot="0">
            <a:off x="1234440" y="4147661"/>
            <a:ext cx="8915400" cy="4904899"/>
            <a:chOff x="0" y="0"/>
            <a:chExt cx="11887200" cy="6539865"/>
          </a:xfrm>
        </p:grpSpPr>
        <p:sp>
          <p:nvSpPr>
            <p:cNvPr name="Freeform 34" id="34"/>
            <p:cNvSpPr/>
            <p:nvPr/>
          </p:nvSpPr>
          <p:spPr>
            <a:xfrm flipH="false" flipV="false" rot="0">
              <a:off x="0" y="0"/>
              <a:ext cx="11887200" cy="6539865"/>
            </a:xfrm>
            <a:custGeom>
              <a:avLst/>
              <a:gdLst/>
              <a:ahLst/>
              <a:cxnLst/>
              <a:rect r="r" b="b" t="t" l="l"/>
              <a:pathLst>
                <a:path h="6539865" w="11887200">
                  <a:moveTo>
                    <a:pt x="0" y="0"/>
                  </a:moveTo>
                  <a:lnTo>
                    <a:pt x="11887200" y="0"/>
                  </a:lnTo>
                  <a:lnTo>
                    <a:pt x="11887200" y="6539865"/>
                  </a:lnTo>
                  <a:lnTo>
                    <a:pt x="0" y="6539865"/>
                  </a:lnTo>
                  <a:close/>
                </a:path>
              </a:pathLst>
            </a:custGeom>
            <a:blipFill>
              <a:blip r:embed="rId3">
                <a:alphaModFix amt="0"/>
              </a:blip>
              <a:stretch>
                <a:fillRect l="-20587" t="0" r="-20587" b="0"/>
              </a:stretch>
            </a:blipFill>
          </p:spPr>
        </p:sp>
        <p:sp>
          <p:nvSpPr>
            <p:cNvPr name="TextBox 35" id="35"/>
            <p:cNvSpPr txBox="true"/>
            <p:nvPr/>
          </p:nvSpPr>
          <p:spPr>
            <a:xfrm>
              <a:off x="0" y="-47625"/>
              <a:ext cx="11887200" cy="6587490"/>
            </a:xfrm>
            <a:prstGeom prst="rect">
              <a:avLst/>
            </a:prstGeom>
          </p:spPr>
          <p:txBody>
            <a:bodyPr anchor="ctr" rtlCol="false" tIns="0" lIns="0" bIns="0" rIns="0"/>
            <a:lstStyle/>
            <a:p>
              <a:pPr algn="l" marL="527721" indent="-175907" lvl="2">
                <a:lnSpc>
                  <a:spcPts val="2998"/>
                </a:lnSpc>
                <a:buAutoNum type="arabicPeriod" startAt="1"/>
              </a:pPr>
              <a:r>
                <a:rPr lang="en-US" sz="2499">
                  <a:solidFill>
                    <a:srgbClr val="5F669F"/>
                  </a:solidFill>
                  <a:latin typeface="Calibri (MS)"/>
                  <a:ea typeface="Calibri (MS)"/>
                  <a:cs typeface="Calibri (MS)"/>
                  <a:sym typeface="Calibri (MS)"/>
                </a:rPr>
                <a:t>El usuario visualiza el ranking de propiedades recomendadas.</a:t>
              </a:r>
            </a:p>
            <a:p>
              <a:pPr algn="l" marL="527721" indent="-175907" lvl="2">
                <a:lnSpc>
                  <a:spcPts val="2998"/>
                </a:lnSpc>
                <a:buAutoNum type="arabicPeriod" startAt="1"/>
              </a:pPr>
              <a:r>
                <a:rPr lang="en-US" sz="2499">
                  <a:solidFill>
                    <a:srgbClr val="5F669F"/>
                  </a:solidFill>
                  <a:latin typeface="Calibri (MS)"/>
                  <a:ea typeface="Calibri (MS)"/>
                  <a:cs typeface="Calibri (MS)"/>
                  <a:sym typeface="Calibri (MS)"/>
                </a:rPr>
                <a:t>Por cada propiedad, el sistema genera automáticamente una explicación en lenguaje natural a partir de las variables que más pesaron en el score (ej. gap de precio, distancia a colegio).</a:t>
              </a:r>
            </a:p>
            <a:p>
              <a:pPr algn="l" marL="527721" indent="-175907" lvl="2">
                <a:lnSpc>
                  <a:spcPts val="2998"/>
                </a:lnSpc>
                <a:buAutoNum type="arabicPeriod" startAt="1"/>
              </a:pPr>
              <a:r>
                <a:rPr lang="en-US" sz="2499">
                  <a:solidFill>
                    <a:srgbClr val="5F669F"/>
                  </a:solidFill>
                  <a:latin typeface="Calibri (MS)"/>
                  <a:ea typeface="Calibri (MS)"/>
                  <a:cs typeface="Calibri (MS)"/>
                  <a:sym typeface="Calibri (MS)"/>
                </a:rPr>
                <a:t>El sistema muestra la explicación junto a cada propiedad, sin que el usuario deba solicitarla.</a:t>
              </a:r>
            </a:p>
            <a:p>
              <a:pPr algn="l" marL="527721" indent="-175907" lvl="2">
                <a:lnSpc>
                  <a:spcPts val="2998"/>
                </a:lnSpc>
                <a:buAutoNum type="arabicPeriod" startAt="1"/>
              </a:pPr>
              <a:r>
                <a:rPr lang="en-US" sz="2499">
                  <a:solidFill>
                    <a:srgbClr val="5F669F"/>
                  </a:solidFill>
                  <a:latin typeface="Calibri (MS)"/>
                  <a:ea typeface="Calibri (MS)"/>
                  <a:cs typeface="Calibri (MS)"/>
                  <a:sym typeface="Calibri (MS)"/>
                </a:rPr>
                <a:t>El usuario lee la explicación y decide si abrir el detalle de la propiedad.</a:t>
              </a:r>
            </a:p>
          </p:txBody>
        </p:sp>
      </p:grpSp>
      <p:grpSp>
        <p:nvGrpSpPr>
          <p:cNvPr name="Group 36" id="36"/>
          <p:cNvGrpSpPr/>
          <p:nvPr/>
        </p:nvGrpSpPr>
        <p:grpSpPr>
          <a:xfrm rot="0">
            <a:off x="10835640" y="3360420"/>
            <a:ext cx="6583680" cy="5897880"/>
            <a:chOff x="0" y="0"/>
            <a:chExt cx="8778240" cy="7863840"/>
          </a:xfrm>
        </p:grpSpPr>
        <p:sp>
          <p:nvSpPr>
            <p:cNvPr name="Freeform 37" id="37"/>
            <p:cNvSpPr/>
            <p:nvPr/>
          </p:nvSpPr>
          <p:spPr>
            <a:xfrm flipH="false" flipV="false" rot="0">
              <a:off x="0" y="0"/>
              <a:ext cx="8778240" cy="7863840"/>
            </a:xfrm>
            <a:custGeom>
              <a:avLst/>
              <a:gdLst/>
              <a:ahLst/>
              <a:cxnLst/>
              <a:rect r="r" b="b" t="t" l="l"/>
              <a:pathLst>
                <a:path h="7863840" w="8778240">
                  <a:moveTo>
                    <a:pt x="0" y="146304"/>
                  </a:moveTo>
                  <a:cubicBezTo>
                    <a:pt x="0" y="65532"/>
                    <a:pt x="65532" y="0"/>
                    <a:pt x="146304" y="0"/>
                  </a:cubicBezTo>
                  <a:lnTo>
                    <a:pt x="8631936" y="0"/>
                  </a:lnTo>
                  <a:cubicBezTo>
                    <a:pt x="8712708" y="0"/>
                    <a:pt x="8778240" y="65532"/>
                    <a:pt x="8778240" y="146304"/>
                  </a:cubicBezTo>
                  <a:lnTo>
                    <a:pt x="8778240" y="7717536"/>
                  </a:lnTo>
                  <a:cubicBezTo>
                    <a:pt x="8778240" y="7798308"/>
                    <a:pt x="8712708" y="7863840"/>
                    <a:pt x="8631936" y="7863840"/>
                  </a:cubicBezTo>
                  <a:lnTo>
                    <a:pt x="146304" y="7863840"/>
                  </a:lnTo>
                  <a:cubicBezTo>
                    <a:pt x="65532" y="7863840"/>
                    <a:pt x="0" y="7798308"/>
                    <a:pt x="0" y="7717536"/>
                  </a:cubicBezTo>
                  <a:close/>
                </a:path>
              </a:pathLst>
            </a:custGeom>
            <a:solidFill>
              <a:srgbClr val="293E9C"/>
            </a:solidFill>
          </p:spPr>
        </p:sp>
      </p:grpSp>
      <p:grpSp>
        <p:nvGrpSpPr>
          <p:cNvPr name="Group 38" id="38"/>
          <p:cNvGrpSpPr/>
          <p:nvPr/>
        </p:nvGrpSpPr>
        <p:grpSpPr>
          <a:xfrm rot="0">
            <a:off x="11178540" y="3634740"/>
            <a:ext cx="5897880" cy="480060"/>
            <a:chOff x="0" y="0"/>
            <a:chExt cx="7863840" cy="640080"/>
          </a:xfrm>
        </p:grpSpPr>
        <p:sp>
          <p:nvSpPr>
            <p:cNvPr name="Freeform 39" id="39"/>
            <p:cNvSpPr/>
            <p:nvPr/>
          </p:nvSpPr>
          <p:spPr>
            <a:xfrm flipH="false" flipV="false" rot="0">
              <a:off x="0" y="0"/>
              <a:ext cx="7863840" cy="640080"/>
            </a:xfrm>
            <a:custGeom>
              <a:avLst/>
              <a:gdLst/>
              <a:ahLst/>
              <a:cxnLst/>
              <a:rect r="r" b="b" t="t" l="l"/>
              <a:pathLst>
                <a:path h="640080" w="7863840">
                  <a:moveTo>
                    <a:pt x="0" y="0"/>
                  </a:moveTo>
                  <a:lnTo>
                    <a:pt x="7863840" y="0"/>
                  </a:lnTo>
                  <a:lnTo>
                    <a:pt x="7863840" y="640080"/>
                  </a:lnTo>
                  <a:lnTo>
                    <a:pt x="0" y="640080"/>
                  </a:lnTo>
                  <a:close/>
                </a:path>
              </a:pathLst>
            </a:custGeom>
            <a:blipFill>
              <a:blip r:embed="rId2">
                <a:alphaModFix amt="0"/>
              </a:blip>
              <a:stretch>
                <a:fillRect l="0" t="-189220" r="0" b="-189222"/>
              </a:stretch>
            </a:blipFill>
          </p:spPr>
        </p:sp>
      </p:grpSp>
      <p:grpSp>
        <p:nvGrpSpPr>
          <p:cNvPr name="Group 40" id="40"/>
          <p:cNvGrpSpPr/>
          <p:nvPr/>
        </p:nvGrpSpPr>
        <p:grpSpPr>
          <a:xfrm rot="0">
            <a:off x="11178540" y="3599021"/>
            <a:ext cx="5897880" cy="515779"/>
            <a:chOff x="0" y="0"/>
            <a:chExt cx="7863840" cy="687705"/>
          </a:xfrm>
        </p:grpSpPr>
        <p:sp>
          <p:nvSpPr>
            <p:cNvPr name="Freeform 41" id="41"/>
            <p:cNvSpPr/>
            <p:nvPr/>
          </p:nvSpPr>
          <p:spPr>
            <a:xfrm flipH="false" flipV="false" rot="0">
              <a:off x="0" y="0"/>
              <a:ext cx="7863840" cy="687705"/>
            </a:xfrm>
            <a:custGeom>
              <a:avLst/>
              <a:gdLst/>
              <a:ahLst/>
              <a:cxnLst/>
              <a:rect r="r" b="b" t="t" l="l"/>
              <a:pathLst>
                <a:path h="687705" w="7863840">
                  <a:moveTo>
                    <a:pt x="0" y="0"/>
                  </a:moveTo>
                  <a:lnTo>
                    <a:pt x="7863840" y="0"/>
                  </a:lnTo>
                  <a:lnTo>
                    <a:pt x="7863840" y="687705"/>
                  </a:lnTo>
                  <a:lnTo>
                    <a:pt x="0" y="687705"/>
                  </a:lnTo>
                  <a:close/>
                </a:path>
              </a:pathLst>
            </a:custGeom>
            <a:blipFill>
              <a:blip r:embed="rId3">
                <a:alphaModFix amt="0"/>
              </a:blip>
              <a:stretch>
                <a:fillRect l="0" t="-172809" r="0" b="-172809"/>
              </a:stretch>
            </a:blipFill>
          </p:spPr>
        </p:sp>
        <p:sp>
          <p:nvSpPr>
            <p:cNvPr name="TextBox 42" id="42"/>
            <p:cNvSpPr txBox="true"/>
            <p:nvPr/>
          </p:nvSpPr>
          <p:spPr>
            <a:xfrm>
              <a:off x="0" y="-47625"/>
              <a:ext cx="7863840" cy="735330"/>
            </a:xfrm>
            <a:prstGeom prst="rect">
              <a:avLst/>
            </a:prstGeom>
          </p:spPr>
          <p:txBody>
            <a:bodyPr anchor="ctr" rtlCol="false" tIns="0" lIns="0" bIns="0" rIns="0"/>
            <a:lstStyle/>
            <a:p>
              <a:pPr algn="l">
                <a:lnSpc>
                  <a:spcPts val="2340"/>
                </a:lnSpc>
              </a:pPr>
              <a:r>
                <a:rPr lang="en-US" sz="1950" b="true">
                  <a:solidFill>
                    <a:srgbClr val="FAFCFD"/>
                  </a:solidFill>
                  <a:latin typeface="Calibri (MS) Bold"/>
                  <a:ea typeface="Calibri (MS) Bold"/>
                  <a:cs typeface="Calibri (MS) Bold"/>
                  <a:sym typeface="Calibri (MS) Bold"/>
                </a:rPr>
                <a:t>Flujo alternativo</a:t>
              </a:r>
            </a:p>
          </p:txBody>
        </p:sp>
      </p:grpSp>
      <p:grpSp>
        <p:nvGrpSpPr>
          <p:cNvPr name="Group 43" id="43"/>
          <p:cNvGrpSpPr/>
          <p:nvPr/>
        </p:nvGrpSpPr>
        <p:grpSpPr>
          <a:xfrm rot="0">
            <a:off x="11178540" y="4183380"/>
            <a:ext cx="5897880" cy="2468880"/>
            <a:chOff x="0" y="0"/>
            <a:chExt cx="7863840" cy="3291840"/>
          </a:xfrm>
        </p:grpSpPr>
        <p:sp>
          <p:nvSpPr>
            <p:cNvPr name="Freeform 44" id="44"/>
            <p:cNvSpPr/>
            <p:nvPr/>
          </p:nvSpPr>
          <p:spPr>
            <a:xfrm flipH="false" flipV="false" rot="0">
              <a:off x="0" y="0"/>
              <a:ext cx="7863840" cy="3291840"/>
            </a:xfrm>
            <a:custGeom>
              <a:avLst/>
              <a:gdLst/>
              <a:ahLst/>
              <a:cxnLst/>
              <a:rect r="r" b="b" t="t" l="l"/>
              <a:pathLst>
                <a:path h="3291840" w="7863840">
                  <a:moveTo>
                    <a:pt x="0" y="0"/>
                  </a:moveTo>
                  <a:lnTo>
                    <a:pt x="7863840" y="0"/>
                  </a:lnTo>
                  <a:lnTo>
                    <a:pt x="7863840" y="3291840"/>
                  </a:lnTo>
                  <a:lnTo>
                    <a:pt x="0" y="3291840"/>
                  </a:lnTo>
                  <a:close/>
                </a:path>
              </a:pathLst>
            </a:custGeom>
            <a:blipFill>
              <a:blip r:embed="rId2">
                <a:alphaModFix amt="0"/>
              </a:blip>
              <a:stretch>
                <a:fillRect l="-3745" t="0" r="-3745" b="0"/>
              </a:stretch>
            </a:blipFill>
          </p:spPr>
        </p:sp>
      </p:grpSp>
      <p:grpSp>
        <p:nvGrpSpPr>
          <p:cNvPr name="Group 45" id="45"/>
          <p:cNvGrpSpPr/>
          <p:nvPr/>
        </p:nvGrpSpPr>
        <p:grpSpPr>
          <a:xfrm rot="0">
            <a:off x="11178540" y="4111942"/>
            <a:ext cx="5897880" cy="2540317"/>
            <a:chOff x="0" y="0"/>
            <a:chExt cx="7863840" cy="3387090"/>
          </a:xfrm>
        </p:grpSpPr>
        <p:sp>
          <p:nvSpPr>
            <p:cNvPr name="Freeform 46" id="46"/>
            <p:cNvSpPr/>
            <p:nvPr/>
          </p:nvSpPr>
          <p:spPr>
            <a:xfrm flipH="false" flipV="false" rot="0">
              <a:off x="0" y="0"/>
              <a:ext cx="7863840" cy="3387090"/>
            </a:xfrm>
            <a:custGeom>
              <a:avLst/>
              <a:gdLst/>
              <a:ahLst/>
              <a:cxnLst/>
              <a:rect r="r" b="b" t="t" l="l"/>
              <a:pathLst>
                <a:path h="3387090" w="7863840">
                  <a:moveTo>
                    <a:pt x="0" y="0"/>
                  </a:moveTo>
                  <a:lnTo>
                    <a:pt x="7863840" y="0"/>
                  </a:lnTo>
                  <a:lnTo>
                    <a:pt x="7863840" y="3387090"/>
                  </a:lnTo>
                  <a:lnTo>
                    <a:pt x="0" y="3387090"/>
                  </a:lnTo>
                  <a:close/>
                </a:path>
              </a:pathLst>
            </a:custGeom>
            <a:blipFill>
              <a:blip r:embed="rId3">
                <a:alphaModFix amt="0"/>
              </a:blip>
              <a:stretch>
                <a:fillRect l="-5262" t="0" r="-5262" b="0"/>
              </a:stretch>
            </a:blipFill>
          </p:spPr>
        </p:sp>
        <p:sp>
          <p:nvSpPr>
            <p:cNvPr name="TextBox 47" id="47"/>
            <p:cNvSpPr txBox="true"/>
            <p:nvPr/>
          </p:nvSpPr>
          <p:spPr>
            <a:xfrm>
              <a:off x="0" y="-95250"/>
              <a:ext cx="7863840" cy="3482340"/>
            </a:xfrm>
            <a:prstGeom prst="rect">
              <a:avLst/>
            </a:prstGeom>
          </p:spPr>
          <p:txBody>
            <a:bodyPr anchor="ctr" rtlCol="false" tIns="0" lIns="0" bIns="0" rIns="0"/>
            <a:lstStyle/>
            <a:p>
              <a:pPr algn="l">
                <a:lnSpc>
                  <a:spcPts val="3000"/>
                </a:lnSpc>
              </a:pPr>
              <a:r>
                <a:rPr lang="en-US" sz="2000" b="true">
                  <a:solidFill>
                    <a:srgbClr val="FFFFFF"/>
                  </a:solidFill>
                  <a:latin typeface="Calibri (MS) Bold"/>
                  <a:ea typeface="Calibri (MS) Bold"/>
                  <a:cs typeface="Calibri (MS) Bold"/>
                  <a:sym typeface="Calibri (MS) Bold"/>
                </a:rPr>
                <a:t>2a. </a:t>
              </a:r>
              <a:r>
                <a:rPr lang="en-US" sz="2000">
                  <a:solidFill>
                    <a:srgbClr val="FFFFFF"/>
                  </a:solidFill>
                  <a:latin typeface="Calibri (MS)"/>
                  <a:ea typeface="Calibri (MS)"/>
                  <a:cs typeface="Calibri (MS)"/>
                  <a:sym typeface="Calibri (MS)"/>
                </a:rPr>
                <a:t>Si el sistema no puede generar una explicación completa por datos parciales, debe indicarlo explícitamente en el texto en vez de omitir la explicación.</a:t>
              </a:r>
            </a:p>
          </p:txBody>
        </p:sp>
      </p:grpSp>
      <p:grpSp>
        <p:nvGrpSpPr>
          <p:cNvPr name="Group 48" id="48"/>
          <p:cNvGrpSpPr/>
          <p:nvPr/>
        </p:nvGrpSpPr>
        <p:grpSpPr>
          <a:xfrm rot="0">
            <a:off x="11178540" y="6858000"/>
            <a:ext cx="5897880" cy="411480"/>
            <a:chOff x="0" y="0"/>
            <a:chExt cx="7863840" cy="548640"/>
          </a:xfrm>
        </p:grpSpPr>
        <p:sp>
          <p:nvSpPr>
            <p:cNvPr name="Freeform 49" id="49"/>
            <p:cNvSpPr/>
            <p:nvPr/>
          </p:nvSpPr>
          <p:spPr>
            <a:xfrm flipH="false" flipV="false" rot="0">
              <a:off x="0" y="0"/>
              <a:ext cx="7863840" cy="548640"/>
            </a:xfrm>
            <a:custGeom>
              <a:avLst/>
              <a:gdLst/>
              <a:ahLst/>
              <a:cxnLst/>
              <a:rect r="r" b="b" t="t" l="l"/>
              <a:pathLst>
                <a:path h="548640" w="7863840">
                  <a:moveTo>
                    <a:pt x="0" y="0"/>
                  </a:moveTo>
                  <a:lnTo>
                    <a:pt x="7863840" y="0"/>
                  </a:lnTo>
                  <a:lnTo>
                    <a:pt x="7863840" y="548640"/>
                  </a:lnTo>
                  <a:lnTo>
                    <a:pt x="0" y="548640"/>
                  </a:lnTo>
                  <a:close/>
                </a:path>
              </a:pathLst>
            </a:custGeom>
            <a:blipFill>
              <a:blip r:embed="rId2">
                <a:alphaModFix amt="0"/>
              </a:blip>
              <a:stretch>
                <a:fillRect l="0" t="-229090" r="0" b="-229092"/>
              </a:stretch>
            </a:blipFill>
          </p:spPr>
        </p:sp>
      </p:grpSp>
      <p:grpSp>
        <p:nvGrpSpPr>
          <p:cNvPr name="Group 50" id="50"/>
          <p:cNvGrpSpPr/>
          <p:nvPr/>
        </p:nvGrpSpPr>
        <p:grpSpPr>
          <a:xfrm rot="0">
            <a:off x="11178540" y="6822281"/>
            <a:ext cx="5897880" cy="447199"/>
            <a:chOff x="0" y="0"/>
            <a:chExt cx="7863840" cy="596265"/>
          </a:xfrm>
        </p:grpSpPr>
        <p:sp>
          <p:nvSpPr>
            <p:cNvPr name="Freeform 51" id="51"/>
            <p:cNvSpPr/>
            <p:nvPr/>
          </p:nvSpPr>
          <p:spPr>
            <a:xfrm flipH="false" flipV="false" rot="0">
              <a:off x="0" y="0"/>
              <a:ext cx="7863840" cy="596265"/>
            </a:xfrm>
            <a:custGeom>
              <a:avLst/>
              <a:gdLst/>
              <a:ahLst/>
              <a:cxnLst/>
              <a:rect r="r" b="b" t="t" l="l"/>
              <a:pathLst>
                <a:path h="596265" w="7863840">
                  <a:moveTo>
                    <a:pt x="0" y="0"/>
                  </a:moveTo>
                  <a:lnTo>
                    <a:pt x="7863840" y="0"/>
                  </a:lnTo>
                  <a:lnTo>
                    <a:pt x="7863840" y="596265"/>
                  </a:lnTo>
                  <a:lnTo>
                    <a:pt x="0" y="596265"/>
                  </a:lnTo>
                  <a:close/>
                </a:path>
              </a:pathLst>
            </a:custGeom>
            <a:blipFill>
              <a:blip r:embed="rId3">
                <a:alphaModFix amt="0"/>
              </a:blip>
              <a:stretch>
                <a:fillRect l="0" t="-206978" r="0" b="-206978"/>
              </a:stretch>
            </a:blipFill>
          </p:spPr>
        </p:sp>
        <p:sp>
          <p:nvSpPr>
            <p:cNvPr name="TextBox 52" id="52"/>
            <p:cNvSpPr txBox="true"/>
            <p:nvPr/>
          </p:nvSpPr>
          <p:spPr>
            <a:xfrm>
              <a:off x="0" y="-47625"/>
              <a:ext cx="7863840" cy="643890"/>
            </a:xfrm>
            <a:prstGeom prst="rect">
              <a:avLst/>
            </a:prstGeom>
          </p:spPr>
          <p:txBody>
            <a:bodyPr anchor="ctr" rtlCol="false" tIns="0" lIns="0" bIns="0" rIns="0"/>
            <a:lstStyle/>
            <a:p>
              <a:pPr algn="l">
                <a:lnSpc>
                  <a:spcPts val="2340"/>
                </a:lnSpc>
              </a:pPr>
              <a:r>
                <a:rPr lang="en-US" sz="1950" b="true">
                  <a:solidFill>
                    <a:srgbClr val="FAFCFD"/>
                  </a:solidFill>
                  <a:latin typeface="Calibri (MS) Bold"/>
                  <a:ea typeface="Calibri (MS) Bold"/>
                  <a:cs typeface="Calibri (MS) Bold"/>
                  <a:sym typeface="Calibri (MS) Bold"/>
                </a:rPr>
                <a:t>Postcondición</a:t>
              </a:r>
            </a:p>
          </p:txBody>
        </p:sp>
      </p:grpSp>
      <p:grpSp>
        <p:nvGrpSpPr>
          <p:cNvPr name="Group 53" id="53"/>
          <p:cNvGrpSpPr/>
          <p:nvPr/>
        </p:nvGrpSpPr>
        <p:grpSpPr>
          <a:xfrm rot="0">
            <a:off x="11178540" y="7338060"/>
            <a:ext cx="5897880" cy="1645920"/>
            <a:chOff x="0" y="0"/>
            <a:chExt cx="7863840" cy="2194560"/>
          </a:xfrm>
        </p:grpSpPr>
        <p:sp>
          <p:nvSpPr>
            <p:cNvPr name="Freeform 54" id="54"/>
            <p:cNvSpPr/>
            <p:nvPr/>
          </p:nvSpPr>
          <p:spPr>
            <a:xfrm flipH="false" flipV="false" rot="0">
              <a:off x="0" y="0"/>
              <a:ext cx="7863840" cy="2194560"/>
            </a:xfrm>
            <a:custGeom>
              <a:avLst/>
              <a:gdLst/>
              <a:ahLst/>
              <a:cxnLst/>
              <a:rect r="r" b="b" t="t" l="l"/>
              <a:pathLst>
                <a:path h="2194560" w="7863840">
                  <a:moveTo>
                    <a:pt x="0" y="0"/>
                  </a:moveTo>
                  <a:lnTo>
                    <a:pt x="7863840" y="0"/>
                  </a:lnTo>
                  <a:lnTo>
                    <a:pt x="7863840" y="2194560"/>
                  </a:lnTo>
                  <a:lnTo>
                    <a:pt x="0" y="2194560"/>
                  </a:lnTo>
                  <a:close/>
                </a:path>
              </a:pathLst>
            </a:custGeom>
            <a:blipFill>
              <a:blip r:embed="rId2">
                <a:alphaModFix amt="0"/>
              </a:blip>
              <a:stretch>
                <a:fillRect l="0" t="-19772" r="0" b="-19773"/>
              </a:stretch>
            </a:blipFill>
          </p:spPr>
        </p:sp>
      </p:grpSp>
      <p:grpSp>
        <p:nvGrpSpPr>
          <p:cNvPr name="Group 55" id="55"/>
          <p:cNvGrpSpPr/>
          <p:nvPr/>
        </p:nvGrpSpPr>
        <p:grpSpPr>
          <a:xfrm rot="0">
            <a:off x="11178540" y="7309485"/>
            <a:ext cx="5897880" cy="1674495"/>
            <a:chOff x="0" y="0"/>
            <a:chExt cx="7863840" cy="2232660"/>
          </a:xfrm>
        </p:grpSpPr>
        <p:sp>
          <p:nvSpPr>
            <p:cNvPr name="Freeform 56" id="56"/>
            <p:cNvSpPr/>
            <p:nvPr/>
          </p:nvSpPr>
          <p:spPr>
            <a:xfrm flipH="false" flipV="false" rot="0">
              <a:off x="0" y="0"/>
              <a:ext cx="7863840" cy="2232660"/>
            </a:xfrm>
            <a:custGeom>
              <a:avLst/>
              <a:gdLst/>
              <a:ahLst/>
              <a:cxnLst/>
              <a:rect r="r" b="b" t="t" l="l"/>
              <a:pathLst>
                <a:path h="2232660" w="7863840">
                  <a:moveTo>
                    <a:pt x="0" y="0"/>
                  </a:moveTo>
                  <a:lnTo>
                    <a:pt x="7863840" y="0"/>
                  </a:lnTo>
                  <a:lnTo>
                    <a:pt x="7863840" y="2232660"/>
                  </a:lnTo>
                  <a:lnTo>
                    <a:pt x="0" y="2232660"/>
                  </a:lnTo>
                  <a:close/>
                </a:path>
              </a:pathLst>
            </a:custGeom>
            <a:blipFill>
              <a:blip r:embed="rId3">
                <a:alphaModFix amt="0"/>
              </a:blip>
              <a:stretch>
                <a:fillRect l="0" t="-18629" r="0" b="-18629"/>
              </a:stretch>
            </a:blipFill>
          </p:spPr>
        </p:sp>
        <p:sp>
          <p:nvSpPr>
            <p:cNvPr name="TextBox 57" id="57"/>
            <p:cNvSpPr txBox="true"/>
            <p:nvPr/>
          </p:nvSpPr>
          <p:spPr>
            <a:xfrm>
              <a:off x="0" y="-38100"/>
              <a:ext cx="7863840" cy="2270760"/>
            </a:xfrm>
            <a:prstGeom prst="rect">
              <a:avLst/>
            </a:prstGeom>
          </p:spPr>
          <p:txBody>
            <a:bodyPr anchor="ctr" rtlCol="false" tIns="0" lIns="0" bIns="0" rIns="0"/>
            <a:lstStyle/>
            <a:p>
              <a:pPr algn="l">
                <a:lnSpc>
                  <a:spcPts val="2400"/>
                </a:lnSpc>
              </a:pPr>
              <a:r>
                <a:rPr lang="en-US" sz="2000" i="true">
                  <a:solidFill>
                    <a:srgbClr val="FAFCFD"/>
                  </a:solidFill>
                  <a:latin typeface="Calibri (MS) Italics"/>
                  <a:ea typeface="Calibri (MS) Italics"/>
                  <a:cs typeface="Calibri (MS) Italics"/>
                  <a:sym typeface="Calibri (MS) Italics"/>
                </a:rPr>
                <a:t>Ninguna propiedad del ranking se muestra sin su explicación asociada.</a:t>
              </a:r>
            </a:p>
          </p:txBody>
        </p:sp>
      </p:grpSp>
      <p:grpSp>
        <p:nvGrpSpPr>
          <p:cNvPr name="Group 58" id="58"/>
          <p:cNvGrpSpPr/>
          <p:nvPr/>
        </p:nvGrpSpPr>
        <p:grpSpPr>
          <a:xfrm rot="0">
            <a:off x="685800" y="9738360"/>
            <a:ext cx="8229600" cy="411480"/>
            <a:chOff x="0" y="0"/>
            <a:chExt cx="10972800" cy="548640"/>
          </a:xfrm>
        </p:grpSpPr>
        <p:sp>
          <p:nvSpPr>
            <p:cNvPr name="Freeform 59" id="59"/>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60" id="60"/>
          <p:cNvGrpSpPr/>
          <p:nvPr/>
        </p:nvGrpSpPr>
        <p:grpSpPr>
          <a:xfrm rot="0">
            <a:off x="685800" y="9709785"/>
            <a:ext cx="8229600" cy="440055"/>
            <a:chOff x="0" y="0"/>
            <a:chExt cx="10972800" cy="586740"/>
          </a:xfrm>
        </p:grpSpPr>
        <p:sp>
          <p:nvSpPr>
            <p:cNvPr name="Freeform 61" id="61"/>
            <p:cNvSpPr/>
            <p:nvPr/>
          </p:nvSpPr>
          <p:spPr>
            <a:xfrm flipH="false" flipV="false" rot="0">
              <a:off x="0" y="0"/>
              <a:ext cx="10972800" cy="586740"/>
            </a:xfrm>
            <a:custGeom>
              <a:avLst/>
              <a:gdLst/>
              <a:ahLst/>
              <a:cxnLst/>
              <a:rect r="r" b="b" t="t" l="l"/>
              <a:pathLst>
                <a:path h="586740" w="10972800">
                  <a:moveTo>
                    <a:pt x="0" y="0"/>
                  </a:moveTo>
                  <a:lnTo>
                    <a:pt x="10972800" y="0"/>
                  </a:lnTo>
                  <a:lnTo>
                    <a:pt x="10972800" y="586740"/>
                  </a:lnTo>
                  <a:lnTo>
                    <a:pt x="0" y="586740"/>
                  </a:lnTo>
                  <a:close/>
                </a:path>
              </a:pathLst>
            </a:custGeom>
            <a:blipFill>
              <a:blip r:embed="rId3">
                <a:alphaModFix amt="0"/>
              </a:blip>
              <a:stretch>
                <a:fillRect l="0" t="-314395" r="0" b="-314395"/>
              </a:stretch>
            </a:blipFill>
          </p:spPr>
        </p:sp>
        <p:sp>
          <p:nvSpPr>
            <p:cNvPr name="TextBox 62" id="62"/>
            <p:cNvSpPr txBox="true"/>
            <p:nvPr/>
          </p:nvSpPr>
          <p:spPr>
            <a:xfrm>
              <a:off x="0" y="-38100"/>
              <a:ext cx="10972800" cy="624840"/>
            </a:xfrm>
            <a:prstGeom prst="rect">
              <a:avLst/>
            </a:prstGeom>
          </p:spPr>
          <p:txBody>
            <a:bodyPr anchor="ctr" rtlCol="false" tIns="0" lIns="0" bIns="0" rIns="0"/>
            <a:lstStyle/>
            <a:p>
              <a:pPr algn="l">
                <a:lnSpc>
                  <a:spcPts val="1800"/>
                </a:lnSpc>
              </a:pPr>
              <a:r>
                <a:rPr lang="en-US" sz="1500">
                  <a:solidFill>
                    <a:srgbClr val="5F669F"/>
                  </a:solidFill>
                  <a:latin typeface="Calibri (MS)"/>
                  <a:ea typeface="Calibri (MS)"/>
                  <a:cs typeface="Calibri (MS)"/>
                  <a:sym typeface="Calibri (MS)"/>
                </a:rPr>
                <a:t>InmoScore · Requirements Artifacts</a:t>
              </a:r>
            </a:p>
          </p:txBody>
        </p:sp>
      </p:gr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FAFCFD"/>
        </a:solidFill>
      </p:bgPr>
    </p:bg>
    <p:spTree>
      <p:nvGrpSpPr>
        <p:cNvPr id="1" name=""/>
        <p:cNvGrpSpPr/>
        <p:nvPr/>
      </p:nvGrpSpPr>
      <p:grpSpPr>
        <a:xfrm>
          <a:off x="0" y="0"/>
          <a:ext cx="0" cy="0"/>
          <a:chOff x="0" y="0"/>
          <a:chExt cx="0" cy="0"/>
        </a:xfrm>
      </p:grpSpPr>
      <p:grpSp>
        <p:nvGrpSpPr>
          <p:cNvPr name="Group 2" id="2"/>
          <p:cNvGrpSpPr/>
          <p:nvPr/>
        </p:nvGrpSpPr>
        <p:grpSpPr>
          <a:xfrm rot="0">
            <a:off x="822960" y="8709660"/>
            <a:ext cx="16596360" cy="754380"/>
            <a:chOff x="0" y="0"/>
            <a:chExt cx="22128480" cy="1005840"/>
          </a:xfrm>
        </p:grpSpPr>
        <p:sp>
          <p:nvSpPr>
            <p:cNvPr name="Freeform 3" id="3"/>
            <p:cNvSpPr/>
            <p:nvPr/>
          </p:nvSpPr>
          <p:spPr>
            <a:xfrm flipH="false" flipV="false" rot="0">
              <a:off x="0" y="0"/>
              <a:ext cx="22128480" cy="1005840"/>
            </a:xfrm>
            <a:custGeom>
              <a:avLst/>
              <a:gdLst/>
              <a:ahLst/>
              <a:cxnLst/>
              <a:rect r="r" b="b" t="t" l="l"/>
              <a:pathLst>
                <a:path h="1005840" w="22128480">
                  <a:moveTo>
                    <a:pt x="0" y="0"/>
                  </a:moveTo>
                  <a:lnTo>
                    <a:pt x="22128480" y="0"/>
                  </a:lnTo>
                  <a:lnTo>
                    <a:pt x="22128480" y="1005840"/>
                  </a:lnTo>
                  <a:lnTo>
                    <a:pt x="0" y="1005840"/>
                  </a:lnTo>
                  <a:close/>
                </a:path>
              </a:pathLst>
            </a:custGeom>
            <a:solidFill>
              <a:srgbClr val="ADB4D0"/>
            </a:solidFill>
          </p:spPr>
        </p:sp>
      </p:grpSp>
      <p:grpSp>
        <p:nvGrpSpPr>
          <p:cNvPr name="Group 4" id="4"/>
          <p:cNvGrpSpPr/>
          <p:nvPr/>
        </p:nvGrpSpPr>
        <p:grpSpPr>
          <a:xfrm rot="0">
            <a:off x="17048988" y="9738360"/>
            <a:ext cx="548640" cy="411480"/>
            <a:chOff x="0" y="0"/>
            <a:chExt cx="731520" cy="548640"/>
          </a:xfrm>
        </p:grpSpPr>
        <p:sp>
          <p:nvSpPr>
            <p:cNvPr name="Freeform 5" id="5"/>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6" id="6"/>
          <p:cNvGrpSpPr/>
          <p:nvPr/>
        </p:nvGrpSpPr>
        <p:grpSpPr>
          <a:xfrm rot="0">
            <a:off x="17048988" y="9709785"/>
            <a:ext cx="548640" cy="440055"/>
            <a:chOff x="0" y="0"/>
            <a:chExt cx="731520" cy="586740"/>
          </a:xfrm>
        </p:grpSpPr>
        <p:sp>
          <p:nvSpPr>
            <p:cNvPr name="Freeform 7" id="7"/>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8" id="8"/>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5F669F"/>
                  </a:solidFill>
                  <a:latin typeface="Calibri (MS)"/>
                  <a:ea typeface="Calibri (MS)"/>
                  <a:cs typeface="Calibri (MS)"/>
                  <a:sym typeface="Calibri (MS)"/>
                </a:rPr>
                <a:t>19</a:t>
              </a:r>
            </a:p>
          </p:txBody>
        </p:sp>
      </p:grpSp>
      <p:grpSp>
        <p:nvGrpSpPr>
          <p:cNvPr name="Group 9" id="9"/>
          <p:cNvGrpSpPr/>
          <p:nvPr/>
        </p:nvGrpSpPr>
        <p:grpSpPr>
          <a:xfrm rot="0">
            <a:off x="822960" y="438912"/>
            <a:ext cx="13716000" cy="480060"/>
            <a:chOff x="0" y="0"/>
            <a:chExt cx="18288000" cy="640080"/>
          </a:xfrm>
        </p:grpSpPr>
        <p:sp>
          <p:nvSpPr>
            <p:cNvPr name="Freeform 10" id="10"/>
            <p:cNvSpPr/>
            <p:nvPr/>
          </p:nvSpPr>
          <p:spPr>
            <a:xfrm flipH="false" flipV="false" rot="0">
              <a:off x="0" y="0"/>
              <a:ext cx="18288000" cy="640080"/>
            </a:xfrm>
            <a:custGeom>
              <a:avLst/>
              <a:gdLst/>
              <a:ahLst/>
              <a:cxnLst/>
              <a:rect r="r" b="b" t="t" l="l"/>
              <a:pathLst>
                <a:path h="640080" w="18288000">
                  <a:moveTo>
                    <a:pt x="0" y="0"/>
                  </a:moveTo>
                  <a:lnTo>
                    <a:pt x="18288000" y="0"/>
                  </a:lnTo>
                  <a:lnTo>
                    <a:pt x="18288000" y="640080"/>
                  </a:lnTo>
                  <a:lnTo>
                    <a:pt x="0" y="640080"/>
                  </a:lnTo>
                  <a:close/>
                </a:path>
              </a:pathLst>
            </a:custGeom>
            <a:blipFill>
              <a:blip r:embed="rId2">
                <a:alphaModFix amt="0"/>
              </a:blip>
              <a:stretch>
                <a:fillRect l="0" t="-506327" r="0" b="-506329"/>
              </a:stretch>
            </a:blipFill>
          </p:spPr>
        </p:sp>
      </p:grpSp>
      <p:grpSp>
        <p:nvGrpSpPr>
          <p:cNvPr name="Group 11" id="11"/>
          <p:cNvGrpSpPr/>
          <p:nvPr/>
        </p:nvGrpSpPr>
        <p:grpSpPr>
          <a:xfrm rot="0">
            <a:off x="822960" y="410337"/>
            <a:ext cx="13716000" cy="508635"/>
            <a:chOff x="0" y="0"/>
            <a:chExt cx="18288000" cy="678180"/>
          </a:xfrm>
        </p:grpSpPr>
        <p:sp>
          <p:nvSpPr>
            <p:cNvPr name="Freeform 12" id="12"/>
            <p:cNvSpPr/>
            <p:nvPr/>
          </p:nvSpPr>
          <p:spPr>
            <a:xfrm flipH="false" flipV="false" rot="0">
              <a:off x="0" y="0"/>
              <a:ext cx="18288000" cy="678180"/>
            </a:xfrm>
            <a:custGeom>
              <a:avLst/>
              <a:gdLst/>
              <a:ahLst/>
              <a:cxnLst/>
              <a:rect r="r" b="b" t="t" l="l"/>
              <a:pathLst>
                <a:path h="678180" w="18288000">
                  <a:moveTo>
                    <a:pt x="0" y="0"/>
                  </a:moveTo>
                  <a:lnTo>
                    <a:pt x="18288000" y="0"/>
                  </a:lnTo>
                  <a:lnTo>
                    <a:pt x="18288000" y="678180"/>
                  </a:lnTo>
                  <a:lnTo>
                    <a:pt x="0" y="678180"/>
                  </a:lnTo>
                  <a:close/>
                </a:path>
              </a:pathLst>
            </a:custGeom>
            <a:blipFill>
              <a:blip r:embed="rId3">
                <a:alphaModFix amt="0"/>
              </a:blip>
              <a:stretch>
                <a:fillRect l="0" t="-475439" r="0" b="-475439"/>
              </a:stretch>
            </a:blipFill>
          </p:spPr>
        </p:sp>
        <p:sp>
          <p:nvSpPr>
            <p:cNvPr name="TextBox 13" id="13"/>
            <p:cNvSpPr txBox="true"/>
            <p:nvPr/>
          </p:nvSpPr>
          <p:spPr>
            <a:xfrm>
              <a:off x="0" y="-38100"/>
              <a:ext cx="18288000" cy="716280"/>
            </a:xfrm>
            <a:prstGeom prst="rect">
              <a:avLst/>
            </a:prstGeom>
          </p:spPr>
          <p:txBody>
            <a:bodyPr anchor="ctr" rtlCol="false" tIns="0" lIns="0" bIns="0" rIns="0"/>
            <a:lstStyle/>
            <a:p>
              <a:pPr algn="l">
                <a:lnSpc>
                  <a:spcPts val="2160"/>
                </a:lnSpc>
              </a:pPr>
              <a:r>
                <a:rPr lang="en-US" b="true" sz="1800" spc="225">
                  <a:solidFill>
                    <a:srgbClr val="A5ABDF"/>
                  </a:solidFill>
                  <a:latin typeface="Calibri (MS) Bold"/>
                  <a:ea typeface="Calibri (MS) Bold"/>
                  <a:cs typeface="Calibri (MS) Bold"/>
                  <a:sym typeface="Calibri (MS) Bold"/>
                </a:rPr>
                <a:t>TAREAS ANALÍTICAS</a:t>
              </a:r>
            </a:p>
          </p:txBody>
        </p:sp>
      </p:grpSp>
      <p:grpSp>
        <p:nvGrpSpPr>
          <p:cNvPr name="Group 14" id="14"/>
          <p:cNvGrpSpPr/>
          <p:nvPr/>
        </p:nvGrpSpPr>
        <p:grpSpPr>
          <a:xfrm rot="0">
            <a:off x="822960" y="850392"/>
            <a:ext cx="16459200" cy="822960"/>
            <a:chOff x="0" y="0"/>
            <a:chExt cx="21945600" cy="1097280"/>
          </a:xfrm>
        </p:grpSpPr>
        <p:sp>
          <p:nvSpPr>
            <p:cNvPr name="Freeform 15" id="15"/>
            <p:cNvSpPr/>
            <p:nvPr/>
          </p:nvSpPr>
          <p:spPr>
            <a:xfrm flipH="false" flipV="false" rot="0">
              <a:off x="0" y="0"/>
              <a:ext cx="21945600" cy="1097280"/>
            </a:xfrm>
            <a:custGeom>
              <a:avLst/>
              <a:gdLst/>
              <a:ahLst/>
              <a:cxnLst/>
              <a:rect r="r" b="b" t="t" l="l"/>
              <a:pathLst>
                <a:path h="1097280" w="21945600">
                  <a:moveTo>
                    <a:pt x="0" y="0"/>
                  </a:moveTo>
                  <a:lnTo>
                    <a:pt x="21945600" y="0"/>
                  </a:lnTo>
                  <a:lnTo>
                    <a:pt x="21945600" y="1097280"/>
                  </a:lnTo>
                  <a:lnTo>
                    <a:pt x="0" y="1097280"/>
                  </a:lnTo>
                  <a:close/>
                </a:path>
              </a:pathLst>
            </a:custGeom>
            <a:blipFill>
              <a:blip r:embed="rId2">
                <a:alphaModFix amt="0"/>
              </a:blip>
              <a:stretch>
                <a:fillRect l="0" t="-339429" r="0" b="-339430"/>
              </a:stretch>
            </a:blipFill>
          </p:spPr>
        </p:sp>
      </p:grpSp>
      <p:grpSp>
        <p:nvGrpSpPr>
          <p:cNvPr name="Group 16" id="16"/>
          <p:cNvGrpSpPr/>
          <p:nvPr/>
        </p:nvGrpSpPr>
        <p:grpSpPr>
          <a:xfrm rot="0">
            <a:off x="822960" y="850392"/>
            <a:ext cx="16459200" cy="822960"/>
            <a:chOff x="0" y="0"/>
            <a:chExt cx="21945600" cy="1097280"/>
          </a:xfrm>
        </p:grpSpPr>
        <p:sp>
          <p:nvSpPr>
            <p:cNvPr name="Freeform 17" id="17"/>
            <p:cNvSpPr/>
            <p:nvPr/>
          </p:nvSpPr>
          <p:spPr>
            <a:xfrm flipH="false" flipV="false" rot="0">
              <a:off x="0" y="0"/>
              <a:ext cx="21945600" cy="1097280"/>
            </a:xfrm>
            <a:custGeom>
              <a:avLst/>
              <a:gdLst/>
              <a:ahLst/>
              <a:cxnLst/>
              <a:rect r="r" b="b" t="t" l="l"/>
              <a:pathLst>
                <a:path h="1097280" w="21945600">
                  <a:moveTo>
                    <a:pt x="0" y="0"/>
                  </a:moveTo>
                  <a:lnTo>
                    <a:pt x="21945600" y="0"/>
                  </a:lnTo>
                  <a:lnTo>
                    <a:pt x="21945600" y="1097280"/>
                  </a:lnTo>
                  <a:lnTo>
                    <a:pt x="0" y="1097280"/>
                  </a:lnTo>
                  <a:close/>
                </a:path>
              </a:pathLst>
            </a:custGeom>
            <a:blipFill>
              <a:blip r:embed="rId3">
                <a:alphaModFix amt="0"/>
              </a:blip>
              <a:stretch>
                <a:fillRect l="0" t="-339700" r="0" b="-339700"/>
              </a:stretch>
            </a:blipFill>
          </p:spPr>
        </p:sp>
        <p:sp>
          <p:nvSpPr>
            <p:cNvPr name="TextBox 18" id="18"/>
            <p:cNvSpPr txBox="true"/>
            <p:nvPr/>
          </p:nvSpPr>
          <p:spPr>
            <a:xfrm>
              <a:off x="0" y="0"/>
              <a:ext cx="21945600" cy="1097280"/>
            </a:xfrm>
            <a:prstGeom prst="rect">
              <a:avLst/>
            </a:prstGeom>
          </p:spPr>
          <p:txBody>
            <a:bodyPr anchor="ctr" rtlCol="false" tIns="0" lIns="0" bIns="0" rIns="0"/>
            <a:lstStyle/>
            <a:p>
              <a:pPr algn="l">
                <a:lnSpc>
                  <a:spcPts val="4680"/>
                </a:lnSpc>
              </a:pPr>
              <a:r>
                <a:rPr lang="en-US" sz="3900" b="true">
                  <a:solidFill>
                    <a:srgbClr val="2F3E96"/>
                  </a:solidFill>
                  <a:latin typeface="Cambria Bold"/>
                  <a:ea typeface="Cambria Bold"/>
                  <a:cs typeface="Cambria Bold"/>
                  <a:sym typeface="Cambria Bold"/>
                </a:rPr>
                <a:t>Tareas analíticas del proyecto</a:t>
              </a:r>
            </a:p>
          </p:txBody>
        </p:sp>
      </p:grpSp>
      <p:grpSp>
        <p:nvGrpSpPr>
          <p:cNvPr name="Group 19" id="19"/>
          <p:cNvGrpSpPr/>
          <p:nvPr/>
        </p:nvGrpSpPr>
        <p:grpSpPr>
          <a:xfrm rot="0">
            <a:off x="822960" y="2125980"/>
            <a:ext cx="4937760" cy="480060"/>
            <a:chOff x="0" y="0"/>
            <a:chExt cx="6583680" cy="640080"/>
          </a:xfrm>
        </p:grpSpPr>
        <p:sp>
          <p:nvSpPr>
            <p:cNvPr name="Freeform 20" id="20"/>
            <p:cNvSpPr/>
            <p:nvPr/>
          </p:nvSpPr>
          <p:spPr>
            <a:xfrm flipH="false" flipV="false" rot="0">
              <a:off x="0" y="0"/>
              <a:ext cx="6583680" cy="640080"/>
            </a:xfrm>
            <a:custGeom>
              <a:avLst/>
              <a:gdLst/>
              <a:ahLst/>
              <a:cxnLst/>
              <a:rect r="r" b="b" t="t" l="l"/>
              <a:pathLst>
                <a:path h="640080" w="6583680">
                  <a:moveTo>
                    <a:pt x="0" y="0"/>
                  </a:moveTo>
                  <a:lnTo>
                    <a:pt x="6583680" y="0"/>
                  </a:lnTo>
                  <a:lnTo>
                    <a:pt x="6583680" y="640080"/>
                  </a:lnTo>
                  <a:lnTo>
                    <a:pt x="0" y="640080"/>
                  </a:lnTo>
                  <a:close/>
                </a:path>
              </a:pathLst>
            </a:custGeom>
            <a:blipFill>
              <a:blip r:embed="rId2">
                <a:alphaModFix amt="0"/>
              </a:blip>
              <a:stretch>
                <a:fillRect l="0" t="-150277" r="0" b="-150277"/>
              </a:stretch>
            </a:blipFill>
          </p:spPr>
        </p:sp>
      </p:grpSp>
      <p:grpSp>
        <p:nvGrpSpPr>
          <p:cNvPr name="Group 21" id="21"/>
          <p:cNvGrpSpPr/>
          <p:nvPr/>
        </p:nvGrpSpPr>
        <p:grpSpPr>
          <a:xfrm rot="0">
            <a:off x="822960" y="2104549"/>
            <a:ext cx="4937760" cy="501491"/>
            <a:chOff x="0" y="0"/>
            <a:chExt cx="6583680" cy="668655"/>
          </a:xfrm>
        </p:grpSpPr>
        <p:sp>
          <p:nvSpPr>
            <p:cNvPr name="Freeform 22" id="22"/>
            <p:cNvSpPr/>
            <p:nvPr/>
          </p:nvSpPr>
          <p:spPr>
            <a:xfrm flipH="false" flipV="false" rot="0">
              <a:off x="0" y="0"/>
              <a:ext cx="6583680" cy="668655"/>
            </a:xfrm>
            <a:custGeom>
              <a:avLst/>
              <a:gdLst/>
              <a:ahLst/>
              <a:cxnLst/>
              <a:rect r="r" b="b" t="t" l="l"/>
              <a:pathLst>
                <a:path h="668655" w="6583680">
                  <a:moveTo>
                    <a:pt x="0" y="0"/>
                  </a:moveTo>
                  <a:lnTo>
                    <a:pt x="6583680" y="0"/>
                  </a:lnTo>
                  <a:lnTo>
                    <a:pt x="6583680" y="668655"/>
                  </a:lnTo>
                  <a:lnTo>
                    <a:pt x="0" y="668655"/>
                  </a:lnTo>
                  <a:close/>
                </a:path>
              </a:pathLst>
            </a:custGeom>
            <a:blipFill>
              <a:blip r:embed="rId3">
                <a:alphaModFix amt="0"/>
              </a:blip>
              <a:stretch>
                <a:fillRect l="0" t="-141852" r="0" b="-141852"/>
              </a:stretch>
            </a:blipFill>
          </p:spPr>
        </p:sp>
        <p:sp>
          <p:nvSpPr>
            <p:cNvPr name="TextBox 23" id="23"/>
            <p:cNvSpPr txBox="true"/>
            <p:nvPr/>
          </p:nvSpPr>
          <p:spPr>
            <a:xfrm>
              <a:off x="0" y="-28575"/>
              <a:ext cx="6583680" cy="697230"/>
            </a:xfrm>
            <a:prstGeom prst="rect">
              <a:avLst/>
            </a:prstGeom>
          </p:spPr>
          <p:txBody>
            <a:bodyPr anchor="ctr" rtlCol="false" tIns="0" lIns="0" bIns="0" rIns="0"/>
            <a:lstStyle/>
            <a:p>
              <a:pPr algn="l">
                <a:lnSpc>
                  <a:spcPts val="1980"/>
                </a:lnSpc>
              </a:pPr>
              <a:r>
                <a:rPr lang="en-US" sz="1650" b="true">
                  <a:solidFill>
                    <a:srgbClr val="5F669F"/>
                  </a:solidFill>
                  <a:latin typeface="Calibri (MS) Bold"/>
                  <a:ea typeface="Calibri (MS) Bold"/>
                  <a:cs typeface="Calibri (MS) Bold"/>
                  <a:sym typeface="Calibri (MS) Bold"/>
                </a:rPr>
                <a:t>Tarea</a:t>
              </a:r>
            </a:p>
          </p:txBody>
        </p:sp>
      </p:grpSp>
      <p:grpSp>
        <p:nvGrpSpPr>
          <p:cNvPr name="Group 24" id="24"/>
          <p:cNvGrpSpPr/>
          <p:nvPr/>
        </p:nvGrpSpPr>
        <p:grpSpPr>
          <a:xfrm rot="0">
            <a:off x="5760720" y="2125980"/>
            <a:ext cx="1783080" cy="480060"/>
            <a:chOff x="0" y="0"/>
            <a:chExt cx="2377440" cy="640080"/>
          </a:xfrm>
        </p:grpSpPr>
        <p:sp>
          <p:nvSpPr>
            <p:cNvPr name="Freeform 25" id="25"/>
            <p:cNvSpPr/>
            <p:nvPr/>
          </p:nvSpPr>
          <p:spPr>
            <a:xfrm flipH="false" flipV="false" rot="0">
              <a:off x="0" y="0"/>
              <a:ext cx="2377440" cy="640080"/>
            </a:xfrm>
            <a:custGeom>
              <a:avLst/>
              <a:gdLst/>
              <a:ahLst/>
              <a:cxnLst/>
              <a:rect r="r" b="b" t="t" l="l"/>
              <a:pathLst>
                <a:path h="640080" w="2377440">
                  <a:moveTo>
                    <a:pt x="0" y="0"/>
                  </a:moveTo>
                  <a:lnTo>
                    <a:pt x="2377440" y="0"/>
                  </a:lnTo>
                  <a:lnTo>
                    <a:pt x="2377440" y="640080"/>
                  </a:lnTo>
                  <a:lnTo>
                    <a:pt x="0" y="640080"/>
                  </a:lnTo>
                  <a:close/>
                </a:path>
              </a:pathLst>
            </a:custGeom>
            <a:blipFill>
              <a:blip r:embed="rId2">
                <a:alphaModFix amt="0"/>
              </a:blip>
              <a:stretch>
                <a:fillRect l="0" t="-22323" r="0" b="-22321"/>
              </a:stretch>
            </a:blipFill>
          </p:spPr>
        </p:sp>
      </p:grpSp>
      <p:grpSp>
        <p:nvGrpSpPr>
          <p:cNvPr name="Group 26" id="26"/>
          <p:cNvGrpSpPr/>
          <p:nvPr/>
        </p:nvGrpSpPr>
        <p:grpSpPr>
          <a:xfrm rot="0">
            <a:off x="5760720" y="2104549"/>
            <a:ext cx="1783080" cy="501491"/>
            <a:chOff x="0" y="0"/>
            <a:chExt cx="2377440" cy="668655"/>
          </a:xfrm>
        </p:grpSpPr>
        <p:sp>
          <p:nvSpPr>
            <p:cNvPr name="Freeform 27" id="27"/>
            <p:cNvSpPr/>
            <p:nvPr/>
          </p:nvSpPr>
          <p:spPr>
            <a:xfrm flipH="false" flipV="false" rot="0">
              <a:off x="0" y="0"/>
              <a:ext cx="2377440" cy="668655"/>
            </a:xfrm>
            <a:custGeom>
              <a:avLst/>
              <a:gdLst/>
              <a:ahLst/>
              <a:cxnLst/>
              <a:rect r="r" b="b" t="t" l="l"/>
              <a:pathLst>
                <a:path h="668655" w="2377440">
                  <a:moveTo>
                    <a:pt x="0" y="0"/>
                  </a:moveTo>
                  <a:lnTo>
                    <a:pt x="2377440" y="0"/>
                  </a:lnTo>
                  <a:lnTo>
                    <a:pt x="2377440" y="668655"/>
                  </a:lnTo>
                  <a:lnTo>
                    <a:pt x="0" y="668655"/>
                  </a:lnTo>
                  <a:close/>
                </a:path>
              </a:pathLst>
            </a:custGeom>
            <a:blipFill>
              <a:blip r:embed="rId3">
                <a:alphaModFix amt="0"/>
              </a:blip>
              <a:stretch>
                <a:fillRect l="0" t="-19280" r="0" b="-19280"/>
              </a:stretch>
            </a:blipFill>
          </p:spPr>
        </p:sp>
        <p:sp>
          <p:nvSpPr>
            <p:cNvPr name="TextBox 28" id="28"/>
            <p:cNvSpPr txBox="true"/>
            <p:nvPr/>
          </p:nvSpPr>
          <p:spPr>
            <a:xfrm>
              <a:off x="0" y="-28575"/>
              <a:ext cx="2377440" cy="697230"/>
            </a:xfrm>
            <a:prstGeom prst="rect">
              <a:avLst/>
            </a:prstGeom>
          </p:spPr>
          <p:txBody>
            <a:bodyPr anchor="ctr" rtlCol="false" tIns="0" lIns="0" bIns="0" rIns="0"/>
            <a:lstStyle/>
            <a:p>
              <a:pPr algn="l">
                <a:lnSpc>
                  <a:spcPts val="1980"/>
                </a:lnSpc>
              </a:pPr>
              <a:r>
                <a:rPr lang="en-US" sz="1650" b="true">
                  <a:solidFill>
                    <a:srgbClr val="5F669F"/>
                  </a:solidFill>
                  <a:latin typeface="Calibri (MS) Bold"/>
                  <a:ea typeface="Calibri (MS) Bold"/>
                  <a:cs typeface="Calibri (MS) Bold"/>
                  <a:sym typeface="Calibri (MS) Bold"/>
                </a:rPr>
                <a:t>Responsable</a:t>
              </a:r>
            </a:p>
          </p:txBody>
        </p:sp>
      </p:grpSp>
      <p:grpSp>
        <p:nvGrpSpPr>
          <p:cNvPr name="Group 29" id="29"/>
          <p:cNvGrpSpPr/>
          <p:nvPr/>
        </p:nvGrpSpPr>
        <p:grpSpPr>
          <a:xfrm rot="0">
            <a:off x="7543800" y="2125980"/>
            <a:ext cx="2057400" cy="480060"/>
            <a:chOff x="0" y="0"/>
            <a:chExt cx="2743200" cy="640080"/>
          </a:xfrm>
        </p:grpSpPr>
        <p:sp>
          <p:nvSpPr>
            <p:cNvPr name="Freeform 30" id="30"/>
            <p:cNvSpPr/>
            <p:nvPr/>
          </p:nvSpPr>
          <p:spPr>
            <a:xfrm flipH="false" flipV="false" rot="0">
              <a:off x="0" y="0"/>
              <a:ext cx="2743200" cy="640080"/>
            </a:xfrm>
            <a:custGeom>
              <a:avLst/>
              <a:gdLst/>
              <a:ahLst/>
              <a:cxnLst/>
              <a:rect r="r" b="b" t="t" l="l"/>
              <a:pathLst>
                <a:path h="640080" w="2743200">
                  <a:moveTo>
                    <a:pt x="0" y="0"/>
                  </a:moveTo>
                  <a:lnTo>
                    <a:pt x="2743200" y="0"/>
                  </a:lnTo>
                  <a:lnTo>
                    <a:pt x="2743200" y="640080"/>
                  </a:lnTo>
                  <a:lnTo>
                    <a:pt x="0" y="640080"/>
                  </a:lnTo>
                  <a:close/>
                </a:path>
              </a:pathLst>
            </a:custGeom>
            <a:blipFill>
              <a:blip r:embed="rId2">
                <a:alphaModFix amt="0"/>
              </a:blip>
              <a:stretch>
                <a:fillRect l="0" t="-33448" r="0" b="-33450"/>
              </a:stretch>
            </a:blipFill>
          </p:spPr>
        </p:sp>
      </p:grpSp>
      <p:grpSp>
        <p:nvGrpSpPr>
          <p:cNvPr name="Group 31" id="31"/>
          <p:cNvGrpSpPr/>
          <p:nvPr/>
        </p:nvGrpSpPr>
        <p:grpSpPr>
          <a:xfrm rot="0">
            <a:off x="7543800" y="2104549"/>
            <a:ext cx="2057400" cy="501491"/>
            <a:chOff x="0" y="0"/>
            <a:chExt cx="2743200" cy="668655"/>
          </a:xfrm>
        </p:grpSpPr>
        <p:sp>
          <p:nvSpPr>
            <p:cNvPr name="Freeform 32" id="32"/>
            <p:cNvSpPr/>
            <p:nvPr/>
          </p:nvSpPr>
          <p:spPr>
            <a:xfrm flipH="false" flipV="false" rot="0">
              <a:off x="0" y="0"/>
              <a:ext cx="2743200" cy="668655"/>
            </a:xfrm>
            <a:custGeom>
              <a:avLst/>
              <a:gdLst/>
              <a:ahLst/>
              <a:cxnLst/>
              <a:rect r="r" b="b" t="t" l="l"/>
              <a:pathLst>
                <a:path h="668655" w="2743200">
                  <a:moveTo>
                    <a:pt x="0" y="0"/>
                  </a:moveTo>
                  <a:lnTo>
                    <a:pt x="2743200" y="0"/>
                  </a:lnTo>
                  <a:lnTo>
                    <a:pt x="2743200" y="668655"/>
                  </a:lnTo>
                  <a:lnTo>
                    <a:pt x="0" y="668655"/>
                  </a:lnTo>
                  <a:close/>
                </a:path>
              </a:pathLst>
            </a:custGeom>
            <a:blipFill>
              <a:blip r:embed="rId3">
                <a:alphaModFix amt="0"/>
              </a:blip>
              <a:stretch>
                <a:fillRect l="0" t="-29938" r="0" b="-29938"/>
              </a:stretch>
            </a:blipFill>
          </p:spPr>
        </p:sp>
        <p:sp>
          <p:nvSpPr>
            <p:cNvPr name="TextBox 33" id="33"/>
            <p:cNvSpPr txBox="true"/>
            <p:nvPr/>
          </p:nvSpPr>
          <p:spPr>
            <a:xfrm>
              <a:off x="0" y="-28575"/>
              <a:ext cx="2743200" cy="697230"/>
            </a:xfrm>
            <a:prstGeom prst="rect">
              <a:avLst/>
            </a:prstGeom>
          </p:spPr>
          <p:txBody>
            <a:bodyPr anchor="ctr" rtlCol="false" tIns="0" lIns="0" bIns="0" rIns="0"/>
            <a:lstStyle/>
            <a:p>
              <a:pPr algn="l">
                <a:lnSpc>
                  <a:spcPts val="1980"/>
                </a:lnSpc>
              </a:pPr>
              <a:r>
                <a:rPr lang="en-US" sz="1650" b="true">
                  <a:solidFill>
                    <a:srgbClr val="5F669F"/>
                  </a:solidFill>
                  <a:latin typeface="Calibri (MS) Bold"/>
                  <a:ea typeface="Calibri (MS) Bold"/>
                  <a:cs typeface="Calibri (MS) Bold"/>
                  <a:sym typeface="Calibri (MS) Bold"/>
                </a:rPr>
                <a:t>Requerimiento</a:t>
              </a:r>
            </a:p>
          </p:txBody>
        </p:sp>
      </p:grpSp>
      <p:grpSp>
        <p:nvGrpSpPr>
          <p:cNvPr name="Group 34" id="34"/>
          <p:cNvGrpSpPr/>
          <p:nvPr/>
        </p:nvGrpSpPr>
        <p:grpSpPr>
          <a:xfrm rot="0">
            <a:off x="9601200" y="2125980"/>
            <a:ext cx="7543800" cy="480060"/>
            <a:chOff x="0" y="0"/>
            <a:chExt cx="10058400" cy="640080"/>
          </a:xfrm>
        </p:grpSpPr>
        <p:sp>
          <p:nvSpPr>
            <p:cNvPr name="Freeform 35" id="35"/>
            <p:cNvSpPr/>
            <p:nvPr/>
          </p:nvSpPr>
          <p:spPr>
            <a:xfrm flipH="false" flipV="false" rot="0">
              <a:off x="0" y="0"/>
              <a:ext cx="10058400" cy="640080"/>
            </a:xfrm>
            <a:custGeom>
              <a:avLst/>
              <a:gdLst/>
              <a:ahLst/>
              <a:cxnLst/>
              <a:rect r="r" b="b" t="t" l="l"/>
              <a:pathLst>
                <a:path h="640080" w="10058400">
                  <a:moveTo>
                    <a:pt x="0" y="0"/>
                  </a:moveTo>
                  <a:lnTo>
                    <a:pt x="10058400" y="0"/>
                  </a:lnTo>
                  <a:lnTo>
                    <a:pt x="10058400" y="640080"/>
                  </a:lnTo>
                  <a:lnTo>
                    <a:pt x="0" y="640080"/>
                  </a:lnTo>
                  <a:close/>
                </a:path>
              </a:pathLst>
            </a:custGeom>
            <a:blipFill>
              <a:blip r:embed="rId2">
                <a:alphaModFix amt="0"/>
              </a:blip>
              <a:stretch>
                <a:fillRect l="0" t="-255980" r="0" b="-255980"/>
              </a:stretch>
            </a:blipFill>
          </p:spPr>
        </p:sp>
      </p:grpSp>
      <p:grpSp>
        <p:nvGrpSpPr>
          <p:cNvPr name="Group 36" id="36"/>
          <p:cNvGrpSpPr/>
          <p:nvPr/>
        </p:nvGrpSpPr>
        <p:grpSpPr>
          <a:xfrm rot="0">
            <a:off x="9601200" y="2104549"/>
            <a:ext cx="7543800" cy="501491"/>
            <a:chOff x="0" y="0"/>
            <a:chExt cx="10058400" cy="668655"/>
          </a:xfrm>
        </p:grpSpPr>
        <p:sp>
          <p:nvSpPr>
            <p:cNvPr name="Freeform 37" id="37"/>
            <p:cNvSpPr/>
            <p:nvPr/>
          </p:nvSpPr>
          <p:spPr>
            <a:xfrm flipH="false" flipV="false" rot="0">
              <a:off x="0" y="0"/>
              <a:ext cx="10058400" cy="668655"/>
            </a:xfrm>
            <a:custGeom>
              <a:avLst/>
              <a:gdLst/>
              <a:ahLst/>
              <a:cxnLst/>
              <a:rect r="r" b="b" t="t" l="l"/>
              <a:pathLst>
                <a:path h="668655" w="10058400">
                  <a:moveTo>
                    <a:pt x="0" y="0"/>
                  </a:moveTo>
                  <a:lnTo>
                    <a:pt x="10058400" y="0"/>
                  </a:lnTo>
                  <a:lnTo>
                    <a:pt x="10058400" y="668655"/>
                  </a:lnTo>
                  <a:lnTo>
                    <a:pt x="0" y="668655"/>
                  </a:lnTo>
                  <a:close/>
                </a:path>
              </a:pathLst>
            </a:custGeom>
            <a:blipFill>
              <a:blip r:embed="rId3">
                <a:alphaModFix amt="0"/>
              </a:blip>
              <a:stretch>
                <a:fillRect l="0" t="-243108" r="0" b="-243108"/>
              </a:stretch>
            </a:blipFill>
          </p:spPr>
        </p:sp>
        <p:sp>
          <p:nvSpPr>
            <p:cNvPr name="TextBox 38" id="38"/>
            <p:cNvSpPr txBox="true"/>
            <p:nvPr/>
          </p:nvSpPr>
          <p:spPr>
            <a:xfrm>
              <a:off x="0" y="-28575"/>
              <a:ext cx="10058400" cy="697230"/>
            </a:xfrm>
            <a:prstGeom prst="rect">
              <a:avLst/>
            </a:prstGeom>
          </p:spPr>
          <p:txBody>
            <a:bodyPr anchor="ctr" rtlCol="false" tIns="0" lIns="0" bIns="0" rIns="0"/>
            <a:lstStyle/>
            <a:p>
              <a:pPr algn="l">
                <a:lnSpc>
                  <a:spcPts val="1980"/>
                </a:lnSpc>
              </a:pPr>
              <a:r>
                <a:rPr lang="en-US" sz="1650" b="true">
                  <a:solidFill>
                    <a:srgbClr val="5F669F"/>
                  </a:solidFill>
                  <a:latin typeface="Calibri (MS) Bold"/>
                  <a:ea typeface="Calibri (MS) Bold"/>
                  <a:cs typeface="Calibri (MS) Bold"/>
                  <a:sym typeface="Calibri (MS) Bold"/>
                </a:rPr>
                <a:t>Justificación</a:t>
              </a:r>
            </a:p>
          </p:txBody>
        </p:sp>
      </p:grpSp>
      <p:grpSp>
        <p:nvGrpSpPr>
          <p:cNvPr name="Group 39" id="39"/>
          <p:cNvGrpSpPr/>
          <p:nvPr/>
        </p:nvGrpSpPr>
        <p:grpSpPr>
          <a:xfrm rot="0">
            <a:off x="822960" y="2674620"/>
            <a:ext cx="16596360" cy="754380"/>
            <a:chOff x="0" y="0"/>
            <a:chExt cx="22128480" cy="1005840"/>
          </a:xfrm>
        </p:grpSpPr>
        <p:sp>
          <p:nvSpPr>
            <p:cNvPr name="Freeform 40" id="40"/>
            <p:cNvSpPr/>
            <p:nvPr/>
          </p:nvSpPr>
          <p:spPr>
            <a:xfrm flipH="false" flipV="false" rot="0">
              <a:off x="0" y="0"/>
              <a:ext cx="22128480" cy="1005840"/>
            </a:xfrm>
            <a:custGeom>
              <a:avLst/>
              <a:gdLst/>
              <a:ahLst/>
              <a:cxnLst/>
              <a:rect r="r" b="b" t="t" l="l"/>
              <a:pathLst>
                <a:path h="1005840" w="22128480">
                  <a:moveTo>
                    <a:pt x="0" y="0"/>
                  </a:moveTo>
                  <a:lnTo>
                    <a:pt x="22128480" y="0"/>
                  </a:lnTo>
                  <a:lnTo>
                    <a:pt x="22128480" y="1005840"/>
                  </a:lnTo>
                  <a:lnTo>
                    <a:pt x="0" y="1005840"/>
                  </a:lnTo>
                  <a:close/>
                </a:path>
              </a:pathLst>
            </a:custGeom>
            <a:solidFill>
              <a:srgbClr val="ADB4D0"/>
            </a:solidFill>
          </p:spPr>
        </p:sp>
      </p:grpSp>
      <p:grpSp>
        <p:nvGrpSpPr>
          <p:cNvPr name="Group 41" id="41"/>
          <p:cNvGrpSpPr/>
          <p:nvPr/>
        </p:nvGrpSpPr>
        <p:grpSpPr>
          <a:xfrm rot="0">
            <a:off x="960120" y="2674620"/>
            <a:ext cx="4732020" cy="754380"/>
            <a:chOff x="0" y="0"/>
            <a:chExt cx="6309360" cy="1005840"/>
          </a:xfrm>
        </p:grpSpPr>
        <p:sp>
          <p:nvSpPr>
            <p:cNvPr name="Freeform 42" id="42"/>
            <p:cNvSpPr/>
            <p:nvPr/>
          </p:nvSpPr>
          <p:spPr>
            <a:xfrm flipH="false" flipV="false" rot="0">
              <a:off x="0" y="0"/>
              <a:ext cx="6309360" cy="1005840"/>
            </a:xfrm>
            <a:custGeom>
              <a:avLst/>
              <a:gdLst/>
              <a:ahLst/>
              <a:cxnLst/>
              <a:rect r="r" b="b" t="t" l="l"/>
              <a:pathLst>
                <a:path h="1005840" w="6309360">
                  <a:moveTo>
                    <a:pt x="0" y="0"/>
                  </a:moveTo>
                  <a:lnTo>
                    <a:pt x="6309360" y="0"/>
                  </a:lnTo>
                  <a:lnTo>
                    <a:pt x="6309360" y="1005840"/>
                  </a:lnTo>
                  <a:lnTo>
                    <a:pt x="0" y="1005840"/>
                  </a:lnTo>
                  <a:close/>
                </a:path>
              </a:pathLst>
            </a:custGeom>
            <a:blipFill>
              <a:blip r:embed="rId2">
                <a:alphaModFix amt="0"/>
              </a:blip>
              <a:stretch>
                <a:fillRect l="0" t="-72138" r="0" b="-72140"/>
              </a:stretch>
            </a:blipFill>
          </p:spPr>
        </p:sp>
      </p:grpSp>
      <p:grpSp>
        <p:nvGrpSpPr>
          <p:cNvPr name="Group 43" id="43"/>
          <p:cNvGrpSpPr/>
          <p:nvPr/>
        </p:nvGrpSpPr>
        <p:grpSpPr>
          <a:xfrm rot="0">
            <a:off x="960120" y="2646045"/>
            <a:ext cx="4732020" cy="782955"/>
            <a:chOff x="0" y="0"/>
            <a:chExt cx="6309360" cy="1043940"/>
          </a:xfrm>
        </p:grpSpPr>
        <p:sp>
          <p:nvSpPr>
            <p:cNvPr name="Freeform 44" id="44"/>
            <p:cNvSpPr/>
            <p:nvPr/>
          </p:nvSpPr>
          <p:spPr>
            <a:xfrm flipH="false" flipV="false" rot="0">
              <a:off x="0" y="0"/>
              <a:ext cx="6309360" cy="1043940"/>
            </a:xfrm>
            <a:custGeom>
              <a:avLst/>
              <a:gdLst/>
              <a:ahLst/>
              <a:cxnLst/>
              <a:rect r="r" b="b" t="t" l="l"/>
              <a:pathLst>
                <a:path h="1043940" w="6309360">
                  <a:moveTo>
                    <a:pt x="0" y="0"/>
                  </a:moveTo>
                  <a:lnTo>
                    <a:pt x="6309360" y="0"/>
                  </a:lnTo>
                  <a:lnTo>
                    <a:pt x="6309360" y="1043940"/>
                  </a:lnTo>
                  <a:lnTo>
                    <a:pt x="0" y="1043940"/>
                  </a:lnTo>
                  <a:close/>
                </a:path>
              </a:pathLst>
            </a:custGeom>
            <a:blipFill>
              <a:blip r:embed="rId3">
                <a:alphaModFix amt="0"/>
              </a:blip>
              <a:stretch>
                <a:fillRect l="0" t="-67763" r="0" b="-67763"/>
              </a:stretch>
            </a:blipFill>
          </p:spPr>
        </p:sp>
        <p:sp>
          <p:nvSpPr>
            <p:cNvPr name="TextBox 45" id="45"/>
            <p:cNvSpPr txBox="true"/>
            <p:nvPr/>
          </p:nvSpPr>
          <p:spPr>
            <a:xfrm>
              <a:off x="0" y="-38100"/>
              <a:ext cx="630936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EDA de listados inmobiliarios</a:t>
              </a:r>
            </a:p>
          </p:txBody>
        </p:sp>
      </p:grpSp>
      <p:grpSp>
        <p:nvGrpSpPr>
          <p:cNvPr name="Group 46" id="46"/>
          <p:cNvGrpSpPr/>
          <p:nvPr/>
        </p:nvGrpSpPr>
        <p:grpSpPr>
          <a:xfrm rot="0">
            <a:off x="5897880" y="2674620"/>
            <a:ext cx="1577340" cy="754380"/>
            <a:chOff x="0" y="0"/>
            <a:chExt cx="2103120" cy="1005840"/>
          </a:xfrm>
        </p:grpSpPr>
        <p:sp>
          <p:nvSpPr>
            <p:cNvPr name="Freeform 47" id="47"/>
            <p:cNvSpPr/>
            <p:nvPr/>
          </p:nvSpPr>
          <p:spPr>
            <a:xfrm flipH="false" flipV="false" rot="0">
              <a:off x="0" y="0"/>
              <a:ext cx="2103120" cy="1005840"/>
            </a:xfrm>
            <a:custGeom>
              <a:avLst/>
              <a:gdLst/>
              <a:ahLst/>
              <a:cxnLst/>
              <a:rect r="r" b="b" t="t" l="l"/>
              <a:pathLst>
                <a:path h="1005840" w="2103120">
                  <a:moveTo>
                    <a:pt x="0" y="0"/>
                  </a:moveTo>
                  <a:lnTo>
                    <a:pt x="2103120" y="0"/>
                  </a:lnTo>
                  <a:lnTo>
                    <a:pt x="2103120" y="1005840"/>
                  </a:lnTo>
                  <a:lnTo>
                    <a:pt x="0" y="1005840"/>
                  </a:lnTo>
                  <a:close/>
                </a:path>
              </a:pathLst>
            </a:custGeom>
            <a:blipFill>
              <a:blip r:embed="rId2">
                <a:alphaModFix amt="0"/>
              </a:blip>
              <a:stretch>
                <a:fillRect l="-11405" t="0" r="-11405" b="0"/>
              </a:stretch>
            </a:blipFill>
          </p:spPr>
        </p:sp>
      </p:grpSp>
      <p:grpSp>
        <p:nvGrpSpPr>
          <p:cNvPr name="Group 48" id="48"/>
          <p:cNvGrpSpPr/>
          <p:nvPr/>
        </p:nvGrpSpPr>
        <p:grpSpPr>
          <a:xfrm rot="0">
            <a:off x="5897880" y="2646045"/>
            <a:ext cx="1577340" cy="782955"/>
            <a:chOff x="0" y="0"/>
            <a:chExt cx="2103120" cy="1043940"/>
          </a:xfrm>
        </p:grpSpPr>
        <p:sp>
          <p:nvSpPr>
            <p:cNvPr name="Freeform 49" id="49"/>
            <p:cNvSpPr/>
            <p:nvPr/>
          </p:nvSpPr>
          <p:spPr>
            <a:xfrm flipH="false" flipV="false" rot="0">
              <a:off x="0" y="0"/>
              <a:ext cx="2103120" cy="1043940"/>
            </a:xfrm>
            <a:custGeom>
              <a:avLst/>
              <a:gdLst/>
              <a:ahLst/>
              <a:cxnLst/>
              <a:rect r="r" b="b" t="t" l="l"/>
              <a:pathLst>
                <a:path h="1043940" w="2103120">
                  <a:moveTo>
                    <a:pt x="0" y="0"/>
                  </a:moveTo>
                  <a:lnTo>
                    <a:pt x="2103120" y="0"/>
                  </a:lnTo>
                  <a:lnTo>
                    <a:pt x="2103120" y="1043940"/>
                  </a:lnTo>
                  <a:lnTo>
                    <a:pt x="0" y="1043940"/>
                  </a:lnTo>
                  <a:close/>
                </a:path>
              </a:pathLst>
            </a:custGeom>
            <a:blipFill>
              <a:blip r:embed="rId3">
                <a:alphaModFix amt="0"/>
              </a:blip>
              <a:stretch>
                <a:fillRect l="-13686" t="0" r="-13686" b="0"/>
              </a:stretch>
            </a:blipFill>
          </p:spPr>
        </p:sp>
        <p:sp>
          <p:nvSpPr>
            <p:cNvPr name="TextBox 50" id="50"/>
            <p:cNvSpPr txBox="true"/>
            <p:nvPr/>
          </p:nvSpPr>
          <p:spPr>
            <a:xfrm>
              <a:off x="0" y="-38100"/>
              <a:ext cx="210312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Lisseth</a:t>
              </a:r>
            </a:p>
          </p:txBody>
        </p:sp>
      </p:grpSp>
      <p:grpSp>
        <p:nvGrpSpPr>
          <p:cNvPr name="Group 51" id="51"/>
          <p:cNvGrpSpPr/>
          <p:nvPr/>
        </p:nvGrpSpPr>
        <p:grpSpPr>
          <a:xfrm rot="0">
            <a:off x="7680960" y="2674620"/>
            <a:ext cx="1851660" cy="754380"/>
            <a:chOff x="0" y="0"/>
            <a:chExt cx="2468880" cy="1005840"/>
          </a:xfrm>
        </p:grpSpPr>
        <p:sp>
          <p:nvSpPr>
            <p:cNvPr name="Freeform 52" id="52"/>
            <p:cNvSpPr/>
            <p:nvPr/>
          </p:nvSpPr>
          <p:spPr>
            <a:xfrm flipH="false" flipV="false" rot="0">
              <a:off x="0" y="0"/>
              <a:ext cx="2468880" cy="1005840"/>
            </a:xfrm>
            <a:custGeom>
              <a:avLst/>
              <a:gdLst/>
              <a:ahLst/>
              <a:cxnLst/>
              <a:rect r="r" b="b" t="t" l="l"/>
              <a:pathLst>
                <a:path h="1005840" w="2468880">
                  <a:moveTo>
                    <a:pt x="0" y="0"/>
                  </a:moveTo>
                  <a:lnTo>
                    <a:pt x="2468880" y="0"/>
                  </a:lnTo>
                  <a:lnTo>
                    <a:pt x="2468880" y="1005840"/>
                  </a:lnTo>
                  <a:lnTo>
                    <a:pt x="0" y="1005840"/>
                  </a:lnTo>
                  <a:close/>
                </a:path>
              </a:pathLst>
            </a:custGeom>
            <a:blipFill>
              <a:blip r:embed="rId2">
                <a:alphaModFix amt="0"/>
              </a:blip>
              <a:stretch>
                <a:fillRect l="-2308" t="0" r="-2308" b="0"/>
              </a:stretch>
            </a:blipFill>
          </p:spPr>
        </p:sp>
      </p:grpSp>
      <p:grpSp>
        <p:nvGrpSpPr>
          <p:cNvPr name="Group 53" id="53"/>
          <p:cNvGrpSpPr/>
          <p:nvPr/>
        </p:nvGrpSpPr>
        <p:grpSpPr>
          <a:xfrm rot="0">
            <a:off x="7680960" y="2646045"/>
            <a:ext cx="1851660" cy="782955"/>
            <a:chOff x="0" y="0"/>
            <a:chExt cx="2468880" cy="1043940"/>
          </a:xfrm>
        </p:grpSpPr>
        <p:sp>
          <p:nvSpPr>
            <p:cNvPr name="Freeform 54" id="54"/>
            <p:cNvSpPr/>
            <p:nvPr/>
          </p:nvSpPr>
          <p:spPr>
            <a:xfrm flipH="false" flipV="false" rot="0">
              <a:off x="0" y="0"/>
              <a:ext cx="2468880" cy="1043940"/>
            </a:xfrm>
            <a:custGeom>
              <a:avLst/>
              <a:gdLst/>
              <a:ahLst/>
              <a:cxnLst/>
              <a:rect r="r" b="b" t="t" l="l"/>
              <a:pathLst>
                <a:path h="1043940" w="2468880">
                  <a:moveTo>
                    <a:pt x="0" y="0"/>
                  </a:moveTo>
                  <a:lnTo>
                    <a:pt x="2468880" y="0"/>
                  </a:lnTo>
                  <a:lnTo>
                    <a:pt x="2468880" y="1043940"/>
                  </a:lnTo>
                  <a:lnTo>
                    <a:pt x="0" y="1043940"/>
                  </a:lnTo>
                  <a:close/>
                </a:path>
              </a:pathLst>
            </a:custGeom>
            <a:blipFill>
              <a:blip r:embed="rId3">
                <a:alphaModFix amt="0"/>
              </a:blip>
              <a:stretch>
                <a:fillRect l="-4251" t="0" r="-4251" b="0"/>
              </a:stretch>
            </a:blipFill>
          </p:spPr>
        </p:sp>
        <p:sp>
          <p:nvSpPr>
            <p:cNvPr name="TextBox 55" id="55"/>
            <p:cNvSpPr txBox="true"/>
            <p:nvPr/>
          </p:nvSpPr>
          <p:spPr>
            <a:xfrm>
              <a:off x="0" y="-38100"/>
              <a:ext cx="246888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RF-01, RF-03</a:t>
              </a:r>
            </a:p>
          </p:txBody>
        </p:sp>
      </p:grpSp>
      <p:grpSp>
        <p:nvGrpSpPr>
          <p:cNvPr name="Group 56" id="56"/>
          <p:cNvGrpSpPr/>
          <p:nvPr/>
        </p:nvGrpSpPr>
        <p:grpSpPr>
          <a:xfrm rot="0">
            <a:off x="9738360" y="2674620"/>
            <a:ext cx="7338060" cy="754380"/>
            <a:chOff x="0" y="0"/>
            <a:chExt cx="9784080" cy="1005840"/>
          </a:xfrm>
        </p:grpSpPr>
        <p:sp>
          <p:nvSpPr>
            <p:cNvPr name="Freeform 57" id="57"/>
            <p:cNvSpPr/>
            <p:nvPr/>
          </p:nvSpPr>
          <p:spPr>
            <a:xfrm flipH="false" flipV="false" rot="0">
              <a:off x="0" y="0"/>
              <a:ext cx="9784080" cy="1005840"/>
            </a:xfrm>
            <a:custGeom>
              <a:avLst/>
              <a:gdLst/>
              <a:ahLst/>
              <a:cxnLst/>
              <a:rect r="r" b="b" t="t" l="l"/>
              <a:pathLst>
                <a:path h="1005840" w="9784080">
                  <a:moveTo>
                    <a:pt x="0" y="0"/>
                  </a:moveTo>
                  <a:lnTo>
                    <a:pt x="9784080" y="0"/>
                  </a:lnTo>
                  <a:lnTo>
                    <a:pt x="9784080" y="1005840"/>
                  </a:lnTo>
                  <a:lnTo>
                    <a:pt x="0" y="1005840"/>
                  </a:lnTo>
                  <a:close/>
                </a:path>
              </a:pathLst>
            </a:custGeom>
            <a:blipFill>
              <a:blip r:embed="rId2">
                <a:alphaModFix amt="0"/>
              </a:blip>
              <a:stretch>
                <a:fillRect l="0" t="-139404" r="0" b="-139405"/>
              </a:stretch>
            </a:blipFill>
          </p:spPr>
        </p:sp>
      </p:grpSp>
      <p:grpSp>
        <p:nvGrpSpPr>
          <p:cNvPr name="Group 58" id="58"/>
          <p:cNvGrpSpPr/>
          <p:nvPr/>
        </p:nvGrpSpPr>
        <p:grpSpPr>
          <a:xfrm rot="0">
            <a:off x="9738360" y="2646045"/>
            <a:ext cx="7338060" cy="782955"/>
            <a:chOff x="0" y="0"/>
            <a:chExt cx="9784080" cy="1043940"/>
          </a:xfrm>
        </p:grpSpPr>
        <p:sp>
          <p:nvSpPr>
            <p:cNvPr name="Freeform 59" id="59"/>
            <p:cNvSpPr/>
            <p:nvPr/>
          </p:nvSpPr>
          <p:spPr>
            <a:xfrm flipH="false" flipV="false" rot="0">
              <a:off x="0" y="0"/>
              <a:ext cx="9784080" cy="1043940"/>
            </a:xfrm>
            <a:custGeom>
              <a:avLst/>
              <a:gdLst/>
              <a:ahLst/>
              <a:cxnLst/>
              <a:rect r="r" b="b" t="t" l="l"/>
              <a:pathLst>
                <a:path h="1043940" w="9784080">
                  <a:moveTo>
                    <a:pt x="0" y="0"/>
                  </a:moveTo>
                  <a:lnTo>
                    <a:pt x="9784080" y="0"/>
                  </a:lnTo>
                  <a:lnTo>
                    <a:pt x="9784080" y="1043940"/>
                  </a:lnTo>
                  <a:lnTo>
                    <a:pt x="0" y="1043940"/>
                  </a:lnTo>
                  <a:close/>
                </a:path>
              </a:pathLst>
            </a:custGeom>
            <a:blipFill>
              <a:blip r:embed="rId3">
                <a:alphaModFix amt="0"/>
              </a:blip>
              <a:stretch>
                <a:fillRect l="0" t="-132618" r="0" b="-132618"/>
              </a:stretch>
            </a:blipFill>
          </p:spPr>
        </p:sp>
        <p:sp>
          <p:nvSpPr>
            <p:cNvPr name="TextBox 60" id="60"/>
            <p:cNvSpPr txBox="true"/>
            <p:nvPr/>
          </p:nvSpPr>
          <p:spPr>
            <a:xfrm>
              <a:off x="0" y="-38100"/>
              <a:ext cx="978408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Necesario para detectar outliers y evaluar completitud antes de entrenar el motor de valoración.</a:t>
              </a:r>
            </a:p>
          </p:txBody>
        </p:sp>
      </p:grpSp>
      <p:grpSp>
        <p:nvGrpSpPr>
          <p:cNvPr name="Group 61" id="61"/>
          <p:cNvGrpSpPr/>
          <p:nvPr/>
        </p:nvGrpSpPr>
        <p:grpSpPr>
          <a:xfrm rot="0">
            <a:off x="960120" y="3429000"/>
            <a:ext cx="4732020" cy="754380"/>
            <a:chOff x="0" y="0"/>
            <a:chExt cx="6309360" cy="1005840"/>
          </a:xfrm>
        </p:grpSpPr>
        <p:sp>
          <p:nvSpPr>
            <p:cNvPr name="Freeform 62" id="62"/>
            <p:cNvSpPr/>
            <p:nvPr/>
          </p:nvSpPr>
          <p:spPr>
            <a:xfrm flipH="false" flipV="false" rot="0">
              <a:off x="0" y="0"/>
              <a:ext cx="6309360" cy="1005840"/>
            </a:xfrm>
            <a:custGeom>
              <a:avLst/>
              <a:gdLst/>
              <a:ahLst/>
              <a:cxnLst/>
              <a:rect r="r" b="b" t="t" l="l"/>
              <a:pathLst>
                <a:path h="1005840" w="6309360">
                  <a:moveTo>
                    <a:pt x="0" y="0"/>
                  </a:moveTo>
                  <a:lnTo>
                    <a:pt x="6309360" y="0"/>
                  </a:lnTo>
                  <a:lnTo>
                    <a:pt x="6309360" y="1005840"/>
                  </a:lnTo>
                  <a:lnTo>
                    <a:pt x="0" y="1005840"/>
                  </a:lnTo>
                  <a:close/>
                </a:path>
              </a:pathLst>
            </a:custGeom>
            <a:blipFill>
              <a:blip r:embed="rId2">
                <a:alphaModFix amt="0"/>
              </a:blip>
              <a:stretch>
                <a:fillRect l="0" t="-72138" r="0" b="-72140"/>
              </a:stretch>
            </a:blipFill>
          </p:spPr>
        </p:sp>
      </p:grpSp>
      <p:grpSp>
        <p:nvGrpSpPr>
          <p:cNvPr name="Group 63" id="63"/>
          <p:cNvGrpSpPr/>
          <p:nvPr/>
        </p:nvGrpSpPr>
        <p:grpSpPr>
          <a:xfrm rot="0">
            <a:off x="960120" y="3400425"/>
            <a:ext cx="4732020" cy="782955"/>
            <a:chOff x="0" y="0"/>
            <a:chExt cx="6309360" cy="1043940"/>
          </a:xfrm>
        </p:grpSpPr>
        <p:sp>
          <p:nvSpPr>
            <p:cNvPr name="Freeform 64" id="64"/>
            <p:cNvSpPr/>
            <p:nvPr/>
          </p:nvSpPr>
          <p:spPr>
            <a:xfrm flipH="false" flipV="false" rot="0">
              <a:off x="0" y="0"/>
              <a:ext cx="6309360" cy="1043940"/>
            </a:xfrm>
            <a:custGeom>
              <a:avLst/>
              <a:gdLst/>
              <a:ahLst/>
              <a:cxnLst/>
              <a:rect r="r" b="b" t="t" l="l"/>
              <a:pathLst>
                <a:path h="1043940" w="6309360">
                  <a:moveTo>
                    <a:pt x="0" y="0"/>
                  </a:moveTo>
                  <a:lnTo>
                    <a:pt x="6309360" y="0"/>
                  </a:lnTo>
                  <a:lnTo>
                    <a:pt x="6309360" y="1043940"/>
                  </a:lnTo>
                  <a:lnTo>
                    <a:pt x="0" y="1043940"/>
                  </a:lnTo>
                  <a:close/>
                </a:path>
              </a:pathLst>
            </a:custGeom>
            <a:blipFill>
              <a:blip r:embed="rId3">
                <a:alphaModFix amt="0"/>
              </a:blip>
              <a:stretch>
                <a:fillRect l="0" t="-67763" r="0" b="-67763"/>
              </a:stretch>
            </a:blipFill>
          </p:spPr>
        </p:sp>
        <p:sp>
          <p:nvSpPr>
            <p:cNvPr name="TextBox 65" id="65"/>
            <p:cNvSpPr txBox="true"/>
            <p:nvPr/>
          </p:nvSpPr>
          <p:spPr>
            <a:xfrm>
              <a:off x="0" y="-38100"/>
              <a:ext cx="630936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Feature engineering geoespacial</a:t>
              </a:r>
            </a:p>
          </p:txBody>
        </p:sp>
      </p:grpSp>
      <p:grpSp>
        <p:nvGrpSpPr>
          <p:cNvPr name="Group 66" id="66"/>
          <p:cNvGrpSpPr/>
          <p:nvPr/>
        </p:nvGrpSpPr>
        <p:grpSpPr>
          <a:xfrm rot="0">
            <a:off x="5897880" y="3429000"/>
            <a:ext cx="1577340" cy="754380"/>
            <a:chOff x="0" y="0"/>
            <a:chExt cx="2103120" cy="1005840"/>
          </a:xfrm>
        </p:grpSpPr>
        <p:sp>
          <p:nvSpPr>
            <p:cNvPr name="Freeform 67" id="67"/>
            <p:cNvSpPr/>
            <p:nvPr/>
          </p:nvSpPr>
          <p:spPr>
            <a:xfrm flipH="false" flipV="false" rot="0">
              <a:off x="0" y="0"/>
              <a:ext cx="2103120" cy="1005840"/>
            </a:xfrm>
            <a:custGeom>
              <a:avLst/>
              <a:gdLst/>
              <a:ahLst/>
              <a:cxnLst/>
              <a:rect r="r" b="b" t="t" l="l"/>
              <a:pathLst>
                <a:path h="1005840" w="2103120">
                  <a:moveTo>
                    <a:pt x="0" y="0"/>
                  </a:moveTo>
                  <a:lnTo>
                    <a:pt x="2103120" y="0"/>
                  </a:lnTo>
                  <a:lnTo>
                    <a:pt x="2103120" y="1005840"/>
                  </a:lnTo>
                  <a:lnTo>
                    <a:pt x="0" y="1005840"/>
                  </a:lnTo>
                  <a:close/>
                </a:path>
              </a:pathLst>
            </a:custGeom>
            <a:blipFill>
              <a:blip r:embed="rId2">
                <a:alphaModFix amt="0"/>
              </a:blip>
              <a:stretch>
                <a:fillRect l="-11405" t="0" r="-11405" b="0"/>
              </a:stretch>
            </a:blipFill>
          </p:spPr>
        </p:sp>
      </p:grpSp>
      <p:grpSp>
        <p:nvGrpSpPr>
          <p:cNvPr name="Group 68" id="68"/>
          <p:cNvGrpSpPr/>
          <p:nvPr/>
        </p:nvGrpSpPr>
        <p:grpSpPr>
          <a:xfrm rot="0">
            <a:off x="5897880" y="3400425"/>
            <a:ext cx="1577340" cy="782955"/>
            <a:chOff x="0" y="0"/>
            <a:chExt cx="2103120" cy="1043940"/>
          </a:xfrm>
        </p:grpSpPr>
        <p:sp>
          <p:nvSpPr>
            <p:cNvPr name="Freeform 69" id="69"/>
            <p:cNvSpPr/>
            <p:nvPr/>
          </p:nvSpPr>
          <p:spPr>
            <a:xfrm flipH="false" flipV="false" rot="0">
              <a:off x="0" y="0"/>
              <a:ext cx="2103120" cy="1043940"/>
            </a:xfrm>
            <a:custGeom>
              <a:avLst/>
              <a:gdLst/>
              <a:ahLst/>
              <a:cxnLst/>
              <a:rect r="r" b="b" t="t" l="l"/>
              <a:pathLst>
                <a:path h="1043940" w="2103120">
                  <a:moveTo>
                    <a:pt x="0" y="0"/>
                  </a:moveTo>
                  <a:lnTo>
                    <a:pt x="2103120" y="0"/>
                  </a:lnTo>
                  <a:lnTo>
                    <a:pt x="2103120" y="1043940"/>
                  </a:lnTo>
                  <a:lnTo>
                    <a:pt x="0" y="1043940"/>
                  </a:lnTo>
                  <a:close/>
                </a:path>
              </a:pathLst>
            </a:custGeom>
            <a:blipFill>
              <a:blip r:embed="rId3">
                <a:alphaModFix amt="0"/>
              </a:blip>
              <a:stretch>
                <a:fillRect l="-13686" t="0" r="-13686" b="0"/>
              </a:stretch>
            </a:blipFill>
          </p:spPr>
        </p:sp>
        <p:sp>
          <p:nvSpPr>
            <p:cNvPr name="TextBox 70" id="70"/>
            <p:cNvSpPr txBox="true"/>
            <p:nvPr/>
          </p:nvSpPr>
          <p:spPr>
            <a:xfrm>
              <a:off x="0" y="-38100"/>
              <a:ext cx="210312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Lisseth / Jyns</a:t>
              </a:r>
            </a:p>
          </p:txBody>
        </p:sp>
      </p:grpSp>
      <p:grpSp>
        <p:nvGrpSpPr>
          <p:cNvPr name="Group 71" id="71"/>
          <p:cNvGrpSpPr/>
          <p:nvPr/>
        </p:nvGrpSpPr>
        <p:grpSpPr>
          <a:xfrm rot="0">
            <a:off x="7680960" y="3429000"/>
            <a:ext cx="1851660" cy="754380"/>
            <a:chOff x="0" y="0"/>
            <a:chExt cx="2468880" cy="1005840"/>
          </a:xfrm>
        </p:grpSpPr>
        <p:sp>
          <p:nvSpPr>
            <p:cNvPr name="Freeform 72" id="72"/>
            <p:cNvSpPr/>
            <p:nvPr/>
          </p:nvSpPr>
          <p:spPr>
            <a:xfrm flipH="false" flipV="false" rot="0">
              <a:off x="0" y="0"/>
              <a:ext cx="2468880" cy="1005840"/>
            </a:xfrm>
            <a:custGeom>
              <a:avLst/>
              <a:gdLst/>
              <a:ahLst/>
              <a:cxnLst/>
              <a:rect r="r" b="b" t="t" l="l"/>
              <a:pathLst>
                <a:path h="1005840" w="2468880">
                  <a:moveTo>
                    <a:pt x="0" y="0"/>
                  </a:moveTo>
                  <a:lnTo>
                    <a:pt x="2468880" y="0"/>
                  </a:lnTo>
                  <a:lnTo>
                    <a:pt x="2468880" y="1005840"/>
                  </a:lnTo>
                  <a:lnTo>
                    <a:pt x="0" y="1005840"/>
                  </a:lnTo>
                  <a:close/>
                </a:path>
              </a:pathLst>
            </a:custGeom>
            <a:blipFill>
              <a:blip r:embed="rId2">
                <a:alphaModFix amt="0"/>
              </a:blip>
              <a:stretch>
                <a:fillRect l="-2308" t="0" r="-2308" b="0"/>
              </a:stretch>
            </a:blipFill>
          </p:spPr>
        </p:sp>
      </p:grpSp>
      <p:grpSp>
        <p:nvGrpSpPr>
          <p:cNvPr name="Group 73" id="73"/>
          <p:cNvGrpSpPr/>
          <p:nvPr/>
        </p:nvGrpSpPr>
        <p:grpSpPr>
          <a:xfrm rot="0">
            <a:off x="7680960" y="3400425"/>
            <a:ext cx="1851660" cy="782955"/>
            <a:chOff x="0" y="0"/>
            <a:chExt cx="2468880" cy="1043940"/>
          </a:xfrm>
        </p:grpSpPr>
        <p:sp>
          <p:nvSpPr>
            <p:cNvPr name="Freeform 74" id="74"/>
            <p:cNvSpPr/>
            <p:nvPr/>
          </p:nvSpPr>
          <p:spPr>
            <a:xfrm flipH="false" flipV="false" rot="0">
              <a:off x="0" y="0"/>
              <a:ext cx="2468880" cy="1043940"/>
            </a:xfrm>
            <a:custGeom>
              <a:avLst/>
              <a:gdLst/>
              <a:ahLst/>
              <a:cxnLst/>
              <a:rect r="r" b="b" t="t" l="l"/>
              <a:pathLst>
                <a:path h="1043940" w="2468880">
                  <a:moveTo>
                    <a:pt x="0" y="0"/>
                  </a:moveTo>
                  <a:lnTo>
                    <a:pt x="2468880" y="0"/>
                  </a:lnTo>
                  <a:lnTo>
                    <a:pt x="2468880" y="1043940"/>
                  </a:lnTo>
                  <a:lnTo>
                    <a:pt x="0" y="1043940"/>
                  </a:lnTo>
                  <a:close/>
                </a:path>
              </a:pathLst>
            </a:custGeom>
            <a:blipFill>
              <a:blip r:embed="rId3">
                <a:alphaModFix amt="0"/>
              </a:blip>
              <a:stretch>
                <a:fillRect l="-4251" t="0" r="-4251" b="0"/>
              </a:stretch>
            </a:blipFill>
          </p:spPr>
        </p:sp>
        <p:sp>
          <p:nvSpPr>
            <p:cNvPr name="TextBox 75" id="75"/>
            <p:cNvSpPr txBox="true"/>
            <p:nvPr/>
          </p:nvSpPr>
          <p:spPr>
            <a:xfrm>
              <a:off x="0" y="-38100"/>
              <a:ext cx="246888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RF-02, RF-06</a:t>
              </a:r>
            </a:p>
          </p:txBody>
        </p:sp>
      </p:grpSp>
      <p:grpSp>
        <p:nvGrpSpPr>
          <p:cNvPr name="Group 76" id="76"/>
          <p:cNvGrpSpPr/>
          <p:nvPr/>
        </p:nvGrpSpPr>
        <p:grpSpPr>
          <a:xfrm rot="0">
            <a:off x="9738360" y="3429000"/>
            <a:ext cx="7338060" cy="754380"/>
            <a:chOff x="0" y="0"/>
            <a:chExt cx="9784080" cy="1005840"/>
          </a:xfrm>
        </p:grpSpPr>
        <p:sp>
          <p:nvSpPr>
            <p:cNvPr name="Freeform 77" id="77"/>
            <p:cNvSpPr/>
            <p:nvPr/>
          </p:nvSpPr>
          <p:spPr>
            <a:xfrm flipH="false" flipV="false" rot="0">
              <a:off x="0" y="0"/>
              <a:ext cx="9784080" cy="1005840"/>
            </a:xfrm>
            <a:custGeom>
              <a:avLst/>
              <a:gdLst/>
              <a:ahLst/>
              <a:cxnLst/>
              <a:rect r="r" b="b" t="t" l="l"/>
              <a:pathLst>
                <a:path h="1005840" w="9784080">
                  <a:moveTo>
                    <a:pt x="0" y="0"/>
                  </a:moveTo>
                  <a:lnTo>
                    <a:pt x="9784080" y="0"/>
                  </a:lnTo>
                  <a:lnTo>
                    <a:pt x="9784080" y="1005840"/>
                  </a:lnTo>
                  <a:lnTo>
                    <a:pt x="0" y="1005840"/>
                  </a:lnTo>
                  <a:close/>
                </a:path>
              </a:pathLst>
            </a:custGeom>
            <a:blipFill>
              <a:blip r:embed="rId2">
                <a:alphaModFix amt="0"/>
              </a:blip>
              <a:stretch>
                <a:fillRect l="0" t="-139404" r="0" b="-139405"/>
              </a:stretch>
            </a:blipFill>
          </p:spPr>
        </p:sp>
      </p:grpSp>
      <p:grpSp>
        <p:nvGrpSpPr>
          <p:cNvPr name="Group 78" id="78"/>
          <p:cNvGrpSpPr/>
          <p:nvPr/>
        </p:nvGrpSpPr>
        <p:grpSpPr>
          <a:xfrm rot="0">
            <a:off x="9738360" y="3400425"/>
            <a:ext cx="7338060" cy="782955"/>
            <a:chOff x="0" y="0"/>
            <a:chExt cx="9784080" cy="1043940"/>
          </a:xfrm>
        </p:grpSpPr>
        <p:sp>
          <p:nvSpPr>
            <p:cNvPr name="Freeform 79" id="79"/>
            <p:cNvSpPr/>
            <p:nvPr/>
          </p:nvSpPr>
          <p:spPr>
            <a:xfrm flipH="false" flipV="false" rot="0">
              <a:off x="0" y="0"/>
              <a:ext cx="9784080" cy="1043940"/>
            </a:xfrm>
            <a:custGeom>
              <a:avLst/>
              <a:gdLst/>
              <a:ahLst/>
              <a:cxnLst/>
              <a:rect r="r" b="b" t="t" l="l"/>
              <a:pathLst>
                <a:path h="1043940" w="9784080">
                  <a:moveTo>
                    <a:pt x="0" y="0"/>
                  </a:moveTo>
                  <a:lnTo>
                    <a:pt x="9784080" y="0"/>
                  </a:lnTo>
                  <a:lnTo>
                    <a:pt x="9784080" y="1043940"/>
                  </a:lnTo>
                  <a:lnTo>
                    <a:pt x="0" y="1043940"/>
                  </a:lnTo>
                  <a:close/>
                </a:path>
              </a:pathLst>
            </a:custGeom>
            <a:blipFill>
              <a:blip r:embed="rId3">
                <a:alphaModFix amt="0"/>
              </a:blip>
              <a:stretch>
                <a:fillRect l="0" t="-132618" r="0" b="-132618"/>
              </a:stretch>
            </a:blipFill>
          </p:spPr>
        </p:sp>
        <p:sp>
          <p:nvSpPr>
            <p:cNvPr name="TextBox 80" id="80"/>
            <p:cNvSpPr txBox="true"/>
            <p:nvPr/>
          </p:nvSpPr>
          <p:spPr>
            <a:xfrm>
              <a:off x="0" y="-38100"/>
              <a:ext cx="978408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Calcular distancias (Haversine) a POIs habilita el índice de conveniencia urbana.</a:t>
              </a:r>
            </a:p>
          </p:txBody>
        </p:sp>
      </p:grpSp>
      <p:grpSp>
        <p:nvGrpSpPr>
          <p:cNvPr name="Group 81" id="81"/>
          <p:cNvGrpSpPr/>
          <p:nvPr/>
        </p:nvGrpSpPr>
        <p:grpSpPr>
          <a:xfrm rot="0">
            <a:off x="822960" y="4183380"/>
            <a:ext cx="16596360" cy="754380"/>
            <a:chOff x="0" y="0"/>
            <a:chExt cx="22128480" cy="1005840"/>
          </a:xfrm>
        </p:grpSpPr>
        <p:sp>
          <p:nvSpPr>
            <p:cNvPr name="Freeform 82" id="82"/>
            <p:cNvSpPr/>
            <p:nvPr/>
          </p:nvSpPr>
          <p:spPr>
            <a:xfrm flipH="false" flipV="false" rot="0">
              <a:off x="0" y="0"/>
              <a:ext cx="22128480" cy="1005840"/>
            </a:xfrm>
            <a:custGeom>
              <a:avLst/>
              <a:gdLst/>
              <a:ahLst/>
              <a:cxnLst/>
              <a:rect r="r" b="b" t="t" l="l"/>
              <a:pathLst>
                <a:path h="1005840" w="22128480">
                  <a:moveTo>
                    <a:pt x="0" y="0"/>
                  </a:moveTo>
                  <a:lnTo>
                    <a:pt x="22128480" y="0"/>
                  </a:lnTo>
                  <a:lnTo>
                    <a:pt x="22128480" y="1005840"/>
                  </a:lnTo>
                  <a:lnTo>
                    <a:pt x="0" y="1005840"/>
                  </a:lnTo>
                  <a:close/>
                </a:path>
              </a:pathLst>
            </a:custGeom>
            <a:solidFill>
              <a:srgbClr val="ADB4D0"/>
            </a:solidFill>
          </p:spPr>
        </p:sp>
      </p:grpSp>
      <p:grpSp>
        <p:nvGrpSpPr>
          <p:cNvPr name="Group 83" id="83"/>
          <p:cNvGrpSpPr/>
          <p:nvPr/>
        </p:nvGrpSpPr>
        <p:grpSpPr>
          <a:xfrm rot="0">
            <a:off x="960120" y="4183380"/>
            <a:ext cx="4732020" cy="754380"/>
            <a:chOff x="0" y="0"/>
            <a:chExt cx="6309360" cy="1005840"/>
          </a:xfrm>
        </p:grpSpPr>
        <p:sp>
          <p:nvSpPr>
            <p:cNvPr name="Freeform 84" id="84"/>
            <p:cNvSpPr/>
            <p:nvPr/>
          </p:nvSpPr>
          <p:spPr>
            <a:xfrm flipH="false" flipV="false" rot="0">
              <a:off x="0" y="0"/>
              <a:ext cx="6309360" cy="1005840"/>
            </a:xfrm>
            <a:custGeom>
              <a:avLst/>
              <a:gdLst/>
              <a:ahLst/>
              <a:cxnLst/>
              <a:rect r="r" b="b" t="t" l="l"/>
              <a:pathLst>
                <a:path h="1005840" w="6309360">
                  <a:moveTo>
                    <a:pt x="0" y="0"/>
                  </a:moveTo>
                  <a:lnTo>
                    <a:pt x="6309360" y="0"/>
                  </a:lnTo>
                  <a:lnTo>
                    <a:pt x="6309360" y="1005840"/>
                  </a:lnTo>
                  <a:lnTo>
                    <a:pt x="0" y="1005840"/>
                  </a:lnTo>
                  <a:close/>
                </a:path>
              </a:pathLst>
            </a:custGeom>
            <a:blipFill>
              <a:blip r:embed="rId2">
                <a:alphaModFix amt="0"/>
              </a:blip>
              <a:stretch>
                <a:fillRect l="0" t="-72138" r="0" b="-72140"/>
              </a:stretch>
            </a:blipFill>
          </p:spPr>
        </p:sp>
      </p:grpSp>
      <p:grpSp>
        <p:nvGrpSpPr>
          <p:cNvPr name="Group 85" id="85"/>
          <p:cNvGrpSpPr/>
          <p:nvPr/>
        </p:nvGrpSpPr>
        <p:grpSpPr>
          <a:xfrm rot="0">
            <a:off x="960120" y="4154805"/>
            <a:ext cx="4732020" cy="782955"/>
            <a:chOff x="0" y="0"/>
            <a:chExt cx="6309360" cy="1043940"/>
          </a:xfrm>
        </p:grpSpPr>
        <p:sp>
          <p:nvSpPr>
            <p:cNvPr name="Freeform 86" id="86"/>
            <p:cNvSpPr/>
            <p:nvPr/>
          </p:nvSpPr>
          <p:spPr>
            <a:xfrm flipH="false" flipV="false" rot="0">
              <a:off x="0" y="0"/>
              <a:ext cx="6309360" cy="1043940"/>
            </a:xfrm>
            <a:custGeom>
              <a:avLst/>
              <a:gdLst/>
              <a:ahLst/>
              <a:cxnLst/>
              <a:rect r="r" b="b" t="t" l="l"/>
              <a:pathLst>
                <a:path h="1043940" w="6309360">
                  <a:moveTo>
                    <a:pt x="0" y="0"/>
                  </a:moveTo>
                  <a:lnTo>
                    <a:pt x="6309360" y="0"/>
                  </a:lnTo>
                  <a:lnTo>
                    <a:pt x="6309360" y="1043940"/>
                  </a:lnTo>
                  <a:lnTo>
                    <a:pt x="0" y="1043940"/>
                  </a:lnTo>
                  <a:close/>
                </a:path>
              </a:pathLst>
            </a:custGeom>
            <a:blipFill>
              <a:blip r:embed="rId3">
                <a:alphaModFix amt="0"/>
              </a:blip>
              <a:stretch>
                <a:fillRect l="0" t="-67763" r="0" b="-67763"/>
              </a:stretch>
            </a:blipFill>
          </p:spPr>
        </p:sp>
        <p:sp>
          <p:nvSpPr>
            <p:cNvPr name="TextBox 87" id="87"/>
            <p:cNvSpPr txBox="true"/>
            <p:nvPr/>
          </p:nvSpPr>
          <p:spPr>
            <a:xfrm>
              <a:off x="0" y="-38100"/>
              <a:ext cx="630936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Entrenamiento del motor de valoración</a:t>
              </a:r>
            </a:p>
          </p:txBody>
        </p:sp>
      </p:grpSp>
      <p:grpSp>
        <p:nvGrpSpPr>
          <p:cNvPr name="Group 88" id="88"/>
          <p:cNvGrpSpPr/>
          <p:nvPr/>
        </p:nvGrpSpPr>
        <p:grpSpPr>
          <a:xfrm rot="0">
            <a:off x="5897880" y="4183380"/>
            <a:ext cx="1577340" cy="754380"/>
            <a:chOff x="0" y="0"/>
            <a:chExt cx="2103120" cy="1005840"/>
          </a:xfrm>
        </p:grpSpPr>
        <p:sp>
          <p:nvSpPr>
            <p:cNvPr name="Freeform 89" id="89"/>
            <p:cNvSpPr/>
            <p:nvPr/>
          </p:nvSpPr>
          <p:spPr>
            <a:xfrm flipH="false" flipV="false" rot="0">
              <a:off x="0" y="0"/>
              <a:ext cx="2103120" cy="1005840"/>
            </a:xfrm>
            <a:custGeom>
              <a:avLst/>
              <a:gdLst/>
              <a:ahLst/>
              <a:cxnLst/>
              <a:rect r="r" b="b" t="t" l="l"/>
              <a:pathLst>
                <a:path h="1005840" w="2103120">
                  <a:moveTo>
                    <a:pt x="0" y="0"/>
                  </a:moveTo>
                  <a:lnTo>
                    <a:pt x="2103120" y="0"/>
                  </a:lnTo>
                  <a:lnTo>
                    <a:pt x="2103120" y="1005840"/>
                  </a:lnTo>
                  <a:lnTo>
                    <a:pt x="0" y="1005840"/>
                  </a:lnTo>
                  <a:close/>
                </a:path>
              </a:pathLst>
            </a:custGeom>
            <a:blipFill>
              <a:blip r:embed="rId2">
                <a:alphaModFix amt="0"/>
              </a:blip>
              <a:stretch>
                <a:fillRect l="-11405" t="0" r="-11405" b="0"/>
              </a:stretch>
            </a:blipFill>
          </p:spPr>
        </p:sp>
      </p:grpSp>
      <p:grpSp>
        <p:nvGrpSpPr>
          <p:cNvPr name="Group 90" id="90"/>
          <p:cNvGrpSpPr/>
          <p:nvPr/>
        </p:nvGrpSpPr>
        <p:grpSpPr>
          <a:xfrm rot="0">
            <a:off x="5897880" y="4154805"/>
            <a:ext cx="1577340" cy="782955"/>
            <a:chOff x="0" y="0"/>
            <a:chExt cx="2103120" cy="1043940"/>
          </a:xfrm>
        </p:grpSpPr>
        <p:sp>
          <p:nvSpPr>
            <p:cNvPr name="Freeform 91" id="91"/>
            <p:cNvSpPr/>
            <p:nvPr/>
          </p:nvSpPr>
          <p:spPr>
            <a:xfrm flipH="false" flipV="false" rot="0">
              <a:off x="0" y="0"/>
              <a:ext cx="2103120" cy="1043940"/>
            </a:xfrm>
            <a:custGeom>
              <a:avLst/>
              <a:gdLst/>
              <a:ahLst/>
              <a:cxnLst/>
              <a:rect r="r" b="b" t="t" l="l"/>
              <a:pathLst>
                <a:path h="1043940" w="2103120">
                  <a:moveTo>
                    <a:pt x="0" y="0"/>
                  </a:moveTo>
                  <a:lnTo>
                    <a:pt x="2103120" y="0"/>
                  </a:lnTo>
                  <a:lnTo>
                    <a:pt x="2103120" y="1043940"/>
                  </a:lnTo>
                  <a:lnTo>
                    <a:pt x="0" y="1043940"/>
                  </a:lnTo>
                  <a:close/>
                </a:path>
              </a:pathLst>
            </a:custGeom>
            <a:blipFill>
              <a:blip r:embed="rId3">
                <a:alphaModFix amt="0"/>
              </a:blip>
              <a:stretch>
                <a:fillRect l="-13686" t="0" r="-13686" b="0"/>
              </a:stretch>
            </a:blipFill>
          </p:spPr>
        </p:sp>
        <p:sp>
          <p:nvSpPr>
            <p:cNvPr name="TextBox 92" id="92"/>
            <p:cNvSpPr txBox="true"/>
            <p:nvPr/>
          </p:nvSpPr>
          <p:spPr>
            <a:xfrm>
              <a:off x="0" y="-38100"/>
              <a:ext cx="210312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Jyns</a:t>
              </a:r>
            </a:p>
          </p:txBody>
        </p:sp>
      </p:grpSp>
      <p:grpSp>
        <p:nvGrpSpPr>
          <p:cNvPr name="Group 93" id="93"/>
          <p:cNvGrpSpPr/>
          <p:nvPr/>
        </p:nvGrpSpPr>
        <p:grpSpPr>
          <a:xfrm rot="0">
            <a:off x="7680960" y="4183380"/>
            <a:ext cx="1851660" cy="754380"/>
            <a:chOff x="0" y="0"/>
            <a:chExt cx="2468880" cy="1005840"/>
          </a:xfrm>
        </p:grpSpPr>
        <p:sp>
          <p:nvSpPr>
            <p:cNvPr name="Freeform 94" id="94"/>
            <p:cNvSpPr/>
            <p:nvPr/>
          </p:nvSpPr>
          <p:spPr>
            <a:xfrm flipH="false" flipV="false" rot="0">
              <a:off x="0" y="0"/>
              <a:ext cx="2468880" cy="1005840"/>
            </a:xfrm>
            <a:custGeom>
              <a:avLst/>
              <a:gdLst/>
              <a:ahLst/>
              <a:cxnLst/>
              <a:rect r="r" b="b" t="t" l="l"/>
              <a:pathLst>
                <a:path h="1005840" w="2468880">
                  <a:moveTo>
                    <a:pt x="0" y="0"/>
                  </a:moveTo>
                  <a:lnTo>
                    <a:pt x="2468880" y="0"/>
                  </a:lnTo>
                  <a:lnTo>
                    <a:pt x="2468880" y="1005840"/>
                  </a:lnTo>
                  <a:lnTo>
                    <a:pt x="0" y="1005840"/>
                  </a:lnTo>
                  <a:close/>
                </a:path>
              </a:pathLst>
            </a:custGeom>
            <a:blipFill>
              <a:blip r:embed="rId2">
                <a:alphaModFix amt="0"/>
              </a:blip>
              <a:stretch>
                <a:fillRect l="-2308" t="0" r="-2308" b="0"/>
              </a:stretch>
            </a:blipFill>
          </p:spPr>
        </p:sp>
      </p:grpSp>
      <p:grpSp>
        <p:nvGrpSpPr>
          <p:cNvPr name="Group 95" id="95"/>
          <p:cNvGrpSpPr/>
          <p:nvPr/>
        </p:nvGrpSpPr>
        <p:grpSpPr>
          <a:xfrm rot="0">
            <a:off x="7680960" y="4154805"/>
            <a:ext cx="1851660" cy="782955"/>
            <a:chOff x="0" y="0"/>
            <a:chExt cx="2468880" cy="1043940"/>
          </a:xfrm>
        </p:grpSpPr>
        <p:sp>
          <p:nvSpPr>
            <p:cNvPr name="Freeform 96" id="96"/>
            <p:cNvSpPr/>
            <p:nvPr/>
          </p:nvSpPr>
          <p:spPr>
            <a:xfrm flipH="false" flipV="false" rot="0">
              <a:off x="0" y="0"/>
              <a:ext cx="2468880" cy="1043940"/>
            </a:xfrm>
            <a:custGeom>
              <a:avLst/>
              <a:gdLst/>
              <a:ahLst/>
              <a:cxnLst/>
              <a:rect r="r" b="b" t="t" l="l"/>
              <a:pathLst>
                <a:path h="1043940" w="2468880">
                  <a:moveTo>
                    <a:pt x="0" y="0"/>
                  </a:moveTo>
                  <a:lnTo>
                    <a:pt x="2468880" y="0"/>
                  </a:lnTo>
                  <a:lnTo>
                    <a:pt x="2468880" y="1043940"/>
                  </a:lnTo>
                  <a:lnTo>
                    <a:pt x="0" y="1043940"/>
                  </a:lnTo>
                  <a:close/>
                </a:path>
              </a:pathLst>
            </a:custGeom>
            <a:blipFill>
              <a:blip r:embed="rId3">
                <a:alphaModFix amt="0"/>
              </a:blip>
              <a:stretch>
                <a:fillRect l="-4251" t="0" r="-4251" b="0"/>
              </a:stretch>
            </a:blipFill>
          </p:spPr>
        </p:sp>
        <p:sp>
          <p:nvSpPr>
            <p:cNvPr name="TextBox 97" id="97"/>
            <p:cNvSpPr txBox="true"/>
            <p:nvPr/>
          </p:nvSpPr>
          <p:spPr>
            <a:xfrm>
              <a:off x="0" y="-38100"/>
              <a:ext cx="246888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RF-03, RF-04</a:t>
              </a:r>
            </a:p>
          </p:txBody>
        </p:sp>
      </p:grpSp>
      <p:grpSp>
        <p:nvGrpSpPr>
          <p:cNvPr name="Group 98" id="98"/>
          <p:cNvGrpSpPr/>
          <p:nvPr/>
        </p:nvGrpSpPr>
        <p:grpSpPr>
          <a:xfrm rot="0">
            <a:off x="9738360" y="4183380"/>
            <a:ext cx="7338060" cy="754380"/>
            <a:chOff x="0" y="0"/>
            <a:chExt cx="9784080" cy="1005840"/>
          </a:xfrm>
        </p:grpSpPr>
        <p:sp>
          <p:nvSpPr>
            <p:cNvPr name="Freeform 99" id="99"/>
            <p:cNvSpPr/>
            <p:nvPr/>
          </p:nvSpPr>
          <p:spPr>
            <a:xfrm flipH="false" flipV="false" rot="0">
              <a:off x="0" y="0"/>
              <a:ext cx="9784080" cy="1005840"/>
            </a:xfrm>
            <a:custGeom>
              <a:avLst/>
              <a:gdLst/>
              <a:ahLst/>
              <a:cxnLst/>
              <a:rect r="r" b="b" t="t" l="l"/>
              <a:pathLst>
                <a:path h="1005840" w="9784080">
                  <a:moveTo>
                    <a:pt x="0" y="0"/>
                  </a:moveTo>
                  <a:lnTo>
                    <a:pt x="9784080" y="0"/>
                  </a:lnTo>
                  <a:lnTo>
                    <a:pt x="9784080" y="1005840"/>
                  </a:lnTo>
                  <a:lnTo>
                    <a:pt x="0" y="1005840"/>
                  </a:lnTo>
                  <a:close/>
                </a:path>
              </a:pathLst>
            </a:custGeom>
            <a:blipFill>
              <a:blip r:embed="rId2">
                <a:alphaModFix amt="0"/>
              </a:blip>
              <a:stretch>
                <a:fillRect l="0" t="-139404" r="0" b="-139405"/>
              </a:stretch>
            </a:blipFill>
          </p:spPr>
        </p:sp>
      </p:grpSp>
      <p:grpSp>
        <p:nvGrpSpPr>
          <p:cNvPr name="Group 100" id="100"/>
          <p:cNvGrpSpPr/>
          <p:nvPr/>
        </p:nvGrpSpPr>
        <p:grpSpPr>
          <a:xfrm rot="0">
            <a:off x="9738360" y="4154805"/>
            <a:ext cx="7338060" cy="782955"/>
            <a:chOff x="0" y="0"/>
            <a:chExt cx="9784080" cy="1043940"/>
          </a:xfrm>
        </p:grpSpPr>
        <p:sp>
          <p:nvSpPr>
            <p:cNvPr name="Freeform 101" id="101"/>
            <p:cNvSpPr/>
            <p:nvPr/>
          </p:nvSpPr>
          <p:spPr>
            <a:xfrm flipH="false" flipV="false" rot="0">
              <a:off x="0" y="0"/>
              <a:ext cx="9784080" cy="1043940"/>
            </a:xfrm>
            <a:custGeom>
              <a:avLst/>
              <a:gdLst/>
              <a:ahLst/>
              <a:cxnLst/>
              <a:rect r="r" b="b" t="t" l="l"/>
              <a:pathLst>
                <a:path h="1043940" w="9784080">
                  <a:moveTo>
                    <a:pt x="0" y="0"/>
                  </a:moveTo>
                  <a:lnTo>
                    <a:pt x="9784080" y="0"/>
                  </a:lnTo>
                  <a:lnTo>
                    <a:pt x="9784080" y="1043940"/>
                  </a:lnTo>
                  <a:lnTo>
                    <a:pt x="0" y="1043940"/>
                  </a:lnTo>
                  <a:close/>
                </a:path>
              </a:pathLst>
            </a:custGeom>
            <a:blipFill>
              <a:blip r:embed="rId3">
                <a:alphaModFix amt="0"/>
              </a:blip>
              <a:stretch>
                <a:fillRect l="0" t="-132618" r="0" b="-132618"/>
              </a:stretch>
            </a:blipFill>
          </p:spPr>
        </p:sp>
        <p:sp>
          <p:nvSpPr>
            <p:cNvPr name="TextBox 102" id="102"/>
            <p:cNvSpPr txBox="true"/>
            <p:nvPr/>
          </p:nvSpPr>
          <p:spPr>
            <a:xfrm>
              <a:off x="0" y="-38100"/>
              <a:ext cx="978408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Modelo de regresión para predicted_price_soles, evaluado con MAE vs. baseline.</a:t>
              </a:r>
            </a:p>
          </p:txBody>
        </p:sp>
      </p:grpSp>
      <p:grpSp>
        <p:nvGrpSpPr>
          <p:cNvPr name="Group 103" id="103"/>
          <p:cNvGrpSpPr/>
          <p:nvPr/>
        </p:nvGrpSpPr>
        <p:grpSpPr>
          <a:xfrm rot="0">
            <a:off x="960120" y="4937760"/>
            <a:ext cx="4732020" cy="754380"/>
            <a:chOff x="0" y="0"/>
            <a:chExt cx="6309360" cy="1005840"/>
          </a:xfrm>
        </p:grpSpPr>
        <p:sp>
          <p:nvSpPr>
            <p:cNvPr name="Freeform 104" id="104"/>
            <p:cNvSpPr/>
            <p:nvPr/>
          </p:nvSpPr>
          <p:spPr>
            <a:xfrm flipH="false" flipV="false" rot="0">
              <a:off x="0" y="0"/>
              <a:ext cx="6309360" cy="1005840"/>
            </a:xfrm>
            <a:custGeom>
              <a:avLst/>
              <a:gdLst/>
              <a:ahLst/>
              <a:cxnLst/>
              <a:rect r="r" b="b" t="t" l="l"/>
              <a:pathLst>
                <a:path h="1005840" w="6309360">
                  <a:moveTo>
                    <a:pt x="0" y="0"/>
                  </a:moveTo>
                  <a:lnTo>
                    <a:pt x="6309360" y="0"/>
                  </a:lnTo>
                  <a:lnTo>
                    <a:pt x="6309360" y="1005840"/>
                  </a:lnTo>
                  <a:lnTo>
                    <a:pt x="0" y="1005840"/>
                  </a:lnTo>
                  <a:close/>
                </a:path>
              </a:pathLst>
            </a:custGeom>
            <a:blipFill>
              <a:blip r:embed="rId2">
                <a:alphaModFix amt="0"/>
              </a:blip>
              <a:stretch>
                <a:fillRect l="0" t="-72138" r="0" b="-72140"/>
              </a:stretch>
            </a:blipFill>
          </p:spPr>
        </p:sp>
      </p:grpSp>
      <p:grpSp>
        <p:nvGrpSpPr>
          <p:cNvPr name="Group 105" id="105"/>
          <p:cNvGrpSpPr/>
          <p:nvPr/>
        </p:nvGrpSpPr>
        <p:grpSpPr>
          <a:xfrm rot="0">
            <a:off x="960120" y="4909185"/>
            <a:ext cx="4732020" cy="782955"/>
            <a:chOff x="0" y="0"/>
            <a:chExt cx="6309360" cy="1043940"/>
          </a:xfrm>
        </p:grpSpPr>
        <p:sp>
          <p:nvSpPr>
            <p:cNvPr name="Freeform 106" id="106"/>
            <p:cNvSpPr/>
            <p:nvPr/>
          </p:nvSpPr>
          <p:spPr>
            <a:xfrm flipH="false" flipV="false" rot="0">
              <a:off x="0" y="0"/>
              <a:ext cx="6309360" cy="1043940"/>
            </a:xfrm>
            <a:custGeom>
              <a:avLst/>
              <a:gdLst/>
              <a:ahLst/>
              <a:cxnLst/>
              <a:rect r="r" b="b" t="t" l="l"/>
              <a:pathLst>
                <a:path h="1043940" w="6309360">
                  <a:moveTo>
                    <a:pt x="0" y="0"/>
                  </a:moveTo>
                  <a:lnTo>
                    <a:pt x="6309360" y="0"/>
                  </a:lnTo>
                  <a:lnTo>
                    <a:pt x="6309360" y="1043940"/>
                  </a:lnTo>
                  <a:lnTo>
                    <a:pt x="0" y="1043940"/>
                  </a:lnTo>
                  <a:close/>
                </a:path>
              </a:pathLst>
            </a:custGeom>
            <a:blipFill>
              <a:blip r:embed="rId3">
                <a:alphaModFix amt="0"/>
              </a:blip>
              <a:stretch>
                <a:fillRect l="0" t="-67763" r="0" b="-67763"/>
              </a:stretch>
            </a:blipFill>
          </p:spPr>
        </p:sp>
        <p:sp>
          <p:nvSpPr>
            <p:cNvPr name="TextBox 107" id="107"/>
            <p:cNvSpPr txBox="true"/>
            <p:nvPr/>
          </p:nvSpPr>
          <p:spPr>
            <a:xfrm>
              <a:off x="0" y="-38100"/>
              <a:ext cx="630936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Entrenamiento del modelo de visión</a:t>
              </a:r>
            </a:p>
          </p:txBody>
        </p:sp>
      </p:grpSp>
      <p:grpSp>
        <p:nvGrpSpPr>
          <p:cNvPr name="Group 108" id="108"/>
          <p:cNvGrpSpPr/>
          <p:nvPr/>
        </p:nvGrpSpPr>
        <p:grpSpPr>
          <a:xfrm rot="0">
            <a:off x="5897880" y="4937760"/>
            <a:ext cx="1577340" cy="754380"/>
            <a:chOff x="0" y="0"/>
            <a:chExt cx="2103120" cy="1005840"/>
          </a:xfrm>
        </p:grpSpPr>
        <p:sp>
          <p:nvSpPr>
            <p:cNvPr name="Freeform 109" id="109"/>
            <p:cNvSpPr/>
            <p:nvPr/>
          </p:nvSpPr>
          <p:spPr>
            <a:xfrm flipH="false" flipV="false" rot="0">
              <a:off x="0" y="0"/>
              <a:ext cx="2103120" cy="1005840"/>
            </a:xfrm>
            <a:custGeom>
              <a:avLst/>
              <a:gdLst/>
              <a:ahLst/>
              <a:cxnLst/>
              <a:rect r="r" b="b" t="t" l="l"/>
              <a:pathLst>
                <a:path h="1005840" w="2103120">
                  <a:moveTo>
                    <a:pt x="0" y="0"/>
                  </a:moveTo>
                  <a:lnTo>
                    <a:pt x="2103120" y="0"/>
                  </a:lnTo>
                  <a:lnTo>
                    <a:pt x="2103120" y="1005840"/>
                  </a:lnTo>
                  <a:lnTo>
                    <a:pt x="0" y="1005840"/>
                  </a:lnTo>
                  <a:close/>
                </a:path>
              </a:pathLst>
            </a:custGeom>
            <a:blipFill>
              <a:blip r:embed="rId2">
                <a:alphaModFix amt="0"/>
              </a:blip>
              <a:stretch>
                <a:fillRect l="-11405" t="0" r="-11405" b="0"/>
              </a:stretch>
            </a:blipFill>
          </p:spPr>
        </p:sp>
      </p:grpSp>
      <p:grpSp>
        <p:nvGrpSpPr>
          <p:cNvPr name="Group 110" id="110"/>
          <p:cNvGrpSpPr/>
          <p:nvPr/>
        </p:nvGrpSpPr>
        <p:grpSpPr>
          <a:xfrm rot="0">
            <a:off x="5897880" y="4909185"/>
            <a:ext cx="1577340" cy="782955"/>
            <a:chOff x="0" y="0"/>
            <a:chExt cx="2103120" cy="1043940"/>
          </a:xfrm>
        </p:grpSpPr>
        <p:sp>
          <p:nvSpPr>
            <p:cNvPr name="Freeform 111" id="111"/>
            <p:cNvSpPr/>
            <p:nvPr/>
          </p:nvSpPr>
          <p:spPr>
            <a:xfrm flipH="false" flipV="false" rot="0">
              <a:off x="0" y="0"/>
              <a:ext cx="2103120" cy="1043940"/>
            </a:xfrm>
            <a:custGeom>
              <a:avLst/>
              <a:gdLst/>
              <a:ahLst/>
              <a:cxnLst/>
              <a:rect r="r" b="b" t="t" l="l"/>
              <a:pathLst>
                <a:path h="1043940" w="2103120">
                  <a:moveTo>
                    <a:pt x="0" y="0"/>
                  </a:moveTo>
                  <a:lnTo>
                    <a:pt x="2103120" y="0"/>
                  </a:lnTo>
                  <a:lnTo>
                    <a:pt x="2103120" y="1043940"/>
                  </a:lnTo>
                  <a:lnTo>
                    <a:pt x="0" y="1043940"/>
                  </a:lnTo>
                  <a:close/>
                </a:path>
              </a:pathLst>
            </a:custGeom>
            <a:blipFill>
              <a:blip r:embed="rId3">
                <a:alphaModFix amt="0"/>
              </a:blip>
              <a:stretch>
                <a:fillRect l="-13686" t="0" r="-13686" b="0"/>
              </a:stretch>
            </a:blipFill>
          </p:spPr>
        </p:sp>
        <p:sp>
          <p:nvSpPr>
            <p:cNvPr name="TextBox 112" id="112"/>
            <p:cNvSpPr txBox="true"/>
            <p:nvPr/>
          </p:nvSpPr>
          <p:spPr>
            <a:xfrm>
              <a:off x="0" y="-38100"/>
              <a:ext cx="210312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Jyns</a:t>
              </a:r>
            </a:p>
          </p:txBody>
        </p:sp>
      </p:grpSp>
      <p:grpSp>
        <p:nvGrpSpPr>
          <p:cNvPr name="Group 113" id="113"/>
          <p:cNvGrpSpPr/>
          <p:nvPr/>
        </p:nvGrpSpPr>
        <p:grpSpPr>
          <a:xfrm rot="0">
            <a:off x="7680960" y="4937760"/>
            <a:ext cx="1851660" cy="754380"/>
            <a:chOff x="0" y="0"/>
            <a:chExt cx="2468880" cy="1005840"/>
          </a:xfrm>
        </p:grpSpPr>
        <p:sp>
          <p:nvSpPr>
            <p:cNvPr name="Freeform 114" id="114"/>
            <p:cNvSpPr/>
            <p:nvPr/>
          </p:nvSpPr>
          <p:spPr>
            <a:xfrm flipH="false" flipV="false" rot="0">
              <a:off x="0" y="0"/>
              <a:ext cx="2468880" cy="1005840"/>
            </a:xfrm>
            <a:custGeom>
              <a:avLst/>
              <a:gdLst/>
              <a:ahLst/>
              <a:cxnLst/>
              <a:rect r="r" b="b" t="t" l="l"/>
              <a:pathLst>
                <a:path h="1005840" w="2468880">
                  <a:moveTo>
                    <a:pt x="0" y="0"/>
                  </a:moveTo>
                  <a:lnTo>
                    <a:pt x="2468880" y="0"/>
                  </a:lnTo>
                  <a:lnTo>
                    <a:pt x="2468880" y="1005840"/>
                  </a:lnTo>
                  <a:lnTo>
                    <a:pt x="0" y="1005840"/>
                  </a:lnTo>
                  <a:close/>
                </a:path>
              </a:pathLst>
            </a:custGeom>
            <a:blipFill>
              <a:blip r:embed="rId2">
                <a:alphaModFix amt="0"/>
              </a:blip>
              <a:stretch>
                <a:fillRect l="-2308" t="0" r="-2308" b="0"/>
              </a:stretch>
            </a:blipFill>
          </p:spPr>
        </p:sp>
      </p:grpSp>
      <p:grpSp>
        <p:nvGrpSpPr>
          <p:cNvPr name="Group 115" id="115"/>
          <p:cNvGrpSpPr/>
          <p:nvPr/>
        </p:nvGrpSpPr>
        <p:grpSpPr>
          <a:xfrm rot="0">
            <a:off x="7680960" y="4909185"/>
            <a:ext cx="1851660" cy="782955"/>
            <a:chOff x="0" y="0"/>
            <a:chExt cx="2468880" cy="1043940"/>
          </a:xfrm>
        </p:grpSpPr>
        <p:sp>
          <p:nvSpPr>
            <p:cNvPr name="Freeform 116" id="116"/>
            <p:cNvSpPr/>
            <p:nvPr/>
          </p:nvSpPr>
          <p:spPr>
            <a:xfrm flipH="false" flipV="false" rot="0">
              <a:off x="0" y="0"/>
              <a:ext cx="2468880" cy="1043940"/>
            </a:xfrm>
            <a:custGeom>
              <a:avLst/>
              <a:gdLst/>
              <a:ahLst/>
              <a:cxnLst/>
              <a:rect r="r" b="b" t="t" l="l"/>
              <a:pathLst>
                <a:path h="1043940" w="2468880">
                  <a:moveTo>
                    <a:pt x="0" y="0"/>
                  </a:moveTo>
                  <a:lnTo>
                    <a:pt x="2468880" y="0"/>
                  </a:lnTo>
                  <a:lnTo>
                    <a:pt x="2468880" y="1043940"/>
                  </a:lnTo>
                  <a:lnTo>
                    <a:pt x="0" y="1043940"/>
                  </a:lnTo>
                  <a:close/>
                </a:path>
              </a:pathLst>
            </a:custGeom>
            <a:blipFill>
              <a:blip r:embed="rId3">
                <a:alphaModFix amt="0"/>
              </a:blip>
              <a:stretch>
                <a:fillRect l="-4251" t="0" r="-4251" b="0"/>
              </a:stretch>
            </a:blipFill>
          </p:spPr>
        </p:sp>
        <p:sp>
          <p:nvSpPr>
            <p:cNvPr name="TextBox 117" id="117"/>
            <p:cNvSpPr txBox="true"/>
            <p:nvPr/>
          </p:nvSpPr>
          <p:spPr>
            <a:xfrm>
              <a:off x="0" y="-38100"/>
              <a:ext cx="246888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RF-05</a:t>
              </a:r>
            </a:p>
          </p:txBody>
        </p:sp>
      </p:grpSp>
      <p:grpSp>
        <p:nvGrpSpPr>
          <p:cNvPr name="Group 118" id="118"/>
          <p:cNvGrpSpPr/>
          <p:nvPr/>
        </p:nvGrpSpPr>
        <p:grpSpPr>
          <a:xfrm rot="0">
            <a:off x="9738360" y="4937760"/>
            <a:ext cx="7338060" cy="754380"/>
            <a:chOff x="0" y="0"/>
            <a:chExt cx="9784080" cy="1005840"/>
          </a:xfrm>
        </p:grpSpPr>
        <p:sp>
          <p:nvSpPr>
            <p:cNvPr name="Freeform 119" id="119"/>
            <p:cNvSpPr/>
            <p:nvPr/>
          </p:nvSpPr>
          <p:spPr>
            <a:xfrm flipH="false" flipV="false" rot="0">
              <a:off x="0" y="0"/>
              <a:ext cx="9784080" cy="1005840"/>
            </a:xfrm>
            <a:custGeom>
              <a:avLst/>
              <a:gdLst/>
              <a:ahLst/>
              <a:cxnLst/>
              <a:rect r="r" b="b" t="t" l="l"/>
              <a:pathLst>
                <a:path h="1005840" w="9784080">
                  <a:moveTo>
                    <a:pt x="0" y="0"/>
                  </a:moveTo>
                  <a:lnTo>
                    <a:pt x="9784080" y="0"/>
                  </a:lnTo>
                  <a:lnTo>
                    <a:pt x="9784080" y="1005840"/>
                  </a:lnTo>
                  <a:lnTo>
                    <a:pt x="0" y="1005840"/>
                  </a:lnTo>
                  <a:close/>
                </a:path>
              </a:pathLst>
            </a:custGeom>
            <a:blipFill>
              <a:blip r:embed="rId2">
                <a:alphaModFix amt="0"/>
              </a:blip>
              <a:stretch>
                <a:fillRect l="0" t="-139404" r="0" b="-139405"/>
              </a:stretch>
            </a:blipFill>
          </p:spPr>
        </p:sp>
      </p:grpSp>
      <p:grpSp>
        <p:nvGrpSpPr>
          <p:cNvPr name="Group 120" id="120"/>
          <p:cNvGrpSpPr/>
          <p:nvPr/>
        </p:nvGrpSpPr>
        <p:grpSpPr>
          <a:xfrm rot="0">
            <a:off x="9738360" y="4909185"/>
            <a:ext cx="7338060" cy="782955"/>
            <a:chOff x="0" y="0"/>
            <a:chExt cx="9784080" cy="1043940"/>
          </a:xfrm>
        </p:grpSpPr>
        <p:sp>
          <p:nvSpPr>
            <p:cNvPr name="Freeform 121" id="121"/>
            <p:cNvSpPr/>
            <p:nvPr/>
          </p:nvSpPr>
          <p:spPr>
            <a:xfrm flipH="false" flipV="false" rot="0">
              <a:off x="0" y="0"/>
              <a:ext cx="9784080" cy="1043940"/>
            </a:xfrm>
            <a:custGeom>
              <a:avLst/>
              <a:gdLst/>
              <a:ahLst/>
              <a:cxnLst/>
              <a:rect r="r" b="b" t="t" l="l"/>
              <a:pathLst>
                <a:path h="1043940" w="9784080">
                  <a:moveTo>
                    <a:pt x="0" y="0"/>
                  </a:moveTo>
                  <a:lnTo>
                    <a:pt x="9784080" y="0"/>
                  </a:lnTo>
                  <a:lnTo>
                    <a:pt x="9784080" y="1043940"/>
                  </a:lnTo>
                  <a:lnTo>
                    <a:pt x="0" y="1043940"/>
                  </a:lnTo>
                  <a:close/>
                </a:path>
              </a:pathLst>
            </a:custGeom>
            <a:blipFill>
              <a:blip r:embed="rId3">
                <a:alphaModFix amt="0"/>
              </a:blip>
              <a:stretch>
                <a:fillRect l="0" t="-132618" r="0" b="-132618"/>
              </a:stretch>
            </a:blipFill>
          </p:spPr>
        </p:sp>
        <p:sp>
          <p:nvSpPr>
            <p:cNvPr name="TextBox 122" id="122"/>
            <p:cNvSpPr txBox="true"/>
            <p:nvPr/>
          </p:nvSpPr>
          <p:spPr>
            <a:xfrm>
              <a:off x="0" y="-38100"/>
              <a:ext cx="978408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CNN (transfer learning) sobre imágenes de zona para visual_quality_score.</a:t>
              </a:r>
            </a:p>
          </p:txBody>
        </p:sp>
      </p:grpSp>
      <p:grpSp>
        <p:nvGrpSpPr>
          <p:cNvPr name="Group 123" id="123"/>
          <p:cNvGrpSpPr/>
          <p:nvPr/>
        </p:nvGrpSpPr>
        <p:grpSpPr>
          <a:xfrm rot="0">
            <a:off x="822960" y="5692140"/>
            <a:ext cx="16596360" cy="754380"/>
            <a:chOff x="0" y="0"/>
            <a:chExt cx="22128480" cy="1005840"/>
          </a:xfrm>
        </p:grpSpPr>
        <p:sp>
          <p:nvSpPr>
            <p:cNvPr name="Freeform 124" id="124"/>
            <p:cNvSpPr/>
            <p:nvPr/>
          </p:nvSpPr>
          <p:spPr>
            <a:xfrm flipH="false" flipV="false" rot="0">
              <a:off x="0" y="0"/>
              <a:ext cx="22128480" cy="1005840"/>
            </a:xfrm>
            <a:custGeom>
              <a:avLst/>
              <a:gdLst/>
              <a:ahLst/>
              <a:cxnLst/>
              <a:rect r="r" b="b" t="t" l="l"/>
              <a:pathLst>
                <a:path h="1005840" w="22128480">
                  <a:moveTo>
                    <a:pt x="0" y="0"/>
                  </a:moveTo>
                  <a:lnTo>
                    <a:pt x="22128480" y="0"/>
                  </a:lnTo>
                  <a:lnTo>
                    <a:pt x="22128480" y="1005840"/>
                  </a:lnTo>
                  <a:lnTo>
                    <a:pt x="0" y="1005840"/>
                  </a:lnTo>
                  <a:close/>
                </a:path>
              </a:pathLst>
            </a:custGeom>
            <a:solidFill>
              <a:srgbClr val="E5E9F5"/>
            </a:solidFill>
          </p:spPr>
        </p:sp>
      </p:grpSp>
      <p:grpSp>
        <p:nvGrpSpPr>
          <p:cNvPr name="Group 125" id="125"/>
          <p:cNvGrpSpPr/>
          <p:nvPr/>
        </p:nvGrpSpPr>
        <p:grpSpPr>
          <a:xfrm rot="0">
            <a:off x="960120" y="5692140"/>
            <a:ext cx="4732020" cy="754380"/>
            <a:chOff x="0" y="0"/>
            <a:chExt cx="6309360" cy="1005840"/>
          </a:xfrm>
        </p:grpSpPr>
        <p:sp>
          <p:nvSpPr>
            <p:cNvPr name="Freeform 126" id="126"/>
            <p:cNvSpPr/>
            <p:nvPr/>
          </p:nvSpPr>
          <p:spPr>
            <a:xfrm flipH="false" flipV="false" rot="0">
              <a:off x="0" y="0"/>
              <a:ext cx="6309360" cy="1005840"/>
            </a:xfrm>
            <a:custGeom>
              <a:avLst/>
              <a:gdLst/>
              <a:ahLst/>
              <a:cxnLst/>
              <a:rect r="r" b="b" t="t" l="l"/>
              <a:pathLst>
                <a:path h="1005840" w="6309360">
                  <a:moveTo>
                    <a:pt x="0" y="0"/>
                  </a:moveTo>
                  <a:lnTo>
                    <a:pt x="6309360" y="0"/>
                  </a:lnTo>
                  <a:lnTo>
                    <a:pt x="6309360" y="1005840"/>
                  </a:lnTo>
                  <a:lnTo>
                    <a:pt x="0" y="1005840"/>
                  </a:lnTo>
                  <a:close/>
                </a:path>
              </a:pathLst>
            </a:custGeom>
            <a:blipFill>
              <a:blip r:embed="rId2">
                <a:alphaModFix amt="0"/>
              </a:blip>
              <a:stretch>
                <a:fillRect l="0" t="-72138" r="0" b="-72140"/>
              </a:stretch>
            </a:blipFill>
          </p:spPr>
        </p:sp>
      </p:grpSp>
      <p:grpSp>
        <p:nvGrpSpPr>
          <p:cNvPr name="Group 127" id="127"/>
          <p:cNvGrpSpPr/>
          <p:nvPr/>
        </p:nvGrpSpPr>
        <p:grpSpPr>
          <a:xfrm rot="0">
            <a:off x="960120" y="5663565"/>
            <a:ext cx="4732020" cy="782955"/>
            <a:chOff x="0" y="0"/>
            <a:chExt cx="6309360" cy="1043940"/>
          </a:xfrm>
        </p:grpSpPr>
        <p:sp>
          <p:nvSpPr>
            <p:cNvPr name="Freeform 128" id="128"/>
            <p:cNvSpPr/>
            <p:nvPr/>
          </p:nvSpPr>
          <p:spPr>
            <a:xfrm flipH="false" flipV="false" rot="0">
              <a:off x="0" y="0"/>
              <a:ext cx="6309360" cy="1043940"/>
            </a:xfrm>
            <a:custGeom>
              <a:avLst/>
              <a:gdLst/>
              <a:ahLst/>
              <a:cxnLst/>
              <a:rect r="r" b="b" t="t" l="l"/>
              <a:pathLst>
                <a:path h="1043940" w="6309360">
                  <a:moveTo>
                    <a:pt x="0" y="0"/>
                  </a:moveTo>
                  <a:lnTo>
                    <a:pt x="6309360" y="0"/>
                  </a:lnTo>
                  <a:lnTo>
                    <a:pt x="6309360" y="1043940"/>
                  </a:lnTo>
                  <a:lnTo>
                    <a:pt x="0" y="1043940"/>
                  </a:lnTo>
                  <a:close/>
                </a:path>
              </a:pathLst>
            </a:custGeom>
            <a:blipFill>
              <a:blip r:embed="rId3">
                <a:alphaModFix amt="0"/>
              </a:blip>
              <a:stretch>
                <a:fillRect l="0" t="-67763" r="0" b="-67763"/>
              </a:stretch>
            </a:blipFill>
          </p:spPr>
        </p:sp>
        <p:sp>
          <p:nvSpPr>
            <p:cNvPr name="TextBox 129" id="129"/>
            <p:cNvSpPr txBox="true"/>
            <p:nvPr/>
          </p:nvSpPr>
          <p:spPr>
            <a:xfrm>
              <a:off x="0" y="-38100"/>
              <a:ext cx="630936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Diseño del índice compuesto de zona</a:t>
              </a:r>
            </a:p>
          </p:txBody>
        </p:sp>
      </p:grpSp>
      <p:grpSp>
        <p:nvGrpSpPr>
          <p:cNvPr name="Group 130" id="130"/>
          <p:cNvGrpSpPr/>
          <p:nvPr/>
        </p:nvGrpSpPr>
        <p:grpSpPr>
          <a:xfrm rot="0">
            <a:off x="5897880" y="5692140"/>
            <a:ext cx="1577340" cy="754380"/>
            <a:chOff x="0" y="0"/>
            <a:chExt cx="2103120" cy="1005840"/>
          </a:xfrm>
        </p:grpSpPr>
        <p:sp>
          <p:nvSpPr>
            <p:cNvPr name="Freeform 131" id="131"/>
            <p:cNvSpPr/>
            <p:nvPr/>
          </p:nvSpPr>
          <p:spPr>
            <a:xfrm flipH="false" flipV="false" rot="0">
              <a:off x="0" y="0"/>
              <a:ext cx="2103120" cy="1005840"/>
            </a:xfrm>
            <a:custGeom>
              <a:avLst/>
              <a:gdLst/>
              <a:ahLst/>
              <a:cxnLst/>
              <a:rect r="r" b="b" t="t" l="l"/>
              <a:pathLst>
                <a:path h="1005840" w="2103120">
                  <a:moveTo>
                    <a:pt x="0" y="0"/>
                  </a:moveTo>
                  <a:lnTo>
                    <a:pt x="2103120" y="0"/>
                  </a:lnTo>
                  <a:lnTo>
                    <a:pt x="2103120" y="1005840"/>
                  </a:lnTo>
                  <a:lnTo>
                    <a:pt x="0" y="1005840"/>
                  </a:lnTo>
                  <a:close/>
                </a:path>
              </a:pathLst>
            </a:custGeom>
            <a:blipFill>
              <a:blip r:embed="rId2">
                <a:alphaModFix amt="0"/>
              </a:blip>
              <a:stretch>
                <a:fillRect l="-11405" t="0" r="-11405" b="0"/>
              </a:stretch>
            </a:blipFill>
          </p:spPr>
        </p:sp>
      </p:grpSp>
      <p:grpSp>
        <p:nvGrpSpPr>
          <p:cNvPr name="Group 132" id="132"/>
          <p:cNvGrpSpPr/>
          <p:nvPr/>
        </p:nvGrpSpPr>
        <p:grpSpPr>
          <a:xfrm rot="0">
            <a:off x="5897880" y="5663565"/>
            <a:ext cx="1577340" cy="782955"/>
            <a:chOff x="0" y="0"/>
            <a:chExt cx="2103120" cy="1043940"/>
          </a:xfrm>
        </p:grpSpPr>
        <p:sp>
          <p:nvSpPr>
            <p:cNvPr name="Freeform 133" id="133"/>
            <p:cNvSpPr/>
            <p:nvPr/>
          </p:nvSpPr>
          <p:spPr>
            <a:xfrm flipH="false" flipV="false" rot="0">
              <a:off x="0" y="0"/>
              <a:ext cx="2103120" cy="1043940"/>
            </a:xfrm>
            <a:custGeom>
              <a:avLst/>
              <a:gdLst/>
              <a:ahLst/>
              <a:cxnLst/>
              <a:rect r="r" b="b" t="t" l="l"/>
              <a:pathLst>
                <a:path h="1043940" w="2103120">
                  <a:moveTo>
                    <a:pt x="0" y="0"/>
                  </a:moveTo>
                  <a:lnTo>
                    <a:pt x="2103120" y="0"/>
                  </a:lnTo>
                  <a:lnTo>
                    <a:pt x="2103120" y="1043940"/>
                  </a:lnTo>
                  <a:lnTo>
                    <a:pt x="0" y="1043940"/>
                  </a:lnTo>
                  <a:close/>
                </a:path>
              </a:pathLst>
            </a:custGeom>
            <a:blipFill>
              <a:blip r:embed="rId3">
                <a:alphaModFix amt="0"/>
              </a:blip>
              <a:stretch>
                <a:fillRect l="-13686" t="0" r="-13686" b="0"/>
              </a:stretch>
            </a:blipFill>
          </p:spPr>
        </p:sp>
        <p:sp>
          <p:nvSpPr>
            <p:cNvPr name="TextBox 134" id="134"/>
            <p:cNvSpPr txBox="true"/>
            <p:nvPr/>
          </p:nvSpPr>
          <p:spPr>
            <a:xfrm>
              <a:off x="0" y="-38100"/>
              <a:ext cx="210312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Jyns / Lisseth</a:t>
              </a:r>
            </a:p>
          </p:txBody>
        </p:sp>
      </p:grpSp>
      <p:grpSp>
        <p:nvGrpSpPr>
          <p:cNvPr name="Group 135" id="135"/>
          <p:cNvGrpSpPr/>
          <p:nvPr/>
        </p:nvGrpSpPr>
        <p:grpSpPr>
          <a:xfrm rot="0">
            <a:off x="7680960" y="5692140"/>
            <a:ext cx="1851660" cy="754380"/>
            <a:chOff x="0" y="0"/>
            <a:chExt cx="2468880" cy="1005840"/>
          </a:xfrm>
        </p:grpSpPr>
        <p:sp>
          <p:nvSpPr>
            <p:cNvPr name="Freeform 136" id="136"/>
            <p:cNvSpPr/>
            <p:nvPr/>
          </p:nvSpPr>
          <p:spPr>
            <a:xfrm flipH="false" flipV="false" rot="0">
              <a:off x="0" y="0"/>
              <a:ext cx="2468880" cy="1005840"/>
            </a:xfrm>
            <a:custGeom>
              <a:avLst/>
              <a:gdLst/>
              <a:ahLst/>
              <a:cxnLst/>
              <a:rect r="r" b="b" t="t" l="l"/>
              <a:pathLst>
                <a:path h="1005840" w="2468880">
                  <a:moveTo>
                    <a:pt x="0" y="0"/>
                  </a:moveTo>
                  <a:lnTo>
                    <a:pt x="2468880" y="0"/>
                  </a:lnTo>
                  <a:lnTo>
                    <a:pt x="2468880" y="1005840"/>
                  </a:lnTo>
                  <a:lnTo>
                    <a:pt x="0" y="1005840"/>
                  </a:lnTo>
                  <a:close/>
                </a:path>
              </a:pathLst>
            </a:custGeom>
            <a:blipFill>
              <a:blip r:embed="rId2">
                <a:alphaModFix amt="0"/>
              </a:blip>
              <a:stretch>
                <a:fillRect l="-2308" t="0" r="-2308" b="0"/>
              </a:stretch>
            </a:blipFill>
          </p:spPr>
        </p:sp>
      </p:grpSp>
      <p:grpSp>
        <p:nvGrpSpPr>
          <p:cNvPr name="Group 137" id="137"/>
          <p:cNvGrpSpPr/>
          <p:nvPr/>
        </p:nvGrpSpPr>
        <p:grpSpPr>
          <a:xfrm rot="0">
            <a:off x="7680960" y="5663565"/>
            <a:ext cx="1851660" cy="782955"/>
            <a:chOff x="0" y="0"/>
            <a:chExt cx="2468880" cy="1043940"/>
          </a:xfrm>
        </p:grpSpPr>
        <p:sp>
          <p:nvSpPr>
            <p:cNvPr name="Freeform 138" id="138"/>
            <p:cNvSpPr/>
            <p:nvPr/>
          </p:nvSpPr>
          <p:spPr>
            <a:xfrm flipH="false" flipV="false" rot="0">
              <a:off x="0" y="0"/>
              <a:ext cx="2468880" cy="1043940"/>
            </a:xfrm>
            <a:custGeom>
              <a:avLst/>
              <a:gdLst/>
              <a:ahLst/>
              <a:cxnLst/>
              <a:rect r="r" b="b" t="t" l="l"/>
              <a:pathLst>
                <a:path h="1043940" w="2468880">
                  <a:moveTo>
                    <a:pt x="0" y="0"/>
                  </a:moveTo>
                  <a:lnTo>
                    <a:pt x="2468880" y="0"/>
                  </a:lnTo>
                  <a:lnTo>
                    <a:pt x="2468880" y="1043940"/>
                  </a:lnTo>
                  <a:lnTo>
                    <a:pt x="0" y="1043940"/>
                  </a:lnTo>
                  <a:close/>
                </a:path>
              </a:pathLst>
            </a:custGeom>
            <a:blipFill>
              <a:blip r:embed="rId3">
                <a:alphaModFix amt="0"/>
              </a:blip>
              <a:stretch>
                <a:fillRect l="-4251" t="0" r="-4251" b="0"/>
              </a:stretch>
            </a:blipFill>
          </p:spPr>
        </p:sp>
        <p:sp>
          <p:nvSpPr>
            <p:cNvPr name="TextBox 139" id="139"/>
            <p:cNvSpPr txBox="true"/>
            <p:nvPr/>
          </p:nvSpPr>
          <p:spPr>
            <a:xfrm>
              <a:off x="0" y="-38100"/>
              <a:ext cx="246888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RF-06</a:t>
              </a:r>
            </a:p>
          </p:txBody>
        </p:sp>
      </p:grpSp>
      <p:grpSp>
        <p:nvGrpSpPr>
          <p:cNvPr name="Group 140" id="140"/>
          <p:cNvGrpSpPr/>
          <p:nvPr/>
        </p:nvGrpSpPr>
        <p:grpSpPr>
          <a:xfrm rot="0">
            <a:off x="9738360" y="5692140"/>
            <a:ext cx="7338060" cy="754380"/>
            <a:chOff x="0" y="0"/>
            <a:chExt cx="9784080" cy="1005840"/>
          </a:xfrm>
        </p:grpSpPr>
        <p:sp>
          <p:nvSpPr>
            <p:cNvPr name="Freeform 141" id="141"/>
            <p:cNvSpPr/>
            <p:nvPr/>
          </p:nvSpPr>
          <p:spPr>
            <a:xfrm flipH="false" flipV="false" rot="0">
              <a:off x="0" y="0"/>
              <a:ext cx="9784080" cy="1005840"/>
            </a:xfrm>
            <a:custGeom>
              <a:avLst/>
              <a:gdLst/>
              <a:ahLst/>
              <a:cxnLst/>
              <a:rect r="r" b="b" t="t" l="l"/>
              <a:pathLst>
                <a:path h="1005840" w="9784080">
                  <a:moveTo>
                    <a:pt x="0" y="0"/>
                  </a:moveTo>
                  <a:lnTo>
                    <a:pt x="9784080" y="0"/>
                  </a:lnTo>
                  <a:lnTo>
                    <a:pt x="9784080" y="1005840"/>
                  </a:lnTo>
                  <a:lnTo>
                    <a:pt x="0" y="1005840"/>
                  </a:lnTo>
                  <a:close/>
                </a:path>
              </a:pathLst>
            </a:custGeom>
            <a:blipFill>
              <a:blip r:embed="rId2">
                <a:alphaModFix amt="0"/>
              </a:blip>
              <a:stretch>
                <a:fillRect l="0" t="-139404" r="0" b="-139405"/>
              </a:stretch>
            </a:blipFill>
          </p:spPr>
        </p:sp>
      </p:grpSp>
      <p:grpSp>
        <p:nvGrpSpPr>
          <p:cNvPr name="Group 142" id="142"/>
          <p:cNvGrpSpPr/>
          <p:nvPr/>
        </p:nvGrpSpPr>
        <p:grpSpPr>
          <a:xfrm rot="0">
            <a:off x="9738360" y="5663565"/>
            <a:ext cx="7338060" cy="782955"/>
            <a:chOff x="0" y="0"/>
            <a:chExt cx="9784080" cy="1043940"/>
          </a:xfrm>
        </p:grpSpPr>
        <p:sp>
          <p:nvSpPr>
            <p:cNvPr name="Freeform 143" id="143"/>
            <p:cNvSpPr/>
            <p:nvPr/>
          </p:nvSpPr>
          <p:spPr>
            <a:xfrm flipH="false" flipV="false" rot="0">
              <a:off x="0" y="0"/>
              <a:ext cx="9784080" cy="1043940"/>
            </a:xfrm>
            <a:custGeom>
              <a:avLst/>
              <a:gdLst/>
              <a:ahLst/>
              <a:cxnLst/>
              <a:rect r="r" b="b" t="t" l="l"/>
              <a:pathLst>
                <a:path h="1043940" w="9784080">
                  <a:moveTo>
                    <a:pt x="0" y="0"/>
                  </a:moveTo>
                  <a:lnTo>
                    <a:pt x="9784080" y="0"/>
                  </a:lnTo>
                  <a:lnTo>
                    <a:pt x="9784080" y="1043940"/>
                  </a:lnTo>
                  <a:lnTo>
                    <a:pt x="0" y="1043940"/>
                  </a:lnTo>
                  <a:close/>
                </a:path>
              </a:pathLst>
            </a:custGeom>
            <a:blipFill>
              <a:blip r:embed="rId3">
                <a:alphaModFix amt="0"/>
              </a:blip>
              <a:stretch>
                <a:fillRect l="0" t="-132618" r="0" b="-132618"/>
              </a:stretch>
            </a:blipFill>
          </p:spPr>
        </p:sp>
        <p:sp>
          <p:nvSpPr>
            <p:cNvPr name="TextBox 144" id="144"/>
            <p:cNvSpPr txBox="true"/>
            <p:nvPr/>
          </p:nvSpPr>
          <p:spPr>
            <a:xfrm>
              <a:off x="0" y="-38100"/>
              <a:ext cx="978408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Combina seguridad + conveniencia + percepción visual en un solo score.</a:t>
              </a:r>
            </a:p>
          </p:txBody>
        </p:sp>
      </p:grpSp>
      <p:grpSp>
        <p:nvGrpSpPr>
          <p:cNvPr name="Group 145" id="145"/>
          <p:cNvGrpSpPr/>
          <p:nvPr/>
        </p:nvGrpSpPr>
        <p:grpSpPr>
          <a:xfrm rot="0">
            <a:off x="960120" y="6446520"/>
            <a:ext cx="4732020" cy="754380"/>
            <a:chOff x="0" y="0"/>
            <a:chExt cx="6309360" cy="1005840"/>
          </a:xfrm>
        </p:grpSpPr>
        <p:sp>
          <p:nvSpPr>
            <p:cNvPr name="Freeform 146" id="146"/>
            <p:cNvSpPr/>
            <p:nvPr/>
          </p:nvSpPr>
          <p:spPr>
            <a:xfrm flipH="false" flipV="false" rot="0">
              <a:off x="0" y="0"/>
              <a:ext cx="6309360" cy="1005840"/>
            </a:xfrm>
            <a:custGeom>
              <a:avLst/>
              <a:gdLst/>
              <a:ahLst/>
              <a:cxnLst/>
              <a:rect r="r" b="b" t="t" l="l"/>
              <a:pathLst>
                <a:path h="1005840" w="6309360">
                  <a:moveTo>
                    <a:pt x="0" y="0"/>
                  </a:moveTo>
                  <a:lnTo>
                    <a:pt x="6309360" y="0"/>
                  </a:lnTo>
                  <a:lnTo>
                    <a:pt x="6309360" y="1005840"/>
                  </a:lnTo>
                  <a:lnTo>
                    <a:pt x="0" y="1005840"/>
                  </a:lnTo>
                  <a:close/>
                </a:path>
              </a:pathLst>
            </a:custGeom>
            <a:blipFill>
              <a:blip r:embed="rId2">
                <a:alphaModFix amt="0"/>
              </a:blip>
              <a:stretch>
                <a:fillRect l="0" t="-72138" r="0" b="-72140"/>
              </a:stretch>
            </a:blipFill>
          </p:spPr>
        </p:sp>
      </p:grpSp>
      <p:grpSp>
        <p:nvGrpSpPr>
          <p:cNvPr name="Group 147" id="147"/>
          <p:cNvGrpSpPr/>
          <p:nvPr/>
        </p:nvGrpSpPr>
        <p:grpSpPr>
          <a:xfrm rot="0">
            <a:off x="960120" y="6417945"/>
            <a:ext cx="4732020" cy="782955"/>
            <a:chOff x="0" y="0"/>
            <a:chExt cx="6309360" cy="1043940"/>
          </a:xfrm>
        </p:grpSpPr>
        <p:sp>
          <p:nvSpPr>
            <p:cNvPr name="Freeform 148" id="148"/>
            <p:cNvSpPr/>
            <p:nvPr/>
          </p:nvSpPr>
          <p:spPr>
            <a:xfrm flipH="false" flipV="false" rot="0">
              <a:off x="0" y="0"/>
              <a:ext cx="6309360" cy="1043940"/>
            </a:xfrm>
            <a:custGeom>
              <a:avLst/>
              <a:gdLst/>
              <a:ahLst/>
              <a:cxnLst/>
              <a:rect r="r" b="b" t="t" l="l"/>
              <a:pathLst>
                <a:path h="1043940" w="6309360">
                  <a:moveTo>
                    <a:pt x="0" y="0"/>
                  </a:moveTo>
                  <a:lnTo>
                    <a:pt x="6309360" y="0"/>
                  </a:lnTo>
                  <a:lnTo>
                    <a:pt x="6309360" y="1043940"/>
                  </a:lnTo>
                  <a:lnTo>
                    <a:pt x="0" y="1043940"/>
                  </a:lnTo>
                  <a:close/>
                </a:path>
              </a:pathLst>
            </a:custGeom>
            <a:blipFill>
              <a:blip r:embed="rId3">
                <a:alphaModFix amt="0"/>
              </a:blip>
              <a:stretch>
                <a:fillRect l="0" t="-67763" r="0" b="-67763"/>
              </a:stretch>
            </a:blipFill>
          </p:spPr>
        </p:sp>
        <p:sp>
          <p:nvSpPr>
            <p:cNvPr name="TextBox 149" id="149"/>
            <p:cNvSpPr txBox="true"/>
            <p:nvPr/>
          </p:nvSpPr>
          <p:spPr>
            <a:xfrm>
              <a:off x="0" y="-38100"/>
              <a:ext cx="630936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Diseño del score de confiabilidad</a:t>
              </a:r>
            </a:p>
          </p:txBody>
        </p:sp>
      </p:grpSp>
      <p:grpSp>
        <p:nvGrpSpPr>
          <p:cNvPr name="Group 150" id="150"/>
          <p:cNvGrpSpPr/>
          <p:nvPr/>
        </p:nvGrpSpPr>
        <p:grpSpPr>
          <a:xfrm rot="0">
            <a:off x="5897880" y="6446520"/>
            <a:ext cx="1577340" cy="754380"/>
            <a:chOff x="0" y="0"/>
            <a:chExt cx="2103120" cy="1005840"/>
          </a:xfrm>
        </p:grpSpPr>
        <p:sp>
          <p:nvSpPr>
            <p:cNvPr name="Freeform 151" id="151"/>
            <p:cNvSpPr/>
            <p:nvPr/>
          </p:nvSpPr>
          <p:spPr>
            <a:xfrm flipH="false" flipV="false" rot="0">
              <a:off x="0" y="0"/>
              <a:ext cx="2103120" cy="1005840"/>
            </a:xfrm>
            <a:custGeom>
              <a:avLst/>
              <a:gdLst/>
              <a:ahLst/>
              <a:cxnLst/>
              <a:rect r="r" b="b" t="t" l="l"/>
              <a:pathLst>
                <a:path h="1005840" w="2103120">
                  <a:moveTo>
                    <a:pt x="0" y="0"/>
                  </a:moveTo>
                  <a:lnTo>
                    <a:pt x="2103120" y="0"/>
                  </a:lnTo>
                  <a:lnTo>
                    <a:pt x="2103120" y="1005840"/>
                  </a:lnTo>
                  <a:lnTo>
                    <a:pt x="0" y="1005840"/>
                  </a:lnTo>
                  <a:close/>
                </a:path>
              </a:pathLst>
            </a:custGeom>
            <a:blipFill>
              <a:blip r:embed="rId2">
                <a:alphaModFix amt="0"/>
              </a:blip>
              <a:stretch>
                <a:fillRect l="-11405" t="0" r="-11405" b="0"/>
              </a:stretch>
            </a:blipFill>
          </p:spPr>
        </p:sp>
      </p:grpSp>
      <p:grpSp>
        <p:nvGrpSpPr>
          <p:cNvPr name="Group 152" id="152"/>
          <p:cNvGrpSpPr/>
          <p:nvPr/>
        </p:nvGrpSpPr>
        <p:grpSpPr>
          <a:xfrm rot="0">
            <a:off x="5897880" y="6417945"/>
            <a:ext cx="1577340" cy="782955"/>
            <a:chOff x="0" y="0"/>
            <a:chExt cx="2103120" cy="1043940"/>
          </a:xfrm>
        </p:grpSpPr>
        <p:sp>
          <p:nvSpPr>
            <p:cNvPr name="Freeform 153" id="153"/>
            <p:cNvSpPr/>
            <p:nvPr/>
          </p:nvSpPr>
          <p:spPr>
            <a:xfrm flipH="false" flipV="false" rot="0">
              <a:off x="0" y="0"/>
              <a:ext cx="2103120" cy="1043940"/>
            </a:xfrm>
            <a:custGeom>
              <a:avLst/>
              <a:gdLst/>
              <a:ahLst/>
              <a:cxnLst/>
              <a:rect r="r" b="b" t="t" l="l"/>
              <a:pathLst>
                <a:path h="1043940" w="2103120">
                  <a:moveTo>
                    <a:pt x="0" y="0"/>
                  </a:moveTo>
                  <a:lnTo>
                    <a:pt x="2103120" y="0"/>
                  </a:lnTo>
                  <a:lnTo>
                    <a:pt x="2103120" y="1043940"/>
                  </a:lnTo>
                  <a:lnTo>
                    <a:pt x="0" y="1043940"/>
                  </a:lnTo>
                  <a:close/>
                </a:path>
              </a:pathLst>
            </a:custGeom>
            <a:blipFill>
              <a:blip r:embed="rId3">
                <a:alphaModFix amt="0"/>
              </a:blip>
              <a:stretch>
                <a:fillRect l="-13686" t="0" r="-13686" b="0"/>
              </a:stretch>
            </a:blipFill>
          </p:spPr>
        </p:sp>
        <p:sp>
          <p:nvSpPr>
            <p:cNvPr name="TextBox 154" id="154"/>
            <p:cNvSpPr txBox="true"/>
            <p:nvPr/>
          </p:nvSpPr>
          <p:spPr>
            <a:xfrm>
              <a:off x="0" y="-38100"/>
              <a:ext cx="210312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Lisseth</a:t>
              </a:r>
            </a:p>
          </p:txBody>
        </p:sp>
      </p:grpSp>
      <p:grpSp>
        <p:nvGrpSpPr>
          <p:cNvPr name="Group 155" id="155"/>
          <p:cNvGrpSpPr/>
          <p:nvPr/>
        </p:nvGrpSpPr>
        <p:grpSpPr>
          <a:xfrm rot="0">
            <a:off x="7680960" y="6446520"/>
            <a:ext cx="1851660" cy="754380"/>
            <a:chOff x="0" y="0"/>
            <a:chExt cx="2468880" cy="1005840"/>
          </a:xfrm>
        </p:grpSpPr>
        <p:sp>
          <p:nvSpPr>
            <p:cNvPr name="Freeform 156" id="156"/>
            <p:cNvSpPr/>
            <p:nvPr/>
          </p:nvSpPr>
          <p:spPr>
            <a:xfrm flipH="false" flipV="false" rot="0">
              <a:off x="0" y="0"/>
              <a:ext cx="2468880" cy="1005840"/>
            </a:xfrm>
            <a:custGeom>
              <a:avLst/>
              <a:gdLst/>
              <a:ahLst/>
              <a:cxnLst/>
              <a:rect r="r" b="b" t="t" l="l"/>
              <a:pathLst>
                <a:path h="1005840" w="2468880">
                  <a:moveTo>
                    <a:pt x="0" y="0"/>
                  </a:moveTo>
                  <a:lnTo>
                    <a:pt x="2468880" y="0"/>
                  </a:lnTo>
                  <a:lnTo>
                    <a:pt x="2468880" y="1005840"/>
                  </a:lnTo>
                  <a:lnTo>
                    <a:pt x="0" y="1005840"/>
                  </a:lnTo>
                  <a:close/>
                </a:path>
              </a:pathLst>
            </a:custGeom>
            <a:blipFill>
              <a:blip r:embed="rId2">
                <a:alphaModFix amt="0"/>
              </a:blip>
              <a:stretch>
                <a:fillRect l="-2308" t="0" r="-2308" b="0"/>
              </a:stretch>
            </a:blipFill>
          </p:spPr>
        </p:sp>
      </p:grpSp>
      <p:grpSp>
        <p:nvGrpSpPr>
          <p:cNvPr name="Group 157" id="157"/>
          <p:cNvGrpSpPr/>
          <p:nvPr/>
        </p:nvGrpSpPr>
        <p:grpSpPr>
          <a:xfrm rot="0">
            <a:off x="7680960" y="6417945"/>
            <a:ext cx="1851660" cy="782955"/>
            <a:chOff x="0" y="0"/>
            <a:chExt cx="2468880" cy="1043940"/>
          </a:xfrm>
        </p:grpSpPr>
        <p:sp>
          <p:nvSpPr>
            <p:cNvPr name="Freeform 158" id="158"/>
            <p:cNvSpPr/>
            <p:nvPr/>
          </p:nvSpPr>
          <p:spPr>
            <a:xfrm flipH="false" flipV="false" rot="0">
              <a:off x="0" y="0"/>
              <a:ext cx="2468880" cy="1043940"/>
            </a:xfrm>
            <a:custGeom>
              <a:avLst/>
              <a:gdLst/>
              <a:ahLst/>
              <a:cxnLst/>
              <a:rect r="r" b="b" t="t" l="l"/>
              <a:pathLst>
                <a:path h="1043940" w="2468880">
                  <a:moveTo>
                    <a:pt x="0" y="0"/>
                  </a:moveTo>
                  <a:lnTo>
                    <a:pt x="2468880" y="0"/>
                  </a:lnTo>
                  <a:lnTo>
                    <a:pt x="2468880" y="1043940"/>
                  </a:lnTo>
                  <a:lnTo>
                    <a:pt x="0" y="1043940"/>
                  </a:lnTo>
                  <a:close/>
                </a:path>
              </a:pathLst>
            </a:custGeom>
            <a:blipFill>
              <a:blip r:embed="rId3">
                <a:alphaModFix amt="0"/>
              </a:blip>
              <a:stretch>
                <a:fillRect l="-4251" t="0" r="-4251" b="0"/>
              </a:stretch>
            </a:blipFill>
          </p:spPr>
        </p:sp>
        <p:sp>
          <p:nvSpPr>
            <p:cNvPr name="TextBox 159" id="159"/>
            <p:cNvSpPr txBox="true"/>
            <p:nvPr/>
          </p:nvSpPr>
          <p:spPr>
            <a:xfrm>
              <a:off x="0" y="-38100"/>
              <a:ext cx="246888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RF-07</a:t>
              </a:r>
            </a:p>
          </p:txBody>
        </p:sp>
      </p:grpSp>
      <p:grpSp>
        <p:nvGrpSpPr>
          <p:cNvPr name="Group 160" id="160"/>
          <p:cNvGrpSpPr/>
          <p:nvPr/>
        </p:nvGrpSpPr>
        <p:grpSpPr>
          <a:xfrm rot="0">
            <a:off x="9738360" y="6446520"/>
            <a:ext cx="7338060" cy="754380"/>
            <a:chOff x="0" y="0"/>
            <a:chExt cx="9784080" cy="1005840"/>
          </a:xfrm>
        </p:grpSpPr>
        <p:sp>
          <p:nvSpPr>
            <p:cNvPr name="Freeform 161" id="161"/>
            <p:cNvSpPr/>
            <p:nvPr/>
          </p:nvSpPr>
          <p:spPr>
            <a:xfrm flipH="false" flipV="false" rot="0">
              <a:off x="0" y="0"/>
              <a:ext cx="9784080" cy="1005840"/>
            </a:xfrm>
            <a:custGeom>
              <a:avLst/>
              <a:gdLst/>
              <a:ahLst/>
              <a:cxnLst/>
              <a:rect r="r" b="b" t="t" l="l"/>
              <a:pathLst>
                <a:path h="1005840" w="9784080">
                  <a:moveTo>
                    <a:pt x="0" y="0"/>
                  </a:moveTo>
                  <a:lnTo>
                    <a:pt x="9784080" y="0"/>
                  </a:lnTo>
                  <a:lnTo>
                    <a:pt x="9784080" y="1005840"/>
                  </a:lnTo>
                  <a:lnTo>
                    <a:pt x="0" y="1005840"/>
                  </a:lnTo>
                  <a:close/>
                </a:path>
              </a:pathLst>
            </a:custGeom>
            <a:blipFill>
              <a:blip r:embed="rId2">
                <a:alphaModFix amt="0"/>
              </a:blip>
              <a:stretch>
                <a:fillRect l="0" t="-139404" r="0" b="-139405"/>
              </a:stretch>
            </a:blipFill>
          </p:spPr>
        </p:sp>
      </p:grpSp>
      <p:grpSp>
        <p:nvGrpSpPr>
          <p:cNvPr name="Group 162" id="162"/>
          <p:cNvGrpSpPr/>
          <p:nvPr/>
        </p:nvGrpSpPr>
        <p:grpSpPr>
          <a:xfrm rot="0">
            <a:off x="9738360" y="6417945"/>
            <a:ext cx="7338060" cy="782955"/>
            <a:chOff x="0" y="0"/>
            <a:chExt cx="9784080" cy="1043940"/>
          </a:xfrm>
        </p:grpSpPr>
        <p:sp>
          <p:nvSpPr>
            <p:cNvPr name="Freeform 163" id="163"/>
            <p:cNvSpPr/>
            <p:nvPr/>
          </p:nvSpPr>
          <p:spPr>
            <a:xfrm flipH="false" flipV="false" rot="0">
              <a:off x="0" y="0"/>
              <a:ext cx="9784080" cy="1043940"/>
            </a:xfrm>
            <a:custGeom>
              <a:avLst/>
              <a:gdLst/>
              <a:ahLst/>
              <a:cxnLst/>
              <a:rect r="r" b="b" t="t" l="l"/>
              <a:pathLst>
                <a:path h="1043940" w="9784080">
                  <a:moveTo>
                    <a:pt x="0" y="0"/>
                  </a:moveTo>
                  <a:lnTo>
                    <a:pt x="9784080" y="0"/>
                  </a:lnTo>
                  <a:lnTo>
                    <a:pt x="9784080" y="1043940"/>
                  </a:lnTo>
                  <a:lnTo>
                    <a:pt x="0" y="1043940"/>
                  </a:lnTo>
                  <a:close/>
                </a:path>
              </a:pathLst>
            </a:custGeom>
            <a:blipFill>
              <a:blip r:embed="rId3">
                <a:alphaModFix amt="0"/>
              </a:blip>
              <a:stretch>
                <a:fillRect l="0" t="-132618" r="0" b="-132618"/>
              </a:stretch>
            </a:blipFill>
          </p:spPr>
        </p:sp>
        <p:sp>
          <p:nvSpPr>
            <p:cNvPr name="TextBox 164" id="164"/>
            <p:cNvSpPr txBox="true"/>
            <p:nvPr/>
          </p:nvSpPr>
          <p:spPr>
            <a:xfrm>
              <a:off x="0" y="-38100"/>
              <a:ext cx="978408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Agrega historial de plazos, proyectos y antigüedad de cada constructora.</a:t>
              </a:r>
            </a:p>
          </p:txBody>
        </p:sp>
      </p:grpSp>
      <p:grpSp>
        <p:nvGrpSpPr>
          <p:cNvPr name="Group 165" id="165"/>
          <p:cNvGrpSpPr/>
          <p:nvPr/>
        </p:nvGrpSpPr>
        <p:grpSpPr>
          <a:xfrm rot="0">
            <a:off x="822960" y="7200900"/>
            <a:ext cx="16596360" cy="754380"/>
            <a:chOff x="0" y="0"/>
            <a:chExt cx="22128480" cy="1005840"/>
          </a:xfrm>
        </p:grpSpPr>
        <p:sp>
          <p:nvSpPr>
            <p:cNvPr name="Freeform 166" id="166"/>
            <p:cNvSpPr/>
            <p:nvPr/>
          </p:nvSpPr>
          <p:spPr>
            <a:xfrm flipH="false" flipV="false" rot="0">
              <a:off x="0" y="0"/>
              <a:ext cx="22128480" cy="1005840"/>
            </a:xfrm>
            <a:custGeom>
              <a:avLst/>
              <a:gdLst/>
              <a:ahLst/>
              <a:cxnLst/>
              <a:rect r="r" b="b" t="t" l="l"/>
              <a:pathLst>
                <a:path h="1005840" w="22128480">
                  <a:moveTo>
                    <a:pt x="0" y="0"/>
                  </a:moveTo>
                  <a:lnTo>
                    <a:pt x="22128480" y="0"/>
                  </a:lnTo>
                  <a:lnTo>
                    <a:pt x="22128480" y="1005840"/>
                  </a:lnTo>
                  <a:lnTo>
                    <a:pt x="0" y="1005840"/>
                  </a:lnTo>
                  <a:close/>
                </a:path>
              </a:pathLst>
            </a:custGeom>
            <a:solidFill>
              <a:srgbClr val="ADB4D0"/>
            </a:solidFill>
          </p:spPr>
        </p:sp>
      </p:grpSp>
      <p:grpSp>
        <p:nvGrpSpPr>
          <p:cNvPr name="Group 167" id="167"/>
          <p:cNvGrpSpPr/>
          <p:nvPr/>
        </p:nvGrpSpPr>
        <p:grpSpPr>
          <a:xfrm rot="0">
            <a:off x="960120" y="7200900"/>
            <a:ext cx="4732020" cy="754380"/>
            <a:chOff x="0" y="0"/>
            <a:chExt cx="6309360" cy="1005840"/>
          </a:xfrm>
        </p:grpSpPr>
        <p:sp>
          <p:nvSpPr>
            <p:cNvPr name="Freeform 168" id="168"/>
            <p:cNvSpPr/>
            <p:nvPr/>
          </p:nvSpPr>
          <p:spPr>
            <a:xfrm flipH="false" flipV="false" rot="0">
              <a:off x="0" y="0"/>
              <a:ext cx="6309360" cy="1005840"/>
            </a:xfrm>
            <a:custGeom>
              <a:avLst/>
              <a:gdLst/>
              <a:ahLst/>
              <a:cxnLst/>
              <a:rect r="r" b="b" t="t" l="l"/>
              <a:pathLst>
                <a:path h="1005840" w="6309360">
                  <a:moveTo>
                    <a:pt x="0" y="0"/>
                  </a:moveTo>
                  <a:lnTo>
                    <a:pt x="6309360" y="0"/>
                  </a:lnTo>
                  <a:lnTo>
                    <a:pt x="6309360" y="1005840"/>
                  </a:lnTo>
                  <a:lnTo>
                    <a:pt x="0" y="1005840"/>
                  </a:lnTo>
                  <a:close/>
                </a:path>
              </a:pathLst>
            </a:custGeom>
            <a:blipFill>
              <a:blip r:embed="rId2">
                <a:alphaModFix amt="0"/>
              </a:blip>
              <a:stretch>
                <a:fillRect l="0" t="-72138" r="0" b="-72140"/>
              </a:stretch>
            </a:blipFill>
          </p:spPr>
        </p:sp>
      </p:grpSp>
      <p:grpSp>
        <p:nvGrpSpPr>
          <p:cNvPr name="Group 169" id="169"/>
          <p:cNvGrpSpPr/>
          <p:nvPr/>
        </p:nvGrpSpPr>
        <p:grpSpPr>
          <a:xfrm rot="0">
            <a:off x="960120" y="7172325"/>
            <a:ext cx="4732020" cy="782955"/>
            <a:chOff x="0" y="0"/>
            <a:chExt cx="6309360" cy="1043940"/>
          </a:xfrm>
        </p:grpSpPr>
        <p:sp>
          <p:nvSpPr>
            <p:cNvPr name="Freeform 170" id="170"/>
            <p:cNvSpPr/>
            <p:nvPr/>
          </p:nvSpPr>
          <p:spPr>
            <a:xfrm flipH="false" flipV="false" rot="0">
              <a:off x="0" y="0"/>
              <a:ext cx="6309360" cy="1043940"/>
            </a:xfrm>
            <a:custGeom>
              <a:avLst/>
              <a:gdLst/>
              <a:ahLst/>
              <a:cxnLst/>
              <a:rect r="r" b="b" t="t" l="l"/>
              <a:pathLst>
                <a:path h="1043940" w="6309360">
                  <a:moveTo>
                    <a:pt x="0" y="0"/>
                  </a:moveTo>
                  <a:lnTo>
                    <a:pt x="6309360" y="0"/>
                  </a:lnTo>
                  <a:lnTo>
                    <a:pt x="6309360" y="1043940"/>
                  </a:lnTo>
                  <a:lnTo>
                    <a:pt x="0" y="1043940"/>
                  </a:lnTo>
                  <a:close/>
                </a:path>
              </a:pathLst>
            </a:custGeom>
            <a:blipFill>
              <a:blip r:embed="rId3">
                <a:alphaModFix amt="0"/>
              </a:blip>
              <a:stretch>
                <a:fillRect l="0" t="-67763" r="0" b="-67763"/>
              </a:stretch>
            </a:blipFill>
          </p:spPr>
        </p:sp>
        <p:sp>
          <p:nvSpPr>
            <p:cNvPr name="TextBox 171" id="171"/>
            <p:cNvSpPr txBox="true"/>
            <p:nvPr/>
          </p:nvSpPr>
          <p:spPr>
            <a:xfrm>
              <a:off x="0" y="-38100"/>
              <a:ext cx="630936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Motor de recomendación ponderado</a:t>
              </a:r>
            </a:p>
          </p:txBody>
        </p:sp>
      </p:grpSp>
      <p:grpSp>
        <p:nvGrpSpPr>
          <p:cNvPr name="Group 172" id="172"/>
          <p:cNvGrpSpPr/>
          <p:nvPr/>
        </p:nvGrpSpPr>
        <p:grpSpPr>
          <a:xfrm rot="0">
            <a:off x="5897880" y="7200900"/>
            <a:ext cx="1577340" cy="754380"/>
            <a:chOff x="0" y="0"/>
            <a:chExt cx="2103120" cy="1005840"/>
          </a:xfrm>
        </p:grpSpPr>
        <p:sp>
          <p:nvSpPr>
            <p:cNvPr name="Freeform 173" id="173"/>
            <p:cNvSpPr/>
            <p:nvPr/>
          </p:nvSpPr>
          <p:spPr>
            <a:xfrm flipH="false" flipV="false" rot="0">
              <a:off x="0" y="0"/>
              <a:ext cx="2103120" cy="1005840"/>
            </a:xfrm>
            <a:custGeom>
              <a:avLst/>
              <a:gdLst/>
              <a:ahLst/>
              <a:cxnLst/>
              <a:rect r="r" b="b" t="t" l="l"/>
              <a:pathLst>
                <a:path h="1005840" w="2103120">
                  <a:moveTo>
                    <a:pt x="0" y="0"/>
                  </a:moveTo>
                  <a:lnTo>
                    <a:pt x="2103120" y="0"/>
                  </a:lnTo>
                  <a:lnTo>
                    <a:pt x="2103120" y="1005840"/>
                  </a:lnTo>
                  <a:lnTo>
                    <a:pt x="0" y="1005840"/>
                  </a:lnTo>
                  <a:close/>
                </a:path>
              </a:pathLst>
            </a:custGeom>
            <a:blipFill>
              <a:blip r:embed="rId2">
                <a:alphaModFix amt="0"/>
              </a:blip>
              <a:stretch>
                <a:fillRect l="-11405" t="0" r="-11405" b="0"/>
              </a:stretch>
            </a:blipFill>
          </p:spPr>
        </p:sp>
      </p:grpSp>
      <p:grpSp>
        <p:nvGrpSpPr>
          <p:cNvPr name="Group 174" id="174"/>
          <p:cNvGrpSpPr/>
          <p:nvPr/>
        </p:nvGrpSpPr>
        <p:grpSpPr>
          <a:xfrm rot="0">
            <a:off x="5897880" y="7172325"/>
            <a:ext cx="1577340" cy="782955"/>
            <a:chOff x="0" y="0"/>
            <a:chExt cx="2103120" cy="1043940"/>
          </a:xfrm>
        </p:grpSpPr>
        <p:sp>
          <p:nvSpPr>
            <p:cNvPr name="Freeform 175" id="175"/>
            <p:cNvSpPr/>
            <p:nvPr/>
          </p:nvSpPr>
          <p:spPr>
            <a:xfrm flipH="false" flipV="false" rot="0">
              <a:off x="0" y="0"/>
              <a:ext cx="2103120" cy="1043940"/>
            </a:xfrm>
            <a:custGeom>
              <a:avLst/>
              <a:gdLst/>
              <a:ahLst/>
              <a:cxnLst/>
              <a:rect r="r" b="b" t="t" l="l"/>
              <a:pathLst>
                <a:path h="1043940" w="2103120">
                  <a:moveTo>
                    <a:pt x="0" y="0"/>
                  </a:moveTo>
                  <a:lnTo>
                    <a:pt x="2103120" y="0"/>
                  </a:lnTo>
                  <a:lnTo>
                    <a:pt x="2103120" y="1043940"/>
                  </a:lnTo>
                  <a:lnTo>
                    <a:pt x="0" y="1043940"/>
                  </a:lnTo>
                  <a:close/>
                </a:path>
              </a:pathLst>
            </a:custGeom>
            <a:blipFill>
              <a:blip r:embed="rId3">
                <a:alphaModFix amt="0"/>
              </a:blip>
              <a:stretch>
                <a:fillRect l="-13686" t="0" r="-13686" b="0"/>
              </a:stretch>
            </a:blipFill>
          </p:spPr>
        </p:sp>
        <p:sp>
          <p:nvSpPr>
            <p:cNvPr name="TextBox 176" id="176"/>
            <p:cNvSpPr txBox="true"/>
            <p:nvPr/>
          </p:nvSpPr>
          <p:spPr>
            <a:xfrm>
              <a:off x="0" y="-38100"/>
              <a:ext cx="210312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Jyns</a:t>
              </a:r>
            </a:p>
          </p:txBody>
        </p:sp>
      </p:grpSp>
      <p:grpSp>
        <p:nvGrpSpPr>
          <p:cNvPr name="Group 177" id="177"/>
          <p:cNvGrpSpPr/>
          <p:nvPr/>
        </p:nvGrpSpPr>
        <p:grpSpPr>
          <a:xfrm rot="0">
            <a:off x="7680960" y="7200900"/>
            <a:ext cx="1851660" cy="754380"/>
            <a:chOff x="0" y="0"/>
            <a:chExt cx="2468880" cy="1005840"/>
          </a:xfrm>
        </p:grpSpPr>
        <p:sp>
          <p:nvSpPr>
            <p:cNvPr name="Freeform 178" id="178"/>
            <p:cNvSpPr/>
            <p:nvPr/>
          </p:nvSpPr>
          <p:spPr>
            <a:xfrm flipH="false" flipV="false" rot="0">
              <a:off x="0" y="0"/>
              <a:ext cx="2468880" cy="1005840"/>
            </a:xfrm>
            <a:custGeom>
              <a:avLst/>
              <a:gdLst/>
              <a:ahLst/>
              <a:cxnLst/>
              <a:rect r="r" b="b" t="t" l="l"/>
              <a:pathLst>
                <a:path h="1005840" w="2468880">
                  <a:moveTo>
                    <a:pt x="0" y="0"/>
                  </a:moveTo>
                  <a:lnTo>
                    <a:pt x="2468880" y="0"/>
                  </a:lnTo>
                  <a:lnTo>
                    <a:pt x="2468880" y="1005840"/>
                  </a:lnTo>
                  <a:lnTo>
                    <a:pt x="0" y="1005840"/>
                  </a:lnTo>
                  <a:close/>
                </a:path>
              </a:pathLst>
            </a:custGeom>
            <a:blipFill>
              <a:blip r:embed="rId2">
                <a:alphaModFix amt="0"/>
              </a:blip>
              <a:stretch>
                <a:fillRect l="-2308" t="0" r="-2308" b="0"/>
              </a:stretch>
            </a:blipFill>
          </p:spPr>
        </p:sp>
      </p:grpSp>
      <p:grpSp>
        <p:nvGrpSpPr>
          <p:cNvPr name="Group 179" id="179"/>
          <p:cNvGrpSpPr/>
          <p:nvPr/>
        </p:nvGrpSpPr>
        <p:grpSpPr>
          <a:xfrm rot="0">
            <a:off x="7680960" y="7172325"/>
            <a:ext cx="1851660" cy="782955"/>
            <a:chOff x="0" y="0"/>
            <a:chExt cx="2468880" cy="1043940"/>
          </a:xfrm>
        </p:grpSpPr>
        <p:sp>
          <p:nvSpPr>
            <p:cNvPr name="Freeform 180" id="180"/>
            <p:cNvSpPr/>
            <p:nvPr/>
          </p:nvSpPr>
          <p:spPr>
            <a:xfrm flipH="false" flipV="false" rot="0">
              <a:off x="0" y="0"/>
              <a:ext cx="2468880" cy="1043940"/>
            </a:xfrm>
            <a:custGeom>
              <a:avLst/>
              <a:gdLst/>
              <a:ahLst/>
              <a:cxnLst/>
              <a:rect r="r" b="b" t="t" l="l"/>
              <a:pathLst>
                <a:path h="1043940" w="2468880">
                  <a:moveTo>
                    <a:pt x="0" y="0"/>
                  </a:moveTo>
                  <a:lnTo>
                    <a:pt x="2468880" y="0"/>
                  </a:lnTo>
                  <a:lnTo>
                    <a:pt x="2468880" y="1043940"/>
                  </a:lnTo>
                  <a:lnTo>
                    <a:pt x="0" y="1043940"/>
                  </a:lnTo>
                  <a:close/>
                </a:path>
              </a:pathLst>
            </a:custGeom>
            <a:blipFill>
              <a:blip r:embed="rId3">
                <a:alphaModFix amt="0"/>
              </a:blip>
              <a:stretch>
                <a:fillRect l="-4251" t="0" r="-4251" b="0"/>
              </a:stretch>
            </a:blipFill>
          </p:spPr>
        </p:sp>
        <p:sp>
          <p:nvSpPr>
            <p:cNvPr name="TextBox 181" id="181"/>
            <p:cNvSpPr txBox="true"/>
            <p:nvPr/>
          </p:nvSpPr>
          <p:spPr>
            <a:xfrm>
              <a:off x="0" y="-38100"/>
              <a:ext cx="246888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RF-08, RF-09, RF-10</a:t>
              </a:r>
            </a:p>
          </p:txBody>
        </p:sp>
      </p:grpSp>
      <p:grpSp>
        <p:nvGrpSpPr>
          <p:cNvPr name="Group 182" id="182"/>
          <p:cNvGrpSpPr/>
          <p:nvPr/>
        </p:nvGrpSpPr>
        <p:grpSpPr>
          <a:xfrm rot="0">
            <a:off x="9738360" y="7200900"/>
            <a:ext cx="7338060" cy="754380"/>
            <a:chOff x="0" y="0"/>
            <a:chExt cx="9784080" cy="1005840"/>
          </a:xfrm>
        </p:grpSpPr>
        <p:sp>
          <p:nvSpPr>
            <p:cNvPr name="Freeform 183" id="183"/>
            <p:cNvSpPr/>
            <p:nvPr/>
          </p:nvSpPr>
          <p:spPr>
            <a:xfrm flipH="false" flipV="false" rot="0">
              <a:off x="0" y="0"/>
              <a:ext cx="9784080" cy="1005840"/>
            </a:xfrm>
            <a:custGeom>
              <a:avLst/>
              <a:gdLst/>
              <a:ahLst/>
              <a:cxnLst/>
              <a:rect r="r" b="b" t="t" l="l"/>
              <a:pathLst>
                <a:path h="1005840" w="9784080">
                  <a:moveTo>
                    <a:pt x="0" y="0"/>
                  </a:moveTo>
                  <a:lnTo>
                    <a:pt x="9784080" y="0"/>
                  </a:lnTo>
                  <a:lnTo>
                    <a:pt x="9784080" y="1005840"/>
                  </a:lnTo>
                  <a:lnTo>
                    <a:pt x="0" y="1005840"/>
                  </a:lnTo>
                  <a:close/>
                </a:path>
              </a:pathLst>
            </a:custGeom>
            <a:blipFill>
              <a:blip r:embed="rId2">
                <a:alphaModFix amt="0"/>
              </a:blip>
              <a:stretch>
                <a:fillRect l="0" t="-139404" r="0" b="-139405"/>
              </a:stretch>
            </a:blipFill>
          </p:spPr>
        </p:sp>
      </p:grpSp>
      <p:grpSp>
        <p:nvGrpSpPr>
          <p:cNvPr name="Group 184" id="184"/>
          <p:cNvGrpSpPr/>
          <p:nvPr/>
        </p:nvGrpSpPr>
        <p:grpSpPr>
          <a:xfrm rot="0">
            <a:off x="9738360" y="7172325"/>
            <a:ext cx="7338060" cy="782955"/>
            <a:chOff x="0" y="0"/>
            <a:chExt cx="9784080" cy="1043940"/>
          </a:xfrm>
        </p:grpSpPr>
        <p:sp>
          <p:nvSpPr>
            <p:cNvPr name="Freeform 185" id="185"/>
            <p:cNvSpPr/>
            <p:nvPr/>
          </p:nvSpPr>
          <p:spPr>
            <a:xfrm flipH="false" flipV="false" rot="0">
              <a:off x="0" y="0"/>
              <a:ext cx="9784080" cy="1043940"/>
            </a:xfrm>
            <a:custGeom>
              <a:avLst/>
              <a:gdLst/>
              <a:ahLst/>
              <a:cxnLst/>
              <a:rect r="r" b="b" t="t" l="l"/>
              <a:pathLst>
                <a:path h="1043940" w="9784080">
                  <a:moveTo>
                    <a:pt x="0" y="0"/>
                  </a:moveTo>
                  <a:lnTo>
                    <a:pt x="9784080" y="0"/>
                  </a:lnTo>
                  <a:lnTo>
                    <a:pt x="9784080" y="1043940"/>
                  </a:lnTo>
                  <a:lnTo>
                    <a:pt x="0" y="1043940"/>
                  </a:lnTo>
                  <a:close/>
                </a:path>
              </a:pathLst>
            </a:custGeom>
            <a:blipFill>
              <a:blip r:embed="rId3">
                <a:alphaModFix amt="0"/>
              </a:blip>
              <a:stretch>
                <a:fillRect l="0" t="-132618" r="0" b="-132618"/>
              </a:stretch>
            </a:blipFill>
          </p:spPr>
        </p:sp>
        <p:sp>
          <p:nvSpPr>
            <p:cNvPr name="TextBox 186" id="186"/>
            <p:cNvSpPr txBox="true"/>
            <p:nvPr/>
          </p:nvSpPr>
          <p:spPr>
            <a:xfrm>
              <a:off x="0" y="-38100"/>
              <a:ext cx="978408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Combina todos los scores según el perfil declarado por el usuario.</a:t>
              </a:r>
            </a:p>
          </p:txBody>
        </p:sp>
      </p:grpSp>
      <p:grpSp>
        <p:nvGrpSpPr>
          <p:cNvPr name="Group 187" id="187"/>
          <p:cNvGrpSpPr/>
          <p:nvPr/>
        </p:nvGrpSpPr>
        <p:grpSpPr>
          <a:xfrm rot="0">
            <a:off x="960120" y="7955280"/>
            <a:ext cx="4732020" cy="754380"/>
            <a:chOff x="0" y="0"/>
            <a:chExt cx="6309360" cy="1005840"/>
          </a:xfrm>
        </p:grpSpPr>
        <p:sp>
          <p:nvSpPr>
            <p:cNvPr name="Freeform 188" id="188"/>
            <p:cNvSpPr/>
            <p:nvPr/>
          </p:nvSpPr>
          <p:spPr>
            <a:xfrm flipH="false" flipV="false" rot="0">
              <a:off x="0" y="0"/>
              <a:ext cx="6309360" cy="1005840"/>
            </a:xfrm>
            <a:custGeom>
              <a:avLst/>
              <a:gdLst/>
              <a:ahLst/>
              <a:cxnLst/>
              <a:rect r="r" b="b" t="t" l="l"/>
              <a:pathLst>
                <a:path h="1005840" w="6309360">
                  <a:moveTo>
                    <a:pt x="0" y="0"/>
                  </a:moveTo>
                  <a:lnTo>
                    <a:pt x="6309360" y="0"/>
                  </a:lnTo>
                  <a:lnTo>
                    <a:pt x="6309360" y="1005840"/>
                  </a:lnTo>
                  <a:lnTo>
                    <a:pt x="0" y="1005840"/>
                  </a:lnTo>
                  <a:close/>
                </a:path>
              </a:pathLst>
            </a:custGeom>
            <a:blipFill>
              <a:blip r:embed="rId2">
                <a:alphaModFix amt="0"/>
              </a:blip>
              <a:stretch>
                <a:fillRect l="0" t="-72138" r="0" b="-72140"/>
              </a:stretch>
            </a:blipFill>
          </p:spPr>
        </p:sp>
      </p:grpSp>
      <p:grpSp>
        <p:nvGrpSpPr>
          <p:cNvPr name="Group 189" id="189"/>
          <p:cNvGrpSpPr/>
          <p:nvPr/>
        </p:nvGrpSpPr>
        <p:grpSpPr>
          <a:xfrm rot="0">
            <a:off x="960120" y="7926705"/>
            <a:ext cx="4732020" cy="782955"/>
            <a:chOff x="0" y="0"/>
            <a:chExt cx="6309360" cy="1043940"/>
          </a:xfrm>
        </p:grpSpPr>
        <p:sp>
          <p:nvSpPr>
            <p:cNvPr name="Freeform 190" id="190"/>
            <p:cNvSpPr/>
            <p:nvPr/>
          </p:nvSpPr>
          <p:spPr>
            <a:xfrm flipH="false" flipV="false" rot="0">
              <a:off x="0" y="0"/>
              <a:ext cx="6309360" cy="1043940"/>
            </a:xfrm>
            <a:custGeom>
              <a:avLst/>
              <a:gdLst/>
              <a:ahLst/>
              <a:cxnLst/>
              <a:rect r="r" b="b" t="t" l="l"/>
              <a:pathLst>
                <a:path h="1043940" w="6309360">
                  <a:moveTo>
                    <a:pt x="0" y="0"/>
                  </a:moveTo>
                  <a:lnTo>
                    <a:pt x="6309360" y="0"/>
                  </a:lnTo>
                  <a:lnTo>
                    <a:pt x="6309360" y="1043940"/>
                  </a:lnTo>
                  <a:lnTo>
                    <a:pt x="0" y="1043940"/>
                  </a:lnTo>
                  <a:close/>
                </a:path>
              </a:pathLst>
            </a:custGeom>
            <a:blipFill>
              <a:blip r:embed="rId3">
                <a:alphaModFix amt="0"/>
              </a:blip>
              <a:stretch>
                <a:fillRect l="0" t="-67763" r="0" b="-67763"/>
              </a:stretch>
            </a:blipFill>
          </p:spPr>
        </p:sp>
        <p:sp>
          <p:nvSpPr>
            <p:cNvPr name="TextBox 191" id="191"/>
            <p:cNvSpPr txBox="true"/>
            <p:nvPr/>
          </p:nvSpPr>
          <p:spPr>
            <a:xfrm>
              <a:off x="0" y="-38100"/>
              <a:ext cx="630936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Generación de explicaciones en NL</a:t>
              </a:r>
            </a:p>
          </p:txBody>
        </p:sp>
      </p:grpSp>
      <p:grpSp>
        <p:nvGrpSpPr>
          <p:cNvPr name="Group 192" id="192"/>
          <p:cNvGrpSpPr/>
          <p:nvPr/>
        </p:nvGrpSpPr>
        <p:grpSpPr>
          <a:xfrm rot="0">
            <a:off x="5897880" y="7955280"/>
            <a:ext cx="1577340" cy="754380"/>
            <a:chOff x="0" y="0"/>
            <a:chExt cx="2103120" cy="1005840"/>
          </a:xfrm>
        </p:grpSpPr>
        <p:sp>
          <p:nvSpPr>
            <p:cNvPr name="Freeform 193" id="193"/>
            <p:cNvSpPr/>
            <p:nvPr/>
          </p:nvSpPr>
          <p:spPr>
            <a:xfrm flipH="false" flipV="false" rot="0">
              <a:off x="0" y="0"/>
              <a:ext cx="2103120" cy="1005840"/>
            </a:xfrm>
            <a:custGeom>
              <a:avLst/>
              <a:gdLst/>
              <a:ahLst/>
              <a:cxnLst/>
              <a:rect r="r" b="b" t="t" l="l"/>
              <a:pathLst>
                <a:path h="1005840" w="2103120">
                  <a:moveTo>
                    <a:pt x="0" y="0"/>
                  </a:moveTo>
                  <a:lnTo>
                    <a:pt x="2103120" y="0"/>
                  </a:lnTo>
                  <a:lnTo>
                    <a:pt x="2103120" y="1005840"/>
                  </a:lnTo>
                  <a:lnTo>
                    <a:pt x="0" y="1005840"/>
                  </a:lnTo>
                  <a:close/>
                </a:path>
              </a:pathLst>
            </a:custGeom>
            <a:blipFill>
              <a:blip r:embed="rId2">
                <a:alphaModFix amt="0"/>
              </a:blip>
              <a:stretch>
                <a:fillRect l="-11405" t="0" r="-11405" b="0"/>
              </a:stretch>
            </a:blipFill>
          </p:spPr>
        </p:sp>
      </p:grpSp>
      <p:grpSp>
        <p:nvGrpSpPr>
          <p:cNvPr name="Group 194" id="194"/>
          <p:cNvGrpSpPr/>
          <p:nvPr/>
        </p:nvGrpSpPr>
        <p:grpSpPr>
          <a:xfrm rot="0">
            <a:off x="5897880" y="7926705"/>
            <a:ext cx="1577340" cy="782955"/>
            <a:chOff x="0" y="0"/>
            <a:chExt cx="2103120" cy="1043940"/>
          </a:xfrm>
        </p:grpSpPr>
        <p:sp>
          <p:nvSpPr>
            <p:cNvPr name="Freeform 195" id="195"/>
            <p:cNvSpPr/>
            <p:nvPr/>
          </p:nvSpPr>
          <p:spPr>
            <a:xfrm flipH="false" flipV="false" rot="0">
              <a:off x="0" y="0"/>
              <a:ext cx="2103120" cy="1043940"/>
            </a:xfrm>
            <a:custGeom>
              <a:avLst/>
              <a:gdLst/>
              <a:ahLst/>
              <a:cxnLst/>
              <a:rect r="r" b="b" t="t" l="l"/>
              <a:pathLst>
                <a:path h="1043940" w="2103120">
                  <a:moveTo>
                    <a:pt x="0" y="0"/>
                  </a:moveTo>
                  <a:lnTo>
                    <a:pt x="2103120" y="0"/>
                  </a:lnTo>
                  <a:lnTo>
                    <a:pt x="2103120" y="1043940"/>
                  </a:lnTo>
                  <a:lnTo>
                    <a:pt x="0" y="1043940"/>
                  </a:lnTo>
                  <a:close/>
                </a:path>
              </a:pathLst>
            </a:custGeom>
            <a:blipFill>
              <a:blip r:embed="rId3">
                <a:alphaModFix amt="0"/>
              </a:blip>
              <a:stretch>
                <a:fillRect l="-13686" t="0" r="-13686" b="0"/>
              </a:stretch>
            </a:blipFill>
          </p:spPr>
        </p:sp>
        <p:sp>
          <p:nvSpPr>
            <p:cNvPr name="TextBox 196" id="196"/>
            <p:cNvSpPr txBox="true"/>
            <p:nvPr/>
          </p:nvSpPr>
          <p:spPr>
            <a:xfrm>
              <a:off x="0" y="-38100"/>
              <a:ext cx="210312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Jyns / Mafer</a:t>
              </a:r>
            </a:p>
          </p:txBody>
        </p:sp>
      </p:grpSp>
      <p:grpSp>
        <p:nvGrpSpPr>
          <p:cNvPr name="Group 197" id="197"/>
          <p:cNvGrpSpPr/>
          <p:nvPr/>
        </p:nvGrpSpPr>
        <p:grpSpPr>
          <a:xfrm rot="0">
            <a:off x="7680960" y="7955280"/>
            <a:ext cx="1851660" cy="754380"/>
            <a:chOff x="0" y="0"/>
            <a:chExt cx="2468880" cy="1005840"/>
          </a:xfrm>
        </p:grpSpPr>
        <p:sp>
          <p:nvSpPr>
            <p:cNvPr name="Freeform 198" id="198"/>
            <p:cNvSpPr/>
            <p:nvPr/>
          </p:nvSpPr>
          <p:spPr>
            <a:xfrm flipH="false" flipV="false" rot="0">
              <a:off x="0" y="0"/>
              <a:ext cx="2468880" cy="1005840"/>
            </a:xfrm>
            <a:custGeom>
              <a:avLst/>
              <a:gdLst/>
              <a:ahLst/>
              <a:cxnLst/>
              <a:rect r="r" b="b" t="t" l="l"/>
              <a:pathLst>
                <a:path h="1005840" w="2468880">
                  <a:moveTo>
                    <a:pt x="0" y="0"/>
                  </a:moveTo>
                  <a:lnTo>
                    <a:pt x="2468880" y="0"/>
                  </a:lnTo>
                  <a:lnTo>
                    <a:pt x="2468880" y="1005840"/>
                  </a:lnTo>
                  <a:lnTo>
                    <a:pt x="0" y="1005840"/>
                  </a:lnTo>
                  <a:close/>
                </a:path>
              </a:pathLst>
            </a:custGeom>
            <a:blipFill>
              <a:blip r:embed="rId2">
                <a:alphaModFix amt="0"/>
              </a:blip>
              <a:stretch>
                <a:fillRect l="-2308" t="0" r="-2308" b="0"/>
              </a:stretch>
            </a:blipFill>
          </p:spPr>
        </p:sp>
      </p:grpSp>
      <p:grpSp>
        <p:nvGrpSpPr>
          <p:cNvPr name="Group 199" id="199"/>
          <p:cNvGrpSpPr/>
          <p:nvPr/>
        </p:nvGrpSpPr>
        <p:grpSpPr>
          <a:xfrm rot="0">
            <a:off x="7680960" y="7926705"/>
            <a:ext cx="1851660" cy="782955"/>
            <a:chOff x="0" y="0"/>
            <a:chExt cx="2468880" cy="1043940"/>
          </a:xfrm>
        </p:grpSpPr>
        <p:sp>
          <p:nvSpPr>
            <p:cNvPr name="Freeform 200" id="200"/>
            <p:cNvSpPr/>
            <p:nvPr/>
          </p:nvSpPr>
          <p:spPr>
            <a:xfrm flipH="false" flipV="false" rot="0">
              <a:off x="0" y="0"/>
              <a:ext cx="2468880" cy="1043940"/>
            </a:xfrm>
            <a:custGeom>
              <a:avLst/>
              <a:gdLst/>
              <a:ahLst/>
              <a:cxnLst/>
              <a:rect r="r" b="b" t="t" l="l"/>
              <a:pathLst>
                <a:path h="1043940" w="2468880">
                  <a:moveTo>
                    <a:pt x="0" y="0"/>
                  </a:moveTo>
                  <a:lnTo>
                    <a:pt x="2468880" y="0"/>
                  </a:lnTo>
                  <a:lnTo>
                    <a:pt x="2468880" y="1043940"/>
                  </a:lnTo>
                  <a:lnTo>
                    <a:pt x="0" y="1043940"/>
                  </a:lnTo>
                  <a:close/>
                </a:path>
              </a:pathLst>
            </a:custGeom>
            <a:blipFill>
              <a:blip r:embed="rId3">
                <a:alphaModFix amt="0"/>
              </a:blip>
              <a:stretch>
                <a:fillRect l="-4251" t="0" r="-4251" b="0"/>
              </a:stretch>
            </a:blipFill>
          </p:spPr>
        </p:sp>
        <p:sp>
          <p:nvSpPr>
            <p:cNvPr name="TextBox 201" id="201"/>
            <p:cNvSpPr txBox="true"/>
            <p:nvPr/>
          </p:nvSpPr>
          <p:spPr>
            <a:xfrm>
              <a:off x="0" y="-38100"/>
              <a:ext cx="246888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RF-11</a:t>
              </a:r>
            </a:p>
          </p:txBody>
        </p:sp>
      </p:grpSp>
      <p:grpSp>
        <p:nvGrpSpPr>
          <p:cNvPr name="Group 202" id="202"/>
          <p:cNvGrpSpPr/>
          <p:nvPr/>
        </p:nvGrpSpPr>
        <p:grpSpPr>
          <a:xfrm rot="0">
            <a:off x="9738360" y="7955280"/>
            <a:ext cx="7338060" cy="754380"/>
            <a:chOff x="0" y="0"/>
            <a:chExt cx="9784080" cy="1005840"/>
          </a:xfrm>
        </p:grpSpPr>
        <p:sp>
          <p:nvSpPr>
            <p:cNvPr name="Freeform 203" id="203"/>
            <p:cNvSpPr/>
            <p:nvPr/>
          </p:nvSpPr>
          <p:spPr>
            <a:xfrm flipH="false" flipV="false" rot="0">
              <a:off x="0" y="0"/>
              <a:ext cx="9784080" cy="1005840"/>
            </a:xfrm>
            <a:custGeom>
              <a:avLst/>
              <a:gdLst/>
              <a:ahLst/>
              <a:cxnLst/>
              <a:rect r="r" b="b" t="t" l="l"/>
              <a:pathLst>
                <a:path h="1005840" w="9784080">
                  <a:moveTo>
                    <a:pt x="0" y="0"/>
                  </a:moveTo>
                  <a:lnTo>
                    <a:pt x="9784080" y="0"/>
                  </a:lnTo>
                  <a:lnTo>
                    <a:pt x="9784080" y="1005840"/>
                  </a:lnTo>
                  <a:lnTo>
                    <a:pt x="0" y="1005840"/>
                  </a:lnTo>
                  <a:close/>
                </a:path>
              </a:pathLst>
            </a:custGeom>
            <a:blipFill>
              <a:blip r:embed="rId2">
                <a:alphaModFix amt="0"/>
              </a:blip>
              <a:stretch>
                <a:fillRect l="0" t="-139404" r="0" b="-139405"/>
              </a:stretch>
            </a:blipFill>
          </p:spPr>
        </p:sp>
      </p:grpSp>
      <p:grpSp>
        <p:nvGrpSpPr>
          <p:cNvPr name="Group 204" id="204"/>
          <p:cNvGrpSpPr/>
          <p:nvPr/>
        </p:nvGrpSpPr>
        <p:grpSpPr>
          <a:xfrm rot="0">
            <a:off x="9738360" y="7926705"/>
            <a:ext cx="7338060" cy="782955"/>
            <a:chOff x="0" y="0"/>
            <a:chExt cx="9784080" cy="1043940"/>
          </a:xfrm>
        </p:grpSpPr>
        <p:sp>
          <p:nvSpPr>
            <p:cNvPr name="Freeform 205" id="205"/>
            <p:cNvSpPr/>
            <p:nvPr/>
          </p:nvSpPr>
          <p:spPr>
            <a:xfrm flipH="false" flipV="false" rot="0">
              <a:off x="0" y="0"/>
              <a:ext cx="9784080" cy="1043940"/>
            </a:xfrm>
            <a:custGeom>
              <a:avLst/>
              <a:gdLst/>
              <a:ahLst/>
              <a:cxnLst/>
              <a:rect r="r" b="b" t="t" l="l"/>
              <a:pathLst>
                <a:path h="1043940" w="9784080">
                  <a:moveTo>
                    <a:pt x="0" y="0"/>
                  </a:moveTo>
                  <a:lnTo>
                    <a:pt x="9784080" y="0"/>
                  </a:lnTo>
                  <a:lnTo>
                    <a:pt x="9784080" y="1043940"/>
                  </a:lnTo>
                  <a:lnTo>
                    <a:pt x="0" y="1043940"/>
                  </a:lnTo>
                  <a:close/>
                </a:path>
              </a:pathLst>
            </a:custGeom>
            <a:blipFill>
              <a:blip r:embed="rId3">
                <a:alphaModFix amt="0"/>
              </a:blip>
              <a:stretch>
                <a:fillRect l="0" t="-132618" r="0" b="-132618"/>
              </a:stretch>
            </a:blipFill>
          </p:spPr>
        </p:sp>
        <p:sp>
          <p:nvSpPr>
            <p:cNvPr name="TextBox 206" id="206"/>
            <p:cNvSpPr txBox="true"/>
            <p:nvPr/>
          </p:nvSpPr>
          <p:spPr>
            <a:xfrm>
              <a:off x="0" y="-38100"/>
              <a:ext cx="978408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Traduce las variables del modelo en una explicación legible por el usuario.</a:t>
              </a:r>
            </a:p>
          </p:txBody>
        </p:sp>
      </p:grpSp>
      <p:grpSp>
        <p:nvGrpSpPr>
          <p:cNvPr name="Group 207" id="207"/>
          <p:cNvGrpSpPr/>
          <p:nvPr/>
        </p:nvGrpSpPr>
        <p:grpSpPr>
          <a:xfrm rot="0">
            <a:off x="685800" y="9738360"/>
            <a:ext cx="8229600" cy="411480"/>
            <a:chOff x="0" y="0"/>
            <a:chExt cx="10972800" cy="548640"/>
          </a:xfrm>
        </p:grpSpPr>
        <p:sp>
          <p:nvSpPr>
            <p:cNvPr name="Freeform 208" id="208"/>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209" id="209"/>
          <p:cNvGrpSpPr/>
          <p:nvPr/>
        </p:nvGrpSpPr>
        <p:grpSpPr>
          <a:xfrm rot="0">
            <a:off x="685800" y="9709785"/>
            <a:ext cx="8229600" cy="440055"/>
            <a:chOff x="0" y="0"/>
            <a:chExt cx="10972800" cy="586740"/>
          </a:xfrm>
        </p:grpSpPr>
        <p:sp>
          <p:nvSpPr>
            <p:cNvPr name="Freeform 210" id="210"/>
            <p:cNvSpPr/>
            <p:nvPr/>
          </p:nvSpPr>
          <p:spPr>
            <a:xfrm flipH="false" flipV="false" rot="0">
              <a:off x="0" y="0"/>
              <a:ext cx="10972800" cy="586740"/>
            </a:xfrm>
            <a:custGeom>
              <a:avLst/>
              <a:gdLst/>
              <a:ahLst/>
              <a:cxnLst/>
              <a:rect r="r" b="b" t="t" l="l"/>
              <a:pathLst>
                <a:path h="586740" w="10972800">
                  <a:moveTo>
                    <a:pt x="0" y="0"/>
                  </a:moveTo>
                  <a:lnTo>
                    <a:pt x="10972800" y="0"/>
                  </a:lnTo>
                  <a:lnTo>
                    <a:pt x="10972800" y="586740"/>
                  </a:lnTo>
                  <a:lnTo>
                    <a:pt x="0" y="586740"/>
                  </a:lnTo>
                  <a:close/>
                </a:path>
              </a:pathLst>
            </a:custGeom>
            <a:blipFill>
              <a:blip r:embed="rId3">
                <a:alphaModFix amt="0"/>
              </a:blip>
              <a:stretch>
                <a:fillRect l="0" t="-314395" r="0" b="-314395"/>
              </a:stretch>
            </a:blipFill>
          </p:spPr>
        </p:sp>
        <p:sp>
          <p:nvSpPr>
            <p:cNvPr name="TextBox 211" id="211"/>
            <p:cNvSpPr txBox="true"/>
            <p:nvPr/>
          </p:nvSpPr>
          <p:spPr>
            <a:xfrm>
              <a:off x="0" y="-38100"/>
              <a:ext cx="10972800" cy="624840"/>
            </a:xfrm>
            <a:prstGeom prst="rect">
              <a:avLst/>
            </a:prstGeom>
          </p:spPr>
          <p:txBody>
            <a:bodyPr anchor="ctr" rtlCol="false" tIns="0" lIns="0" bIns="0" rIns="0"/>
            <a:lstStyle/>
            <a:p>
              <a:pPr algn="l">
                <a:lnSpc>
                  <a:spcPts val="1800"/>
                </a:lnSpc>
              </a:pPr>
              <a:r>
                <a:rPr lang="en-US" sz="1500">
                  <a:solidFill>
                    <a:srgbClr val="5F669F"/>
                  </a:solidFill>
                  <a:latin typeface="Calibri (MS)"/>
                  <a:ea typeface="Calibri (MS)"/>
                  <a:cs typeface="Calibri (MS)"/>
                  <a:sym typeface="Calibri (MS)"/>
                </a:rPr>
                <a:t>InmoScore · Requirements Artifacts</a:t>
              </a:r>
            </a:p>
          </p:txBody>
        </p:sp>
      </p:grpSp>
      <p:grpSp>
        <p:nvGrpSpPr>
          <p:cNvPr name="Group 212" id="212"/>
          <p:cNvGrpSpPr/>
          <p:nvPr/>
        </p:nvGrpSpPr>
        <p:grpSpPr>
          <a:xfrm rot="0">
            <a:off x="960120" y="8709660"/>
            <a:ext cx="4732020" cy="754380"/>
            <a:chOff x="0" y="0"/>
            <a:chExt cx="6309360" cy="1005840"/>
          </a:xfrm>
        </p:grpSpPr>
        <p:sp>
          <p:nvSpPr>
            <p:cNvPr name="Freeform 213" id="213"/>
            <p:cNvSpPr/>
            <p:nvPr/>
          </p:nvSpPr>
          <p:spPr>
            <a:xfrm flipH="false" flipV="false" rot="0">
              <a:off x="0" y="0"/>
              <a:ext cx="6309360" cy="1005840"/>
            </a:xfrm>
            <a:custGeom>
              <a:avLst/>
              <a:gdLst/>
              <a:ahLst/>
              <a:cxnLst/>
              <a:rect r="r" b="b" t="t" l="l"/>
              <a:pathLst>
                <a:path h="1005840" w="6309360">
                  <a:moveTo>
                    <a:pt x="0" y="0"/>
                  </a:moveTo>
                  <a:lnTo>
                    <a:pt x="6309360" y="0"/>
                  </a:lnTo>
                  <a:lnTo>
                    <a:pt x="6309360" y="1005840"/>
                  </a:lnTo>
                  <a:lnTo>
                    <a:pt x="0" y="1005840"/>
                  </a:lnTo>
                  <a:close/>
                </a:path>
              </a:pathLst>
            </a:custGeom>
            <a:blipFill>
              <a:blip r:embed="rId2">
                <a:alphaModFix amt="0"/>
              </a:blip>
              <a:stretch>
                <a:fillRect l="0" t="-72138" r="0" b="-72140"/>
              </a:stretch>
            </a:blipFill>
          </p:spPr>
        </p:sp>
      </p:grpSp>
      <p:grpSp>
        <p:nvGrpSpPr>
          <p:cNvPr name="Group 214" id="214"/>
          <p:cNvGrpSpPr/>
          <p:nvPr/>
        </p:nvGrpSpPr>
        <p:grpSpPr>
          <a:xfrm rot="0">
            <a:off x="960120" y="8681085"/>
            <a:ext cx="4732020" cy="782955"/>
            <a:chOff x="0" y="0"/>
            <a:chExt cx="6309360" cy="1043940"/>
          </a:xfrm>
        </p:grpSpPr>
        <p:sp>
          <p:nvSpPr>
            <p:cNvPr name="Freeform 215" id="215"/>
            <p:cNvSpPr/>
            <p:nvPr/>
          </p:nvSpPr>
          <p:spPr>
            <a:xfrm flipH="false" flipV="false" rot="0">
              <a:off x="0" y="0"/>
              <a:ext cx="6309360" cy="1043940"/>
            </a:xfrm>
            <a:custGeom>
              <a:avLst/>
              <a:gdLst/>
              <a:ahLst/>
              <a:cxnLst/>
              <a:rect r="r" b="b" t="t" l="l"/>
              <a:pathLst>
                <a:path h="1043940" w="6309360">
                  <a:moveTo>
                    <a:pt x="0" y="0"/>
                  </a:moveTo>
                  <a:lnTo>
                    <a:pt x="6309360" y="0"/>
                  </a:lnTo>
                  <a:lnTo>
                    <a:pt x="6309360" y="1043940"/>
                  </a:lnTo>
                  <a:lnTo>
                    <a:pt x="0" y="1043940"/>
                  </a:lnTo>
                  <a:close/>
                </a:path>
              </a:pathLst>
            </a:custGeom>
            <a:blipFill>
              <a:blip r:embed="rId3">
                <a:alphaModFix amt="0"/>
              </a:blip>
              <a:stretch>
                <a:fillRect l="0" t="-67763" r="0" b="-67763"/>
              </a:stretch>
            </a:blipFill>
          </p:spPr>
        </p:sp>
        <p:sp>
          <p:nvSpPr>
            <p:cNvPr name="TextBox 216" id="216"/>
            <p:cNvSpPr txBox="true"/>
            <p:nvPr/>
          </p:nvSpPr>
          <p:spPr>
            <a:xfrm>
              <a:off x="0" y="-38100"/>
              <a:ext cx="630936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Pipeline de ingesta y geocodificación</a:t>
              </a:r>
            </a:p>
          </p:txBody>
        </p:sp>
      </p:grpSp>
      <p:grpSp>
        <p:nvGrpSpPr>
          <p:cNvPr name="Group 217" id="217"/>
          <p:cNvGrpSpPr/>
          <p:nvPr/>
        </p:nvGrpSpPr>
        <p:grpSpPr>
          <a:xfrm rot="0">
            <a:off x="5897880" y="8709660"/>
            <a:ext cx="1577340" cy="754380"/>
            <a:chOff x="0" y="0"/>
            <a:chExt cx="2103120" cy="1005840"/>
          </a:xfrm>
        </p:grpSpPr>
        <p:sp>
          <p:nvSpPr>
            <p:cNvPr name="Freeform 218" id="218"/>
            <p:cNvSpPr/>
            <p:nvPr/>
          </p:nvSpPr>
          <p:spPr>
            <a:xfrm flipH="false" flipV="false" rot="0">
              <a:off x="0" y="0"/>
              <a:ext cx="2103120" cy="1005840"/>
            </a:xfrm>
            <a:custGeom>
              <a:avLst/>
              <a:gdLst/>
              <a:ahLst/>
              <a:cxnLst/>
              <a:rect r="r" b="b" t="t" l="l"/>
              <a:pathLst>
                <a:path h="1005840" w="2103120">
                  <a:moveTo>
                    <a:pt x="0" y="0"/>
                  </a:moveTo>
                  <a:lnTo>
                    <a:pt x="2103120" y="0"/>
                  </a:lnTo>
                  <a:lnTo>
                    <a:pt x="2103120" y="1005840"/>
                  </a:lnTo>
                  <a:lnTo>
                    <a:pt x="0" y="1005840"/>
                  </a:lnTo>
                  <a:close/>
                </a:path>
              </a:pathLst>
            </a:custGeom>
            <a:blipFill>
              <a:blip r:embed="rId2">
                <a:alphaModFix amt="0"/>
              </a:blip>
              <a:stretch>
                <a:fillRect l="-11405" t="0" r="-11405" b="0"/>
              </a:stretch>
            </a:blipFill>
          </p:spPr>
        </p:sp>
      </p:grpSp>
      <p:grpSp>
        <p:nvGrpSpPr>
          <p:cNvPr name="Group 219" id="219"/>
          <p:cNvGrpSpPr/>
          <p:nvPr/>
        </p:nvGrpSpPr>
        <p:grpSpPr>
          <a:xfrm rot="0">
            <a:off x="5897880" y="8681085"/>
            <a:ext cx="1577340" cy="782955"/>
            <a:chOff x="0" y="0"/>
            <a:chExt cx="2103120" cy="1043940"/>
          </a:xfrm>
        </p:grpSpPr>
        <p:sp>
          <p:nvSpPr>
            <p:cNvPr name="Freeform 220" id="220"/>
            <p:cNvSpPr/>
            <p:nvPr/>
          </p:nvSpPr>
          <p:spPr>
            <a:xfrm flipH="false" flipV="false" rot="0">
              <a:off x="0" y="0"/>
              <a:ext cx="2103120" cy="1043940"/>
            </a:xfrm>
            <a:custGeom>
              <a:avLst/>
              <a:gdLst/>
              <a:ahLst/>
              <a:cxnLst/>
              <a:rect r="r" b="b" t="t" l="l"/>
              <a:pathLst>
                <a:path h="1043940" w="2103120">
                  <a:moveTo>
                    <a:pt x="0" y="0"/>
                  </a:moveTo>
                  <a:lnTo>
                    <a:pt x="2103120" y="0"/>
                  </a:lnTo>
                  <a:lnTo>
                    <a:pt x="2103120" y="1043940"/>
                  </a:lnTo>
                  <a:lnTo>
                    <a:pt x="0" y="1043940"/>
                  </a:lnTo>
                  <a:close/>
                </a:path>
              </a:pathLst>
            </a:custGeom>
            <a:blipFill>
              <a:blip r:embed="rId3">
                <a:alphaModFix amt="0"/>
              </a:blip>
              <a:stretch>
                <a:fillRect l="-13686" t="0" r="-13686" b="0"/>
              </a:stretch>
            </a:blipFill>
          </p:spPr>
        </p:sp>
        <p:sp>
          <p:nvSpPr>
            <p:cNvPr name="TextBox 221" id="221"/>
            <p:cNvSpPr txBox="true"/>
            <p:nvPr/>
          </p:nvSpPr>
          <p:spPr>
            <a:xfrm>
              <a:off x="0" y="-38100"/>
              <a:ext cx="210312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Denzel</a:t>
              </a:r>
            </a:p>
          </p:txBody>
        </p:sp>
      </p:grpSp>
      <p:grpSp>
        <p:nvGrpSpPr>
          <p:cNvPr name="Group 222" id="222"/>
          <p:cNvGrpSpPr/>
          <p:nvPr/>
        </p:nvGrpSpPr>
        <p:grpSpPr>
          <a:xfrm rot="0">
            <a:off x="7680960" y="8709660"/>
            <a:ext cx="1851660" cy="754380"/>
            <a:chOff x="0" y="0"/>
            <a:chExt cx="2468880" cy="1005840"/>
          </a:xfrm>
        </p:grpSpPr>
        <p:sp>
          <p:nvSpPr>
            <p:cNvPr name="Freeform 223" id="223"/>
            <p:cNvSpPr/>
            <p:nvPr/>
          </p:nvSpPr>
          <p:spPr>
            <a:xfrm flipH="false" flipV="false" rot="0">
              <a:off x="0" y="0"/>
              <a:ext cx="2468880" cy="1005840"/>
            </a:xfrm>
            <a:custGeom>
              <a:avLst/>
              <a:gdLst/>
              <a:ahLst/>
              <a:cxnLst/>
              <a:rect r="r" b="b" t="t" l="l"/>
              <a:pathLst>
                <a:path h="1005840" w="2468880">
                  <a:moveTo>
                    <a:pt x="0" y="0"/>
                  </a:moveTo>
                  <a:lnTo>
                    <a:pt x="2468880" y="0"/>
                  </a:lnTo>
                  <a:lnTo>
                    <a:pt x="2468880" y="1005840"/>
                  </a:lnTo>
                  <a:lnTo>
                    <a:pt x="0" y="1005840"/>
                  </a:lnTo>
                  <a:close/>
                </a:path>
              </a:pathLst>
            </a:custGeom>
            <a:blipFill>
              <a:blip r:embed="rId2">
                <a:alphaModFix amt="0"/>
              </a:blip>
              <a:stretch>
                <a:fillRect l="-2308" t="0" r="-2308" b="0"/>
              </a:stretch>
            </a:blipFill>
          </p:spPr>
        </p:sp>
      </p:grpSp>
      <p:grpSp>
        <p:nvGrpSpPr>
          <p:cNvPr name="Group 224" id="224"/>
          <p:cNvGrpSpPr/>
          <p:nvPr/>
        </p:nvGrpSpPr>
        <p:grpSpPr>
          <a:xfrm rot="0">
            <a:off x="7680960" y="8681085"/>
            <a:ext cx="1851660" cy="782955"/>
            <a:chOff x="0" y="0"/>
            <a:chExt cx="2468880" cy="1043940"/>
          </a:xfrm>
        </p:grpSpPr>
        <p:sp>
          <p:nvSpPr>
            <p:cNvPr name="Freeform 225" id="225"/>
            <p:cNvSpPr/>
            <p:nvPr/>
          </p:nvSpPr>
          <p:spPr>
            <a:xfrm flipH="false" flipV="false" rot="0">
              <a:off x="0" y="0"/>
              <a:ext cx="2468880" cy="1043940"/>
            </a:xfrm>
            <a:custGeom>
              <a:avLst/>
              <a:gdLst/>
              <a:ahLst/>
              <a:cxnLst/>
              <a:rect r="r" b="b" t="t" l="l"/>
              <a:pathLst>
                <a:path h="1043940" w="2468880">
                  <a:moveTo>
                    <a:pt x="0" y="0"/>
                  </a:moveTo>
                  <a:lnTo>
                    <a:pt x="2468880" y="0"/>
                  </a:lnTo>
                  <a:lnTo>
                    <a:pt x="2468880" y="1043940"/>
                  </a:lnTo>
                  <a:lnTo>
                    <a:pt x="0" y="1043940"/>
                  </a:lnTo>
                  <a:close/>
                </a:path>
              </a:pathLst>
            </a:custGeom>
            <a:blipFill>
              <a:blip r:embed="rId3">
                <a:alphaModFix amt="0"/>
              </a:blip>
              <a:stretch>
                <a:fillRect l="-4251" t="0" r="-4251" b="0"/>
              </a:stretch>
            </a:blipFill>
          </p:spPr>
        </p:sp>
        <p:sp>
          <p:nvSpPr>
            <p:cNvPr name="TextBox 226" id="226"/>
            <p:cNvSpPr txBox="true"/>
            <p:nvPr/>
          </p:nvSpPr>
          <p:spPr>
            <a:xfrm>
              <a:off x="0" y="-38100"/>
              <a:ext cx="246888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RF-01, RF-02, RNF-03</a:t>
              </a:r>
            </a:p>
          </p:txBody>
        </p:sp>
      </p:grpSp>
      <p:grpSp>
        <p:nvGrpSpPr>
          <p:cNvPr name="Group 227" id="227"/>
          <p:cNvGrpSpPr/>
          <p:nvPr/>
        </p:nvGrpSpPr>
        <p:grpSpPr>
          <a:xfrm rot="0">
            <a:off x="9738360" y="8709660"/>
            <a:ext cx="7338060" cy="754380"/>
            <a:chOff x="0" y="0"/>
            <a:chExt cx="9784080" cy="1005840"/>
          </a:xfrm>
        </p:grpSpPr>
        <p:sp>
          <p:nvSpPr>
            <p:cNvPr name="Freeform 228" id="228"/>
            <p:cNvSpPr/>
            <p:nvPr/>
          </p:nvSpPr>
          <p:spPr>
            <a:xfrm flipH="false" flipV="false" rot="0">
              <a:off x="0" y="0"/>
              <a:ext cx="9784080" cy="1005840"/>
            </a:xfrm>
            <a:custGeom>
              <a:avLst/>
              <a:gdLst/>
              <a:ahLst/>
              <a:cxnLst/>
              <a:rect r="r" b="b" t="t" l="l"/>
              <a:pathLst>
                <a:path h="1005840" w="9784080">
                  <a:moveTo>
                    <a:pt x="0" y="0"/>
                  </a:moveTo>
                  <a:lnTo>
                    <a:pt x="9784080" y="0"/>
                  </a:lnTo>
                  <a:lnTo>
                    <a:pt x="9784080" y="1005840"/>
                  </a:lnTo>
                  <a:lnTo>
                    <a:pt x="0" y="1005840"/>
                  </a:lnTo>
                  <a:close/>
                </a:path>
              </a:pathLst>
            </a:custGeom>
            <a:blipFill>
              <a:blip r:embed="rId2">
                <a:alphaModFix amt="0"/>
              </a:blip>
              <a:stretch>
                <a:fillRect l="0" t="-139404" r="0" b="-139405"/>
              </a:stretch>
            </a:blipFill>
          </p:spPr>
        </p:sp>
      </p:grpSp>
      <p:grpSp>
        <p:nvGrpSpPr>
          <p:cNvPr name="Group 229" id="229"/>
          <p:cNvGrpSpPr/>
          <p:nvPr/>
        </p:nvGrpSpPr>
        <p:grpSpPr>
          <a:xfrm rot="0">
            <a:off x="9738360" y="8681085"/>
            <a:ext cx="7338060" cy="782955"/>
            <a:chOff x="0" y="0"/>
            <a:chExt cx="9784080" cy="1043940"/>
          </a:xfrm>
        </p:grpSpPr>
        <p:sp>
          <p:nvSpPr>
            <p:cNvPr name="Freeform 230" id="230"/>
            <p:cNvSpPr/>
            <p:nvPr/>
          </p:nvSpPr>
          <p:spPr>
            <a:xfrm flipH="false" flipV="false" rot="0">
              <a:off x="0" y="0"/>
              <a:ext cx="9784080" cy="1043940"/>
            </a:xfrm>
            <a:custGeom>
              <a:avLst/>
              <a:gdLst/>
              <a:ahLst/>
              <a:cxnLst/>
              <a:rect r="r" b="b" t="t" l="l"/>
              <a:pathLst>
                <a:path h="1043940" w="9784080">
                  <a:moveTo>
                    <a:pt x="0" y="0"/>
                  </a:moveTo>
                  <a:lnTo>
                    <a:pt x="9784080" y="0"/>
                  </a:lnTo>
                  <a:lnTo>
                    <a:pt x="9784080" y="1043940"/>
                  </a:lnTo>
                  <a:lnTo>
                    <a:pt x="0" y="1043940"/>
                  </a:lnTo>
                  <a:close/>
                </a:path>
              </a:pathLst>
            </a:custGeom>
            <a:blipFill>
              <a:blip r:embed="rId3">
                <a:alphaModFix amt="0"/>
              </a:blip>
              <a:stretch>
                <a:fillRect l="0" t="-132618" r="0" b="-132618"/>
              </a:stretch>
            </a:blipFill>
          </p:spPr>
        </p:sp>
        <p:sp>
          <p:nvSpPr>
            <p:cNvPr name="TextBox 231" id="231"/>
            <p:cNvSpPr txBox="true"/>
            <p:nvPr/>
          </p:nvSpPr>
          <p:spPr>
            <a:xfrm>
              <a:off x="0" y="-38100"/>
              <a:ext cx="9784080" cy="1082040"/>
            </a:xfrm>
            <a:prstGeom prst="rect">
              <a:avLst/>
            </a:prstGeom>
          </p:spPr>
          <p:txBody>
            <a:bodyPr anchor="ctr" rtlCol="false" tIns="0" lIns="0" bIns="0" rIns="0"/>
            <a:lstStyle/>
            <a:p>
              <a:pPr algn="l">
                <a:lnSpc>
                  <a:spcPts val="1709"/>
                </a:lnSpc>
              </a:pPr>
              <a:r>
                <a:rPr lang="en-US" sz="1425">
                  <a:solidFill>
                    <a:srgbClr val="5F669F"/>
                  </a:solidFill>
                  <a:latin typeface="Calibri (MS)"/>
                  <a:ea typeface="Calibri (MS)"/>
                  <a:cs typeface="Calibri (MS)"/>
                  <a:sym typeface="Calibri (MS)"/>
                </a:rPr>
                <a:t>Automatiza la descarga de las seis fuentes y geocodifica las direcciones con Nominatim, requisito de las distancias a POIs.</a:t>
              </a:r>
            </a:p>
          </p:txBody>
        </p:sp>
      </p:gr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F9FBFC"/>
        </a:solidFill>
      </p:bgPr>
    </p:bg>
    <p:spTree>
      <p:nvGrpSpPr>
        <p:cNvPr id="1" name=""/>
        <p:cNvGrpSpPr/>
        <p:nvPr/>
      </p:nvGrpSpPr>
      <p:grpSpPr>
        <a:xfrm>
          <a:off x="0" y="0"/>
          <a:ext cx="0" cy="0"/>
          <a:chOff x="0" y="0"/>
          <a:chExt cx="0" cy="0"/>
        </a:xfrm>
      </p:grpSpPr>
      <p:grpSp>
        <p:nvGrpSpPr>
          <p:cNvPr name="Group 2" id="2"/>
          <p:cNvGrpSpPr/>
          <p:nvPr/>
        </p:nvGrpSpPr>
        <p:grpSpPr>
          <a:xfrm rot="0">
            <a:off x="822960" y="480060"/>
            <a:ext cx="13716000" cy="480060"/>
            <a:chOff x="0" y="0"/>
            <a:chExt cx="18288000" cy="640080"/>
          </a:xfrm>
        </p:grpSpPr>
        <p:sp>
          <p:nvSpPr>
            <p:cNvPr name="Freeform 3" id="3"/>
            <p:cNvSpPr/>
            <p:nvPr/>
          </p:nvSpPr>
          <p:spPr>
            <a:xfrm flipH="false" flipV="false" rot="0">
              <a:off x="0" y="0"/>
              <a:ext cx="18288000" cy="640080"/>
            </a:xfrm>
            <a:custGeom>
              <a:avLst/>
              <a:gdLst/>
              <a:ahLst/>
              <a:cxnLst/>
              <a:rect r="r" b="b" t="t" l="l"/>
              <a:pathLst>
                <a:path h="640080" w="18288000">
                  <a:moveTo>
                    <a:pt x="0" y="0"/>
                  </a:moveTo>
                  <a:lnTo>
                    <a:pt x="18288000" y="0"/>
                  </a:lnTo>
                  <a:lnTo>
                    <a:pt x="18288000" y="640080"/>
                  </a:lnTo>
                  <a:lnTo>
                    <a:pt x="0" y="640080"/>
                  </a:lnTo>
                  <a:close/>
                </a:path>
              </a:pathLst>
            </a:custGeom>
            <a:blipFill>
              <a:blip r:embed="rId2">
                <a:alphaModFix amt="0"/>
              </a:blip>
              <a:stretch>
                <a:fillRect l="0" t="-506327" r="0" b="-506329"/>
              </a:stretch>
            </a:blipFill>
          </p:spPr>
        </p:sp>
      </p:grpSp>
      <p:grpSp>
        <p:nvGrpSpPr>
          <p:cNvPr name="Group 4" id="4"/>
          <p:cNvGrpSpPr/>
          <p:nvPr/>
        </p:nvGrpSpPr>
        <p:grpSpPr>
          <a:xfrm rot="0">
            <a:off x="822960" y="451485"/>
            <a:ext cx="13716000" cy="508635"/>
            <a:chOff x="0" y="0"/>
            <a:chExt cx="18288000" cy="678180"/>
          </a:xfrm>
        </p:grpSpPr>
        <p:sp>
          <p:nvSpPr>
            <p:cNvPr name="Freeform 5" id="5"/>
            <p:cNvSpPr/>
            <p:nvPr/>
          </p:nvSpPr>
          <p:spPr>
            <a:xfrm flipH="false" flipV="false" rot="0">
              <a:off x="0" y="0"/>
              <a:ext cx="18288000" cy="678180"/>
            </a:xfrm>
            <a:custGeom>
              <a:avLst/>
              <a:gdLst/>
              <a:ahLst/>
              <a:cxnLst/>
              <a:rect r="r" b="b" t="t" l="l"/>
              <a:pathLst>
                <a:path h="678180" w="18288000">
                  <a:moveTo>
                    <a:pt x="0" y="0"/>
                  </a:moveTo>
                  <a:lnTo>
                    <a:pt x="18288000" y="0"/>
                  </a:lnTo>
                  <a:lnTo>
                    <a:pt x="18288000" y="678180"/>
                  </a:lnTo>
                  <a:lnTo>
                    <a:pt x="0" y="678180"/>
                  </a:lnTo>
                  <a:close/>
                </a:path>
              </a:pathLst>
            </a:custGeom>
            <a:blipFill>
              <a:blip r:embed="rId3">
                <a:alphaModFix amt="0"/>
              </a:blip>
              <a:stretch>
                <a:fillRect l="0" t="-475439" r="0" b="-475439"/>
              </a:stretch>
            </a:blipFill>
          </p:spPr>
        </p:sp>
        <p:sp>
          <p:nvSpPr>
            <p:cNvPr name="TextBox 6" id="6"/>
            <p:cNvSpPr txBox="true"/>
            <p:nvPr/>
          </p:nvSpPr>
          <p:spPr>
            <a:xfrm>
              <a:off x="0" y="-38100"/>
              <a:ext cx="18288000" cy="716280"/>
            </a:xfrm>
            <a:prstGeom prst="rect">
              <a:avLst/>
            </a:prstGeom>
          </p:spPr>
          <p:txBody>
            <a:bodyPr anchor="ctr" rtlCol="false" tIns="0" lIns="0" bIns="0" rIns="0"/>
            <a:lstStyle/>
            <a:p>
              <a:pPr algn="l">
                <a:lnSpc>
                  <a:spcPts val="2160"/>
                </a:lnSpc>
              </a:pPr>
              <a:r>
                <a:rPr lang="en-US" b="true" sz="1800" spc="225">
                  <a:solidFill>
                    <a:srgbClr val="9495A2"/>
                  </a:solidFill>
                  <a:latin typeface="Calibri (MS) Bold"/>
                  <a:ea typeface="Calibri (MS) Bold"/>
                  <a:cs typeface="Calibri (MS) Bold"/>
                  <a:sym typeface="Calibri (MS) Bold"/>
                </a:rPr>
                <a:t>REQUIREMENTS</a:t>
              </a:r>
            </a:p>
          </p:txBody>
        </p:sp>
      </p:grpSp>
      <p:grpSp>
        <p:nvGrpSpPr>
          <p:cNvPr name="Group 7" id="7"/>
          <p:cNvGrpSpPr/>
          <p:nvPr/>
        </p:nvGrpSpPr>
        <p:grpSpPr>
          <a:xfrm rot="0">
            <a:off x="822960" y="932688"/>
            <a:ext cx="16184880" cy="960120"/>
            <a:chOff x="0" y="0"/>
            <a:chExt cx="21579840" cy="1280160"/>
          </a:xfrm>
        </p:grpSpPr>
        <p:sp>
          <p:nvSpPr>
            <p:cNvPr name="Freeform 8" id="8"/>
            <p:cNvSpPr/>
            <p:nvPr/>
          </p:nvSpPr>
          <p:spPr>
            <a:xfrm flipH="false" flipV="false" rot="0">
              <a:off x="0" y="0"/>
              <a:ext cx="21579839" cy="1280160"/>
            </a:xfrm>
            <a:custGeom>
              <a:avLst/>
              <a:gdLst/>
              <a:ahLst/>
              <a:cxnLst/>
              <a:rect r="r" b="b" t="t" l="l"/>
              <a:pathLst>
                <a:path h="1280160" w="21579839">
                  <a:moveTo>
                    <a:pt x="0" y="0"/>
                  </a:moveTo>
                  <a:lnTo>
                    <a:pt x="21579839" y="0"/>
                  </a:lnTo>
                  <a:lnTo>
                    <a:pt x="21579839" y="1280160"/>
                  </a:lnTo>
                  <a:lnTo>
                    <a:pt x="0" y="1280160"/>
                  </a:lnTo>
                  <a:close/>
                </a:path>
              </a:pathLst>
            </a:custGeom>
            <a:blipFill>
              <a:blip r:embed="rId2">
                <a:alphaModFix amt="0"/>
              </a:blip>
              <a:stretch>
                <a:fillRect l="0" t="-278234" r="0" b="-278233"/>
              </a:stretch>
            </a:blipFill>
          </p:spPr>
        </p:sp>
      </p:grpSp>
      <p:grpSp>
        <p:nvGrpSpPr>
          <p:cNvPr name="Group 9" id="9"/>
          <p:cNvGrpSpPr/>
          <p:nvPr/>
        </p:nvGrpSpPr>
        <p:grpSpPr>
          <a:xfrm rot="0">
            <a:off x="822960" y="918400"/>
            <a:ext cx="16184880" cy="974407"/>
            <a:chOff x="0" y="0"/>
            <a:chExt cx="21579840" cy="1299210"/>
          </a:xfrm>
        </p:grpSpPr>
        <p:sp>
          <p:nvSpPr>
            <p:cNvPr name="Freeform 10" id="10"/>
            <p:cNvSpPr/>
            <p:nvPr/>
          </p:nvSpPr>
          <p:spPr>
            <a:xfrm flipH="false" flipV="false" rot="0">
              <a:off x="0" y="0"/>
              <a:ext cx="21579839" cy="1299210"/>
            </a:xfrm>
            <a:custGeom>
              <a:avLst/>
              <a:gdLst/>
              <a:ahLst/>
              <a:cxnLst/>
              <a:rect r="r" b="b" t="t" l="l"/>
              <a:pathLst>
                <a:path h="1299210" w="21579839">
                  <a:moveTo>
                    <a:pt x="0" y="0"/>
                  </a:moveTo>
                  <a:lnTo>
                    <a:pt x="21579839" y="0"/>
                  </a:lnTo>
                  <a:lnTo>
                    <a:pt x="21579839" y="1299210"/>
                  </a:lnTo>
                  <a:lnTo>
                    <a:pt x="0" y="1299210"/>
                  </a:lnTo>
                  <a:close/>
                </a:path>
              </a:pathLst>
            </a:custGeom>
            <a:blipFill>
              <a:blip r:embed="rId3">
                <a:alphaModFix amt="0"/>
              </a:blip>
              <a:stretch>
                <a:fillRect l="0" t="-273645" r="0" b="-273645"/>
              </a:stretch>
            </a:blipFill>
          </p:spPr>
        </p:sp>
        <p:sp>
          <p:nvSpPr>
            <p:cNvPr name="TextBox 11" id="11"/>
            <p:cNvSpPr txBox="true"/>
            <p:nvPr/>
          </p:nvSpPr>
          <p:spPr>
            <a:xfrm>
              <a:off x="0" y="-19050"/>
              <a:ext cx="21579840" cy="1318260"/>
            </a:xfrm>
            <a:prstGeom prst="rect">
              <a:avLst/>
            </a:prstGeom>
          </p:spPr>
          <p:txBody>
            <a:bodyPr anchor="ctr" rtlCol="false" tIns="0" lIns="0" bIns="0" rIns="0"/>
            <a:lstStyle/>
            <a:p>
              <a:pPr algn="l">
                <a:lnSpc>
                  <a:spcPts val="5400"/>
                </a:lnSpc>
              </a:pPr>
              <a:r>
                <a:rPr lang="en-US" sz="4500" b="true">
                  <a:solidFill>
                    <a:srgbClr val="0F1017"/>
                  </a:solidFill>
                  <a:latin typeface="Cambria Bold"/>
                  <a:ea typeface="Cambria Bold"/>
                  <a:cs typeface="Cambria Bold"/>
                  <a:sym typeface="Cambria Bold"/>
                </a:rPr>
                <a:t>Assumptions, Constraints &amp; Acceptance Criteria</a:t>
              </a:r>
            </a:p>
          </p:txBody>
        </p:sp>
      </p:grpSp>
      <p:grpSp>
        <p:nvGrpSpPr>
          <p:cNvPr name="Group 12" id="12"/>
          <p:cNvGrpSpPr/>
          <p:nvPr/>
        </p:nvGrpSpPr>
        <p:grpSpPr>
          <a:xfrm rot="0">
            <a:off x="822960" y="2194560"/>
            <a:ext cx="5280660" cy="6583680"/>
            <a:chOff x="0" y="0"/>
            <a:chExt cx="7040880" cy="8778240"/>
          </a:xfrm>
        </p:grpSpPr>
        <p:sp>
          <p:nvSpPr>
            <p:cNvPr name="Freeform 13" id="13"/>
            <p:cNvSpPr/>
            <p:nvPr/>
          </p:nvSpPr>
          <p:spPr>
            <a:xfrm flipH="false" flipV="false" rot="0">
              <a:off x="0" y="0"/>
              <a:ext cx="7040880" cy="8778240"/>
            </a:xfrm>
            <a:custGeom>
              <a:avLst/>
              <a:gdLst/>
              <a:ahLst/>
              <a:cxnLst/>
              <a:rect r="r" b="b" t="t" l="l"/>
              <a:pathLst>
                <a:path h="8778240" w="7040880">
                  <a:moveTo>
                    <a:pt x="0" y="182880"/>
                  </a:moveTo>
                  <a:cubicBezTo>
                    <a:pt x="0" y="81915"/>
                    <a:pt x="81915" y="0"/>
                    <a:pt x="182880" y="0"/>
                  </a:cubicBezTo>
                  <a:lnTo>
                    <a:pt x="6858000" y="0"/>
                  </a:lnTo>
                  <a:cubicBezTo>
                    <a:pt x="6958965" y="0"/>
                    <a:pt x="7040880" y="81915"/>
                    <a:pt x="7040880" y="182880"/>
                  </a:cubicBezTo>
                  <a:lnTo>
                    <a:pt x="7040880" y="8595360"/>
                  </a:lnTo>
                  <a:cubicBezTo>
                    <a:pt x="7040880" y="8696325"/>
                    <a:pt x="6958965" y="8778240"/>
                    <a:pt x="6858000" y="8778240"/>
                  </a:cubicBezTo>
                  <a:lnTo>
                    <a:pt x="182880" y="8778240"/>
                  </a:lnTo>
                  <a:cubicBezTo>
                    <a:pt x="81915" y="8778240"/>
                    <a:pt x="0" y="8696325"/>
                    <a:pt x="0" y="8595360"/>
                  </a:cubicBezTo>
                  <a:close/>
                </a:path>
              </a:pathLst>
            </a:custGeom>
            <a:solidFill>
              <a:srgbClr val="9495A2"/>
            </a:solidFill>
          </p:spPr>
        </p:sp>
      </p:grpSp>
      <p:grpSp>
        <p:nvGrpSpPr>
          <p:cNvPr name="Group 14" id="14"/>
          <p:cNvGrpSpPr/>
          <p:nvPr/>
        </p:nvGrpSpPr>
        <p:grpSpPr>
          <a:xfrm rot="0">
            <a:off x="1165860" y="2468880"/>
            <a:ext cx="4663440" cy="480060"/>
            <a:chOff x="0" y="0"/>
            <a:chExt cx="6217920" cy="640080"/>
          </a:xfrm>
        </p:grpSpPr>
        <p:sp>
          <p:nvSpPr>
            <p:cNvPr name="Freeform 15" id="15"/>
            <p:cNvSpPr/>
            <p:nvPr/>
          </p:nvSpPr>
          <p:spPr>
            <a:xfrm flipH="false" flipV="false" rot="0">
              <a:off x="0" y="0"/>
              <a:ext cx="6217920" cy="640080"/>
            </a:xfrm>
            <a:custGeom>
              <a:avLst/>
              <a:gdLst/>
              <a:ahLst/>
              <a:cxnLst/>
              <a:rect r="r" b="b" t="t" l="l"/>
              <a:pathLst>
                <a:path h="640080" w="6217920">
                  <a:moveTo>
                    <a:pt x="0" y="0"/>
                  </a:moveTo>
                  <a:lnTo>
                    <a:pt x="6217920" y="0"/>
                  </a:lnTo>
                  <a:lnTo>
                    <a:pt x="6217920" y="640080"/>
                  </a:lnTo>
                  <a:lnTo>
                    <a:pt x="0" y="640080"/>
                  </a:lnTo>
                  <a:close/>
                </a:path>
              </a:pathLst>
            </a:custGeom>
            <a:blipFill>
              <a:blip r:embed="rId2">
                <a:alphaModFix amt="0"/>
              </a:blip>
              <a:stretch>
                <a:fillRect l="0" t="-139150" r="0" b="-139152"/>
              </a:stretch>
            </a:blipFill>
          </p:spPr>
        </p:sp>
      </p:grpSp>
      <p:grpSp>
        <p:nvGrpSpPr>
          <p:cNvPr name="Group 16" id="16"/>
          <p:cNvGrpSpPr/>
          <p:nvPr/>
        </p:nvGrpSpPr>
        <p:grpSpPr>
          <a:xfrm rot="0">
            <a:off x="1165860" y="2433161"/>
            <a:ext cx="4663440" cy="515779"/>
            <a:chOff x="0" y="0"/>
            <a:chExt cx="6217920" cy="687705"/>
          </a:xfrm>
        </p:grpSpPr>
        <p:sp>
          <p:nvSpPr>
            <p:cNvPr name="Freeform 17" id="17"/>
            <p:cNvSpPr/>
            <p:nvPr/>
          </p:nvSpPr>
          <p:spPr>
            <a:xfrm flipH="false" flipV="false" rot="0">
              <a:off x="0" y="0"/>
              <a:ext cx="6217920" cy="687705"/>
            </a:xfrm>
            <a:custGeom>
              <a:avLst/>
              <a:gdLst/>
              <a:ahLst/>
              <a:cxnLst/>
              <a:rect r="r" b="b" t="t" l="l"/>
              <a:pathLst>
                <a:path h="687705" w="6217920">
                  <a:moveTo>
                    <a:pt x="0" y="0"/>
                  </a:moveTo>
                  <a:lnTo>
                    <a:pt x="6217920" y="0"/>
                  </a:lnTo>
                  <a:lnTo>
                    <a:pt x="6217920" y="687705"/>
                  </a:lnTo>
                  <a:lnTo>
                    <a:pt x="0" y="687705"/>
                  </a:lnTo>
                  <a:close/>
                </a:path>
              </a:pathLst>
            </a:custGeom>
            <a:blipFill>
              <a:blip r:embed="rId3">
                <a:alphaModFix amt="0"/>
              </a:blip>
              <a:stretch>
                <a:fillRect l="0" t="-126174" r="0" b="-126174"/>
              </a:stretch>
            </a:blipFill>
          </p:spPr>
        </p:sp>
        <p:sp>
          <p:nvSpPr>
            <p:cNvPr name="TextBox 18" id="18"/>
            <p:cNvSpPr txBox="true"/>
            <p:nvPr/>
          </p:nvSpPr>
          <p:spPr>
            <a:xfrm>
              <a:off x="0" y="-47625"/>
              <a:ext cx="6217920" cy="735330"/>
            </a:xfrm>
            <a:prstGeom prst="rect">
              <a:avLst/>
            </a:prstGeom>
          </p:spPr>
          <p:txBody>
            <a:bodyPr anchor="ctr" rtlCol="false" tIns="0" lIns="0" bIns="0" rIns="0"/>
            <a:lstStyle/>
            <a:p>
              <a:pPr algn="l">
                <a:lnSpc>
                  <a:spcPts val="2340"/>
                </a:lnSpc>
              </a:pPr>
              <a:r>
                <a:rPr lang="en-US" sz="1950" b="true">
                  <a:solidFill>
                    <a:srgbClr val="0F1017"/>
                  </a:solidFill>
                  <a:latin typeface="Calibri (MS) Bold"/>
                  <a:ea typeface="Calibri (MS) Bold"/>
                  <a:cs typeface="Calibri (MS) Bold"/>
                  <a:sym typeface="Calibri (MS) Bold"/>
                </a:rPr>
                <a:t>Assumptions</a:t>
              </a:r>
            </a:p>
          </p:txBody>
        </p:sp>
      </p:grpSp>
      <p:grpSp>
        <p:nvGrpSpPr>
          <p:cNvPr name="Group 19" id="19"/>
          <p:cNvGrpSpPr/>
          <p:nvPr/>
        </p:nvGrpSpPr>
        <p:grpSpPr>
          <a:xfrm rot="0">
            <a:off x="1165860" y="3017520"/>
            <a:ext cx="4663440" cy="5349240"/>
            <a:chOff x="0" y="0"/>
            <a:chExt cx="6217920" cy="7132320"/>
          </a:xfrm>
        </p:grpSpPr>
        <p:sp>
          <p:nvSpPr>
            <p:cNvPr name="Freeform 20" id="20"/>
            <p:cNvSpPr/>
            <p:nvPr/>
          </p:nvSpPr>
          <p:spPr>
            <a:xfrm flipH="false" flipV="false" rot="0">
              <a:off x="0" y="0"/>
              <a:ext cx="6217920" cy="7132320"/>
            </a:xfrm>
            <a:custGeom>
              <a:avLst/>
              <a:gdLst/>
              <a:ahLst/>
              <a:cxnLst/>
              <a:rect r="r" b="b" t="t" l="l"/>
              <a:pathLst>
                <a:path h="7132320" w="6217920">
                  <a:moveTo>
                    <a:pt x="0" y="0"/>
                  </a:moveTo>
                  <a:lnTo>
                    <a:pt x="6217920" y="0"/>
                  </a:lnTo>
                  <a:lnTo>
                    <a:pt x="6217920" y="7132320"/>
                  </a:lnTo>
                  <a:lnTo>
                    <a:pt x="0" y="7132320"/>
                  </a:lnTo>
                  <a:close/>
                </a:path>
              </a:pathLst>
            </a:custGeom>
            <a:blipFill>
              <a:blip r:embed="rId2">
                <a:alphaModFix amt="0"/>
              </a:blip>
              <a:stretch>
                <a:fillRect l="-97274" t="0" r="-97274" b="0"/>
              </a:stretch>
            </a:blipFill>
          </p:spPr>
        </p:sp>
      </p:grpSp>
      <p:grpSp>
        <p:nvGrpSpPr>
          <p:cNvPr name="Group 21" id="21"/>
          <p:cNvGrpSpPr/>
          <p:nvPr/>
        </p:nvGrpSpPr>
        <p:grpSpPr>
          <a:xfrm rot="0">
            <a:off x="1165860" y="2996089"/>
            <a:ext cx="4663440" cy="5370671"/>
            <a:chOff x="0" y="0"/>
            <a:chExt cx="6217920" cy="7160895"/>
          </a:xfrm>
        </p:grpSpPr>
        <p:sp>
          <p:nvSpPr>
            <p:cNvPr name="Freeform 22" id="22"/>
            <p:cNvSpPr/>
            <p:nvPr/>
          </p:nvSpPr>
          <p:spPr>
            <a:xfrm flipH="false" flipV="false" rot="0">
              <a:off x="0" y="0"/>
              <a:ext cx="6217920" cy="7160895"/>
            </a:xfrm>
            <a:custGeom>
              <a:avLst/>
              <a:gdLst/>
              <a:ahLst/>
              <a:cxnLst/>
              <a:rect r="r" b="b" t="t" l="l"/>
              <a:pathLst>
                <a:path h="7160895" w="6217920">
                  <a:moveTo>
                    <a:pt x="0" y="0"/>
                  </a:moveTo>
                  <a:lnTo>
                    <a:pt x="6217920" y="0"/>
                  </a:lnTo>
                  <a:lnTo>
                    <a:pt x="6217920" y="7160895"/>
                  </a:lnTo>
                  <a:lnTo>
                    <a:pt x="0" y="7160895"/>
                  </a:lnTo>
                  <a:close/>
                </a:path>
              </a:pathLst>
            </a:custGeom>
            <a:blipFill>
              <a:blip r:embed="rId3">
                <a:alphaModFix amt="0"/>
              </a:blip>
              <a:stretch>
                <a:fillRect l="-97761" t="0" r="-97761" b="0"/>
              </a:stretch>
            </a:blipFill>
          </p:spPr>
        </p:sp>
        <p:sp>
          <p:nvSpPr>
            <p:cNvPr name="TextBox 23" id="23"/>
            <p:cNvSpPr txBox="true"/>
            <p:nvPr/>
          </p:nvSpPr>
          <p:spPr>
            <a:xfrm>
              <a:off x="0" y="-28575"/>
              <a:ext cx="6217920" cy="7189470"/>
            </a:xfrm>
            <a:prstGeom prst="rect">
              <a:avLst/>
            </a:prstGeom>
          </p:spPr>
          <p:txBody>
            <a:bodyPr anchor="ctr" rtlCol="false" tIns="0" lIns="0" bIns="0" rIns="0"/>
            <a:lstStyle/>
            <a:p>
              <a:pPr algn="l" marL="306058" indent="-102019" lvl="2">
                <a:lnSpc>
                  <a:spcPts val="1740"/>
                </a:lnSpc>
                <a:buFont typeface="Arial"/>
                <a:buChar char="⚬"/>
              </a:pPr>
              <a:r>
                <a:rPr lang="en-US" sz="1450">
                  <a:solidFill>
                    <a:srgbClr val="0F1017"/>
                  </a:solidFill>
                  <a:latin typeface="Calibri (MS)"/>
                  <a:ea typeface="Calibri (MS)"/>
                  <a:cs typeface="Calibri (MS)"/>
                  <a:sym typeface="Calibri (MS)"/>
                </a:rPr>
                <a:t>Se asume que los portales inmobiliarios (Urbania, Properati) mantienen una e</a:t>
              </a:r>
              <a:r>
                <a:rPr lang="en-US" sz="1450">
                  <a:solidFill>
                    <a:srgbClr val="0F1017"/>
                  </a:solidFill>
                  <a:latin typeface="Calibri (MS)"/>
                  <a:ea typeface="Calibri (MS)"/>
                  <a:cs typeface="Calibri (MS)"/>
                  <a:sym typeface="Calibri (MS)"/>
                </a:rPr>
                <a:t>structura HTML relativamente estable durante el desarrollo del proyecto, permitiendo el scraping planificado.</a:t>
              </a:r>
            </a:p>
            <a:p>
              <a:pPr algn="l" marL="306058" indent="-102019" lvl="2">
                <a:lnSpc>
                  <a:spcPts val="1740"/>
                </a:lnSpc>
                <a:buFont typeface="Arial"/>
                <a:buChar char="⚬"/>
              </a:pPr>
              <a:r>
                <a:rPr lang="en-US" sz="1450">
                  <a:solidFill>
                    <a:srgbClr val="0F1017"/>
                  </a:solidFill>
                  <a:latin typeface="Calibri (MS)"/>
                  <a:ea typeface="Calibri (MS)"/>
                  <a:cs typeface="Calibri (MS)"/>
                  <a:sym typeface="Calibri (MS)"/>
                </a:rPr>
                <a:t>Se asume que el dataset propio de criminalidad e imágenes de entorno será documentado y validado antes de Week 6.Resuelto parcialmente en Week 4: criminalidad ya no es un supuesto — se reemplazó por una fuente pública oficial (SIDPOL/MININTER, 29 833 registros de Lima y Callao). El dataset de imágenes de entorno sigue sin existir y es hoy el principal riesgo abierto de RF-05.</a:t>
              </a:r>
            </a:p>
            <a:p>
              <a:pPr algn="l" marL="306058" indent="-102019" lvl="2">
                <a:lnSpc>
                  <a:spcPts val="1740"/>
                </a:lnSpc>
                <a:buFont typeface="Arial"/>
                <a:buChar char="⚬"/>
              </a:pPr>
              <a:r>
                <a:rPr lang="en-US" sz="1450">
                  <a:solidFill>
                    <a:srgbClr val="0F1017"/>
                  </a:solidFill>
                  <a:latin typeface="Calibri (MS)"/>
                  <a:ea typeface="Calibri (MS)"/>
                  <a:cs typeface="Calibri (MS)"/>
                  <a:sym typeface="Calibri (MS)"/>
                </a:rPr>
                <a:t>Supuesto confirmado, con matiz. Se asumía que existían transacciones históricas para validar el motor de valoración. Se confirmó que sí existen: el SAT de Lima publica las determinaciones del Impuesto de Alcabala, que se paga sobre el valor real de transferencia de cada predio. Son 24 148 compraventas al 100% de propiedad en 44 distritos solo en el primer semestre de 2026. El matiz es que el dataset no trae área ni tipo de predio, por lo que no permite calcular precio por m² directamente.</a:t>
              </a:r>
            </a:p>
            <a:p>
              <a:pPr algn="l" marL="306150" indent="-102050" lvl="2">
                <a:lnSpc>
                  <a:spcPts val="1740"/>
                </a:lnSpc>
                <a:buFont typeface="Arial"/>
                <a:buChar char="⚬"/>
              </a:pPr>
              <a:r>
                <a:rPr lang="en-US" sz="1450">
                  <a:solidFill>
                    <a:srgbClr val="0F1017"/>
                  </a:solidFill>
                  <a:latin typeface="Calibri (MS)"/>
                  <a:ea typeface="Calibri (MS)"/>
                  <a:cs typeface="Calibri (MS)"/>
                  <a:sym typeface="Calibri (MS)"/>
                </a:rPr>
                <a:t>Se asume que el usuario objetivo tiene acceso a internet y un dispositivo con navegador web moderno.</a:t>
              </a:r>
            </a:p>
          </p:txBody>
        </p:sp>
      </p:grpSp>
      <p:grpSp>
        <p:nvGrpSpPr>
          <p:cNvPr name="Group 24" id="24"/>
          <p:cNvGrpSpPr/>
          <p:nvPr/>
        </p:nvGrpSpPr>
        <p:grpSpPr>
          <a:xfrm rot="0">
            <a:off x="6377940" y="2194560"/>
            <a:ext cx="5280660" cy="6583680"/>
            <a:chOff x="0" y="0"/>
            <a:chExt cx="7040880" cy="8778240"/>
          </a:xfrm>
        </p:grpSpPr>
        <p:sp>
          <p:nvSpPr>
            <p:cNvPr name="Freeform 25" id="25"/>
            <p:cNvSpPr/>
            <p:nvPr/>
          </p:nvSpPr>
          <p:spPr>
            <a:xfrm flipH="false" flipV="false" rot="0">
              <a:off x="0" y="0"/>
              <a:ext cx="7040880" cy="8778240"/>
            </a:xfrm>
            <a:custGeom>
              <a:avLst/>
              <a:gdLst/>
              <a:ahLst/>
              <a:cxnLst/>
              <a:rect r="r" b="b" t="t" l="l"/>
              <a:pathLst>
                <a:path h="8778240" w="7040880">
                  <a:moveTo>
                    <a:pt x="0" y="182880"/>
                  </a:moveTo>
                  <a:cubicBezTo>
                    <a:pt x="0" y="81915"/>
                    <a:pt x="81915" y="0"/>
                    <a:pt x="182880" y="0"/>
                  </a:cubicBezTo>
                  <a:lnTo>
                    <a:pt x="6858000" y="0"/>
                  </a:lnTo>
                  <a:cubicBezTo>
                    <a:pt x="6958965" y="0"/>
                    <a:pt x="7040880" y="81915"/>
                    <a:pt x="7040880" y="182880"/>
                  </a:cubicBezTo>
                  <a:lnTo>
                    <a:pt x="7040880" y="8595360"/>
                  </a:lnTo>
                  <a:cubicBezTo>
                    <a:pt x="7040880" y="8696325"/>
                    <a:pt x="6958965" y="8778240"/>
                    <a:pt x="6858000" y="8778240"/>
                  </a:cubicBezTo>
                  <a:lnTo>
                    <a:pt x="182880" y="8778240"/>
                  </a:lnTo>
                  <a:cubicBezTo>
                    <a:pt x="81915" y="8778240"/>
                    <a:pt x="0" y="8696325"/>
                    <a:pt x="0" y="8595360"/>
                  </a:cubicBezTo>
                  <a:close/>
                </a:path>
              </a:pathLst>
            </a:custGeom>
            <a:solidFill>
              <a:srgbClr val="9495A2"/>
            </a:solidFill>
          </p:spPr>
        </p:sp>
      </p:grpSp>
      <p:grpSp>
        <p:nvGrpSpPr>
          <p:cNvPr name="Group 26" id="26"/>
          <p:cNvGrpSpPr/>
          <p:nvPr/>
        </p:nvGrpSpPr>
        <p:grpSpPr>
          <a:xfrm rot="0">
            <a:off x="6720840" y="2468880"/>
            <a:ext cx="4663440" cy="480060"/>
            <a:chOff x="0" y="0"/>
            <a:chExt cx="6217920" cy="640080"/>
          </a:xfrm>
        </p:grpSpPr>
        <p:sp>
          <p:nvSpPr>
            <p:cNvPr name="Freeform 27" id="27"/>
            <p:cNvSpPr/>
            <p:nvPr/>
          </p:nvSpPr>
          <p:spPr>
            <a:xfrm flipH="false" flipV="false" rot="0">
              <a:off x="0" y="0"/>
              <a:ext cx="6217920" cy="640080"/>
            </a:xfrm>
            <a:custGeom>
              <a:avLst/>
              <a:gdLst/>
              <a:ahLst/>
              <a:cxnLst/>
              <a:rect r="r" b="b" t="t" l="l"/>
              <a:pathLst>
                <a:path h="640080" w="6217920">
                  <a:moveTo>
                    <a:pt x="0" y="0"/>
                  </a:moveTo>
                  <a:lnTo>
                    <a:pt x="6217920" y="0"/>
                  </a:lnTo>
                  <a:lnTo>
                    <a:pt x="6217920" y="640080"/>
                  </a:lnTo>
                  <a:lnTo>
                    <a:pt x="0" y="640080"/>
                  </a:lnTo>
                  <a:close/>
                </a:path>
              </a:pathLst>
            </a:custGeom>
            <a:blipFill>
              <a:blip r:embed="rId2">
                <a:alphaModFix amt="0"/>
              </a:blip>
              <a:stretch>
                <a:fillRect l="0" t="-139150" r="0" b="-139152"/>
              </a:stretch>
            </a:blipFill>
          </p:spPr>
        </p:sp>
      </p:grpSp>
      <p:grpSp>
        <p:nvGrpSpPr>
          <p:cNvPr name="Group 28" id="28"/>
          <p:cNvGrpSpPr/>
          <p:nvPr/>
        </p:nvGrpSpPr>
        <p:grpSpPr>
          <a:xfrm rot="0">
            <a:off x="6720840" y="2433161"/>
            <a:ext cx="4663440" cy="515779"/>
            <a:chOff x="0" y="0"/>
            <a:chExt cx="6217920" cy="687705"/>
          </a:xfrm>
        </p:grpSpPr>
        <p:sp>
          <p:nvSpPr>
            <p:cNvPr name="Freeform 29" id="29"/>
            <p:cNvSpPr/>
            <p:nvPr/>
          </p:nvSpPr>
          <p:spPr>
            <a:xfrm flipH="false" flipV="false" rot="0">
              <a:off x="0" y="0"/>
              <a:ext cx="6217920" cy="687705"/>
            </a:xfrm>
            <a:custGeom>
              <a:avLst/>
              <a:gdLst/>
              <a:ahLst/>
              <a:cxnLst/>
              <a:rect r="r" b="b" t="t" l="l"/>
              <a:pathLst>
                <a:path h="687705" w="6217920">
                  <a:moveTo>
                    <a:pt x="0" y="0"/>
                  </a:moveTo>
                  <a:lnTo>
                    <a:pt x="6217920" y="0"/>
                  </a:lnTo>
                  <a:lnTo>
                    <a:pt x="6217920" y="687705"/>
                  </a:lnTo>
                  <a:lnTo>
                    <a:pt x="0" y="687705"/>
                  </a:lnTo>
                  <a:close/>
                </a:path>
              </a:pathLst>
            </a:custGeom>
            <a:blipFill>
              <a:blip r:embed="rId3">
                <a:alphaModFix amt="0"/>
              </a:blip>
              <a:stretch>
                <a:fillRect l="0" t="-126174" r="0" b="-126174"/>
              </a:stretch>
            </a:blipFill>
          </p:spPr>
        </p:sp>
        <p:sp>
          <p:nvSpPr>
            <p:cNvPr name="TextBox 30" id="30"/>
            <p:cNvSpPr txBox="true"/>
            <p:nvPr/>
          </p:nvSpPr>
          <p:spPr>
            <a:xfrm>
              <a:off x="0" y="-47625"/>
              <a:ext cx="6217920" cy="735330"/>
            </a:xfrm>
            <a:prstGeom prst="rect">
              <a:avLst/>
            </a:prstGeom>
          </p:spPr>
          <p:txBody>
            <a:bodyPr anchor="ctr" rtlCol="false" tIns="0" lIns="0" bIns="0" rIns="0"/>
            <a:lstStyle/>
            <a:p>
              <a:pPr algn="l">
                <a:lnSpc>
                  <a:spcPts val="2340"/>
                </a:lnSpc>
              </a:pPr>
              <a:r>
                <a:rPr lang="en-US" sz="1950" b="true">
                  <a:solidFill>
                    <a:srgbClr val="0F1017"/>
                  </a:solidFill>
                  <a:latin typeface="Calibri (MS) Bold"/>
                  <a:ea typeface="Calibri (MS) Bold"/>
                  <a:cs typeface="Calibri (MS) Bold"/>
                  <a:sym typeface="Calibri (MS) Bold"/>
                </a:rPr>
                <a:t>Constraints</a:t>
              </a:r>
            </a:p>
          </p:txBody>
        </p:sp>
      </p:grpSp>
      <p:grpSp>
        <p:nvGrpSpPr>
          <p:cNvPr name="Group 31" id="31"/>
          <p:cNvGrpSpPr/>
          <p:nvPr/>
        </p:nvGrpSpPr>
        <p:grpSpPr>
          <a:xfrm rot="0">
            <a:off x="6720840" y="3017520"/>
            <a:ext cx="4663440" cy="5349240"/>
            <a:chOff x="0" y="0"/>
            <a:chExt cx="6217920" cy="7132320"/>
          </a:xfrm>
        </p:grpSpPr>
        <p:sp>
          <p:nvSpPr>
            <p:cNvPr name="Freeform 32" id="32"/>
            <p:cNvSpPr/>
            <p:nvPr/>
          </p:nvSpPr>
          <p:spPr>
            <a:xfrm flipH="false" flipV="false" rot="0">
              <a:off x="0" y="0"/>
              <a:ext cx="6217920" cy="7132320"/>
            </a:xfrm>
            <a:custGeom>
              <a:avLst/>
              <a:gdLst/>
              <a:ahLst/>
              <a:cxnLst/>
              <a:rect r="r" b="b" t="t" l="l"/>
              <a:pathLst>
                <a:path h="7132320" w="6217920">
                  <a:moveTo>
                    <a:pt x="0" y="0"/>
                  </a:moveTo>
                  <a:lnTo>
                    <a:pt x="6217920" y="0"/>
                  </a:lnTo>
                  <a:lnTo>
                    <a:pt x="6217920" y="7132320"/>
                  </a:lnTo>
                  <a:lnTo>
                    <a:pt x="0" y="7132320"/>
                  </a:lnTo>
                  <a:close/>
                </a:path>
              </a:pathLst>
            </a:custGeom>
            <a:blipFill>
              <a:blip r:embed="rId2">
                <a:alphaModFix amt="0"/>
              </a:blip>
              <a:stretch>
                <a:fillRect l="-97274" t="0" r="-97274" b="0"/>
              </a:stretch>
            </a:blipFill>
          </p:spPr>
        </p:sp>
      </p:grpSp>
      <p:grpSp>
        <p:nvGrpSpPr>
          <p:cNvPr name="Group 33" id="33"/>
          <p:cNvGrpSpPr/>
          <p:nvPr/>
        </p:nvGrpSpPr>
        <p:grpSpPr>
          <a:xfrm rot="0">
            <a:off x="6720840" y="2996089"/>
            <a:ext cx="4663440" cy="5370671"/>
            <a:chOff x="0" y="0"/>
            <a:chExt cx="6217920" cy="7160895"/>
          </a:xfrm>
        </p:grpSpPr>
        <p:sp>
          <p:nvSpPr>
            <p:cNvPr name="Freeform 34" id="34"/>
            <p:cNvSpPr/>
            <p:nvPr/>
          </p:nvSpPr>
          <p:spPr>
            <a:xfrm flipH="false" flipV="false" rot="0">
              <a:off x="0" y="0"/>
              <a:ext cx="6217920" cy="7160895"/>
            </a:xfrm>
            <a:custGeom>
              <a:avLst/>
              <a:gdLst/>
              <a:ahLst/>
              <a:cxnLst/>
              <a:rect r="r" b="b" t="t" l="l"/>
              <a:pathLst>
                <a:path h="7160895" w="6217920">
                  <a:moveTo>
                    <a:pt x="0" y="0"/>
                  </a:moveTo>
                  <a:lnTo>
                    <a:pt x="6217920" y="0"/>
                  </a:lnTo>
                  <a:lnTo>
                    <a:pt x="6217920" y="7160895"/>
                  </a:lnTo>
                  <a:lnTo>
                    <a:pt x="0" y="7160895"/>
                  </a:lnTo>
                  <a:close/>
                </a:path>
              </a:pathLst>
            </a:custGeom>
            <a:blipFill>
              <a:blip r:embed="rId3">
                <a:alphaModFix amt="0"/>
              </a:blip>
              <a:stretch>
                <a:fillRect l="-97761" t="0" r="-97761" b="0"/>
              </a:stretch>
            </a:blipFill>
          </p:spPr>
        </p:sp>
        <p:sp>
          <p:nvSpPr>
            <p:cNvPr name="TextBox 35" id="35"/>
            <p:cNvSpPr txBox="true"/>
            <p:nvPr/>
          </p:nvSpPr>
          <p:spPr>
            <a:xfrm>
              <a:off x="0" y="-28575"/>
              <a:ext cx="6217920" cy="7189470"/>
            </a:xfrm>
            <a:prstGeom prst="rect">
              <a:avLst/>
            </a:prstGeom>
          </p:spPr>
          <p:txBody>
            <a:bodyPr anchor="ctr" rtlCol="false" tIns="0" lIns="0" bIns="0" rIns="0"/>
            <a:lstStyle/>
            <a:p>
              <a:pPr algn="l" marL="348377" indent="-116126" lvl="2">
                <a:lnSpc>
                  <a:spcPts val="1980"/>
                </a:lnSpc>
                <a:buFont typeface="Arial"/>
                <a:buChar char="⚬"/>
              </a:pPr>
              <a:r>
                <a:rPr lang="en-US" sz="1650">
                  <a:solidFill>
                    <a:srgbClr val="0F1017"/>
                  </a:solidFill>
                  <a:latin typeface="Calibri (MS)"/>
                  <a:ea typeface="Calibri (MS)"/>
                  <a:cs typeface="Calibri (MS)"/>
                  <a:sym typeface="Calibri (MS)"/>
                </a:rPr>
                <a:t>Cronograma del curso, Week 4 a 15</a:t>
              </a:r>
            </a:p>
            <a:p>
              <a:pPr algn="l" marL="348377" indent="-116126" lvl="2">
                <a:lnSpc>
                  <a:spcPts val="1980"/>
                </a:lnSpc>
                <a:buFont typeface="Arial"/>
                <a:buChar char="⚬"/>
              </a:pPr>
              <a:r>
                <a:rPr lang="en-US" sz="1650">
                  <a:solidFill>
                    <a:srgbClr val="0F1017"/>
                  </a:solidFill>
                  <a:latin typeface="Calibri (MS)"/>
                  <a:ea typeface="Calibri (MS)"/>
                  <a:cs typeface="Calibri (MS)"/>
                  <a:sym typeface="Calibri (MS)"/>
                </a:rPr>
                <a:t>Alcabala no registra área ni tipo de predio: sin precio por m² por operación</a:t>
              </a:r>
            </a:p>
            <a:p>
              <a:pPr algn="l" marL="348377" indent="-116126" lvl="2">
                <a:lnSpc>
                  <a:spcPts val="1980"/>
                </a:lnSpc>
                <a:buFont typeface="Arial"/>
                <a:buChar char="⚬"/>
              </a:pPr>
              <a:r>
                <a:rPr lang="en-US" sz="1650">
                  <a:solidFill>
                    <a:srgbClr val="0F1017"/>
                  </a:solidFill>
                  <a:latin typeface="Calibri (MS)"/>
                  <a:ea typeface="Calibri (MS)"/>
                  <a:cs typeface="Calibri (MS)"/>
                  <a:sym typeface="Calibri (MS)"/>
                </a:rPr>
                <a:t>Sin fuente de imágenes de entorno para el modelo de visión</a:t>
              </a:r>
            </a:p>
            <a:p>
              <a:pPr algn="l" marL="348377" indent="-116126" lvl="2">
                <a:lnSpc>
                  <a:spcPts val="1980"/>
                </a:lnSpc>
                <a:buFont typeface="Arial"/>
                <a:buChar char="⚬"/>
              </a:pPr>
              <a:r>
                <a:rPr lang="en-US" sz="1650">
                  <a:solidFill>
                    <a:srgbClr val="0F1017"/>
                  </a:solidFill>
                  <a:latin typeface="Calibri (MS)"/>
                  <a:ea typeface="Calibri (MS)"/>
                  <a:cs typeface="Calibri (MS)"/>
                  <a:sym typeface="Calibri (MS)"/>
                </a:rPr>
                <a:t>El historial de plazos de constructoras exige acceso al CIPIEC</a:t>
              </a:r>
            </a:p>
          </p:txBody>
        </p:sp>
      </p:grpSp>
      <p:grpSp>
        <p:nvGrpSpPr>
          <p:cNvPr name="Group 36" id="36"/>
          <p:cNvGrpSpPr/>
          <p:nvPr/>
        </p:nvGrpSpPr>
        <p:grpSpPr>
          <a:xfrm rot="0">
            <a:off x="11932920" y="2194560"/>
            <a:ext cx="5554980" cy="6583680"/>
            <a:chOff x="0" y="0"/>
            <a:chExt cx="7406640" cy="8778240"/>
          </a:xfrm>
        </p:grpSpPr>
        <p:sp>
          <p:nvSpPr>
            <p:cNvPr name="Freeform 37" id="37"/>
            <p:cNvSpPr/>
            <p:nvPr/>
          </p:nvSpPr>
          <p:spPr>
            <a:xfrm flipH="false" flipV="false" rot="0">
              <a:off x="0" y="0"/>
              <a:ext cx="7406640" cy="8778240"/>
            </a:xfrm>
            <a:custGeom>
              <a:avLst/>
              <a:gdLst/>
              <a:ahLst/>
              <a:cxnLst/>
              <a:rect r="r" b="b" t="t" l="l"/>
              <a:pathLst>
                <a:path h="8778240" w="7406640">
                  <a:moveTo>
                    <a:pt x="0" y="182880"/>
                  </a:moveTo>
                  <a:cubicBezTo>
                    <a:pt x="0" y="81915"/>
                    <a:pt x="81915" y="0"/>
                    <a:pt x="182880" y="0"/>
                  </a:cubicBezTo>
                  <a:lnTo>
                    <a:pt x="7223760" y="0"/>
                  </a:lnTo>
                  <a:cubicBezTo>
                    <a:pt x="7324725" y="0"/>
                    <a:pt x="7406640" y="81915"/>
                    <a:pt x="7406640" y="182880"/>
                  </a:cubicBezTo>
                  <a:lnTo>
                    <a:pt x="7406640" y="8595360"/>
                  </a:lnTo>
                  <a:cubicBezTo>
                    <a:pt x="7406640" y="8696325"/>
                    <a:pt x="7324725" y="8778240"/>
                    <a:pt x="7223760" y="8778240"/>
                  </a:cubicBezTo>
                  <a:lnTo>
                    <a:pt x="182880" y="8778240"/>
                  </a:lnTo>
                  <a:cubicBezTo>
                    <a:pt x="81915" y="8778240"/>
                    <a:pt x="0" y="8696325"/>
                    <a:pt x="0" y="8595360"/>
                  </a:cubicBezTo>
                  <a:close/>
                </a:path>
              </a:pathLst>
            </a:custGeom>
            <a:solidFill>
              <a:srgbClr val="2B3D9C"/>
            </a:solidFill>
          </p:spPr>
        </p:sp>
      </p:grpSp>
      <p:grpSp>
        <p:nvGrpSpPr>
          <p:cNvPr name="Group 38" id="38"/>
          <p:cNvGrpSpPr/>
          <p:nvPr/>
        </p:nvGrpSpPr>
        <p:grpSpPr>
          <a:xfrm rot="0">
            <a:off x="12275820" y="2468880"/>
            <a:ext cx="4937760" cy="480060"/>
            <a:chOff x="0" y="0"/>
            <a:chExt cx="6583680" cy="640080"/>
          </a:xfrm>
        </p:grpSpPr>
        <p:sp>
          <p:nvSpPr>
            <p:cNvPr name="Freeform 39" id="39"/>
            <p:cNvSpPr/>
            <p:nvPr/>
          </p:nvSpPr>
          <p:spPr>
            <a:xfrm flipH="false" flipV="false" rot="0">
              <a:off x="0" y="0"/>
              <a:ext cx="6583680" cy="640080"/>
            </a:xfrm>
            <a:custGeom>
              <a:avLst/>
              <a:gdLst/>
              <a:ahLst/>
              <a:cxnLst/>
              <a:rect r="r" b="b" t="t" l="l"/>
              <a:pathLst>
                <a:path h="640080" w="6583680">
                  <a:moveTo>
                    <a:pt x="0" y="0"/>
                  </a:moveTo>
                  <a:lnTo>
                    <a:pt x="6583680" y="0"/>
                  </a:lnTo>
                  <a:lnTo>
                    <a:pt x="6583680" y="640080"/>
                  </a:lnTo>
                  <a:lnTo>
                    <a:pt x="0" y="640080"/>
                  </a:lnTo>
                  <a:close/>
                </a:path>
              </a:pathLst>
            </a:custGeom>
            <a:blipFill>
              <a:blip r:embed="rId2">
                <a:alphaModFix amt="0"/>
              </a:blip>
              <a:stretch>
                <a:fillRect l="0" t="-150277" r="0" b="-150277"/>
              </a:stretch>
            </a:blipFill>
          </p:spPr>
        </p:sp>
      </p:grpSp>
      <p:grpSp>
        <p:nvGrpSpPr>
          <p:cNvPr name="Group 40" id="40"/>
          <p:cNvGrpSpPr/>
          <p:nvPr/>
        </p:nvGrpSpPr>
        <p:grpSpPr>
          <a:xfrm rot="0">
            <a:off x="12275820" y="2433161"/>
            <a:ext cx="4937760" cy="515779"/>
            <a:chOff x="0" y="0"/>
            <a:chExt cx="6583680" cy="687705"/>
          </a:xfrm>
        </p:grpSpPr>
        <p:sp>
          <p:nvSpPr>
            <p:cNvPr name="Freeform 41" id="41"/>
            <p:cNvSpPr/>
            <p:nvPr/>
          </p:nvSpPr>
          <p:spPr>
            <a:xfrm flipH="false" flipV="false" rot="0">
              <a:off x="0" y="0"/>
              <a:ext cx="6583680" cy="687705"/>
            </a:xfrm>
            <a:custGeom>
              <a:avLst/>
              <a:gdLst/>
              <a:ahLst/>
              <a:cxnLst/>
              <a:rect r="r" b="b" t="t" l="l"/>
              <a:pathLst>
                <a:path h="687705" w="6583680">
                  <a:moveTo>
                    <a:pt x="0" y="0"/>
                  </a:moveTo>
                  <a:lnTo>
                    <a:pt x="6583680" y="0"/>
                  </a:lnTo>
                  <a:lnTo>
                    <a:pt x="6583680" y="687705"/>
                  </a:lnTo>
                  <a:lnTo>
                    <a:pt x="0" y="687705"/>
                  </a:lnTo>
                  <a:close/>
                </a:path>
              </a:pathLst>
            </a:custGeom>
            <a:blipFill>
              <a:blip r:embed="rId3">
                <a:alphaModFix amt="0"/>
              </a:blip>
              <a:stretch>
                <a:fillRect l="0" t="-136538" r="0" b="-136538"/>
              </a:stretch>
            </a:blipFill>
          </p:spPr>
        </p:sp>
        <p:sp>
          <p:nvSpPr>
            <p:cNvPr name="TextBox 42" id="42"/>
            <p:cNvSpPr txBox="true"/>
            <p:nvPr/>
          </p:nvSpPr>
          <p:spPr>
            <a:xfrm>
              <a:off x="0" y="-47625"/>
              <a:ext cx="6583680" cy="735330"/>
            </a:xfrm>
            <a:prstGeom prst="rect">
              <a:avLst/>
            </a:prstGeom>
          </p:spPr>
          <p:txBody>
            <a:bodyPr anchor="ctr" rtlCol="false" tIns="0" lIns="0" bIns="0" rIns="0"/>
            <a:lstStyle/>
            <a:p>
              <a:pPr algn="l">
                <a:lnSpc>
                  <a:spcPts val="2340"/>
                </a:lnSpc>
              </a:pPr>
              <a:r>
                <a:rPr lang="en-US" sz="1950" b="true">
                  <a:solidFill>
                    <a:srgbClr val="F9FBFC"/>
                  </a:solidFill>
                  <a:latin typeface="Calibri (MS) Bold"/>
                  <a:ea typeface="Calibri (MS) Bold"/>
                  <a:cs typeface="Calibri (MS) Bold"/>
                  <a:sym typeface="Calibri (MS) Bold"/>
                </a:rPr>
                <a:t>Acceptance Criteria</a:t>
              </a:r>
            </a:p>
          </p:txBody>
        </p:sp>
      </p:grpSp>
      <p:grpSp>
        <p:nvGrpSpPr>
          <p:cNvPr name="Group 43" id="43"/>
          <p:cNvGrpSpPr/>
          <p:nvPr/>
        </p:nvGrpSpPr>
        <p:grpSpPr>
          <a:xfrm rot="0">
            <a:off x="12275820" y="3017520"/>
            <a:ext cx="4937760" cy="5486400"/>
            <a:chOff x="0" y="0"/>
            <a:chExt cx="6583680" cy="7315200"/>
          </a:xfrm>
        </p:grpSpPr>
        <p:sp>
          <p:nvSpPr>
            <p:cNvPr name="Freeform 44" id="44"/>
            <p:cNvSpPr/>
            <p:nvPr/>
          </p:nvSpPr>
          <p:spPr>
            <a:xfrm flipH="false" flipV="false" rot="0">
              <a:off x="0" y="0"/>
              <a:ext cx="6583680" cy="7315200"/>
            </a:xfrm>
            <a:custGeom>
              <a:avLst/>
              <a:gdLst/>
              <a:ahLst/>
              <a:cxnLst/>
              <a:rect r="r" b="b" t="t" l="l"/>
              <a:pathLst>
                <a:path h="7315200" w="6583680">
                  <a:moveTo>
                    <a:pt x="0" y="0"/>
                  </a:moveTo>
                  <a:lnTo>
                    <a:pt x="6583680" y="0"/>
                  </a:lnTo>
                  <a:lnTo>
                    <a:pt x="6583680" y="7315200"/>
                  </a:lnTo>
                  <a:lnTo>
                    <a:pt x="0" y="7315200"/>
                  </a:lnTo>
                  <a:close/>
                </a:path>
              </a:pathLst>
            </a:custGeom>
            <a:blipFill>
              <a:blip r:embed="rId2">
                <a:alphaModFix amt="0"/>
              </a:blip>
              <a:stretch>
                <a:fillRect l="-92658" t="0" r="-92658" b="0"/>
              </a:stretch>
            </a:blipFill>
          </p:spPr>
        </p:sp>
      </p:grpSp>
      <p:grpSp>
        <p:nvGrpSpPr>
          <p:cNvPr name="Group 45" id="45"/>
          <p:cNvGrpSpPr/>
          <p:nvPr/>
        </p:nvGrpSpPr>
        <p:grpSpPr>
          <a:xfrm rot="0">
            <a:off x="12275820" y="3003232"/>
            <a:ext cx="4937760" cy="5548359"/>
            <a:chOff x="0" y="0"/>
            <a:chExt cx="6583680" cy="7397812"/>
          </a:xfrm>
        </p:grpSpPr>
        <p:sp>
          <p:nvSpPr>
            <p:cNvPr name="Freeform 46" id="46"/>
            <p:cNvSpPr/>
            <p:nvPr/>
          </p:nvSpPr>
          <p:spPr>
            <a:xfrm flipH="false" flipV="false" rot="0">
              <a:off x="0" y="0"/>
              <a:ext cx="6583680" cy="7397812"/>
            </a:xfrm>
            <a:custGeom>
              <a:avLst/>
              <a:gdLst/>
              <a:ahLst/>
              <a:cxnLst/>
              <a:rect r="r" b="b" t="t" l="l"/>
              <a:pathLst>
                <a:path h="7397812" w="6583680">
                  <a:moveTo>
                    <a:pt x="0" y="0"/>
                  </a:moveTo>
                  <a:lnTo>
                    <a:pt x="6583680" y="0"/>
                  </a:lnTo>
                  <a:lnTo>
                    <a:pt x="6583680" y="7397812"/>
                  </a:lnTo>
                  <a:lnTo>
                    <a:pt x="0" y="7397812"/>
                  </a:lnTo>
                  <a:close/>
                </a:path>
              </a:pathLst>
            </a:custGeom>
            <a:blipFill>
              <a:blip r:embed="rId3">
                <a:alphaModFix amt="0"/>
              </a:blip>
              <a:stretch>
                <a:fillRect l="-92930" t="0" r="-92930" b="859"/>
              </a:stretch>
            </a:blipFill>
          </p:spPr>
        </p:sp>
        <p:sp>
          <p:nvSpPr>
            <p:cNvPr name="TextBox 47" id="47"/>
            <p:cNvSpPr txBox="true"/>
            <p:nvPr/>
          </p:nvSpPr>
          <p:spPr>
            <a:xfrm>
              <a:off x="0" y="-28575"/>
              <a:ext cx="6583680" cy="7426387"/>
            </a:xfrm>
            <a:prstGeom prst="rect">
              <a:avLst/>
            </a:prstGeom>
          </p:spPr>
          <p:txBody>
            <a:bodyPr anchor="ctr" rtlCol="false" tIns="0" lIns="0" bIns="0" rIns="0"/>
            <a:lstStyle/>
            <a:p>
              <a:pPr algn="l" marL="306150" indent="-102050" lvl="2">
                <a:lnSpc>
                  <a:spcPts val="1740"/>
                </a:lnSpc>
                <a:spcBef>
                  <a:spcPct val="0"/>
                </a:spcBef>
                <a:buFont typeface="Arial"/>
                <a:buChar char="⚬"/>
              </a:pPr>
              <a:r>
                <a:rPr lang="en-US" sz="1450" strike="noStrike" u="none">
                  <a:solidFill>
                    <a:srgbClr val="E5E9F5"/>
                  </a:solidFill>
                  <a:latin typeface="Calibri (MS)"/>
                  <a:ea typeface="Calibri (MS)"/>
                  <a:cs typeface="Calibri (MS)"/>
                  <a:sym typeface="Calibri (MS)"/>
                </a:rPr>
                <a:t>El sistema recolecta y normaliza al menos 500 listados inmobiliarios reales de Lima Metropolitana con menos de 10% de valores faltantes en los campos críticos (precio, distrito, área). Cumplido en Week 4: 3 987 avisos en 20 distritos, sin nulos en precio, distrito ni área tras el filtro de outliers.</a:t>
              </a:r>
            </a:p>
            <a:p>
              <a:pPr algn="l" marL="306150" indent="-102050" lvl="2">
                <a:lnSpc>
                  <a:spcPts val="1740"/>
                </a:lnSpc>
                <a:spcBef>
                  <a:spcPct val="0"/>
                </a:spcBef>
                <a:buFont typeface="Arial"/>
                <a:buChar char="⚬"/>
              </a:pPr>
              <a:r>
                <a:rPr lang="en-US" sz="1450" strike="noStrike" u="none">
                  <a:solidFill>
                    <a:srgbClr val="E5E9F5"/>
                  </a:solidFill>
                  <a:latin typeface="Calibri (MS)"/>
                  <a:ea typeface="Calibri (MS)"/>
                  <a:cs typeface="Calibri (MS)"/>
                  <a:sym typeface="Calibri (MS)"/>
                </a:rPr>
                <a:t>El modelo de valoración predice el precio con un error absoluto medio (MAE) documentado y comparado contra el baseline (precio mediano por m² y distrito, ya calculado en Week 4). El MAE se mide contra precio de oferta, no de transacción.</a:t>
              </a:r>
            </a:p>
            <a:p>
              <a:pPr algn="l" marL="306150" indent="-102050" lvl="2">
                <a:lnSpc>
                  <a:spcPts val="1740"/>
                </a:lnSpc>
                <a:spcBef>
                  <a:spcPct val="0"/>
                </a:spcBef>
                <a:buFont typeface="Arial"/>
                <a:buChar char="⚬"/>
              </a:pPr>
              <a:r>
                <a:rPr lang="en-US" sz="1450" strike="noStrike" u="none">
                  <a:solidFill>
                    <a:srgbClr val="E5E9F5"/>
                  </a:solidFill>
                  <a:latin typeface="Calibri (MS)"/>
                  <a:ea typeface="Calibri (MS)"/>
                  <a:cs typeface="Calibri (MS)"/>
                  <a:sym typeface="Calibri (MS)"/>
                </a:rPr>
                <a:t>El modelo de visión clasifica correctamente al menos el 70% de una muestra de validación etiquetada manualmente para calidad visual del entorno.</a:t>
              </a:r>
            </a:p>
            <a:p>
              <a:pPr algn="l" marL="306150" indent="-102050" lvl="2">
                <a:lnSpc>
                  <a:spcPts val="1740"/>
                </a:lnSpc>
                <a:spcBef>
                  <a:spcPct val="0"/>
                </a:spcBef>
                <a:buFont typeface="Arial"/>
                <a:buChar char="⚬"/>
              </a:pPr>
              <a:r>
                <a:rPr lang="en-US" sz="1450" strike="noStrike" u="none">
                  <a:solidFill>
                    <a:srgbClr val="E5E9F5"/>
                  </a:solidFill>
                  <a:latin typeface="Calibri (MS)"/>
                  <a:ea typeface="Calibri (MS)"/>
                  <a:cs typeface="Calibri (MS)"/>
                  <a:sym typeface="Calibri (MS)"/>
                </a:rPr>
                <a:t>El motor de recomendación genera un ranking distinto para al menos dos perfiles de usuario claramente diferenciados, demostrando personalización real.</a:t>
              </a:r>
            </a:p>
            <a:p>
              <a:pPr algn="l" marL="306150" indent="-102050" lvl="2">
                <a:lnSpc>
                  <a:spcPts val="1740"/>
                </a:lnSpc>
                <a:spcBef>
                  <a:spcPct val="0"/>
                </a:spcBef>
                <a:buFont typeface="Arial"/>
                <a:buChar char="⚬"/>
              </a:pPr>
              <a:r>
                <a:rPr lang="en-US" sz="1450" strike="noStrike" u="none">
                  <a:solidFill>
                    <a:srgbClr val="E5E9F5"/>
                  </a:solidFill>
                  <a:latin typeface="Calibri (MS)"/>
                  <a:ea typeface="Calibri (MS)"/>
                  <a:cs typeface="Calibri (MS)"/>
                  <a:sym typeface="Calibri (MS)"/>
                </a:rPr>
                <a:t>Cada propiedad recomendada en la interfaz incluye una explicación textual generada automáticamente.</a:t>
              </a:r>
            </a:p>
            <a:p>
              <a:pPr algn="l" marL="306150" indent="-102050" lvl="2">
                <a:lnSpc>
                  <a:spcPts val="1740"/>
                </a:lnSpc>
                <a:spcBef>
                  <a:spcPct val="0"/>
                </a:spcBef>
                <a:buFont typeface="Arial"/>
                <a:buChar char="⚬"/>
              </a:pPr>
              <a:r>
                <a:rPr lang="en-US" sz="1450" strike="noStrike" u="none">
                  <a:solidFill>
                    <a:srgbClr val="E5E9F5"/>
                  </a:solidFill>
                  <a:latin typeface="Calibri (MS)"/>
                  <a:ea typeface="Calibri (MS)"/>
                  <a:cs typeface="Calibri (MS)"/>
                  <a:sym typeface="Calibri (MS)"/>
                </a:rPr>
                <a:t>El prototipo funcional está desplegado y accesible mediante una URL pública o demo reproducible localmente siguiendo el README.</a:t>
              </a:r>
            </a:p>
            <a:p>
              <a:pPr algn="l" marL="306150" indent="-102050" lvl="2">
                <a:lnSpc>
                  <a:spcPts val="1740"/>
                </a:lnSpc>
                <a:spcBef>
                  <a:spcPct val="0"/>
                </a:spcBef>
                <a:buFont typeface="Arial"/>
                <a:buChar char="⚬"/>
              </a:pPr>
              <a:r>
                <a:rPr lang="en-US" sz="1450" strike="noStrike" u="none">
                  <a:solidFill>
                    <a:srgbClr val="E5E9F5"/>
                  </a:solidFill>
                  <a:latin typeface="Calibri (MS)"/>
                  <a:ea typeface="Calibri (MS)"/>
                  <a:cs typeface="Calibri (MS)"/>
                  <a:sym typeface="Calibri (MS)"/>
                </a:rPr>
                <a:t>El repositorio contiene toda la documentación, datos de muestra y scripts necesarios para reproducir el pipeline, conforme a los lineamientos del curso.</a:t>
              </a:r>
            </a:p>
          </p:txBody>
        </p:sp>
      </p:grpSp>
      <p:grpSp>
        <p:nvGrpSpPr>
          <p:cNvPr name="Group 48" id="48"/>
          <p:cNvGrpSpPr/>
          <p:nvPr/>
        </p:nvGrpSpPr>
        <p:grpSpPr>
          <a:xfrm rot="0">
            <a:off x="685800" y="9738360"/>
            <a:ext cx="8229600" cy="411480"/>
            <a:chOff x="0" y="0"/>
            <a:chExt cx="10972800" cy="548640"/>
          </a:xfrm>
        </p:grpSpPr>
        <p:sp>
          <p:nvSpPr>
            <p:cNvPr name="Freeform 49" id="49"/>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50" id="50"/>
          <p:cNvGrpSpPr/>
          <p:nvPr/>
        </p:nvGrpSpPr>
        <p:grpSpPr>
          <a:xfrm rot="0">
            <a:off x="685800" y="9709785"/>
            <a:ext cx="8229600" cy="440055"/>
            <a:chOff x="0" y="0"/>
            <a:chExt cx="10972800" cy="586740"/>
          </a:xfrm>
        </p:grpSpPr>
        <p:sp>
          <p:nvSpPr>
            <p:cNvPr name="Freeform 51" id="51"/>
            <p:cNvSpPr/>
            <p:nvPr/>
          </p:nvSpPr>
          <p:spPr>
            <a:xfrm flipH="false" flipV="false" rot="0">
              <a:off x="0" y="0"/>
              <a:ext cx="10972800" cy="586740"/>
            </a:xfrm>
            <a:custGeom>
              <a:avLst/>
              <a:gdLst/>
              <a:ahLst/>
              <a:cxnLst/>
              <a:rect r="r" b="b" t="t" l="l"/>
              <a:pathLst>
                <a:path h="586740" w="10972800">
                  <a:moveTo>
                    <a:pt x="0" y="0"/>
                  </a:moveTo>
                  <a:lnTo>
                    <a:pt x="10972800" y="0"/>
                  </a:lnTo>
                  <a:lnTo>
                    <a:pt x="10972800" y="586740"/>
                  </a:lnTo>
                  <a:lnTo>
                    <a:pt x="0" y="586740"/>
                  </a:lnTo>
                  <a:close/>
                </a:path>
              </a:pathLst>
            </a:custGeom>
            <a:blipFill>
              <a:blip r:embed="rId3">
                <a:alphaModFix amt="0"/>
              </a:blip>
              <a:stretch>
                <a:fillRect l="0" t="-314395" r="0" b="-314395"/>
              </a:stretch>
            </a:blipFill>
          </p:spPr>
        </p:sp>
        <p:sp>
          <p:nvSpPr>
            <p:cNvPr name="TextBox 52" id="52"/>
            <p:cNvSpPr txBox="true"/>
            <p:nvPr/>
          </p:nvSpPr>
          <p:spPr>
            <a:xfrm>
              <a:off x="0" y="-28575"/>
              <a:ext cx="10972800" cy="615315"/>
            </a:xfrm>
            <a:prstGeom prst="rect">
              <a:avLst/>
            </a:prstGeom>
          </p:spPr>
          <p:txBody>
            <a:bodyPr anchor="ctr" rtlCol="false" tIns="0" lIns="0" bIns="0" rIns="0"/>
            <a:lstStyle/>
            <a:p>
              <a:pPr algn="l" marL="348272" indent="-116091" lvl="2">
                <a:lnSpc>
                  <a:spcPts val="1980"/>
                </a:lnSpc>
                <a:spcBef>
                  <a:spcPct val="0"/>
                </a:spcBef>
                <a:buFont typeface="Arial"/>
                <a:buChar char="⚬"/>
              </a:pPr>
              <a:r>
                <a:rPr lang="en-US" sz="1650" strike="noStrike" u="none">
                  <a:solidFill>
                    <a:srgbClr val="0F1017"/>
                  </a:solidFill>
                  <a:latin typeface="Calibri (MS)"/>
                  <a:ea typeface="Calibri (MS)"/>
                  <a:cs typeface="Calibri (MS)"/>
                  <a:sym typeface="Calibri (MS)"/>
                </a:rPr>
                <a:t>InmoScore · Week 5</a:t>
              </a:r>
            </a:p>
          </p:txBody>
        </p:sp>
      </p:grpSp>
      <p:grpSp>
        <p:nvGrpSpPr>
          <p:cNvPr name="Group 53" id="53"/>
          <p:cNvGrpSpPr/>
          <p:nvPr/>
        </p:nvGrpSpPr>
        <p:grpSpPr>
          <a:xfrm rot="0">
            <a:off x="17048988" y="9738360"/>
            <a:ext cx="548640" cy="411480"/>
            <a:chOff x="0" y="0"/>
            <a:chExt cx="731520" cy="548640"/>
          </a:xfrm>
        </p:grpSpPr>
        <p:sp>
          <p:nvSpPr>
            <p:cNvPr name="Freeform 54" id="54"/>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2">
                <a:alphaModFix amt="0"/>
              </a:blip>
              <a:stretch>
                <a:fillRect l="-46295" t="0" r="-46293" b="0"/>
              </a:stretch>
            </a:blipFill>
          </p:spPr>
        </p:sp>
      </p:grpSp>
      <p:grpSp>
        <p:nvGrpSpPr>
          <p:cNvPr name="Group 55" id="55"/>
          <p:cNvGrpSpPr/>
          <p:nvPr/>
        </p:nvGrpSpPr>
        <p:grpSpPr>
          <a:xfrm rot="0">
            <a:off x="17048988" y="9709785"/>
            <a:ext cx="548640" cy="440055"/>
            <a:chOff x="0" y="0"/>
            <a:chExt cx="731520" cy="586740"/>
          </a:xfrm>
        </p:grpSpPr>
        <p:sp>
          <p:nvSpPr>
            <p:cNvPr name="Freeform 56" id="56"/>
            <p:cNvSpPr/>
            <p:nvPr/>
          </p:nvSpPr>
          <p:spPr>
            <a:xfrm flipH="false" flipV="false" rot="0">
              <a:off x="0" y="0"/>
              <a:ext cx="731520" cy="586740"/>
            </a:xfrm>
            <a:custGeom>
              <a:avLst/>
              <a:gdLst/>
              <a:ahLst/>
              <a:cxnLst/>
              <a:rect r="r" b="b" t="t" l="l"/>
              <a:pathLst>
                <a:path h="586740" w="731520">
                  <a:moveTo>
                    <a:pt x="0" y="0"/>
                  </a:moveTo>
                  <a:lnTo>
                    <a:pt x="731520" y="0"/>
                  </a:lnTo>
                  <a:lnTo>
                    <a:pt x="731520" y="586740"/>
                  </a:lnTo>
                  <a:lnTo>
                    <a:pt x="0" y="586740"/>
                  </a:lnTo>
                  <a:close/>
                </a:path>
              </a:pathLst>
            </a:custGeom>
            <a:blipFill>
              <a:blip r:embed="rId3">
                <a:alphaModFix amt="0"/>
              </a:blip>
              <a:stretch>
                <a:fillRect l="-52910" t="0" r="-52910" b="0"/>
              </a:stretch>
            </a:blipFill>
          </p:spPr>
        </p:sp>
        <p:sp>
          <p:nvSpPr>
            <p:cNvPr name="TextBox 57" id="57"/>
            <p:cNvSpPr txBox="true"/>
            <p:nvPr/>
          </p:nvSpPr>
          <p:spPr>
            <a:xfrm>
              <a:off x="0" y="-38100"/>
              <a:ext cx="731520" cy="624840"/>
            </a:xfrm>
            <a:prstGeom prst="rect">
              <a:avLst/>
            </a:prstGeom>
          </p:spPr>
          <p:txBody>
            <a:bodyPr anchor="ctr" rtlCol="false" tIns="0" lIns="0" bIns="0" rIns="0"/>
            <a:lstStyle/>
            <a:p>
              <a:pPr algn="r">
                <a:lnSpc>
                  <a:spcPts val="1800"/>
                </a:lnSpc>
              </a:pPr>
              <a:r>
                <a:rPr lang="en-US" sz="1500">
                  <a:solidFill>
                    <a:srgbClr val="35448A"/>
                  </a:solidFill>
                  <a:latin typeface="Calibri (MS)"/>
                  <a:ea typeface="Calibri (MS)"/>
                  <a:cs typeface="Calibri (MS)"/>
                  <a:sym typeface="Calibri (MS)"/>
                </a:rPr>
                <a:t>20</a:t>
              </a:r>
            </a:p>
          </p:txBody>
        </p:sp>
      </p:grpSp>
    </p:spTree>
  </p:cSld>
  <p:clrMapOvr>
    <a:masterClrMapping/>
  </p:clrMapOvr>
</p:sld>
</file>

<file path=ppt/slides/slide2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1028700" y="4327652"/>
            <a:ext cx="6671890" cy="1460245"/>
          </a:xfrm>
          <a:prstGeom prst="rect">
            <a:avLst/>
          </a:prstGeom>
        </p:spPr>
        <p:txBody>
          <a:bodyPr anchor="t" rtlCol="false" tIns="0" lIns="0" bIns="0" rIns="0">
            <a:spAutoFit/>
          </a:bodyPr>
          <a:lstStyle/>
          <a:p>
            <a:pPr algn="l">
              <a:lnSpc>
                <a:spcPts val="11914"/>
              </a:lnSpc>
              <a:spcBef>
                <a:spcPct val="0"/>
              </a:spcBef>
            </a:pPr>
            <a:r>
              <a:rPr lang="en-US" b="true" sz="8510" spc="-544">
                <a:gradFill>
                  <a:gsLst>
                    <a:gs pos="0">
                      <a:srgbClr val="293E9C">
                        <a:alpha val="100000"/>
                      </a:srgbClr>
                    </a:gs>
                    <a:gs pos="100000">
                      <a:srgbClr val="3A58E4">
                        <a:alpha val="100000"/>
                      </a:srgbClr>
                    </a:gs>
                  </a:gsLst>
                  <a:path path="circle">
                    <a:fillToRect l="0" r="100000" t="0" b="100000"/>
                  </a:path>
                  <a:tileRect r="0" l="-100000" b="0" t="-100000"/>
                </a:gradFill>
                <a:latin typeface="Canva Sans Bold"/>
                <a:ea typeface="Canva Sans Bold"/>
                <a:cs typeface="Canva Sans Bold"/>
                <a:sym typeface="Canva Sans Bold"/>
              </a:rPr>
              <a:t>Gracias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DAHT_1IuXAY</dc:identifier>
  <dcterms:modified xsi:type="dcterms:W3CDTF">2011-08-01T06:04:30Z</dcterms:modified>
  <cp:revision>1</cp:revision>
  <dc:title>dpd entregables</dc:title>
</cp:coreProperties>
</file>