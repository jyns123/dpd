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97bcb27317468d" /><Relationship Type="http://schemas.openxmlformats.org/officeDocument/2006/relationships/extended-properties" Target="/docProps/app.xml" Id="Rc691e37c7709404e" /><Relationship Type="http://schemas.openxmlformats.org/officeDocument/2006/relationships/officeDocument" Target="/ppt/presentation.xml" Id="R999b68c8b79d4b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eab87c2c8044fc"/>
  </p:sldMasterIdLst>
  <p:notesMasterIdLst>
    <p:notesMasterId xmlns:r="http://schemas.openxmlformats.org/officeDocument/2006/relationships" r:id="R15a8a711555c4606"/>
  </p:notesMasterIdLst>
  <p:sldIdLst>
    <p:sldId xmlns:r="http://schemas.openxmlformats.org/officeDocument/2006/relationships" id="256" r:id="R0ec7a79086cd4d8d"/>
    <p:sldId xmlns:r="http://schemas.openxmlformats.org/officeDocument/2006/relationships" id="257" r:id="Rd15030353b0146eb"/>
    <p:sldId xmlns:r="http://schemas.openxmlformats.org/officeDocument/2006/relationships" id="258" r:id="R4b35901951aa45bc"/>
    <p:sldId xmlns:r="http://schemas.openxmlformats.org/officeDocument/2006/relationships" id="259" r:id="R5691603e146e4afb"/>
    <p:sldId xmlns:r="http://schemas.openxmlformats.org/officeDocument/2006/relationships" id="260" r:id="R1d8fb6a669cb4771"/>
    <p:sldId xmlns:r="http://schemas.openxmlformats.org/officeDocument/2006/relationships" id="261" r:id="R750adf5c6d7740fd"/>
    <p:sldId xmlns:r="http://schemas.openxmlformats.org/officeDocument/2006/relationships" id="262" r:id="R94a3efe98c9748bf"/>
    <p:sldId xmlns:r="http://schemas.openxmlformats.org/officeDocument/2006/relationships" id="263" r:id="Ra4d798a6135448e0"/>
    <p:sldId xmlns:r="http://schemas.openxmlformats.org/officeDocument/2006/relationships" id="264" r:id="Ra7c53d21560c4e87"/>
    <p:sldId xmlns:r="http://schemas.openxmlformats.org/officeDocument/2006/relationships" id="265" r:id="R08cc8b5ca222471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483bfa3afe4a2c" /><Relationship Type="http://schemas.openxmlformats.org/officeDocument/2006/relationships/slideMaster" Target="/ppt/slideMasters/slideMaster1.xml" Id="Rc4eab87c2c8044fc" /><Relationship Type="http://schemas.openxmlformats.org/officeDocument/2006/relationships/notesMaster" Target="/ppt/notesMasters/notesMaster1.xml" Id="R15a8a711555c4606" /><Relationship Type="http://schemas.openxmlformats.org/officeDocument/2006/relationships/presProps" Target="/ppt/presProps.xml" Id="R820144835b534044" /><Relationship Type="http://schemas.openxmlformats.org/officeDocument/2006/relationships/tableStyles" Target="/ppt/tableStyles.xml" Id="R38221a9417c94739" /><Relationship Type="http://schemas.openxmlformats.org/officeDocument/2006/relationships/slide" Target="/ppt/slides/slide1.xml" Id="R0ec7a79086cd4d8d" /><Relationship Type="http://schemas.openxmlformats.org/officeDocument/2006/relationships/slide" Target="/ppt/slides/slide2.xml" Id="Rd15030353b0146eb" /><Relationship Type="http://schemas.openxmlformats.org/officeDocument/2006/relationships/slide" Target="/ppt/slides/slide3.xml" Id="R4b35901951aa45bc" /><Relationship Type="http://schemas.openxmlformats.org/officeDocument/2006/relationships/slide" Target="/ppt/slides/slide4.xml" Id="R5691603e146e4afb" /><Relationship Type="http://schemas.openxmlformats.org/officeDocument/2006/relationships/slide" Target="/ppt/slides/slide5.xml" Id="R1d8fb6a669cb4771" /><Relationship Type="http://schemas.openxmlformats.org/officeDocument/2006/relationships/slide" Target="/ppt/slides/slide6.xml" Id="R750adf5c6d7740fd" /><Relationship Type="http://schemas.openxmlformats.org/officeDocument/2006/relationships/slide" Target="/ppt/slides/slide7.xml" Id="R94a3efe98c9748bf" /><Relationship Type="http://schemas.openxmlformats.org/officeDocument/2006/relationships/slide" Target="/ppt/slides/slide8.xml" Id="Ra4d798a6135448e0" /><Relationship Type="http://schemas.openxmlformats.org/officeDocument/2006/relationships/slide" Target="/ppt/slides/slide9.xml" Id="Ra7c53d21560c4e87" /><Relationship Type="http://schemas.openxmlformats.org/officeDocument/2006/relationships/slide" Target="/ppt/slides/slide10.xml" Id="R08cc8b5ca22247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05e743937040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f71ecb8fa94a9d" /><Relationship Type="http://schemas.openxmlformats.org/officeDocument/2006/relationships/notesMaster" Target="/ppt/notesMasters/notesMaster1.xml" Id="Rfb418010e06b44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ced81342a645fe" /><Relationship Type="http://schemas.openxmlformats.org/officeDocument/2006/relationships/notesMaster" Target="/ppt/notesMasters/notesMaster1.xml" Id="Ra130dde5589a4f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c17fe65aa34837" /><Relationship Type="http://schemas.openxmlformats.org/officeDocument/2006/relationships/notesMaster" Target="/ppt/notesMasters/notesMaster1.xml" Id="R2fba3777f98843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e2400cb9fa452b" /><Relationship Type="http://schemas.openxmlformats.org/officeDocument/2006/relationships/notesMaster" Target="/ppt/notesMasters/notesMaster1.xml" Id="Raac06513955a44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61b3a778a94e79" /><Relationship Type="http://schemas.openxmlformats.org/officeDocument/2006/relationships/notesMaster" Target="/ppt/notesMasters/notesMaster1.xml" Id="Rc0371f9415524c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306925c486042c2" /><Relationship Type="http://schemas.openxmlformats.org/officeDocument/2006/relationships/notesMaster" Target="/ppt/notesMasters/notesMaster1.xml" Id="R4acd6218d5ba45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1eb73567004ed6" /><Relationship Type="http://schemas.openxmlformats.org/officeDocument/2006/relationships/notesMaster" Target="/ppt/notesMasters/notesMaster1.xml" Id="Rc699c089c14546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59845f482904fed" /><Relationship Type="http://schemas.openxmlformats.org/officeDocument/2006/relationships/notesMaster" Target="/ppt/notesMasters/notesMaster1.xml" Id="R4c4663f6a4e2494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ca385d1294d4edd" /><Relationship Type="http://schemas.openxmlformats.org/officeDocument/2006/relationships/notesMaster" Target="/ppt/notesMasters/notesMaster1.xml" Id="R99c8be631ddd4f2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22dedb1c6a74fac" /><Relationship Type="http://schemas.openxmlformats.org/officeDocument/2006/relationships/notesMaster" Target="/ppt/notesMasters/notesMaster1.xml" Id="Rbdad2eac571749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b0cf5258e7415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1d0a063b614c6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8f72ef25d74cc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8c668973a8479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6383a7a3104fe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7cc1ae40a84a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1432540-9362-455E-8295-1952F50BFE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11BEC7B-1E83-4232-8225-0BE7996E151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8DB4614-90AC-4D95-A02D-CF0913D99A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AB08DD-8E16-42B7-873D-4B709E05D1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A6F0D65-D88E-4C3B-8E69-6BB61FFB65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3AC85CB-93F2-4BF2-9461-443ECE2553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BD64DF9-F20C-4C16-9D18-612C5FB4BD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52D89B1-2E61-40FC-8C7D-A1C1BB90EC7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172300D-6323-4165-B88B-CE70519A50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23ABB00-E482-4B35-A35B-BD767302CF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ebd7b7ae3a4a18" /><Relationship Type="http://schemas.openxmlformats.org/officeDocument/2006/relationships/slideLayout" Target="/ppt/slideLayouts/slideLayout1.xml" Id="Rf8822f601b504d58" /><Relationship Type="http://schemas.openxmlformats.org/officeDocument/2006/relationships/slideLayout" Target="/ppt/slideLayouts/slideLayout2.xml" Id="Refa7464ab5294e15" /><Relationship Type="http://schemas.openxmlformats.org/officeDocument/2006/relationships/slideLayout" Target="/ppt/slideLayouts/slideLayout3.xml" Id="R758a410899814ddd" /><Relationship Type="http://schemas.openxmlformats.org/officeDocument/2006/relationships/slideLayout" Target="/ppt/slideLayouts/slideLayout4.xml" Id="Re29c8f48cbfa4e3c" /><Relationship Type="http://schemas.openxmlformats.org/officeDocument/2006/relationships/slideLayout" Target="/ppt/slideLayouts/slideLayout5.xml" Id="R5d62d27ba8dc4ba4" /><Relationship Type="http://schemas.openxmlformats.org/officeDocument/2006/relationships/slideLayout" Target="/ppt/slideLayouts/slideLayout6.xml" Id="Raae77c6680ab49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822f601b504d58"/>
    <p:sldLayoutId xmlns:r="http://schemas.openxmlformats.org/officeDocument/2006/relationships" id="2147483650" r:id="Refa7464ab5294e15"/>
    <p:sldLayoutId xmlns:r="http://schemas.openxmlformats.org/officeDocument/2006/relationships" id="2147483651" r:id="R758a410899814ddd"/>
    <p:sldLayoutId xmlns:r="http://schemas.openxmlformats.org/officeDocument/2006/relationships" id="2147483652" r:id="Re29c8f48cbfa4e3c"/>
    <p:sldLayoutId xmlns:r="http://schemas.openxmlformats.org/officeDocument/2006/relationships" id="2147483653" r:id="R5d62d27ba8dc4ba4"/>
    <p:sldLayoutId xmlns:r="http://schemas.openxmlformats.org/officeDocument/2006/relationships" id="2147483654" r:id="Raae77c6680ab49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b456184f984325" /><Relationship Type="http://schemas.openxmlformats.org/officeDocument/2006/relationships/notesSlide" Target="/ppt/notesSlides/notesSlide1.xml" Id="R8bd2f299df5b43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4e2b71e9e14f0a" /><Relationship Type="http://schemas.openxmlformats.org/officeDocument/2006/relationships/notesSlide" Target="/ppt/notesSlides/notesSlide2.xml" Id="Rb708d13db5e54d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4cbd4400754f7b" /><Relationship Type="http://schemas.openxmlformats.org/officeDocument/2006/relationships/notesSlide" Target="/ppt/notesSlides/notesSlide3.xml" Id="Rf05c3ad42f6846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e343ef38e14f41" /><Relationship Type="http://schemas.openxmlformats.org/officeDocument/2006/relationships/notesSlide" Target="/ppt/notesSlides/notesSlide4.xml" Id="R6cc2423dd94141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7fae48ac1846d2" /><Relationship Type="http://schemas.openxmlformats.org/officeDocument/2006/relationships/image" Target="/ppt/media/image.jpeg" Id="R4fc2863ee105437a" /><Relationship Type="http://schemas.openxmlformats.org/officeDocument/2006/relationships/image" Target="/ppt/media/image2.jpeg" Id="Rfb617777a60a4d1c" /><Relationship Type="http://schemas.openxmlformats.org/officeDocument/2006/relationships/notesSlide" Target="/ppt/notesSlides/notesSlide5.xml" Id="R92c3744fc47f4f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d85e5bea744b8f" /><Relationship Type="http://schemas.openxmlformats.org/officeDocument/2006/relationships/image" Target="/ppt/media/image3.jpeg" Id="Rd8de4c9a208e41d6" /><Relationship Type="http://schemas.openxmlformats.org/officeDocument/2006/relationships/image" Target="/ppt/media/image4.jpeg" Id="R8b2f1bb124a94706" /><Relationship Type="http://schemas.openxmlformats.org/officeDocument/2006/relationships/notesSlide" Target="/ppt/notesSlides/notesSlide6.xml" Id="Rbddc54621d384a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af5dd475ee4c0a" /><Relationship Type="http://schemas.openxmlformats.org/officeDocument/2006/relationships/image" Target="/ppt/media/image5.jpeg" Id="Rbbf1a5350700474f" /><Relationship Type="http://schemas.openxmlformats.org/officeDocument/2006/relationships/image" Target="/ppt/media/image6.jpeg" Id="Rb0eec2b14a8e4149" /><Relationship Type="http://schemas.openxmlformats.org/officeDocument/2006/relationships/notesSlide" Target="/ppt/notesSlides/notesSlide7.xml" Id="Rdfad576b41f04ee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2764fbbe5f4af3" /><Relationship Type="http://schemas.openxmlformats.org/officeDocument/2006/relationships/image" Target="/ppt/media/image7.jpeg" Id="R94381c29f0b24559" /><Relationship Type="http://schemas.openxmlformats.org/officeDocument/2006/relationships/notesSlide" Target="/ppt/notesSlides/notesSlide8.xml" Id="Rac634331d4c3483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b481fd50e34749" /><Relationship Type="http://schemas.openxmlformats.org/officeDocument/2006/relationships/notesSlide" Target="/ppt/notesSlides/notesSlide9.xml" Id="Rf51b3c2d8ffc424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15d82e01564795" /><Relationship Type="http://schemas.openxmlformats.org/officeDocument/2006/relationships/notesSlide" Target="/ppt/notesSlides/notesSlide10.xml" Id="R49e438c322f0497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D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386FD1-4D77-46E6-B807-BBC3E187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0"/>
            <a:ext cx="394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A64281-DE93-4CB4-8A5D-F6978E4A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 i="0">
                <a:solidFill>
                  <a:srgbClr val="DDF98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DDF98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DDF98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DDF98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DDF98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DDF98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DDF98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DDF98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DDF98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DDF9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DDF98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DF98A"/>
                </a:solidFill>
                <a:latin typeface="Arial"/>
                <a:ea typeface="Arial"/>
                <a:cs typeface="Arial"/>
              </a:rPr>
              <a:t>INMOSCORE  /  PRODUCTO DE DATOS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2EFEDE-D614-4D8A-8C2A-3B9E8138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723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Buscar vivienda</a:t>
            </a:r>
          </a:p>
          <a:p xmlns:a="http://schemas.openxmlformats.org/drawingml/2006/main">
            <a:pPr algn="l">
              <a:defRPr sz="4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 mejores señales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A9C297-F590-48F1-82F4-D8F24D8B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657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0" i="0">
                <a:solidFill>
                  <a:srgbClr val="D8E4D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 i="0">
                <a:solidFill>
                  <a:srgbClr val="D8E4D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 i="0">
                <a:solidFill>
                  <a:srgbClr val="D8E4D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 i="0">
                <a:solidFill>
                  <a:srgbClr val="D8E4D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 i="0">
                <a:solidFill>
                  <a:srgbClr val="D8E4D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 i="0">
                <a:solidFill>
                  <a:srgbClr val="D8E4D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 i="0">
                <a:solidFill>
                  <a:srgbClr val="D8E4D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 i="0">
                <a:solidFill>
                  <a:srgbClr val="D8E4D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 i="0">
                <a:solidFill>
                  <a:srgbClr val="D8E4D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 i="0">
                <a:solidFill>
                  <a:srgbClr val="D8E4D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 i="0">
                <a:solidFill>
                  <a:srgbClr val="D8E4D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D8E4DA"/>
                </a:solidFill>
                <a:latin typeface="Arial"/>
                <a:ea typeface="Arial"/>
                <a:cs typeface="Arial"/>
              </a:rPr>
              <a:t>Un recorrido personalizado para comparar precio, entorno y capacidad de pago en Lima.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0E7F9A-EBA8-4FE1-8B3D-7A48CA81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 i="0">
                <a:solidFill>
                  <a:srgbClr val="DDF98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 i="0">
                <a:solidFill>
                  <a:srgbClr val="DDF98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 i="0">
                <a:solidFill>
                  <a:srgbClr val="DDF98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 i="0">
                <a:solidFill>
                  <a:srgbClr val="DDF98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 i="0">
                <a:solidFill>
                  <a:srgbClr val="DDF98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 i="0">
                <a:solidFill>
                  <a:srgbClr val="DDF98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 i="0">
                <a:solidFill>
                  <a:srgbClr val="DDF98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 i="0">
                <a:solidFill>
                  <a:srgbClr val="DDF98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 i="0">
                <a:solidFill>
                  <a:srgbClr val="DDF98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 i="0">
                <a:solidFill>
                  <a:srgbClr val="DDF9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 i="0">
                <a:solidFill>
                  <a:srgbClr val="DDF98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DDF98A"/>
                </a:solidFill>
                <a:latin typeface="Arial"/>
                <a:ea typeface="Arial"/>
                <a:cs typeface="Arial"/>
              </a:rPr>
              <a:t>Week 10  ·  19 de octubre de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9082CA-9CBC-4457-BA0B-8CB68445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09800"/>
            <a:ext cx="2857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75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defPPr>
            <a:lvl1pPr algn="ctr">
              <a:defRPr sz="375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1pPr>
            <a:lvl2pPr algn="ctr">
              <a:defRPr sz="375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2pPr>
            <a:lvl3pPr algn="ctr">
              <a:defRPr sz="375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3pPr>
            <a:lvl4pPr algn="ctr">
              <a:defRPr sz="375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4pPr>
            <a:lvl5pPr algn="ctr">
              <a:defRPr sz="375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5pPr>
            <a:lvl6pPr algn="ctr">
              <a:defRPr sz="375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6pPr>
            <a:lvl7pPr algn="ctr">
              <a:defRPr sz="375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7pPr>
            <a:lvl8pPr algn="ctr">
              <a:defRPr sz="375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8pPr>
            <a:lvl9pPr algn="ctr">
              <a:defRPr sz="375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375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173D31"/>
                </a:solidFill>
                <a:latin typeface="Arial"/>
                <a:ea typeface="Arial"/>
                <a:cs typeface="Arial"/>
              </a:rPr>
              <a:t>INMO</a:t>
            </a:r>
          </a:p>
          <a:p xmlns:a="http://schemas.openxmlformats.org/drawingml/2006/main">
            <a:pPr algn="ctr">
              <a:defRPr sz="375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173D31"/>
                </a:solidFill>
                <a:latin typeface="Arial"/>
                <a:ea typeface="Arial"/>
                <a:cs typeface="Arial"/>
              </a:rPr>
              <a:t>SCORE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C7682E-10D9-467A-895D-56A160E0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7814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75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A5947"/>
                </a:solidFill>
                <a:latin typeface="Arial"/>
                <a:ea typeface="Arial"/>
                <a:cs typeface="Arial"/>
              </a:rPr>
              <a:t>PRODUCTO WEB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D9316B-34B6-4629-AC1A-157778C2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 i="0">
                <a:solidFill>
                  <a:srgbClr val="B6C8BD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B6C8BD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B6C8BD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B6C8BD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B6C8BD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B6C8BD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B6C8BD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B6C8BD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B6C8BD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B6C8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B6C8BD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B6C8BD"/>
                </a:solidFill>
                <a:latin typeface="Arial"/>
                <a:ea typeface="Arial"/>
                <a:cs typeface="Arial"/>
              </a:rPr>
              <a:t>InmoScore  /  Week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5EC2AA-B8E7-4DB3-B138-9AE50C26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48652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173D3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603876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FC7DA2-077E-4FD4-BB8E-FD952859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A5947"/>
                </a:solidFill>
                <a:latin typeface="Arial"/>
                <a:ea typeface="Arial"/>
                <a:cs typeface="Arial"/>
              </a:rPr>
              <a:t>PROBLEMA Y PRODUCTO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13F14A-87F2-4D01-ADDA-50D2C32F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"/>
            <a:ext cx="11096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C2822"/>
                </a:solidFill>
                <a:latin typeface="Arial"/>
                <a:ea typeface="Arial"/>
                <a:cs typeface="Arial"/>
              </a:rPr>
              <a:t>La decisión reúne señales que hoy están dispersas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31A346-AD06-43EB-9CB7-AE651295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6A"/>
                </a:solidFill>
                <a:latin typeface="Arial"/>
                <a:ea typeface="Arial"/>
                <a:cs typeface="Arial"/>
              </a:rPr>
              <a:t>InmoScore convierte el aviso en una comparación guiada por el perfil de compra.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52A17F-4C24-4AA4-B3D9-DA1310CB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865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6716A"/>
                </a:solidFill>
                <a:latin typeface="Arial"/>
                <a:ea typeface="Arial"/>
                <a:cs typeface="Arial"/>
              </a:rPr>
              <a:t>InmoScore  /  Week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36367E-DF0C-4981-813E-E2410330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48652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6716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306104-9D08-4D6C-9537-66C81981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859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82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E22CB9-2277-4777-B7F0-256BFD2B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483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C2822"/>
                </a:solidFill>
                <a:latin typeface="Arial"/>
                <a:ea typeface="Arial"/>
                <a:cs typeface="Arial"/>
              </a:rPr>
              <a:t>Precio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EF3393-25BF-4FAA-BDCE-2C9E55D1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481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6716A"/>
                </a:solidFill>
                <a:latin typeface="Arial"/>
                <a:ea typeface="Arial"/>
                <a:cs typeface="Arial"/>
              </a:rPr>
              <a:t>¿El monto pedido se acerca al valor estimado para una vivienda similar?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33D06B-0725-4AF6-920A-88E59223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956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82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9F25E9-6594-4226-868A-F5E1B675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483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C2822"/>
                </a:solidFill>
                <a:latin typeface="Arial"/>
                <a:ea typeface="Arial"/>
                <a:cs typeface="Arial"/>
              </a:rPr>
              <a:t>Entorno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E45258-362C-407E-953D-D179FC75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43275"/>
            <a:ext cx="481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6716A"/>
                </a:solidFill>
                <a:latin typeface="Arial"/>
                <a:ea typeface="Arial"/>
                <a:cs typeface="Arial"/>
              </a:rPr>
              <a:t>¿Qué nivel de seguridad y conveniencia ofrece la zona?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009572-5C36-4BC5-8826-4BDB4038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052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82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DF114F-E21D-4B9F-B594-3E47D31D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483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C2822"/>
                </a:solidFill>
                <a:latin typeface="Arial"/>
                <a:ea typeface="Arial"/>
                <a:cs typeface="Arial"/>
              </a:rPr>
              <a:t>Capacidad de pago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6E7E30-90F8-4488-AFF5-8743752F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52925"/>
            <a:ext cx="481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6716A"/>
                </a:solidFill>
                <a:latin typeface="Arial"/>
                <a:ea typeface="Arial"/>
                <a:cs typeface="Arial"/>
              </a:rPr>
              <a:t>¿El precio cabe dentro del límite financiero del comprador?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87F117-2B5D-4F8A-B913-42CBC5A2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002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73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01EDBC-D719-443E-9B0D-4E75990A9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33625"/>
            <a:ext cx="1162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DF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ABF676-D22A-498E-A69E-1B401B2C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43150"/>
            <a:ext cx="971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73D31"/>
                </a:solidFill>
                <a:latin typeface="Arial"/>
                <a:ea typeface="Arial"/>
                <a:cs typeface="Arial"/>
              </a:rPr>
              <a:t>PRODUCTO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3B5E78-128E-4123-B142-469046C7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28925"/>
            <a:ext cx="4171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7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Un perfil.</a:t>
            </a:r>
          </a:p>
          <a:p xmlns:a="http://schemas.openxmlformats.org/drawingml/2006/main">
            <a:pPr algn="l">
              <a:defRPr sz="27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Un ranking explicable.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C96D6E-5AB7-4B25-ADAE-26ED756C6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43375"/>
            <a:ext cx="4324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DBE5DD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DBE5DD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DBE5DD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DBE5DD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DBE5DD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DBE5DD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DBE5DD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DBE5DD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DBE5DD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DBE5D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DBE5D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DBE5DD"/>
                </a:solidFill>
                <a:latin typeface="Arial"/>
                <a:ea typeface="Arial"/>
                <a:cs typeface="Arial"/>
              </a:rPr>
              <a:t>Cada vivienda combina precio, seguridad y conveniencia, con un tope financiero definido por el usuario.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FA1022-97B7-497B-9996-0DB28722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007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A5947"/>
                </a:solidFill>
                <a:latin typeface="Arial"/>
                <a:ea typeface="Arial"/>
                <a:cs typeface="Arial"/>
              </a:rPr>
              <a:t>La salida es una lista que se puede revisar, guardar y comparar.</a:t>
            </a:r>
          </a:p>
        </p:txBody>
      </p:sp>
    </p:spTree>
    <p:extLst>
      <p:ext uri="{BB962C8B-B14F-4D97-AF65-F5344CB8AC3E}">
        <p14:creationId xmlns:p14="http://schemas.microsoft.com/office/powerpoint/2010/main" val="8583868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19CC84-8EFB-4712-A9D5-2BCF23FE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A5947"/>
                </a:solidFill>
                <a:latin typeface="Arial"/>
                <a:ea typeface="Arial"/>
                <a:cs typeface="Arial"/>
              </a:rPr>
              <a:t>BASE DE DATOS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002E2B-5F31-4D50-B7D3-48ACC728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"/>
            <a:ext cx="11096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C2822"/>
                </a:solidFill>
                <a:latin typeface="Arial"/>
                <a:ea typeface="Arial"/>
                <a:cs typeface="Arial"/>
              </a:rPr>
              <a:t>La base describe el mercado publicado en 20 distritos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95690D-890A-4DA0-A29A-E089275A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6A"/>
                </a:solidFill>
                <a:latin typeface="Arial"/>
                <a:ea typeface="Arial"/>
                <a:cs typeface="Arial"/>
              </a:rPr>
              <a:t>Datos históricos de avisos para construir referencias de precio y contexto local.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46D45D-DDDD-4242-9908-452C316C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865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6716A"/>
                </a:solidFill>
                <a:latin typeface="Arial"/>
                <a:ea typeface="Arial"/>
                <a:cs typeface="Arial"/>
              </a:rPr>
              <a:t>InmoScore  /  Week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458641-B17F-435C-BFBD-B66ECFCB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48652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671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71B125-23BD-4E84-900B-1B59CBDD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3D31"/>
                </a:solidFill>
                <a:latin typeface="Arial"/>
                <a:ea typeface="Arial"/>
                <a:cs typeface="Arial"/>
              </a:rPr>
              <a:t>3 896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623A8A-3C1A-4CF0-9760-29B05A81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16A"/>
                </a:solidFill>
                <a:latin typeface="Arial"/>
                <a:ea typeface="Arial"/>
                <a:cs typeface="Arial"/>
              </a:rPr>
              <a:t>avisos históricos en el conjunto de trabajo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C6DFEE-199E-4D16-854C-114CE31A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9550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 i="0">
                <a:solidFill>
                  <a:srgbClr val="ED825F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 i="0">
                <a:solidFill>
                  <a:srgbClr val="ED825F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 i="0">
                <a:solidFill>
                  <a:srgbClr val="ED825F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 i="0">
                <a:solidFill>
                  <a:srgbClr val="ED825F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 i="0">
                <a:solidFill>
                  <a:srgbClr val="ED825F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 i="0">
                <a:solidFill>
                  <a:srgbClr val="ED825F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 i="0">
                <a:solidFill>
                  <a:srgbClr val="ED825F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 i="0">
                <a:solidFill>
                  <a:srgbClr val="ED825F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 i="0">
                <a:solidFill>
                  <a:srgbClr val="ED825F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 i="0">
                <a:solidFill>
                  <a:srgbClr val="ED82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 i="0">
                <a:solidFill>
                  <a:srgbClr val="ED825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ED825F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041CC7-7AAB-428C-A1B7-2846F555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86050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16A"/>
                </a:solidFill>
                <a:latin typeface="Arial"/>
                <a:ea typeface="Arial"/>
                <a:cs typeface="Arial"/>
              </a:rPr>
              <a:t>distritos de Lima representados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7262D5-181F-4D4A-899C-0580B756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955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3D31"/>
                </a:solidFill>
                <a:latin typeface="Arial"/>
                <a:ea typeface="Arial"/>
                <a:cs typeface="Arial"/>
              </a:rPr>
              <a:t>91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0DB192-2E30-4BDE-BAE5-4BD1F6F63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68605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16A"/>
                </a:solidFill>
                <a:latin typeface="Arial"/>
                <a:ea typeface="Arial"/>
                <a:cs typeface="Arial"/>
              </a:rPr>
              <a:t>avisos históricos excluidos del conjunto de análisis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10C613-F58C-4F84-84B4-CE8CCF50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955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 i="0">
                <a:solidFill>
                  <a:srgbClr val="ED825F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 i="0">
                <a:solidFill>
                  <a:srgbClr val="ED825F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 i="0">
                <a:solidFill>
                  <a:srgbClr val="ED825F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 i="0">
                <a:solidFill>
                  <a:srgbClr val="ED825F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 i="0">
                <a:solidFill>
                  <a:srgbClr val="ED825F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 i="0">
                <a:solidFill>
                  <a:srgbClr val="ED825F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 i="0">
                <a:solidFill>
                  <a:srgbClr val="ED825F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 i="0">
                <a:solidFill>
                  <a:srgbClr val="ED825F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 i="0">
                <a:solidFill>
                  <a:srgbClr val="ED825F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 i="0">
                <a:solidFill>
                  <a:srgbClr val="ED82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 i="0">
                <a:solidFill>
                  <a:srgbClr val="ED825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ED825F"/>
                </a:solidFill>
                <a:latin typeface="Arial"/>
                <a:ea typeface="Arial"/>
                <a:cs typeface="Arial"/>
              </a:rPr>
              <a:t>133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47A091-13B2-4585-BE65-76F034D8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8605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16A"/>
                </a:solidFill>
                <a:latin typeface="Arial"/>
                <a:ea typeface="Arial"/>
                <a:cs typeface="Arial"/>
              </a:rPr>
              <a:t>ubicaciones de calle o edificio para el mapa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11A76D-2F24-40D4-BB88-4337AA61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719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D10FA2-415F-4657-A386-A046A935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82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DFA1CC-F4B1-43B3-B8DF-947D12E5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464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C2822"/>
                </a:solidFill>
                <a:latin typeface="Arial"/>
                <a:ea typeface="Arial"/>
                <a:cs typeface="Arial"/>
              </a:rPr>
              <a:t>Uso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70298E-E8EE-454F-8C2A-1048498C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91025"/>
            <a:ext cx="462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6716A"/>
                </a:solidFill>
                <a:latin typeface="Arial"/>
                <a:ea typeface="Arial"/>
                <a:cs typeface="Arial"/>
              </a:rPr>
              <a:t>Entrenar y evaluar valoración; enriquecer cada zona con seguridad y conveniencia.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1670B4-D83C-4D1A-9863-CB34782E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433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82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6630DB-664F-4A36-8CE7-FA7F700E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95750"/>
            <a:ext cx="493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C2822"/>
                </a:solidFill>
                <a:latin typeface="Arial"/>
                <a:ea typeface="Arial"/>
                <a:cs typeface="Arial"/>
              </a:rPr>
              <a:t>Alcance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3FD88A-16C4-4C4A-8257-5A44D4115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91025"/>
            <a:ext cx="491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6716A"/>
                </a:solidFill>
                <a:latin typeface="Arial"/>
                <a:ea typeface="Arial"/>
                <a:cs typeface="Arial"/>
              </a:rPr>
              <a:t>El inventario es histórico. La disponibilidad actual de cada aviso no está verificada.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C87EC4-EC99-4EAA-9DEC-F769EACF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095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1">
                <a:solidFill>
                  <a:srgbClr val="66716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 i="1">
                <a:solidFill>
                  <a:srgbClr val="66716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 i="1">
                <a:solidFill>
                  <a:srgbClr val="66716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 i="1">
                <a:solidFill>
                  <a:srgbClr val="66716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 i="1">
                <a:solidFill>
                  <a:srgbClr val="66716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 i="1">
                <a:solidFill>
                  <a:srgbClr val="66716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 i="1">
                <a:solidFill>
                  <a:srgbClr val="66716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 i="1">
                <a:solidFill>
                  <a:srgbClr val="66716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 i="1">
                <a:solidFill>
                  <a:srgbClr val="66716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 i="1">
                <a:solidFill>
                  <a:srgbClr val="66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 i="1">
                <a:solidFill>
                  <a:srgbClr val="66716A"/>
                </a:solidFill>
                <a:latin typeface="Arial"/>
                <a:ea typeface="Arial"/>
                <a:cs typeface="Arial"/>
              </a:defRPr>
            </a:pPr>
            <a:r>
              <a:rPr sz="1125" b="0" i="1">
                <a:solidFill>
                  <a:srgbClr val="66716A"/>
                </a:solidFill>
                <a:latin typeface="Arial"/>
                <a:ea typeface="Arial"/>
                <a:cs typeface="Arial"/>
              </a:rPr>
              <a:t>El mapa muestra las coordenadas disponibles; su precisión es de calle o edificio.</a:t>
            </a:r>
          </a:p>
        </p:txBody>
      </p:sp>
    </p:spTree>
    <p:extLst>
      <p:ext uri="{BB962C8B-B14F-4D97-AF65-F5344CB8AC3E}">
        <p14:creationId xmlns:p14="http://schemas.microsoft.com/office/powerpoint/2010/main" val="11603891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5C96B4-ADB3-44A5-AB28-45060DF3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A5947"/>
                </a:solidFill>
                <a:latin typeface="Arial"/>
                <a:ea typeface="Arial"/>
                <a:cs typeface="Arial"/>
              </a:rPr>
              <a:t>RECORRIDO DEL PRODUCTO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183579-2D48-4ADF-AB0D-9BE85A6B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"/>
            <a:ext cx="11096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C2822"/>
                </a:solidFill>
                <a:latin typeface="Arial"/>
                <a:ea typeface="Arial"/>
                <a:cs typeface="Arial"/>
              </a:rPr>
              <a:t>La experiencia acompaña seis decisiones del comprador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56C051-0A0F-4379-9082-433140EB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6A"/>
                </a:solidFill>
                <a:latin typeface="Arial"/>
                <a:ea typeface="Arial"/>
                <a:cs typeface="Arial"/>
              </a:rPr>
              <a:t>El usuario entra por la landing, completa su perfil y evalúa resultados antes de guardar o comparar.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DF00FE-9894-4033-A2E5-E9E05D85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865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6716A"/>
                </a:solidFill>
                <a:latin typeface="Arial"/>
                <a:ea typeface="Arial"/>
                <a:cs typeface="Arial"/>
              </a:rPr>
              <a:t>InmoScore  /  Week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FDA8D3-DEC3-45DE-B502-856B2210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48652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6716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DD9D7E-54A3-498C-B26E-E4782628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62275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DE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C4FCF3-C558-4D98-906E-18CF0945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0325"/>
            <a:ext cx="7239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0AEB66-A3CE-46C4-8DE5-6425A512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3D3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A51C1D-1A55-4AE4-B09E-B53CEBC2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533775"/>
            <a:ext cx="1409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C2822"/>
                </a:solidFill>
                <a:latin typeface="Arial"/>
                <a:ea typeface="Arial"/>
                <a:cs typeface="Arial"/>
              </a:rPr>
              <a:t>Landing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DBA0BA-7C6C-4C04-8602-BE482CB2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00325"/>
            <a:ext cx="7239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2A1A1F-B3B7-4AC6-A302-AD26E25D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8130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3D3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E50FB1-4763-4F2A-ABE6-D7EA7A78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533775"/>
            <a:ext cx="1409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C2822"/>
                </a:solidFill>
                <a:latin typeface="Arial"/>
                <a:ea typeface="Arial"/>
                <a:cs typeface="Arial"/>
              </a:rPr>
              <a:t>Acceso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EBA094-3332-4343-83AB-066F8973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0325"/>
            <a:ext cx="7239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995019-40FC-49DA-AFB2-4E9CA6313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8130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3D3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7C8C90-1240-4CC2-979D-074AF70C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533775"/>
            <a:ext cx="1409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C2822"/>
                </a:solidFill>
                <a:latin typeface="Arial"/>
                <a:ea typeface="Arial"/>
                <a:cs typeface="Arial"/>
              </a:rPr>
              <a:t>Perfil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5D2C58-5FB3-45CE-83CE-E02533B5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0325"/>
            <a:ext cx="7239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DF98A"/>
          </a:solidFill>
          <a:ln xmlns:a="http://schemas.openxmlformats.org/drawingml/2006/main" w="9525">
            <a:solidFill>
              <a:srgbClr val="DDF98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C7FDDE-8F75-450A-9FD1-D33052B9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3D3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05DF45-AFA1-4D9E-92E7-551055C1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533775"/>
            <a:ext cx="1409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C2822"/>
                </a:solidFill>
                <a:latin typeface="Arial"/>
                <a:ea typeface="Arial"/>
                <a:cs typeface="Arial"/>
              </a:rPr>
              <a:t>Ranking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D45D1F-1754-46E3-895F-E95C1237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00325"/>
            <a:ext cx="7239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D3D765-1AFE-4366-A807-E0DAD353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8130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3D3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4F12EA-7D17-4CAC-B846-3E655AAA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33775"/>
            <a:ext cx="1409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C2822"/>
                </a:solidFill>
                <a:latin typeface="Arial"/>
                <a:ea typeface="Arial"/>
                <a:cs typeface="Arial"/>
              </a:rPr>
              <a:t>Detalle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14B8CA-07BB-4CE1-B76D-6F6278CE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00325"/>
            <a:ext cx="7239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0751F7-72AD-4EDD-A987-DC210865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78130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3D3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8CC911-5450-4B95-B839-05F8C79C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533775"/>
            <a:ext cx="1409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C2822"/>
                </a:solidFill>
                <a:latin typeface="Arial"/>
                <a:ea typeface="Arial"/>
                <a:cs typeface="Arial"/>
              </a:rPr>
              <a:t>Guardados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B17ABB-753F-48C4-81F0-FB73FAC0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109347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9E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2B0734-5FB1-417B-BA05-919545BC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10334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A5947"/>
                </a:solidFill>
                <a:latin typeface="Arial"/>
                <a:ea typeface="Arial"/>
                <a:cs typeface="Arial"/>
              </a:rPr>
              <a:t>En cualquier punto, el usuario puede volver a sus favoritos y revisar hasta tres opciones a la vez.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4C209A-6219-43CD-8542-6257DC9F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5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16A"/>
                </a:solidFill>
                <a:latin typeface="Arial"/>
                <a:ea typeface="Arial"/>
                <a:cs typeface="Arial"/>
              </a:rPr>
              <a:t>Cuentas propias con correo y contraseña; las sesiones usan token aleatorio y hash en SQLite.</a:t>
            </a:r>
          </a:p>
        </p:txBody>
      </p:sp>
    </p:spTree>
    <p:extLst>
      <p:ext uri="{BB962C8B-B14F-4D97-AF65-F5344CB8AC3E}">
        <p14:creationId xmlns:p14="http://schemas.microsoft.com/office/powerpoint/2010/main" val="13396726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1BE453-6DBA-4318-BBBE-5FD75014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A5947"/>
                </a:solidFill>
                <a:latin typeface="Arial"/>
                <a:ea typeface="Arial"/>
                <a:cs typeface="Arial"/>
              </a:rPr>
              <a:t>EXPERIENCIA · ENTRADA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C19AB1-F0F6-4DED-AA80-DA923AA8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"/>
            <a:ext cx="11096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C2822"/>
                </a:solidFill>
                <a:latin typeface="Arial"/>
                <a:ea typeface="Arial"/>
                <a:cs typeface="Arial"/>
              </a:rPr>
              <a:t>Una entrada simple lleva al perfil de búsqueda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953515-F8F8-4C7B-A38A-5E300839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6A"/>
                </a:solidFill>
                <a:latin typeface="Arial"/>
                <a:ea typeface="Arial"/>
                <a:cs typeface="Arial"/>
              </a:rPr>
              <a:t>La landing presenta el producto; una cuenta propia permite conservar el perfil y los favoritos.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440F34-3AF1-465C-9A28-9CF932B8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865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6716A"/>
                </a:solidFill>
                <a:latin typeface="Arial"/>
                <a:ea typeface="Arial"/>
                <a:cs typeface="Arial"/>
              </a:rPr>
              <a:t>InmoScore  /  Week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341168-4B60-48E8-A417-125558A6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48652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6716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68A05C-9326-4EC7-9A63-362D62B8AA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c2863ee105437a"/>
          <a:stretch xmlns:a="http://schemas.openxmlformats.org/drawingml/2006/main"/>
        </p:blipFill>
        <p:spPr>
          <a:xfrm xmlns:a="http://schemas.openxmlformats.org/drawingml/2006/main">
            <a:off x="790575" y="1962150"/>
            <a:ext cx="4762500" cy="3571875"/>
          </a:xfrm>
          <a:prstGeom xmlns:a="http://schemas.openxmlformats.org/drawingml/2006/main" prst="roundRect">
            <a:avLst>
              <a:gd name="adj" fmla="val 2133"/>
            </a:avLst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9974CB-D1B8-497B-8D28-0F042EA034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617777a60a4d1c"/>
          <a:stretch xmlns:a="http://schemas.openxmlformats.org/drawingml/2006/main"/>
        </p:blipFill>
        <p:spPr>
          <a:xfrm xmlns:a="http://schemas.openxmlformats.org/drawingml/2006/main">
            <a:off x="7280522" y="1962150"/>
            <a:ext cx="3422156" cy="3571875"/>
          </a:xfrm>
          <a:prstGeom xmlns:a="http://schemas.openxmlformats.org/drawingml/2006/main" prst="roundRect">
            <a:avLst>
              <a:gd name="adj" fmla="val 21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06B7D5-2C0F-4650-A445-A76806C3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2452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A5947"/>
                </a:solidFill>
                <a:latin typeface="Arial"/>
                <a:ea typeface="Arial"/>
                <a:cs typeface="Arial"/>
              </a:rPr>
              <a:t>Landing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4E5C00-5868-43C5-90C5-62D70E7B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72452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A5947"/>
                </a:solidFill>
                <a:latin typeface="Arial"/>
                <a:ea typeface="Arial"/>
                <a:cs typeface="Arial"/>
              </a:rPr>
              <a:t>Inicio de sesión con correo y contraseña</a:t>
            </a:r>
          </a:p>
        </p:txBody>
      </p:sp>
    </p:spTree>
    <p:extLst>
      <p:ext uri="{BB962C8B-B14F-4D97-AF65-F5344CB8AC3E}">
        <p14:creationId xmlns:p14="http://schemas.microsoft.com/office/powerpoint/2010/main" val="12475101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6B832B-C3FF-4511-B8E9-D8AEAC4E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A5947"/>
                </a:solidFill>
                <a:latin typeface="Arial"/>
                <a:ea typeface="Arial"/>
                <a:cs typeface="Arial"/>
              </a:rPr>
              <a:t>EXPERIENCIA · PERSONALIZACIÓN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F24AE6-E45C-4CB9-A003-3B2915E9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"/>
            <a:ext cx="11096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C2822"/>
                </a:solidFill>
                <a:latin typeface="Arial"/>
                <a:ea typeface="Arial"/>
                <a:cs typeface="Arial"/>
              </a:rPr>
              <a:t>Tres criterios ordenan los resultados para cada perfil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4E8055-8711-4858-82B1-0ED4F145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6A"/>
                </a:solidFill>
                <a:latin typeface="Arial"/>
                <a:ea typeface="Arial"/>
                <a:cs typeface="Arial"/>
              </a:rPr>
              <a:t>Precio, seguridad y conveniencia tienen pesos configurables; el límite financiero filtra opciones.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9E01EA-9A47-4ACF-A5F2-4977E21C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865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6716A"/>
                </a:solidFill>
                <a:latin typeface="Arial"/>
                <a:ea typeface="Arial"/>
                <a:cs typeface="Arial"/>
              </a:rPr>
              <a:t>InmoScore  /  Week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DD0943-DFD2-430D-BAA0-0915671B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48652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6716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F5E2E6-5EB1-42BD-B769-56E5EE90D2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de4c9a208e41d6"/>
          <a:stretch xmlns:a="http://schemas.openxmlformats.org/drawingml/2006/main"/>
        </p:blipFill>
        <p:spPr>
          <a:xfrm xmlns:a="http://schemas.openxmlformats.org/drawingml/2006/main">
            <a:off x="695325" y="1905000"/>
            <a:ext cx="4572000" cy="3429000"/>
          </a:xfrm>
          <a:prstGeom xmlns:a="http://schemas.openxmlformats.org/drawingml/2006/main" prst="roundRect">
            <a:avLst>
              <a:gd name="adj" fmla="val 2222"/>
            </a:avLst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0D52DF-D057-4DD0-B222-EBD9AD90CF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2f1bb124a94706"/>
          <a:stretch xmlns:a="http://schemas.openxmlformats.org/drawingml/2006/main"/>
        </p:blipFill>
        <p:spPr>
          <a:xfrm xmlns:a="http://schemas.openxmlformats.org/drawingml/2006/main">
            <a:off x="6419850" y="1905000"/>
            <a:ext cx="4572000" cy="3429000"/>
          </a:xfrm>
          <a:prstGeom xmlns:a="http://schemas.openxmlformats.org/drawingml/2006/main" prst="roundRect">
            <a:avLst>
              <a:gd name="adj" fmla="val 2222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9161BC-89F6-4148-B5B8-B638C0637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0"/>
            <a:ext cx="990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DF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DAE6E6-8334-40F2-9985-444B6AEB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34025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73D31"/>
                </a:solidFill>
                <a:latin typeface="Arial"/>
                <a:ea typeface="Arial"/>
                <a:cs typeface="Arial"/>
              </a:rPr>
              <a:t>Precio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F90C82-A23D-47E3-96F6-11C11D30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534025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16A"/>
                </a:solidFill>
                <a:latin typeface="Arial"/>
                <a:ea typeface="Arial"/>
                <a:cs typeface="Arial"/>
              </a:rPr>
              <a:t>Valor estimado y precio publicado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E4D395-44CD-460D-8598-2DE1CDEB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524500"/>
            <a:ext cx="990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DF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4A1BBD-C20B-440D-974A-22D21301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534025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73D31"/>
                </a:solidFill>
                <a:latin typeface="Arial"/>
                <a:ea typeface="Arial"/>
                <a:cs typeface="Arial"/>
              </a:rPr>
              <a:t>Seguridad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92C202-4E2F-4574-BFD0-0ED41E08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534025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16A"/>
                </a:solidFill>
                <a:latin typeface="Arial"/>
                <a:ea typeface="Arial"/>
                <a:cs typeface="Arial"/>
              </a:rPr>
              <a:t>Señal de seguridad de la zona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470BA1-D199-42B0-918F-6302C73D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524500"/>
            <a:ext cx="1409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DF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C9BB31-868C-443D-8155-85D9DBC9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534025"/>
            <a:ext cx="1219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0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73D31"/>
                </a:solidFill>
                <a:latin typeface="Arial"/>
                <a:ea typeface="Arial"/>
                <a:cs typeface="Arial"/>
              </a:rPr>
              <a:t>Conveniencia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C08C6C-C716-4042-B7A2-63A7E5BF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5340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16A"/>
                </a:solidFill>
                <a:latin typeface="Arial"/>
                <a:ea typeface="Arial"/>
                <a:cs typeface="Arial"/>
              </a:rPr>
              <a:t>Servicios y accesibilidad del entorno</a:t>
            </a:r>
          </a:p>
        </p:txBody>
      </p:sp>
    </p:spTree>
    <p:extLst>
      <p:ext uri="{BB962C8B-B14F-4D97-AF65-F5344CB8AC3E}">
        <p14:creationId xmlns:p14="http://schemas.microsoft.com/office/powerpoint/2010/main" val="11674999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4AFF8B-91A2-4339-89BC-8E4BE2DB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A5947"/>
                </a:solidFill>
                <a:latin typeface="Arial"/>
                <a:ea typeface="Arial"/>
                <a:cs typeface="Arial"/>
              </a:rPr>
              <a:t>EXPERIENCIA · EVALUACIÓN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8812EF-8C36-4DE7-9265-26B30A86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"/>
            <a:ext cx="11096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C2822"/>
                </a:solidFill>
                <a:latin typeface="Arial"/>
                <a:ea typeface="Arial"/>
                <a:cs typeface="Arial"/>
              </a:rPr>
              <a:t>El detalle explica cada opción y habilita acciones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C9D0E4-E25D-4DE1-B396-B4EACFF2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6A"/>
                </a:solidFill>
                <a:latin typeface="Arial"/>
                <a:ea typeface="Arial"/>
                <a:cs typeface="Arial"/>
              </a:rPr>
              <a:t>El comprador revisa la ficha, guarda favoritos y compara hasta tres viviendas.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42D5C5-4D34-4A91-8BB8-A459CE05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865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6716A"/>
                </a:solidFill>
                <a:latin typeface="Arial"/>
                <a:ea typeface="Arial"/>
                <a:cs typeface="Arial"/>
              </a:rPr>
              <a:t>InmoScore  /  Week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126643-FB22-4807-B341-C9986088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48652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6716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4EBBD7-5DFF-4BF3-B5C3-256C710919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f1a5350700474f"/>
          <a:stretch xmlns:a="http://schemas.openxmlformats.org/drawingml/2006/main"/>
        </p:blipFill>
        <p:spPr>
          <a:xfrm xmlns:a="http://schemas.openxmlformats.org/drawingml/2006/main">
            <a:off x="909638" y="1905000"/>
            <a:ext cx="4572000" cy="3429000"/>
          </a:xfrm>
          <a:prstGeom xmlns:a="http://schemas.openxmlformats.org/drawingml/2006/main" prst="roundRect">
            <a:avLst>
              <a:gd name="adj" fmla="val 2222"/>
            </a:avLst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020046-8B96-4CA5-B7DF-EA6037C72C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eec2b14a8e4149"/>
          <a:stretch xmlns:a="http://schemas.openxmlformats.org/drawingml/2006/main"/>
        </p:blipFill>
        <p:spPr>
          <a:xfrm xmlns:a="http://schemas.openxmlformats.org/drawingml/2006/main">
            <a:off x="6724650" y="1905000"/>
            <a:ext cx="4572000" cy="3429000"/>
          </a:xfrm>
          <a:prstGeom xmlns:a="http://schemas.openxmlformats.org/drawingml/2006/main" prst="roundRect">
            <a:avLst>
              <a:gd name="adj" fmla="val 2222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347EDF-993A-4B13-AA36-0B0BC518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054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82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B9EDED-5B20-4BF6-B06E-CAA87AEB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57850"/>
            <a:ext cx="4695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C2822"/>
                </a:solidFill>
                <a:latin typeface="Arial"/>
                <a:ea typeface="Arial"/>
                <a:cs typeface="Arial"/>
              </a:rPr>
              <a:t>Mapa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0A4972-7E6C-4714-9297-06DF277F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53125"/>
            <a:ext cx="4676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6716A"/>
                </a:solidFill>
                <a:latin typeface="Arial"/>
                <a:ea typeface="Arial"/>
                <a:cs typeface="Arial"/>
              </a:rPr>
              <a:t>133 ubicaciones geocodificadas con precisión de calle o edificio.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02BD99-C108-4B00-8D55-309C884D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7054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82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914E0D-30D0-41D7-A616-3599797C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657850"/>
            <a:ext cx="4695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C2822"/>
                </a:solidFill>
                <a:latin typeface="Arial"/>
                <a:ea typeface="Arial"/>
                <a:cs typeface="Arial"/>
              </a:rPr>
              <a:t>Guardados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C5C7C4-CCFC-4EEC-BF6D-356F99FF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953125"/>
            <a:ext cx="4676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6716A"/>
                </a:solidFill>
                <a:latin typeface="Arial"/>
                <a:ea typeface="Arial"/>
                <a:cs typeface="Arial"/>
              </a:rPr>
              <a:t>Recupera tus favoritas al volver a iniciar sesión.</a:t>
            </a:r>
          </a:p>
        </p:txBody>
      </p:sp>
    </p:spTree>
    <p:extLst>
      <p:ext uri="{BB962C8B-B14F-4D97-AF65-F5344CB8AC3E}">
        <p14:creationId xmlns:p14="http://schemas.microsoft.com/office/powerpoint/2010/main" val="10636875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6B3AC6-DD11-4A34-9A03-462A87FB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A5947"/>
                </a:solidFill>
                <a:latin typeface="Arial"/>
                <a:ea typeface="Arial"/>
                <a:cs typeface="Arial"/>
              </a:rPr>
              <a:t>EXPERIENCIA · MÓVIL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5C25EF-7F2A-40B9-8856-44175EBC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"/>
            <a:ext cx="11096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C2822"/>
                </a:solidFill>
                <a:latin typeface="Arial"/>
                <a:ea typeface="Arial"/>
                <a:cs typeface="Arial"/>
              </a:rPr>
              <a:t>El recorrido también se adapta a pantallas pequeñas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9AE597-4764-4ED4-9B13-1E449962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6A"/>
                </a:solidFill>
                <a:latin typeface="Arial"/>
                <a:ea typeface="Arial"/>
                <a:cs typeface="Arial"/>
              </a:rPr>
              <a:t>Captura del prototipo web en formato móvil.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0DBFA8-E6BE-4AC9-8512-8FF5C52AF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865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6716A"/>
                </a:solidFill>
                <a:latin typeface="Arial"/>
                <a:ea typeface="Arial"/>
                <a:cs typeface="Arial"/>
              </a:rPr>
              <a:t>InmoScore  /  Week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C8F3E1-7407-4723-8B5B-61A55429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48652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6716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69B7AB-B2DF-4C4F-BB84-0BD7804DEE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381c29f0b24559"/>
          <a:stretch xmlns:a="http://schemas.openxmlformats.org/drawingml/2006/main"/>
        </p:blipFill>
        <p:spPr>
          <a:xfrm xmlns:a="http://schemas.openxmlformats.org/drawingml/2006/main">
            <a:off x="5138704" y="1657350"/>
            <a:ext cx="1914593" cy="4143375"/>
          </a:xfrm>
          <a:prstGeom xmlns:a="http://schemas.openxmlformats.org/drawingml/2006/main" prst="roundRect">
            <a:avLst>
              <a:gd name="adj" fmla="val 1839"/>
            </a:avLst>
          </a:prstGeom>
        </p:spPr>
      </p:pic>
    </p:spTree>
    <p:extLst>
      <p:ext uri="{BB962C8B-B14F-4D97-AF65-F5344CB8AC3E}">
        <p14:creationId xmlns:p14="http://schemas.microsoft.com/office/powerpoint/2010/main" val="6824032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01B9BD-9EF4-44DD-B354-08158EAE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A5947"/>
                </a:solidFill>
                <a:latin typeface="Arial"/>
                <a:ea typeface="Arial"/>
                <a:cs typeface="Arial"/>
              </a:rPr>
              <a:t>ARQUITECTURA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6940AA-FEB4-4536-A5DD-221679FB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"/>
            <a:ext cx="11096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C2822"/>
                </a:solidFill>
                <a:latin typeface="Arial"/>
                <a:ea typeface="Arial"/>
                <a:cs typeface="Arial"/>
              </a:rPr>
              <a:t>SQLite local sostiene la experiencia web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0B10A2-1516-4FEB-9186-1BC3ED50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6A"/>
                </a:solidFill>
                <a:latin typeface="Arial"/>
                <a:ea typeface="Arial"/>
                <a:cs typeface="Arial"/>
              </a:rPr>
              <a:t>Next.js sirve la API; el contrato async de persistencia deja espacio para un adaptador futuro de RDS.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1D896D-4444-4A5D-9FF2-745A4772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865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6716A"/>
                </a:solidFill>
                <a:latin typeface="Arial"/>
                <a:ea typeface="Arial"/>
                <a:cs typeface="Arial"/>
              </a:rPr>
              <a:t>InmoScore  /  Week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5C6229-596F-443E-B393-6D8B02BE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48652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6716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43F8B3-3183-430C-952B-A7A0D861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9825"/>
            <a:ext cx="2714625" cy="2114550"/>
          </a:xfrm>
          <a:prstGeom xmlns:a="http://schemas.openxmlformats.org/drawingml/2006/main" prst="roundRect">
            <a:avLst>
              <a:gd name="adj" fmla="val 360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9DE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500347-363C-40D5-9478-8F8CD536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38425"/>
            <a:ext cx="22574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A5947"/>
                </a:solidFill>
                <a:latin typeface="Arial"/>
                <a:ea typeface="Arial"/>
                <a:cs typeface="Arial"/>
              </a:rPr>
              <a:t>01  DATOS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4F8898-8D9A-44E0-893A-E656CFAA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57525"/>
            <a:ext cx="2257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C2822"/>
                </a:solidFill>
                <a:latin typeface="Arial"/>
                <a:ea typeface="Arial"/>
                <a:cs typeface="Arial"/>
              </a:rPr>
              <a:t>Pipeline batch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FBBDF5-0F2D-492F-91E9-5244B4F5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48075"/>
            <a:ext cx="2257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6A"/>
                </a:solidFill>
                <a:latin typeface="Arial"/>
                <a:ea typeface="Arial"/>
                <a:cs typeface="Arial"/>
              </a:rPr>
              <a:t>Limpieza y preparación</a:t>
            </a:r>
          </a:p>
          <a:p xmlns:a="http://schemas.openxmlformats.org/drawingml/2006/main">
            <a: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6A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A9B6EF-03B8-4060-BBAA-E0029B26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09825"/>
            <a:ext cx="3381375" cy="2114550"/>
          </a:xfrm>
          <a:prstGeom xmlns:a="http://schemas.openxmlformats.org/drawingml/2006/main" prst="roundRect">
            <a:avLst>
              <a:gd name="adj" fmla="val 360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9DE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32FEF7-2ED3-48B2-81D9-182E1492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38425"/>
            <a:ext cx="29241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A5947"/>
                </a:solidFill>
                <a:latin typeface="Arial"/>
                <a:ea typeface="Arial"/>
                <a:cs typeface="Arial"/>
              </a:rPr>
              <a:t>02  MODELO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09A1B7-E4CA-49A4-A1A5-9AEFAB3D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57525"/>
            <a:ext cx="2924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C2822"/>
                </a:solidFill>
                <a:latin typeface="Arial"/>
                <a:ea typeface="Arial"/>
                <a:cs typeface="Arial"/>
              </a:rPr>
              <a:t>Valoración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F2F899-AA90-4A20-83A0-7E749B87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48075"/>
            <a:ext cx="29241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6A"/>
                </a:solidFill>
                <a:latin typeface="Arial"/>
                <a:ea typeface="Arial"/>
                <a:cs typeface="Arial"/>
              </a:rPr>
              <a:t>Gradient Boosting</a:t>
            </a:r>
          </a:p>
          <a:p xmlns:a="http://schemas.openxmlformats.org/drawingml/2006/main">
            <a: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6A"/>
                </a:solidFill>
                <a:latin typeface="Arial"/>
                <a:ea typeface="Arial"/>
                <a:cs typeface="Arial"/>
              </a:rPr>
              <a:t>Cálculo de resultados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992BC3-BBD4-43FC-B36F-08EAED5C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09825"/>
            <a:ext cx="3524250" cy="2114550"/>
          </a:xfrm>
          <a:prstGeom xmlns:a="http://schemas.openxmlformats.org/drawingml/2006/main" prst="roundRect">
            <a:avLst>
              <a:gd name="adj" fmla="val 360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9DE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F75128-F8A8-400D-8EE7-FBDA938F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38425"/>
            <a:ext cx="3067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A5947"/>
                </a:solidFill>
                <a:latin typeface="Arial"/>
                <a:ea typeface="Arial"/>
                <a:cs typeface="Arial"/>
              </a:rPr>
              <a:t>03  APLICACIÓN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E4E814-E758-4D89-B43C-4FA1F4FE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57525"/>
            <a:ext cx="3067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C2822"/>
                </a:solidFill>
                <a:latin typeface="Arial"/>
                <a:ea typeface="Arial"/>
                <a:cs typeface="Arial"/>
              </a:rPr>
              <a:t>Experiencia web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90E50C-20E8-4258-8FAA-E3D7364A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48075"/>
            <a:ext cx="3067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6A"/>
                </a:solidFill>
                <a:latin typeface="Arial"/>
                <a:ea typeface="Arial"/>
                <a:cs typeface="Arial"/>
              </a:rPr>
              <a:t>React + Next.js API</a:t>
            </a:r>
          </a:p>
          <a:p xmlns:a="http://schemas.openxmlformats.org/drawingml/2006/main">
            <a: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6A"/>
                </a:solidFill>
                <a:latin typeface="Arial"/>
                <a:ea typeface="Arial"/>
                <a:cs typeface="Arial"/>
              </a:rPr>
              <a:t>SQLite local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011A6F-B86B-45B9-9CD5-F9E0CFB3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448050"/>
            <a:ext cx="752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D825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C71C3D-6B81-4059-ABD4-F9058CBE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448050"/>
            <a:ext cx="371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D82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436EE8-0B8D-4A2D-9EA3-4BE2891B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33950"/>
            <a:ext cx="1104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73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DCA7D4-4B71-4B7D-8A0B-EAE415DF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53025"/>
            <a:ext cx="114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 i="0">
                <a:solidFill>
                  <a:srgbClr val="DDF98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 i="0">
                <a:solidFill>
                  <a:srgbClr val="DDF98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 i="0">
                <a:solidFill>
                  <a:srgbClr val="DDF98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 i="0">
                <a:solidFill>
                  <a:srgbClr val="DDF98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 i="0">
                <a:solidFill>
                  <a:srgbClr val="DDF98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 i="0">
                <a:solidFill>
                  <a:srgbClr val="DDF98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 i="0">
                <a:solidFill>
                  <a:srgbClr val="DDF98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 i="0">
                <a:solidFill>
                  <a:srgbClr val="DDF98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 i="0">
                <a:solidFill>
                  <a:srgbClr val="DDF98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 i="0">
                <a:solidFill>
                  <a:srgbClr val="DDF9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 i="0">
                <a:solidFill>
                  <a:srgbClr val="DDF98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DDF98A"/>
                </a:solidFill>
                <a:latin typeface="Arial"/>
                <a:ea typeface="Arial"/>
                <a:cs typeface="Arial"/>
              </a:rPr>
              <a:t>Persistencia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DFE881-CAF6-481E-A73E-EC997B2F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133975"/>
            <a:ext cx="927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db/repository.ts define el contrato async; db/sqlite.ts crea storage/inmoscore.sqlite al iniciar.</a:t>
            </a:r>
          </a:p>
        </p:txBody>
      </p:sp>
    </p:spTree>
    <p:extLst>
      <p:ext uri="{BB962C8B-B14F-4D97-AF65-F5344CB8AC3E}">
        <p14:creationId xmlns:p14="http://schemas.microsoft.com/office/powerpoint/2010/main" val="13608234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0E531E-0CC9-43B5-A87F-2AB04EC7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A5947"/>
                </a:solidFill>
                <a:latin typeface="Arial"/>
                <a:ea typeface="Arial"/>
                <a:cs typeface="Arial"/>
              </a:rPr>
              <a:t>EVALUACIÓN Y ALCANCE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E602F2-0842-481B-A7C2-E441CF7E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"/>
            <a:ext cx="11096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C2822"/>
                </a:solidFill>
                <a:latin typeface="Arial"/>
                <a:ea typeface="Arial"/>
                <a:cs typeface="Arial"/>
              </a:rPr>
              <a:t>El MAE baja 22 % frente a la línea base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6080BC-2158-4A40-9665-65CE3412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6A"/>
                </a:solidFill>
                <a:latin typeface="Arial"/>
                <a:ea typeface="Arial"/>
                <a:cs typeface="Arial"/>
              </a:rPr>
              <a:t>Comparación en 779 registros finales después del desarrollo con 3 117 registros.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C4BAD1-3D48-4DED-AA15-61EB3F31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865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6716A"/>
                </a:solidFill>
                <a:latin typeface="Arial"/>
                <a:ea typeface="Arial"/>
                <a:cs typeface="Arial"/>
              </a:rPr>
              <a:t>InmoScore  /  Week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F07F9B-4618-4E7E-B123-94561AF6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48652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6716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D0BCF5-2BC9-452C-A523-C82D4F336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50482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41C101-694A-4839-8DA1-5E720069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90775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716A"/>
                </a:solidFill>
                <a:latin typeface="Arial"/>
                <a:ea typeface="Arial"/>
                <a:cs typeface="Arial"/>
              </a:rPr>
              <a:t>ERROR ABSOLUTO MEDIO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CB38E4-43D5-441E-A5DD-DD8510B9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75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defPPr>
            <a:lvl1pPr algn="l">
              <a:defRPr sz="3075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1pPr>
            <a:lvl2pPr algn="l">
              <a:defRPr sz="3075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2pPr>
            <a:lvl3pPr algn="l">
              <a:defRPr sz="3075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3pPr>
            <a:lvl4pPr algn="l">
              <a:defRPr sz="3075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4pPr>
            <a:lvl5pPr algn="l">
              <a:defRPr sz="3075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5pPr>
            <a:lvl6pPr algn="l">
              <a:defRPr sz="3075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6pPr>
            <a:lvl7pPr algn="l">
              <a:defRPr sz="3075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7pPr>
            <a:lvl8pPr algn="l">
              <a:defRPr sz="3075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8pPr>
            <a:lvl9pPr algn="l">
              <a:defRPr sz="3075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75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73D31"/>
                </a:solidFill>
                <a:latin typeface="Arial"/>
                <a:ea typeface="Arial"/>
                <a:cs typeface="Arial"/>
              </a:rPr>
              <a:t>S/ 119 801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08FD30-32DC-41F6-B4B5-0BE0DC39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99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6716A"/>
                </a:solidFill>
                <a:latin typeface="Arial"/>
                <a:ea typeface="Arial"/>
                <a:cs typeface="Arial"/>
              </a:rPr>
              <a:t>Modelo actual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E54AC0-CC3D-4CFB-AEE0-E993220C1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862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66716A"/>
                </a:solidFill>
                <a:latin typeface="Arial"/>
                <a:ea typeface="Arial"/>
                <a:cs typeface="Arial"/>
              </a:rPr>
              <a:t>S/ 153 665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8F207E-EF48-4BCA-86A7-C007814F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5292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16A"/>
                </a:solidFill>
                <a:latin typeface="Arial"/>
                <a:ea typeface="Arial"/>
                <a:cs typeface="Arial"/>
              </a:rPr>
              <a:t>Línea base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68508F-2108-4C18-94BF-445A1E7D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71925"/>
            <a:ext cx="11049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C94252-B328-4685-BCDB-2956192A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19550"/>
            <a:ext cx="1104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 i="0">
                <a:solidFill>
                  <a:srgbClr val="173D3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3D31"/>
                </a:solidFill>
                <a:latin typeface="Arial"/>
                <a:ea typeface="Arial"/>
                <a:cs typeface="Arial"/>
              </a:rPr>
              <a:t>−22 %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8B3354-2352-401B-9F54-9E4DA383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095500"/>
            <a:ext cx="56578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E9E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6DAE06-422B-4D65-BE74-CF80008F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47925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2A5947"/>
                </a:solidFill>
                <a:latin typeface="Arial"/>
                <a:ea typeface="Arial"/>
                <a:cs typeface="Arial"/>
              </a:rPr>
              <a:t>12,2 %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C5B475-F0F8-4C57-87A1-48D78A84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38475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16A"/>
                </a:solidFill>
                <a:latin typeface="Arial"/>
                <a:ea typeface="Arial"/>
                <a:cs typeface="Arial"/>
              </a:rPr>
              <a:t>MdAPE en el conjunto final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18C7ED-6854-4C3E-834E-0302B4FD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29025"/>
            <a:ext cx="4762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16A"/>
                </a:solidFill>
                <a:latin typeface="Arial"/>
                <a:ea typeface="Arial"/>
                <a:cs typeface="Arial"/>
              </a:rPr>
              <a:t>La métrica expresa el error porcentual absoluto mediano.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AEDDAF-FA6D-4807-BE55-09D7C7463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0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1BDE54-BD9F-4B10-99B3-E0F1820D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467350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2A594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A5947"/>
                </a:solidFill>
                <a:latin typeface="Arial"/>
                <a:ea typeface="Arial"/>
                <a:cs typeface="Arial"/>
              </a:rPr>
              <a:t>Siguientes validaciones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F9272A-22EF-408E-ACF6-D1564739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448300"/>
            <a:ext cx="813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1C282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C2822"/>
                </a:solidFill>
                <a:latin typeface="Arial"/>
                <a:ea typeface="Arial"/>
                <a:cs typeface="Arial"/>
              </a:rPr>
              <a:t>Verificar inventario vigente, ampliar geocodificación y realizar estudio con usuarios.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069951-F5DE-4935-A547-10630055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943600"/>
            <a:ext cx="1081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 i="0">
                <a:solidFill>
                  <a:srgbClr val="66716A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6716A"/>
                </a:solidFill>
                <a:latin typeface="Arial"/>
                <a:ea typeface="Arial"/>
                <a:cs typeface="Arial"/>
              </a:rPr>
              <a:t>Resultados orientativos. InmoScore no ofrece asesoría financiera ni confirma disponibilidad actual.</a:t>
            </a:r>
          </a:p>
        </p:txBody>
      </p:sp>
    </p:spTree>
    <p:extLst>
      <p:ext uri="{BB962C8B-B14F-4D97-AF65-F5344CB8AC3E}">
        <p14:creationId xmlns:p14="http://schemas.microsoft.com/office/powerpoint/2010/main" val="5839187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2026-10-19T21:31:33.1680000Z</dcterms:created>
  <dcterms:modified xsi:type="dcterms:W3CDTF">2026-10-19T21:31:33.1680000Z</dcterms:modified>
</coreProperties>
</file>