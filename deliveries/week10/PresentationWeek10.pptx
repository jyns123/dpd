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0"/>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Bricolage Grotesque" charset="1" panose="020B0605040402000204"/>
      <p:regular r:id="rId24"/>
    </p:embeddedFont>
    <p:embeddedFont>
      <p:font typeface="Poppins Bold" charset="1" panose="00000800000000000000"/>
      <p:regular r:id="rId25"/>
    </p:embeddedFont>
    <p:embeddedFont>
      <p:font typeface="Poppins" charset="1" panose="00000500000000000000"/>
      <p:regular r:id="rId26"/>
    </p:embeddedFont>
    <p:embeddedFont>
      <p:font typeface="Calibri (MS) Bold" charset="1" panose="020F0702030404030204"/>
      <p:regular r:id="rId27"/>
    </p:embeddedFont>
    <p:embeddedFont>
      <p:font typeface="Calibri (MS) Italics" charset="1" panose="020F05020202040A0204"/>
      <p:regular r:id="rId28"/>
    </p:embeddedFont>
    <p:embeddedFont>
      <p:font typeface="Calibri (MS)" charset="1" panose="020F0502020204030204"/>
      <p:regular r:id="rId29"/>
    </p:embeddedFont>
    <p:embeddedFont>
      <p:font typeface="Arial Bold" charset="1" panose="020B0704020202020204"/>
      <p:regular r:id="rId33"/>
    </p:embeddedFont>
    <p:embeddedFont>
      <p:font typeface="Arial" charset="1" panose="020B0604020202020204"/>
      <p:regular r:id="rId34"/>
    </p:embeddedFont>
    <p:embeddedFont>
      <p:font typeface="Arial Italics" charset="1" panose="020B0604020202090204"/>
      <p:regular r:id="rId36"/>
    </p:embeddedFont>
    <p:embeddedFont>
      <p:font typeface="Eastman Grotesque Bold" charset="1" panose="00000800000000000000"/>
      <p:regular r:id="rId43"/>
    </p:embeddedFont>
    <p:embeddedFont>
      <p:font typeface="Arial Bold Italics" charset="1" panose="020B0704020202090204"/>
      <p:regular r:id="rId44"/>
    </p:embeddedFont>
    <p:embeddedFont>
      <p:font typeface="Work Sans Bold" charset="1" panose="00000000000000000000"/>
      <p:regular r:id="rId45"/>
    </p:embeddedFont>
    <p:embeddedFont>
      <p:font typeface="Canva Sans Bold" charset="1" panose="020B0803030501040103"/>
      <p:regular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notesMasters/notesMaster1.xml" Type="http://schemas.openxmlformats.org/officeDocument/2006/relationships/notesMaster"/><Relationship Id="rId31" Target="theme/theme2.xml" Type="http://schemas.openxmlformats.org/officeDocument/2006/relationships/theme"/><Relationship Id="rId32" Target="notesSlides/notesSlide1.xml" Type="http://schemas.openxmlformats.org/officeDocument/2006/relationships/notesSlide"/><Relationship Id="rId33" Target="fonts/font33.fntdata" Type="http://schemas.openxmlformats.org/officeDocument/2006/relationships/font"/><Relationship Id="rId34" Target="fonts/font34.fntdata" Type="http://schemas.openxmlformats.org/officeDocument/2006/relationships/font"/><Relationship Id="rId35" Target="notesSlides/notesSlide2.xml" Type="http://schemas.openxmlformats.org/officeDocument/2006/relationships/notesSlide"/><Relationship Id="rId36" Target="fonts/font36.fntdata" Type="http://schemas.openxmlformats.org/officeDocument/2006/relationships/font"/><Relationship Id="rId37" Target="notesSlides/notesSlide3.xml" Type="http://schemas.openxmlformats.org/officeDocument/2006/relationships/notesSlide"/><Relationship Id="rId38" Target="notesSlides/notesSlide4.xml" Type="http://schemas.openxmlformats.org/officeDocument/2006/relationships/notesSlide"/><Relationship Id="rId39" Target="notesSlides/notesSlide5.xml" Type="http://schemas.openxmlformats.org/officeDocument/2006/relationships/notesSlide"/><Relationship Id="rId4" Target="theme/theme1.xml" Type="http://schemas.openxmlformats.org/officeDocument/2006/relationships/theme"/><Relationship Id="rId40" Target="notesSlides/notesSlide6.xml" Type="http://schemas.openxmlformats.org/officeDocument/2006/relationships/notesSlide"/><Relationship Id="rId41" Target="notesSlides/notesSlide7.xml" Type="http://schemas.openxmlformats.org/officeDocument/2006/relationships/notesSlide"/><Relationship Id="rId42" Target="notesSlides/notesSlide8.xml" Type="http://schemas.openxmlformats.org/officeDocument/2006/relationships/notesSlide"/><Relationship Id="rId43" Target="fonts/font43.fntdata" Type="http://schemas.openxmlformats.org/officeDocument/2006/relationships/font"/><Relationship Id="rId44" Target="fonts/font44.fntdata" Type="http://schemas.openxmlformats.org/officeDocument/2006/relationships/font"/><Relationship Id="rId45" Target="fonts/font45.fntdata" Type="http://schemas.openxmlformats.org/officeDocument/2006/relationships/font"/><Relationship Id="rId46" Target="notesSlides/notesSlide9.xml" Type="http://schemas.openxmlformats.org/officeDocument/2006/relationships/notesSlide"/><Relationship Id="rId47" Target="notesSlides/notesSlide10.xml" Type="http://schemas.openxmlformats.org/officeDocument/2006/relationships/notesSlide"/><Relationship Id="rId48" Target="fonts/font48.fntdata" Type="http://schemas.openxmlformats.org/officeDocument/2006/relationships/font"/><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1 · 1:00</a:t>
            </a:r>
          </a:p>
          <a:p>
            <a:r>
              <a:rPr lang="en-US"/>
              <a:t/>
            </a:r>
          </a:p>
          <a:p>
            <a:r>
              <a:rPr lang="en-US"/>
              <a:t>Buscar vivienda hoy exige juntar señales dispersas: ¿el precio pedido es razonable frente a una vivienda similar? ¿Qué tan segura y conveniente es la zona? ¿Y cabe dentro de lo que realmente puedo pagar? InmoScore convierte cada aviso en una comparación guiada por el perfil del comprador: un perfil, un ranking explicable. Cada vivienda combina precio, seguridad y conveniencia, con un tope financiero que define el usuario. La salida es una lista que se puede revisar, guardar y comparar.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1 · 1:00  →  pasa a Persona 2</a:t>
            </a:r>
          </a:p>
          <a:p>
            <a:r>
              <a:rPr lang="en-US"/>
              <a:t/>
            </a:r>
          </a:p>
          <a:p>
            <a:r>
              <a:rPr lang="en-US"/>
              <a:t>Para construirlo usamos 3 896 avisos históricos de 20 distritos de Lima; 91 avisos se excluyeron del análisis por precios atípicos por metro cuadrado. Estos datos sirven para entrenar y evaluar la valoración y para enriquecer cada zona con seguridad y conveniencia. Además, tenemos 133 ubicaciones con precisión de calle o edificio. Una aclaración importante: el inventario es histórico, no verificamos que cada aviso siga disponible. Ahora [Persona 2] les muestra cómo es la experiencia.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2 · 0:45</a:t>
            </a:r>
          </a:p>
          <a:p>
            <a:r>
              <a:rPr lang="en-US"/>
              <a:t/>
            </a:r>
          </a:p>
          <a:p>
            <a:r>
              <a:rPr lang="en-US"/>
              <a:t>La experiencia acompaña seis decisiones del comprador: entra por la landing, accede a su cuenta, completa su perfil, revisa el ranking, evalúa el detalle y guarda favoritos. Las cuentas son propias, con correo y contraseña; las sesiones usan un token aleatorio y en la base solo guardamos su hash. En cualquier momento puede volver a sus favoritos y comparar hasta tres opciones.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2 · 0:45</a:t>
            </a:r>
          </a:p>
          <a:p>
            <a:r>
              <a:rPr lang="en-US"/>
              <a:t/>
            </a:r>
          </a:p>
          <a:p>
            <a:r>
              <a:rPr lang="en-US"/>
              <a:t>La entrada es simple: la landing presenta el producto y permite una primera búsqueda por distrito, dormitorios y presupuesto. Con una cuenta propia, el comprador conserva su perfil y sus favoritos entre sesiones.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2 · 1:00  →  pasa a Persona 3</a:t>
            </a:r>
          </a:p>
          <a:p>
            <a:r>
              <a:rPr lang="en-US"/>
              <a:t/>
            </a:r>
          </a:p>
          <a:p>
            <a:r>
              <a:rPr lang="en-US"/>
              <a:t>El ranking se ordena con tres criterios: precio, seguridad y conveniencia. Los pesos los configura el comprador, y el límite financiero filtra las opciones. Ese límite es una simulación con supuestos explícitos (tasa efectiva anual de 9 %, 20 años, cuota máxima del 30 % del ingreso e inicial mínima del 10 %); no es una precalificación bancaria. Ahora [Persona 3] explica el detalle de cada vivienda y luego haremos la demo.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3 · 1:00</a:t>
            </a:r>
          </a:p>
          <a:p>
            <a:r>
              <a:rPr lang="en-US"/>
              <a:t/>
            </a:r>
          </a:p>
          <a:p>
            <a:r>
              <a:rPr lang="en-US"/>
              <a:t>Al abrir una vivienda, la ficha explica la opción: precio publicado frente a la referencia del modelo, atributos, indicadores de la zona y datos faltantes. En ubicación, 133 avisos tienen coordenadas con precisión de calle o edificio; cuando existen, la ficha ofrece un enlace a OpenStreetMap, y el punto es aproximado. En esta versión no hay un mapa distrital local. Además, el comprador guarda favoritos —se conservan en su cuenta— y compara hasta tres viviendas.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3 · 0:30</a:t>
            </a:r>
          </a:p>
          <a:p>
            <a:r>
              <a:rPr lang="en-US"/>
              <a:t/>
            </a:r>
          </a:p>
          <a:p>
            <a:r>
              <a:rPr lang="en-US"/>
              <a:t>El recorrido también se adapta a pantallas pequeñas: navegación compacta, filtros desplegables y tarjetas en una columna. Revisamos el ranking entre 320 y 3 840 píxeles de ancho sin desbordamiento horizontal. [PEGAR AQUÍ LA CAPTURA MÓVIL.] Y ahora pasamos a verlo funcionando.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DEMO TIME · 5:00 en total · Persona 3 maneja (0:00–3:30), Persona 4 cierra (3:30–5:00)</a:t>
            </a:r>
          </a:p>
          <a:p>
            <a:r>
              <a:rPr lang="en-US"/>
              <a:t/>
            </a:r>
          </a:p>
          <a:p>
            <a:r>
              <a:rPr lang="en-US"/>
              <a:t>ANTES DE EXPONER: app iniciada (npm run dev -- --hostname 127.0.0.1 --port 5173), cuenta de prueba creada, sesión abierta en http://127.0.0.1:5173. No usar datos ni contraseñas personales. Ensayar el recorrido una vez.</a:t>
            </a:r>
          </a:p>
          <a:p>
            <a:r>
              <a:rPr lang="en-US"/>
              <a:t>0:00 · Persona 3 — Problema: «InmoScore ordena avisos según un perfil. El catálogo reúne 3 896 avisos históricos de 20 distritos; no confirma que sigan disponibles. La imagen de la vivienda es ilustrativa.»</a:t>
            </a:r>
          </a:p>
          <a:p>
            <a:r>
              <a:rPr lang="en-US"/>
              <a:t>0:30 · Persona 3 — María: entrar con la cuenta de prueba → «Mi perfil» → «Usar perfil de ejemplo: María» → ir al ranking. ANOTAR el primer aviso en voz alta. Si se menciona el tope de compra: es una simulación, no una precalificación.</a:t>
            </a:r>
          </a:p>
          <a:p>
            <a:r>
              <a:rPr lang="en-US"/>
              <a:t>2:00 · Persona 3 — Cambiar UNA prioridad (precio o seguridad). Mirar de nuevo el primer aviso, tomar captura del ranking y decir en una frase si el orden cambió o no.</a:t>
            </a:r>
          </a:p>
          <a:p>
            <a:r>
              <a:rPr lang="en-US"/>
              <a:t>3:30 · Persona 4 — Límite real: «Las métricas vienen de avisos históricos. La aplicación no verifica disponibilidad actual ni el precio final de compraventa.» Si preguntan por ubicación: la ficha con coordenadas enlaza a OpenStreetMap; el punto es aproximado.</a:t>
            </a:r>
          </a:p>
          <a:p>
            <a:r>
              <a:rPr lang="en-US"/>
              <a:t>Dejar registro, eliminación de cuenta y otras pantallas para las preguntas. Plan B si falla el servidor: usar las capturas de las diapositivas 5–8.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4 · 1:15</a:t>
            </a:r>
          </a:p>
          <a:p>
            <a:r>
              <a:rPr lang="en-US"/>
              <a:t/>
            </a:r>
          </a:p>
          <a:p>
            <a:r>
              <a:rPr lang="en-US"/>
              <a:t>Por dentro, un pipeline por lotes en Python limpia los datos y ejecuta el modelo de valoración, un Gradient Boosting que predice el logaritmo del precio de oferta. El resultado es un catálogo con referencias de precio ya calculadas. Next.js sirve la API y calcula el ranking según el perfil. Los datos de cuentas, perfiles y favoritos se guardan en SQLite local mediante un contrato asíncrono; eso deja listo el camino para un adaptador futuro a RDS, que todavía no está implementado. La aplicación no reentrena el modelo con las consultas de los usuarios.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PERSONA 4 · 1:30 · cierre y preguntas</a:t>
            </a:r>
          </a:p>
          <a:p>
            <a:r>
              <a:rPr lang="en-US"/>
              <a:t/>
            </a:r>
          </a:p>
          <a:p>
            <a:r>
              <a:rPr lang="en-US"/>
              <a:t>En la prueba final con 779 avisos reservados, el error absoluto medio baja de S/ 153 665 con la línea base a S/ 119 801 con el modelo: 22 % menos. El error porcentual mediano es 12,2 %. También hay límites: para los 36 avisos de S/ 2 millones o más, el modelo es aproximadamente 2,6 % peor que la línea base, y esta evaluación no es una validación temporal. Los resultados son orientativos: InmoScore no ofrece asesoría financiera ni confirma disponibilidad. Los próximos pasos son verificar inventario vigente, ampliar la geocodificación y hacer un estudio con usuarios. Gracias; quedamos atentos a sus preguntas.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3.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3.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svg" Type="http://schemas.openxmlformats.org/officeDocument/2006/relationships/image"/><Relationship Id="rId11" Target="../media/image11.png" Type="http://schemas.openxmlformats.org/officeDocument/2006/relationships/image"/><Relationship Id="rId12" Target="../media/image12.svg" Type="http://schemas.openxmlformats.org/officeDocument/2006/relationships/image"/><Relationship Id="rId2" Target="../notesSlides/notesSlide3.xml" Type="http://schemas.openxmlformats.org/officeDocument/2006/relationships/notesSlide"/><Relationship Id="rId3" Target="../media/image3.jpeg" Type="http://schemas.openxmlformats.org/officeDocument/2006/relationships/image"/><Relationship Id="rId4" Target="../media/image4.png" Type="http://schemas.openxmlformats.org/officeDocument/2006/relationships/image"/><Relationship Id="rId5" Target="../media/image5.png" Type="http://schemas.openxmlformats.org/officeDocument/2006/relationships/image"/><Relationship Id="rId6" Target="../media/image6.png" Type="http://schemas.openxmlformats.org/officeDocument/2006/relationships/image"/><Relationship Id="rId7" Target="../media/image7.png" Type="http://schemas.openxmlformats.org/officeDocument/2006/relationships/image"/><Relationship Id="rId8" Target="../media/image8.svg" Type="http://schemas.openxmlformats.org/officeDocument/2006/relationships/image"/><Relationship Id="rId9"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0.png" Type="http://schemas.openxmlformats.org/officeDocument/2006/relationships/image"/><Relationship Id="rId11" Target="../media/image21.svg" Type="http://schemas.openxmlformats.org/officeDocument/2006/relationships/image"/><Relationship Id="rId2" Target="../media/image3.jpeg" Type="http://schemas.openxmlformats.org/officeDocument/2006/relationships/image"/><Relationship Id="rId3" Target="../media/image13.png" Type="http://schemas.openxmlformats.org/officeDocument/2006/relationships/image"/><Relationship Id="rId4" Target="../media/image14.png" Type="http://schemas.openxmlformats.org/officeDocument/2006/relationships/image"/><Relationship Id="rId5" Target="../media/image15.pn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3.jpeg" Type="http://schemas.openxmlformats.org/officeDocument/2006/relationships/image"/><Relationship Id="rId4" Target="../media/image22.jpeg" Type="http://schemas.openxmlformats.org/officeDocument/2006/relationships/image"/><Relationship Id="rId5" Target="../media/image23.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3.jpeg" Type="http://schemas.openxmlformats.org/officeDocument/2006/relationships/image"/><Relationship Id="rId4" Target="../media/image24.jpeg" Type="http://schemas.openxmlformats.org/officeDocument/2006/relationships/image"/><Relationship Id="rId5" Target="../media/image25.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3.jpeg" Type="http://schemas.openxmlformats.org/officeDocument/2006/relationships/image"/><Relationship Id="rId4" Target="../media/image26.jpeg" Type="http://schemas.openxmlformats.org/officeDocument/2006/relationships/image"/><Relationship Id="rId5" Target="../media/image27.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3.jpeg" Type="http://schemas.openxmlformats.org/officeDocument/2006/relationships/image"/><Relationship Id="rId4" Target="../media/image28.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3.jpeg" Type="http://schemas.openxmlformats.org/officeDocument/2006/relationships/image"/><Relationship Id="rId4" Target="../media/image2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0.png" Type="http://schemas.openxmlformats.org/officeDocument/2006/relationships/image"/><Relationship Id="rId3" Target="../media/image31.png" Type="http://schemas.openxmlformats.org/officeDocument/2006/relationships/image"/><Relationship Id="rId4" Target="../media/image3.jpeg" Type="http://schemas.openxmlformats.org/officeDocument/2006/relationships/image"/><Relationship Id="rId5" Target="../media/image3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3.png" Type="http://schemas.openxmlformats.org/officeDocument/2006/relationships/image"/><Relationship Id="rId3" Target="../media/image34.svg" Type="http://schemas.openxmlformats.org/officeDocument/2006/relationships/image"/><Relationship Id="rId4" Target="../media/image3.jpeg" Type="http://schemas.openxmlformats.org/officeDocument/2006/relationships/image"/><Relationship Id="rId5" Target="../media/image35.png" Type="http://schemas.openxmlformats.org/officeDocument/2006/relationships/image"/><Relationship Id="rId6" Target="../media/image31.png" Type="http://schemas.openxmlformats.org/officeDocument/2006/relationships/image"/><Relationship Id="rId7" Target="../media/image36.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 Id="rId3" Target="../media/image3.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 Id="rId3" Target="../media/image38.png" Type="http://schemas.openxmlformats.org/officeDocument/2006/relationships/image"/><Relationship Id="rId4" Target="../media/image39.png" Type="http://schemas.openxmlformats.org/officeDocument/2006/relationships/image"/><Relationship Id="rId5" Target="../media/image40.png" Type="http://schemas.openxmlformats.org/officeDocument/2006/relationships/image"/><Relationship Id="rId6" Target="../media/image3.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png" Type="http://schemas.openxmlformats.org/officeDocument/2006/relationships/image"/><Relationship Id="rId3" Target="../media/image3.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3.jpe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3.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2415882" cy="10287000"/>
            <a:chOff x="0" y="0"/>
            <a:chExt cx="636282" cy="2709333"/>
          </a:xfrm>
        </p:grpSpPr>
        <p:sp>
          <p:nvSpPr>
            <p:cNvPr name="Freeform 3" id="3"/>
            <p:cNvSpPr/>
            <p:nvPr/>
          </p:nvSpPr>
          <p:spPr>
            <a:xfrm flipH="false" flipV="false" rot="0">
              <a:off x="0" y="0"/>
              <a:ext cx="636282" cy="2709333"/>
            </a:xfrm>
            <a:custGeom>
              <a:avLst/>
              <a:gdLst/>
              <a:ahLst/>
              <a:cxnLst/>
              <a:rect r="r" b="b" t="t" l="l"/>
              <a:pathLst>
                <a:path h="2709333" w="636282">
                  <a:moveTo>
                    <a:pt x="0" y="0"/>
                  </a:moveTo>
                  <a:lnTo>
                    <a:pt x="636282" y="0"/>
                  </a:lnTo>
                  <a:lnTo>
                    <a:pt x="636282" y="2709333"/>
                  </a:lnTo>
                  <a:lnTo>
                    <a:pt x="0" y="2709333"/>
                  </a:lnTo>
                  <a:close/>
                </a:path>
              </a:pathLst>
            </a:custGeom>
            <a:solidFill>
              <a:srgbClr val="293E9C"/>
            </a:solidFill>
          </p:spPr>
        </p:sp>
        <p:sp>
          <p:nvSpPr>
            <p:cNvPr name="TextBox 4" id="4"/>
            <p:cNvSpPr txBox="true"/>
            <p:nvPr/>
          </p:nvSpPr>
          <p:spPr>
            <a:xfrm>
              <a:off x="0" y="-38100"/>
              <a:ext cx="636282" cy="2747433"/>
            </a:xfrm>
            <a:prstGeom prst="rect">
              <a:avLst/>
            </a:prstGeom>
          </p:spPr>
          <p:txBody>
            <a:bodyPr anchor="ctr" rtlCol="false" tIns="50800" lIns="50800" bIns="50800" rIns="50800"/>
            <a:lstStyle/>
            <a:p>
              <a:pPr algn="ctr">
                <a:lnSpc>
                  <a:spcPts val="2659"/>
                </a:lnSpc>
                <a:spcBef>
                  <a:spcPct val="0"/>
                </a:spcBef>
              </a:pPr>
            </a:p>
          </p:txBody>
        </p:sp>
      </p:grpSp>
      <p:sp>
        <p:nvSpPr>
          <p:cNvPr name="Freeform 5" id="5"/>
          <p:cNvSpPr/>
          <p:nvPr/>
        </p:nvSpPr>
        <p:spPr>
          <a:xfrm flipH="false" flipV="false" rot="0">
            <a:off x="12137729" y="653000"/>
            <a:ext cx="9241467" cy="9258300"/>
          </a:xfrm>
          <a:custGeom>
            <a:avLst/>
            <a:gdLst/>
            <a:ahLst/>
            <a:cxnLst/>
            <a:rect r="r" b="b" t="t" l="l"/>
            <a:pathLst>
              <a:path h="9258300" w="9241467">
                <a:moveTo>
                  <a:pt x="0" y="0"/>
                </a:moveTo>
                <a:lnTo>
                  <a:pt x="9241467" y="0"/>
                </a:lnTo>
                <a:lnTo>
                  <a:pt x="9241467" y="9258300"/>
                </a:lnTo>
                <a:lnTo>
                  <a:pt x="0" y="92583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3021734" y="4717954"/>
            <a:ext cx="7329518" cy="1463364"/>
          </a:xfrm>
          <a:prstGeom prst="rect">
            <a:avLst/>
          </a:prstGeom>
        </p:spPr>
        <p:txBody>
          <a:bodyPr anchor="t" rtlCol="false" tIns="0" lIns="0" bIns="0" rIns="0">
            <a:spAutoFit/>
          </a:bodyPr>
          <a:lstStyle/>
          <a:p>
            <a:pPr algn="l">
              <a:lnSpc>
                <a:spcPts val="10991"/>
              </a:lnSpc>
            </a:pPr>
            <a:r>
              <a:rPr lang="en-US" sz="11215" spc="-717">
                <a:gradFill>
                  <a:gsLst>
                    <a:gs pos="0">
                      <a:srgbClr val="293E9C">
                        <a:alpha val="100000"/>
                      </a:srgbClr>
                    </a:gs>
                    <a:gs pos="100000">
                      <a:srgbClr val="3A58E4">
                        <a:alpha val="100000"/>
                      </a:srgbClr>
                    </a:gs>
                  </a:gsLst>
                  <a:path path="circle">
                    <a:fillToRect l="0" r="100000" t="0" b="100000"/>
                  </a:path>
                  <a:tileRect r="0" l="-100000" b="0" t="-100000"/>
                </a:gradFill>
                <a:latin typeface="Bricolage Grotesque"/>
                <a:ea typeface="Bricolage Grotesque"/>
                <a:cs typeface="Bricolage Grotesque"/>
                <a:sym typeface="Bricolage Grotesque"/>
              </a:rPr>
              <a:t>InmoScore</a:t>
            </a:r>
          </a:p>
        </p:txBody>
      </p:sp>
      <p:grpSp>
        <p:nvGrpSpPr>
          <p:cNvPr name="Group 7" id="7"/>
          <p:cNvGrpSpPr/>
          <p:nvPr/>
        </p:nvGrpSpPr>
        <p:grpSpPr>
          <a:xfrm rot="0">
            <a:off x="360740" y="8287049"/>
            <a:ext cx="1713939" cy="684317"/>
            <a:chOff x="0" y="0"/>
            <a:chExt cx="2285252" cy="912422"/>
          </a:xfrm>
        </p:grpSpPr>
        <p:sp>
          <p:nvSpPr>
            <p:cNvPr name="TextBox 8" id="8"/>
            <p:cNvSpPr txBox="true"/>
            <p:nvPr/>
          </p:nvSpPr>
          <p:spPr>
            <a:xfrm rot="0">
              <a:off x="0" y="0"/>
              <a:ext cx="2272228" cy="456211"/>
            </a:xfrm>
            <a:prstGeom prst="rect">
              <a:avLst/>
            </a:prstGeom>
          </p:spPr>
          <p:txBody>
            <a:bodyPr anchor="t" rtlCol="false" tIns="0" lIns="0" bIns="0" rIns="0">
              <a:spAutoFit/>
            </a:bodyPr>
            <a:lstStyle/>
            <a:p>
              <a:pPr algn="ctr">
                <a:lnSpc>
                  <a:spcPts val="2421"/>
                </a:lnSpc>
              </a:pPr>
              <a:r>
                <a:rPr lang="en-US" sz="2262" b="true">
                  <a:solidFill>
                    <a:srgbClr val="FFFFFF"/>
                  </a:solidFill>
                  <a:latin typeface="Poppins Bold"/>
                  <a:ea typeface="Poppins Bold"/>
                  <a:cs typeface="Poppins Bold"/>
                  <a:sym typeface="Poppins Bold"/>
                </a:rPr>
                <a:t>2026</a:t>
              </a:r>
            </a:p>
          </p:txBody>
        </p:sp>
        <p:sp>
          <p:nvSpPr>
            <p:cNvPr name="TextBox 9" id="9"/>
            <p:cNvSpPr txBox="true"/>
            <p:nvPr/>
          </p:nvSpPr>
          <p:spPr>
            <a:xfrm rot="0">
              <a:off x="13024" y="456211"/>
              <a:ext cx="2272228" cy="456211"/>
            </a:xfrm>
            <a:prstGeom prst="rect">
              <a:avLst/>
            </a:prstGeom>
          </p:spPr>
          <p:txBody>
            <a:bodyPr anchor="t" rtlCol="false" tIns="0" lIns="0" bIns="0" rIns="0">
              <a:spAutoFit/>
            </a:bodyPr>
            <a:lstStyle/>
            <a:p>
              <a:pPr algn="ctr">
                <a:lnSpc>
                  <a:spcPts val="2421"/>
                </a:lnSpc>
              </a:pPr>
              <a:r>
                <a:rPr lang="en-US" sz="2262">
                  <a:solidFill>
                    <a:srgbClr val="FFFFFF"/>
                  </a:solidFill>
                  <a:latin typeface="Poppins"/>
                  <a:ea typeface="Poppins"/>
                  <a:cs typeface="Poppins"/>
                  <a:sym typeface="Poppins"/>
                </a:rPr>
                <a:t>DPD</a:t>
              </a:r>
            </a:p>
          </p:txBody>
        </p:sp>
      </p:grpSp>
      <p:grpSp>
        <p:nvGrpSpPr>
          <p:cNvPr name="Group 10" id="10"/>
          <p:cNvGrpSpPr/>
          <p:nvPr/>
        </p:nvGrpSpPr>
        <p:grpSpPr>
          <a:xfrm rot="0">
            <a:off x="3021734" y="3931189"/>
            <a:ext cx="11662790" cy="548640"/>
            <a:chOff x="0" y="0"/>
            <a:chExt cx="15550387" cy="731520"/>
          </a:xfrm>
        </p:grpSpPr>
        <p:sp>
          <p:nvSpPr>
            <p:cNvPr name="Freeform 11" id="11"/>
            <p:cNvSpPr/>
            <p:nvPr/>
          </p:nvSpPr>
          <p:spPr>
            <a:xfrm flipH="false" flipV="false" rot="0">
              <a:off x="0" y="0"/>
              <a:ext cx="15550387" cy="731520"/>
            </a:xfrm>
            <a:custGeom>
              <a:avLst/>
              <a:gdLst/>
              <a:ahLst/>
              <a:cxnLst/>
              <a:rect r="r" b="b" t="t" l="l"/>
              <a:pathLst>
                <a:path h="731520" w="15550387">
                  <a:moveTo>
                    <a:pt x="0" y="0"/>
                  </a:moveTo>
                  <a:lnTo>
                    <a:pt x="15550387" y="0"/>
                  </a:lnTo>
                  <a:lnTo>
                    <a:pt x="15550387" y="731520"/>
                  </a:lnTo>
                  <a:lnTo>
                    <a:pt x="0" y="731520"/>
                  </a:lnTo>
                  <a:close/>
                </a:path>
              </a:pathLst>
            </a:custGeom>
            <a:blipFill>
              <a:blip r:embed="rId4">
                <a:alphaModFix amt="0"/>
              </a:blip>
              <a:stretch>
                <a:fillRect l="0" t="-339700" r="5916" b="-339700"/>
              </a:stretch>
            </a:blipFill>
          </p:spPr>
        </p:sp>
        <p:sp>
          <p:nvSpPr>
            <p:cNvPr name="TextBox 12" id="12"/>
            <p:cNvSpPr txBox="true"/>
            <p:nvPr/>
          </p:nvSpPr>
          <p:spPr>
            <a:xfrm>
              <a:off x="0" y="-47625"/>
              <a:ext cx="15550387" cy="779145"/>
            </a:xfrm>
            <a:prstGeom prst="rect">
              <a:avLst/>
            </a:prstGeom>
          </p:spPr>
          <p:txBody>
            <a:bodyPr anchor="ctr" rtlCol="false" tIns="0" lIns="0" bIns="0" rIns="0"/>
            <a:lstStyle/>
            <a:p>
              <a:pPr algn="l">
                <a:lnSpc>
                  <a:spcPts val="2340"/>
                </a:lnSpc>
              </a:pPr>
              <a:r>
                <a:rPr lang="en-US" b="true" sz="1950" spc="299">
                  <a:solidFill>
                    <a:srgbClr val="3A58E4"/>
                  </a:solidFill>
                  <a:latin typeface="Calibri (MS) Bold"/>
                  <a:ea typeface="Calibri (MS) Bold"/>
                  <a:cs typeface="Calibri (MS) Bold"/>
                  <a:sym typeface="Calibri (MS) Bold"/>
                </a:rPr>
                <a:t>PROPTECH · ASISTENTE DE INVERSIÓN INMOBILIARIA</a:t>
              </a:r>
            </a:p>
          </p:txBody>
        </p:sp>
      </p:grpSp>
      <p:grpSp>
        <p:nvGrpSpPr>
          <p:cNvPr name="Group 13" id="13"/>
          <p:cNvGrpSpPr/>
          <p:nvPr/>
        </p:nvGrpSpPr>
        <p:grpSpPr>
          <a:xfrm rot="0">
            <a:off x="3021734" y="6181318"/>
            <a:ext cx="7938094" cy="1097280"/>
            <a:chOff x="0" y="0"/>
            <a:chExt cx="10584125" cy="1463040"/>
          </a:xfrm>
        </p:grpSpPr>
        <p:sp>
          <p:nvSpPr>
            <p:cNvPr name="Freeform 14" id="14"/>
            <p:cNvSpPr/>
            <p:nvPr/>
          </p:nvSpPr>
          <p:spPr>
            <a:xfrm flipH="false" flipV="false" rot="0">
              <a:off x="0" y="0"/>
              <a:ext cx="10584125" cy="1463040"/>
            </a:xfrm>
            <a:custGeom>
              <a:avLst/>
              <a:gdLst/>
              <a:ahLst/>
              <a:cxnLst/>
              <a:rect r="r" b="b" t="t" l="l"/>
              <a:pathLst>
                <a:path h="1463040" w="10584125">
                  <a:moveTo>
                    <a:pt x="0" y="0"/>
                  </a:moveTo>
                  <a:lnTo>
                    <a:pt x="10584125" y="0"/>
                  </a:lnTo>
                  <a:lnTo>
                    <a:pt x="10584125" y="1463040"/>
                  </a:lnTo>
                  <a:lnTo>
                    <a:pt x="0" y="1463040"/>
                  </a:lnTo>
                  <a:close/>
                </a:path>
              </a:pathLst>
            </a:custGeom>
            <a:blipFill>
              <a:blip r:embed="rId4">
                <a:alphaModFix amt="0"/>
              </a:blip>
              <a:stretch>
                <a:fillRect l="0" t="-181384" r="-64147" b="-181384"/>
              </a:stretch>
            </a:blipFill>
          </p:spPr>
        </p:sp>
        <p:sp>
          <p:nvSpPr>
            <p:cNvPr name="TextBox 15" id="15"/>
            <p:cNvSpPr txBox="true"/>
            <p:nvPr/>
          </p:nvSpPr>
          <p:spPr>
            <a:xfrm>
              <a:off x="0" y="-66675"/>
              <a:ext cx="10584125" cy="1529715"/>
            </a:xfrm>
            <a:prstGeom prst="rect">
              <a:avLst/>
            </a:prstGeom>
          </p:spPr>
          <p:txBody>
            <a:bodyPr anchor="ctr" rtlCol="false" tIns="0" lIns="0" bIns="0" rIns="0"/>
            <a:lstStyle/>
            <a:p>
              <a:pPr algn="l">
                <a:lnSpc>
                  <a:spcPts val="3600"/>
                </a:lnSpc>
              </a:pPr>
              <a:r>
                <a:rPr lang="en-US" sz="3000" i="true">
                  <a:solidFill>
                    <a:srgbClr val="3A58E4"/>
                  </a:solidFill>
                  <a:latin typeface="Calibri (MS) Italics"/>
                  <a:ea typeface="Calibri (MS) Italics"/>
                  <a:cs typeface="Calibri (MS) Italics"/>
                  <a:sym typeface="Calibri (MS) Italics"/>
                </a:rPr>
                <a:t>El recomendador de vivienda que entiende tu estilo de vida, no solo tu presupuesto.</a:t>
              </a:r>
            </a:p>
          </p:txBody>
        </p:sp>
      </p:grpSp>
      <p:grpSp>
        <p:nvGrpSpPr>
          <p:cNvPr name="Group 16" id="16"/>
          <p:cNvGrpSpPr/>
          <p:nvPr/>
        </p:nvGrpSpPr>
        <p:grpSpPr>
          <a:xfrm rot="0">
            <a:off x="3021734" y="7554870"/>
            <a:ext cx="8551447" cy="732179"/>
            <a:chOff x="0" y="0"/>
            <a:chExt cx="11401929" cy="976238"/>
          </a:xfrm>
        </p:grpSpPr>
        <p:sp>
          <p:nvSpPr>
            <p:cNvPr name="Freeform 17" id="17"/>
            <p:cNvSpPr/>
            <p:nvPr/>
          </p:nvSpPr>
          <p:spPr>
            <a:xfrm flipH="false" flipV="false" rot="0">
              <a:off x="0" y="0"/>
              <a:ext cx="11401929" cy="976238"/>
            </a:xfrm>
            <a:custGeom>
              <a:avLst/>
              <a:gdLst/>
              <a:ahLst/>
              <a:cxnLst/>
              <a:rect r="r" b="b" t="t" l="l"/>
              <a:pathLst>
                <a:path h="976238" w="11401929">
                  <a:moveTo>
                    <a:pt x="0" y="0"/>
                  </a:moveTo>
                  <a:lnTo>
                    <a:pt x="11401929" y="0"/>
                  </a:lnTo>
                  <a:lnTo>
                    <a:pt x="11401929" y="976238"/>
                  </a:lnTo>
                  <a:lnTo>
                    <a:pt x="0" y="976238"/>
                  </a:lnTo>
                  <a:close/>
                </a:path>
              </a:pathLst>
            </a:custGeom>
            <a:blipFill>
              <a:blip r:embed="rId4">
                <a:alphaModFix amt="0"/>
              </a:blip>
              <a:stretch>
                <a:fillRect l="0" t="-336433" r="-68413" b="-330099"/>
              </a:stretch>
            </a:blipFill>
          </p:spPr>
        </p:sp>
        <p:sp>
          <p:nvSpPr>
            <p:cNvPr name="TextBox 18" id="18"/>
            <p:cNvSpPr txBox="true"/>
            <p:nvPr/>
          </p:nvSpPr>
          <p:spPr>
            <a:xfrm>
              <a:off x="0" y="-47625"/>
              <a:ext cx="11401929" cy="1023863"/>
            </a:xfrm>
            <a:prstGeom prst="rect">
              <a:avLst/>
            </a:prstGeom>
          </p:spPr>
          <p:txBody>
            <a:bodyPr anchor="ctr" rtlCol="false" tIns="0" lIns="0" bIns="0" rIns="0"/>
            <a:lstStyle/>
            <a:p>
              <a:pPr algn="l">
                <a:lnSpc>
                  <a:spcPts val="2520"/>
                </a:lnSpc>
              </a:pPr>
              <a:r>
                <a:rPr lang="en-US" b="true" sz="2100">
                  <a:solidFill>
                    <a:srgbClr val="3A58E4"/>
                  </a:solidFill>
                  <a:latin typeface="Calibri (MS) Bold"/>
                  <a:ea typeface="Calibri (MS) Bold"/>
                  <a:cs typeface="Calibri (MS) Bold"/>
                  <a:sym typeface="Calibri (MS) Bold"/>
                </a:rPr>
                <a:t>Denzel</a:t>
              </a:r>
              <a:r>
                <a:rPr lang="en-US" sz="2100">
                  <a:solidFill>
                    <a:srgbClr val="3A58E4"/>
                  </a:solidFill>
                  <a:latin typeface="Calibri (MS)"/>
                  <a:ea typeface="Calibri (MS)"/>
                  <a:cs typeface="Calibri (MS)"/>
                  <a:sym typeface="Calibri (MS)"/>
                </a:rPr>
                <a:t>  Cloud &amp; DevOps Engineer   ·   </a:t>
              </a:r>
              <a:r>
                <a:rPr lang="en-US" b="true" sz="2100">
                  <a:solidFill>
                    <a:srgbClr val="3A58E4"/>
                  </a:solidFill>
                  <a:latin typeface="Calibri (MS) Bold"/>
                  <a:ea typeface="Calibri (MS) Bold"/>
                  <a:cs typeface="Calibri (MS) Bold"/>
                  <a:sym typeface="Calibri (MS) Bold"/>
                </a:rPr>
                <a:t>Jyns</a:t>
              </a:r>
              <a:r>
                <a:rPr lang="en-US" sz="2100">
                  <a:solidFill>
                    <a:srgbClr val="3A58E4"/>
                  </a:solidFill>
                  <a:latin typeface="Calibri (MS)"/>
                  <a:ea typeface="Calibri (MS)"/>
                  <a:cs typeface="Calibri (MS)"/>
                  <a:sym typeface="Calibri (MS)"/>
                </a:rPr>
                <a:t>  Machine Learning Engineer   ·   </a:t>
              </a:r>
              <a:r>
                <a:rPr lang="en-US" b="true" sz="2100">
                  <a:solidFill>
                    <a:srgbClr val="3A58E4"/>
                  </a:solidFill>
                  <a:latin typeface="Calibri (MS) Bold"/>
                  <a:ea typeface="Calibri (MS) Bold"/>
                  <a:cs typeface="Calibri (MS) Bold"/>
                  <a:sym typeface="Calibri (MS) Bold"/>
                </a:rPr>
                <a:t>Lisseth</a:t>
              </a:r>
              <a:r>
                <a:rPr lang="en-US" sz="2100">
                  <a:solidFill>
                    <a:srgbClr val="3A58E4"/>
                  </a:solidFill>
                  <a:latin typeface="Calibri (MS)"/>
                  <a:ea typeface="Calibri (MS)"/>
                  <a:cs typeface="Calibri (MS)"/>
                  <a:sym typeface="Calibri (MS)"/>
                </a:rPr>
                <a:t>  Data Analyst   ·   </a:t>
              </a:r>
              <a:r>
                <a:rPr lang="en-US" b="true" sz="2100">
                  <a:solidFill>
                    <a:srgbClr val="3A58E4"/>
                  </a:solidFill>
                  <a:latin typeface="Calibri (MS) Bold"/>
                  <a:ea typeface="Calibri (MS) Bold"/>
                  <a:cs typeface="Calibri (MS) Bold"/>
                  <a:sym typeface="Calibri (MS) Bold"/>
                </a:rPr>
                <a:t>Mafer</a:t>
              </a:r>
              <a:r>
                <a:rPr lang="en-US" sz="2100">
                  <a:solidFill>
                    <a:srgbClr val="3A58E4"/>
                  </a:solidFill>
                  <a:latin typeface="Calibri (MS)"/>
                  <a:ea typeface="Calibri (MS)"/>
                  <a:cs typeface="Calibri (MS)"/>
                  <a:sym typeface="Calibri (MS)"/>
                </a:rPr>
                <a:t>  Full-Stack Developer &amp; UX/UI Designer</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PROBLEMA Y PRODUCTO</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0C0E14"/>
                  </a:solidFill>
                  <a:latin typeface="Arial Bold"/>
                  <a:ea typeface="Arial Bold"/>
                  <a:cs typeface="Arial Bold"/>
                  <a:sym typeface="Arial Bold"/>
                </a:rPr>
                <a:t>La decisión reúne señales que hoy están dispersas</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InmoScore convierte el aviso en una comparación guiada por el perfil de compra.</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02</a:t>
              </a:r>
            </a:p>
          </p:txBody>
        </p:sp>
      </p:grpSp>
      <p:grpSp>
        <p:nvGrpSpPr>
          <p:cNvPr name="Group 17" id="17"/>
          <p:cNvGrpSpPr/>
          <p:nvPr/>
        </p:nvGrpSpPr>
        <p:grpSpPr>
          <a:xfrm rot="0">
            <a:off x="828675" y="3128962"/>
            <a:ext cx="128588" cy="128588"/>
            <a:chOff x="0" y="0"/>
            <a:chExt cx="171450" cy="171450"/>
          </a:xfrm>
        </p:grpSpPr>
        <p:sp>
          <p:nvSpPr>
            <p:cNvPr name="Freeform 18" id="18"/>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19" id="19"/>
          <p:cNvGrpSpPr/>
          <p:nvPr/>
        </p:nvGrpSpPr>
        <p:grpSpPr>
          <a:xfrm rot="0">
            <a:off x="1143000" y="3057525"/>
            <a:ext cx="7258050" cy="400050"/>
            <a:chOff x="0" y="0"/>
            <a:chExt cx="9677400" cy="533400"/>
          </a:xfrm>
        </p:grpSpPr>
        <p:sp>
          <p:nvSpPr>
            <p:cNvPr name="Freeform 20" id="20"/>
            <p:cNvSpPr/>
            <p:nvPr/>
          </p:nvSpPr>
          <p:spPr>
            <a:xfrm flipH="false" flipV="false" rot="0">
              <a:off x="0" y="0"/>
              <a:ext cx="9677400" cy="533400"/>
            </a:xfrm>
            <a:custGeom>
              <a:avLst/>
              <a:gdLst/>
              <a:ahLst/>
              <a:cxnLst/>
              <a:rect r="r" b="b" t="t" l="l"/>
              <a:pathLst>
                <a:path h="533400" w="9677400">
                  <a:moveTo>
                    <a:pt x="0" y="0"/>
                  </a:moveTo>
                  <a:lnTo>
                    <a:pt x="9677400" y="0"/>
                  </a:lnTo>
                  <a:lnTo>
                    <a:pt x="9677400" y="533400"/>
                  </a:lnTo>
                  <a:lnTo>
                    <a:pt x="0" y="533400"/>
                  </a:lnTo>
                  <a:close/>
                </a:path>
              </a:pathLst>
            </a:custGeom>
            <a:blipFill>
              <a:blip r:embed="rId3">
                <a:alphaModFix amt="0"/>
              </a:blip>
              <a:stretch>
                <a:fillRect l="0" t="-303514" r="0" b="-303514"/>
              </a:stretch>
            </a:blipFill>
          </p:spPr>
        </p:sp>
        <p:sp>
          <p:nvSpPr>
            <p:cNvPr name="TextBox 21" id="21"/>
            <p:cNvSpPr txBox="true"/>
            <p:nvPr/>
          </p:nvSpPr>
          <p:spPr>
            <a:xfrm>
              <a:off x="0" y="-9525"/>
              <a:ext cx="967740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Precio</a:t>
              </a:r>
            </a:p>
          </p:txBody>
        </p:sp>
      </p:grpSp>
      <p:grpSp>
        <p:nvGrpSpPr>
          <p:cNvPr name="Group 22" id="22"/>
          <p:cNvGrpSpPr/>
          <p:nvPr/>
        </p:nvGrpSpPr>
        <p:grpSpPr>
          <a:xfrm rot="0">
            <a:off x="828675" y="4643438"/>
            <a:ext cx="128588" cy="128588"/>
            <a:chOff x="0" y="0"/>
            <a:chExt cx="171450" cy="171450"/>
          </a:xfrm>
        </p:grpSpPr>
        <p:sp>
          <p:nvSpPr>
            <p:cNvPr name="Freeform 23" id="23"/>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24" id="24"/>
          <p:cNvGrpSpPr/>
          <p:nvPr/>
        </p:nvGrpSpPr>
        <p:grpSpPr>
          <a:xfrm rot="0">
            <a:off x="1143000" y="4572000"/>
            <a:ext cx="7258050" cy="400050"/>
            <a:chOff x="0" y="0"/>
            <a:chExt cx="9677400" cy="533400"/>
          </a:xfrm>
        </p:grpSpPr>
        <p:sp>
          <p:nvSpPr>
            <p:cNvPr name="Freeform 25" id="25"/>
            <p:cNvSpPr/>
            <p:nvPr/>
          </p:nvSpPr>
          <p:spPr>
            <a:xfrm flipH="false" flipV="false" rot="0">
              <a:off x="0" y="0"/>
              <a:ext cx="9677400" cy="533400"/>
            </a:xfrm>
            <a:custGeom>
              <a:avLst/>
              <a:gdLst/>
              <a:ahLst/>
              <a:cxnLst/>
              <a:rect r="r" b="b" t="t" l="l"/>
              <a:pathLst>
                <a:path h="533400" w="9677400">
                  <a:moveTo>
                    <a:pt x="0" y="0"/>
                  </a:moveTo>
                  <a:lnTo>
                    <a:pt x="9677400" y="0"/>
                  </a:lnTo>
                  <a:lnTo>
                    <a:pt x="9677400" y="533400"/>
                  </a:lnTo>
                  <a:lnTo>
                    <a:pt x="0" y="533400"/>
                  </a:lnTo>
                  <a:close/>
                </a:path>
              </a:pathLst>
            </a:custGeom>
            <a:blipFill>
              <a:blip r:embed="rId3">
                <a:alphaModFix amt="0"/>
              </a:blip>
              <a:stretch>
                <a:fillRect l="0" t="-303514" r="0" b="-303514"/>
              </a:stretch>
            </a:blipFill>
          </p:spPr>
        </p:sp>
        <p:sp>
          <p:nvSpPr>
            <p:cNvPr name="TextBox 26" id="26"/>
            <p:cNvSpPr txBox="true"/>
            <p:nvPr/>
          </p:nvSpPr>
          <p:spPr>
            <a:xfrm>
              <a:off x="0" y="-9525"/>
              <a:ext cx="967740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Entorno</a:t>
              </a:r>
            </a:p>
          </p:txBody>
        </p:sp>
      </p:grpSp>
      <p:grpSp>
        <p:nvGrpSpPr>
          <p:cNvPr name="Group 27" id="27"/>
          <p:cNvGrpSpPr/>
          <p:nvPr/>
        </p:nvGrpSpPr>
        <p:grpSpPr>
          <a:xfrm rot="0">
            <a:off x="828675" y="6157912"/>
            <a:ext cx="128588" cy="128588"/>
            <a:chOff x="0" y="0"/>
            <a:chExt cx="171450" cy="171450"/>
          </a:xfrm>
        </p:grpSpPr>
        <p:sp>
          <p:nvSpPr>
            <p:cNvPr name="Freeform 28" id="28"/>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29" id="29"/>
          <p:cNvGrpSpPr/>
          <p:nvPr/>
        </p:nvGrpSpPr>
        <p:grpSpPr>
          <a:xfrm rot="0">
            <a:off x="1143000" y="6086475"/>
            <a:ext cx="7258050" cy="400050"/>
            <a:chOff x="0" y="0"/>
            <a:chExt cx="9677400" cy="533400"/>
          </a:xfrm>
        </p:grpSpPr>
        <p:sp>
          <p:nvSpPr>
            <p:cNvPr name="Freeform 30" id="30"/>
            <p:cNvSpPr/>
            <p:nvPr/>
          </p:nvSpPr>
          <p:spPr>
            <a:xfrm flipH="false" flipV="false" rot="0">
              <a:off x="0" y="0"/>
              <a:ext cx="9677400" cy="533400"/>
            </a:xfrm>
            <a:custGeom>
              <a:avLst/>
              <a:gdLst/>
              <a:ahLst/>
              <a:cxnLst/>
              <a:rect r="r" b="b" t="t" l="l"/>
              <a:pathLst>
                <a:path h="533400" w="9677400">
                  <a:moveTo>
                    <a:pt x="0" y="0"/>
                  </a:moveTo>
                  <a:lnTo>
                    <a:pt x="9677400" y="0"/>
                  </a:lnTo>
                  <a:lnTo>
                    <a:pt x="9677400" y="533400"/>
                  </a:lnTo>
                  <a:lnTo>
                    <a:pt x="0" y="533400"/>
                  </a:lnTo>
                  <a:close/>
                </a:path>
              </a:pathLst>
            </a:custGeom>
            <a:blipFill>
              <a:blip r:embed="rId3">
                <a:alphaModFix amt="0"/>
              </a:blip>
              <a:stretch>
                <a:fillRect l="0" t="-303514" r="0" b="-303514"/>
              </a:stretch>
            </a:blipFill>
          </p:spPr>
        </p:sp>
        <p:sp>
          <p:nvSpPr>
            <p:cNvPr name="TextBox 31" id="31"/>
            <p:cNvSpPr txBox="true"/>
            <p:nvPr/>
          </p:nvSpPr>
          <p:spPr>
            <a:xfrm>
              <a:off x="0" y="-9525"/>
              <a:ext cx="967740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Capacidad de pago</a:t>
              </a:r>
            </a:p>
          </p:txBody>
        </p:sp>
      </p:grpSp>
      <p:grpSp>
        <p:nvGrpSpPr>
          <p:cNvPr name="Group 32" id="32"/>
          <p:cNvGrpSpPr/>
          <p:nvPr/>
        </p:nvGrpSpPr>
        <p:grpSpPr>
          <a:xfrm rot="0">
            <a:off x="9601200" y="3000375"/>
            <a:ext cx="7829550" cy="4714875"/>
            <a:chOff x="0" y="0"/>
            <a:chExt cx="10439400" cy="6286500"/>
          </a:xfrm>
        </p:grpSpPr>
        <p:sp>
          <p:nvSpPr>
            <p:cNvPr name="Freeform 33" id="33"/>
            <p:cNvSpPr/>
            <p:nvPr/>
          </p:nvSpPr>
          <p:spPr>
            <a:xfrm flipH="false" flipV="false" rot="0">
              <a:off x="0" y="0"/>
              <a:ext cx="10439400" cy="6286500"/>
            </a:xfrm>
            <a:custGeom>
              <a:avLst/>
              <a:gdLst/>
              <a:ahLst/>
              <a:cxnLst/>
              <a:rect r="r" b="b" t="t" l="l"/>
              <a:pathLst>
                <a:path h="6286500" w="10439400">
                  <a:moveTo>
                    <a:pt x="0" y="152400"/>
                  </a:moveTo>
                  <a:cubicBezTo>
                    <a:pt x="0" y="68199"/>
                    <a:pt x="68199" y="0"/>
                    <a:pt x="152400" y="0"/>
                  </a:cubicBezTo>
                  <a:lnTo>
                    <a:pt x="10287000" y="0"/>
                  </a:lnTo>
                  <a:cubicBezTo>
                    <a:pt x="10371201" y="0"/>
                    <a:pt x="10439400" y="68199"/>
                    <a:pt x="10439400" y="152400"/>
                  </a:cubicBezTo>
                  <a:lnTo>
                    <a:pt x="10439400" y="6134100"/>
                  </a:lnTo>
                  <a:cubicBezTo>
                    <a:pt x="10439400" y="6218301"/>
                    <a:pt x="10371201" y="6286500"/>
                    <a:pt x="10287000" y="6286500"/>
                  </a:cubicBezTo>
                  <a:lnTo>
                    <a:pt x="152400" y="6286500"/>
                  </a:lnTo>
                  <a:cubicBezTo>
                    <a:pt x="68199" y="6286500"/>
                    <a:pt x="0" y="6218301"/>
                    <a:pt x="0" y="6134100"/>
                  </a:cubicBezTo>
                  <a:close/>
                </a:path>
              </a:pathLst>
            </a:custGeom>
            <a:solidFill>
              <a:srgbClr val="2B3F9E"/>
            </a:solidFill>
          </p:spPr>
        </p:sp>
      </p:grpSp>
      <p:grpSp>
        <p:nvGrpSpPr>
          <p:cNvPr name="Group 34" id="34"/>
          <p:cNvGrpSpPr/>
          <p:nvPr/>
        </p:nvGrpSpPr>
        <p:grpSpPr>
          <a:xfrm rot="0">
            <a:off x="10144125" y="3500438"/>
            <a:ext cx="1743075" cy="400050"/>
            <a:chOff x="0" y="0"/>
            <a:chExt cx="2324100" cy="533400"/>
          </a:xfrm>
        </p:grpSpPr>
        <p:sp>
          <p:nvSpPr>
            <p:cNvPr name="Freeform 35" id="35"/>
            <p:cNvSpPr/>
            <p:nvPr/>
          </p:nvSpPr>
          <p:spPr>
            <a:xfrm flipH="false" flipV="false" rot="0">
              <a:off x="0" y="0"/>
              <a:ext cx="2324100" cy="533400"/>
            </a:xfrm>
            <a:custGeom>
              <a:avLst/>
              <a:gdLst/>
              <a:ahLst/>
              <a:cxnLst/>
              <a:rect r="r" b="b" t="t" l="l"/>
              <a:pathLst>
                <a:path h="533400" w="2324100">
                  <a:moveTo>
                    <a:pt x="0" y="152400"/>
                  </a:moveTo>
                  <a:cubicBezTo>
                    <a:pt x="0" y="68199"/>
                    <a:pt x="68199" y="0"/>
                    <a:pt x="152400" y="0"/>
                  </a:cubicBezTo>
                  <a:lnTo>
                    <a:pt x="2171700" y="0"/>
                  </a:lnTo>
                  <a:cubicBezTo>
                    <a:pt x="2255901" y="0"/>
                    <a:pt x="2324100" y="68199"/>
                    <a:pt x="2324100" y="152400"/>
                  </a:cubicBezTo>
                  <a:lnTo>
                    <a:pt x="2324100" y="381000"/>
                  </a:lnTo>
                  <a:cubicBezTo>
                    <a:pt x="2324100" y="465201"/>
                    <a:pt x="2255901" y="533400"/>
                    <a:pt x="2171700" y="533400"/>
                  </a:cubicBezTo>
                  <a:lnTo>
                    <a:pt x="152400" y="533400"/>
                  </a:lnTo>
                  <a:cubicBezTo>
                    <a:pt x="68199" y="533400"/>
                    <a:pt x="0" y="465201"/>
                    <a:pt x="0" y="381000"/>
                  </a:cubicBezTo>
                  <a:close/>
                </a:path>
              </a:pathLst>
            </a:custGeom>
            <a:solidFill>
              <a:srgbClr val="C2C9ED"/>
            </a:solidFill>
          </p:spPr>
        </p:sp>
      </p:grpSp>
      <p:grpSp>
        <p:nvGrpSpPr>
          <p:cNvPr name="Group 36" id="36"/>
          <p:cNvGrpSpPr/>
          <p:nvPr/>
        </p:nvGrpSpPr>
        <p:grpSpPr>
          <a:xfrm rot="0">
            <a:off x="10287000" y="3514725"/>
            <a:ext cx="1457325" cy="357188"/>
            <a:chOff x="0" y="0"/>
            <a:chExt cx="1943100" cy="476250"/>
          </a:xfrm>
        </p:grpSpPr>
        <p:sp>
          <p:nvSpPr>
            <p:cNvPr name="Freeform 37" id="37"/>
            <p:cNvSpPr/>
            <p:nvPr/>
          </p:nvSpPr>
          <p:spPr>
            <a:xfrm flipH="false" flipV="false" rot="0">
              <a:off x="0" y="0"/>
              <a:ext cx="1943100" cy="476250"/>
            </a:xfrm>
            <a:custGeom>
              <a:avLst/>
              <a:gdLst/>
              <a:ahLst/>
              <a:cxnLst/>
              <a:rect r="r" b="b" t="t" l="l"/>
              <a:pathLst>
                <a:path h="476250" w="1943100">
                  <a:moveTo>
                    <a:pt x="0" y="0"/>
                  </a:moveTo>
                  <a:lnTo>
                    <a:pt x="1943100" y="0"/>
                  </a:lnTo>
                  <a:lnTo>
                    <a:pt x="1943100" y="476250"/>
                  </a:lnTo>
                  <a:lnTo>
                    <a:pt x="0" y="476250"/>
                  </a:lnTo>
                  <a:close/>
                </a:path>
              </a:pathLst>
            </a:custGeom>
            <a:blipFill>
              <a:blip r:embed="rId3">
                <a:alphaModFix amt="0"/>
              </a:blip>
              <a:stretch>
                <a:fillRect l="0" t="-29498" r="0" b="-29498"/>
              </a:stretch>
            </a:blipFill>
          </p:spPr>
        </p:sp>
        <p:sp>
          <p:nvSpPr>
            <p:cNvPr name="TextBox 38" id="38"/>
            <p:cNvSpPr txBox="true"/>
            <p:nvPr/>
          </p:nvSpPr>
          <p:spPr>
            <a:xfrm>
              <a:off x="0" y="-19050"/>
              <a:ext cx="1943100" cy="495300"/>
            </a:xfrm>
            <a:prstGeom prst="rect">
              <a:avLst/>
            </a:prstGeom>
          </p:spPr>
          <p:txBody>
            <a:bodyPr anchor="ctr" rtlCol="false" tIns="0" lIns="0" bIns="0" rIns="0"/>
            <a:lstStyle/>
            <a:p>
              <a:pPr algn="ctr">
                <a:lnSpc>
                  <a:spcPts val="1620"/>
                </a:lnSpc>
              </a:pPr>
              <a:r>
                <a:rPr lang="en-US" b="true" sz="1350">
                  <a:solidFill>
                    <a:srgbClr val="0C0E14"/>
                  </a:solidFill>
                  <a:latin typeface="Arial Bold"/>
                  <a:ea typeface="Arial Bold"/>
                  <a:cs typeface="Arial Bold"/>
                  <a:sym typeface="Arial Bold"/>
                </a:rPr>
                <a:t>PRODUCTO</a:t>
              </a:r>
            </a:p>
          </p:txBody>
        </p:sp>
      </p:grpSp>
      <p:grpSp>
        <p:nvGrpSpPr>
          <p:cNvPr name="Group 39" id="39"/>
          <p:cNvGrpSpPr/>
          <p:nvPr/>
        </p:nvGrpSpPr>
        <p:grpSpPr>
          <a:xfrm rot="0">
            <a:off x="857250" y="8401050"/>
            <a:ext cx="16002000" cy="500062"/>
            <a:chOff x="0" y="0"/>
            <a:chExt cx="21336000" cy="666750"/>
          </a:xfrm>
        </p:grpSpPr>
        <p:sp>
          <p:nvSpPr>
            <p:cNvPr name="Freeform 40" id="40"/>
            <p:cNvSpPr/>
            <p:nvPr/>
          </p:nvSpPr>
          <p:spPr>
            <a:xfrm flipH="false" flipV="false" rot="0">
              <a:off x="0" y="0"/>
              <a:ext cx="21336000" cy="666750"/>
            </a:xfrm>
            <a:custGeom>
              <a:avLst/>
              <a:gdLst/>
              <a:ahLst/>
              <a:cxnLst/>
              <a:rect r="r" b="b" t="t" l="l"/>
              <a:pathLst>
                <a:path h="666750" w="21336000">
                  <a:moveTo>
                    <a:pt x="0" y="0"/>
                  </a:moveTo>
                  <a:lnTo>
                    <a:pt x="21336000" y="0"/>
                  </a:lnTo>
                  <a:lnTo>
                    <a:pt x="21336000" y="666750"/>
                  </a:lnTo>
                  <a:lnTo>
                    <a:pt x="0" y="666750"/>
                  </a:lnTo>
                  <a:close/>
                </a:path>
              </a:pathLst>
            </a:custGeom>
            <a:blipFill>
              <a:blip r:embed="rId3">
                <a:alphaModFix amt="0"/>
              </a:blip>
              <a:stretch>
                <a:fillRect l="0" t="-573521" r="0" b="-573521"/>
              </a:stretch>
            </a:blipFill>
          </p:spPr>
        </p:sp>
        <p:sp>
          <p:nvSpPr>
            <p:cNvPr name="TextBox 41" id="41"/>
            <p:cNvSpPr txBox="true"/>
            <p:nvPr/>
          </p:nvSpPr>
          <p:spPr>
            <a:xfrm>
              <a:off x="0" y="-9525"/>
              <a:ext cx="21336000" cy="67627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La salida es una lista que se puede revisar, guardar y comparar.</a:t>
              </a:r>
            </a:p>
          </p:txBody>
        </p:sp>
      </p:grpSp>
      <p:sp>
        <p:nvSpPr>
          <p:cNvPr name="TextBox 42" id="42"/>
          <p:cNvSpPr txBox="true"/>
          <p:nvPr/>
        </p:nvSpPr>
        <p:spPr>
          <a:xfrm rot="0">
            <a:off x="1234440" y="3527108"/>
            <a:ext cx="7046595"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¿El monto pedido se acerca al valor estimado para una vivienda similar?</a:t>
            </a:r>
          </a:p>
        </p:txBody>
      </p:sp>
      <p:sp>
        <p:nvSpPr>
          <p:cNvPr name="TextBox 43" id="43"/>
          <p:cNvSpPr txBox="true"/>
          <p:nvPr/>
        </p:nvSpPr>
        <p:spPr>
          <a:xfrm rot="0">
            <a:off x="1234440" y="5041582"/>
            <a:ext cx="7046595"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¿Qué nivel de seguridad y conveniencia ofrece la zona?</a:t>
            </a:r>
          </a:p>
        </p:txBody>
      </p:sp>
      <p:sp>
        <p:nvSpPr>
          <p:cNvPr name="TextBox 44" id="44"/>
          <p:cNvSpPr txBox="true"/>
          <p:nvPr/>
        </p:nvSpPr>
        <p:spPr>
          <a:xfrm rot="0">
            <a:off x="1234440" y="6556057"/>
            <a:ext cx="7046595"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¿El precio cabe dentro del límite financiero del comprador?</a:t>
            </a:r>
          </a:p>
        </p:txBody>
      </p:sp>
      <p:sp>
        <p:nvSpPr>
          <p:cNvPr name="TextBox 45" id="45"/>
          <p:cNvSpPr txBox="true"/>
          <p:nvPr/>
        </p:nvSpPr>
        <p:spPr>
          <a:xfrm rot="0">
            <a:off x="10206990" y="4270058"/>
            <a:ext cx="6075045" cy="1527810"/>
          </a:xfrm>
          <a:prstGeom prst="rect">
            <a:avLst/>
          </a:prstGeom>
        </p:spPr>
        <p:txBody>
          <a:bodyPr anchor="t" rtlCol="false" tIns="0" lIns="0" bIns="0" rIns="0">
            <a:spAutoFit/>
          </a:bodyPr>
          <a:lstStyle/>
          <a:p>
            <a:pPr algn="l">
              <a:lnSpc>
                <a:spcPts val="4995"/>
              </a:lnSpc>
            </a:pPr>
            <a:r>
              <a:rPr lang="en-US" sz="4162" b="true">
                <a:solidFill>
                  <a:srgbClr val="FEFEFF"/>
                </a:solidFill>
                <a:latin typeface="Arial Bold"/>
                <a:ea typeface="Arial Bold"/>
                <a:cs typeface="Arial Bold"/>
                <a:sym typeface="Arial Bold"/>
              </a:rPr>
              <a:t>Un perfil.</a:t>
            </a:r>
          </a:p>
          <a:p>
            <a:pPr algn="l">
              <a:lnSpc>
                <a:spcPts val="4995"/>
              </a:lnSpc>
            </a:pPr>
            <a:r>
              <a:rPr lang="en-US" sz="4162" b="true">
                <a:solidFill>
                  <a:srgbClr val="FEFEFF"/>
                </a:solidFill>
                <a:latin typeface="Arial Bold"/>
                <a:ea typeface="Arial Bold"/>
                <a:cs typeface="Arial Bold"/>
                <a:sym typeface="Arial Bold"/>
              </a:rPr>
              <a:t>Un ranking explicable.</a:t>
            </a:r>
          </a:p>
        </p:txBody>
      </p:sp>
      <p:sp>
        <p:nvSpPr>
          <p:cNvPr name="TextBox 46" id="46"/>
          <p:cNvSpPr txBox="true"/>
          <p:nvPr/>
        </p:nvSpPr>
        <p:spPr>
          <a:xfrm rot="0">
            <a:off x="10235565" y="6251257"/>
            <a:ext cx="6303645" cy="861060"/>
          </a:xfrm>
          <a:prstGeom prst="rect">
            <a:avLst/>
          </a:prstGeom>
        </p:spPr>
        <p:txBody>
          <a:bodyPr anchor="t" rtlCol="false" tIns="0" lIns="0" bIns="0" rIns="0">
            <a:spAutoFit/>
          </a:bodyPr>
          <a:lstStyle/>
          <a:p>
            <a:pPr algn="l">
              <a:lnSpc>
                <a:spcPts val="2295"/>
              </a:lnSpc>
            </a:pPr>
            <a:r>
              <a:rPr lang="en-US" sz="1912">
                <a:solidFill>
                  <a:srgbClr val="FEFEFF"/>
                </a:solidFill>
                <a:latin typeface="Arial"/>
                <a:ea typeface="Arial"/>
                <a:cs typeface="Arial"/>
                <a:sym typeface="Arial"/>
              </a:rPr>
              <a:t>Cada vivienda combina precio, seguridad y conveniencia, con un tope financiero definido por el usuario.</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BASE DE DATOS</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La base describe el mercado publicado en 20 distritos</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Datos históricos de avisos para construir referencias de precio y contexto local.</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03</a:t>
              </a:r>
            </a:p>
          </p:txBody>
        </p:sp>
      </p:grpSp>
      <p:grpSp>
        <p:nvGrpSpPr>
          <p:cNvPr name="Group 17" id="17"/>
          <p:cNvGrpSpPr/>
          <p:nvPr/>
        </p:nvGrpSpPr>
        <p:grpSpPr>
          <a:xfrm rot="0">
            <a:off x="857250" y="3143250"/>
            <a:ext cx="3571875" cy="885825"/>
            <a:chOff x="0" y="0"/>
            <a:chExt cx="4762500" cy="1181100"/>
          </a:xfrm>
        </p:grpSpPr>
        <p:sp>
          <p:nvSpPr>
            <p:cNvPr name="Freeform 18" id="18"/>
            <p:cNvSpPr/>
            <p:nvPr/>
          </p:nvSpPr>
          <p:spPr>
            <a:xfrm flipH="false" flipV="false" rot="0">
              <a:off x="0" y="0"/>
              <a:ext cx="4762500" cy="1181100"/>
            </a:xfrm>
            <a:custGeom>
              <a:avLst/>
              <a:gdLst/>
              <a:ahLst/>
              <a:cxnLst/>
              <a:rect r="r" b="b" t="t" l="l"/>
              <a:pathLst>
                <a:path h="1181100" w="4762500">
                  <a:moveTo>
                    <a:pt x="0" y="0"/>
                  </a:moveTo>
                  <a:lnTo>
                    <a:pt x="4762500" y="0"/>
                  </a:lnTo>
                  <a:lnTo>
                    <a:pt x="4762500" y="1181100"/>
                  </a:lnTo>
                  <a:lnTo>
                    <a:pt x="0" y="1181100"/>
                  </a:lnTo>
                  <a:close/>
                </a:path>
              </a:pathLst>
            </a:custGeom>
            <a:blipFill>
              <a:blip r:embed="rId3">
                <a:alphaModFix amt="0"/>
              </a:blip>
              <a:stretch>
                <a:fillRect l="0" t="-28568" r="0" b="-28568"/>
              </a:stretch>
            </a:blipFill>
          </p:spPr>
        </p:sp>
        <p:sp>
          <p:nvSpPr>
            <p:cNvPr name="TextBox 19" id="19"/>
            <p:cNvSpPr txBox="true"/>
            <p:nvPr/>
          </p:nvSpPr>
          <p:spPr>
            <a:xfrm>
              <a:off x="0" y="-19050"/>
              <a:ext cx="4762500" cy="1200150"/>
            </a:xfrm>
            <a:prstGeom prst="rect">
              <a:avLst/>
            </a:prstGeom>
          </p:spPr>
          <p:txBody>
            <a:bodyPr anchor="ctr" rtlCol="false" tIns="0" lIns="0" bIns="0" rIns="0"/>
            <a:lstStyle/>
            <a:p>
              <a:pPr algn="l">
                <a:lnSpc>
                  <a:spcPts val="5670"/>
                </a:lnSpc>
              </a:pPr>
              <a:r>
                <a:rPr lang="en-US" b="true" sz="4725">
                  <a:solidFill>
                    <a:srgbClr val="2B3F9E"/>
                  </a:solidFill>
                  <a:latin typeface="Arial Bold"/>
                  <a:ea typeface="Arial Bold"/>
                  <a:cs typeface="Arial Bold"/>
                  <a:sym typeface="Arial Bold"/>
                </a:rPr>
                <a:t>3 896</a:t>
              </a:r>
            </a:p>
          </p:txBody>
        </p:sp>
      </p:grpSp>
      <p:grpSp>
        <p:nvGrpSpPr>
          <p:cNvPr name="Group 20" id="20"/>
          <p:cNvGrpSpPr/>
          <p:nvPr/>
        </p:nvGrpSpPr>
        <p:grpSpPr>
          <a:xfrm rot="0">
            <a:off x="857250" y="4029075"/>
            <a:ext cx="3571875" cy="785812"/>
            <a:chOff x="0" y="0"/>
            <a:chExt cx="4762500" cy="1047750"/>
          </a:xfrm>
        </p:grpSpPr>
        <p:sp>
          <p:nvSpPr>
            <p:cNvPr name="Freeform 21" id="21"/>
            <p:cNvSpPr/>
            <p:nvPr/>
          </p:nvSpPr>
          <p:spPr>
            <a:xfrm flipH="false" flipV="false" rot="0">
              <a:off x="0" y="0"/>
              <a:ext cx="4762500" cy="1047750"/>
            </a:xfrm>
            <a:custGeom>
              <a:avLst/>
              <a:gdLst/>
              <a:ahLst/>
              <a:cxnLst/>
              <a:rect r="r" b="b" t="t" l="l"/>
              <a:pathLst>
                <a:path h="1047750" w="4762500">
                  <a:moveTo>
                    <a:pt x="0" y="0"/>
                  </a:moveTo>
                  <a:lnTo>
                    <a:pt x="4762500" y="0"/>
                  </a:lnTo>
                  <a:lnTo>
                    <a:pt x="4762500" y="1047750"/>
                  </a:lnTo>
                  <a:lnTo>
                    <a:pt x="0" y="1047750"/>
                  </a:lnTo>
                  <a:close/>
                </a:path>
              </a:pathLst>
            </a:custGeom>
            <a:blipFill>
              <a:blip r:embed="rId3">
                <a:alphaModFix amt="0"/>
              </a:blip>
              <a:stretch>
                <a:fillRect l="0" t="-38568" r="0" b="-38568"/>
              </a:stretch>
            </a:blipFill>
          </p:spPr>
        </p:sp>
        <p:sp>
          <p:nvSpPr>
            <p:cNvPr name="TextBox 22" id="22"/>
            <p:cNvSpPr txBox="true"/>
            <p:nvPr/>
          </p:nvSpPr>
          <p:spPr>
            <a:xfrm>
              <a:off x="0" y="-19050"/>
              <a:ext cx="4762500" cy="1066800"/>
            </a:xfrm>
            <a:prstGeom prst="rect">
              <a:avLst/>
            </a:prstGeom>
          </p:spPr>
          <p:txBody>
            <a:bodyPr anchor="ctr" rtlCol="false" tIns="0" lIns="0" bIns="0" rIns="0"/>
            <a:lstStyle/>
            <a:p>
              <a:pPr algn="l">
                <a:lnSpc>
                  <a:spcPts val="2160"/>
                </a:lnSpc>
              </a:pPr>
              <a:r>
                <a:rPr lang="en-US" sz="1800">
                  <a:solidFill>
                    <a:srgbClr val="0C0E14"/>
                  </a:solidFill>
                  <a:latin typeface="Arial"/>
                  <a:ea typeface="Arial"/>
                  <a:cs typeface="Arial"/>
                  <a:sym typeface="Arial"/>
                </a:rPr>
                <a:t>avisos históricos en el conjunto de trabajo</a:t>
              </a:r>
            </a:p>
          </p:txBody>
        </p:sp>
      </p:grpSp>
      <p:grpSp>
        <p:nvGrpSpPr>
          <p:cNvPr name="Group 23" id="23"/>
          <p:cNvGrpSpPr/>
          <p:nvPr/>
        </p:nvGrpSpPr>
        <p:grpSpPr>
          <a:xfrm rot="0">
            <a:off x="5429250" y="3143250"/>
            <a:ext cx="3000375" cy="885825"/>
            <a:chOff x="0" y="0"/>
            <a:chExt cx="4000500" cy="1181100"/>
          </a:xfrm>
        </p:grpSpPr>
        <p:sp>
          <p:nvSpPr>
            <p:cNvPr name="Freeform 24" id="24"/>
            <p:cNvSpPr/>
            <p:nvPr/>
          </p:nvSpPr>
          <p:spPr>
            <a:xfrm flipH="false" flipV="false" rot="0">
              <a:off x="0" y="0"/>
              <a:ext cx="4000500" cy="1181100"/>
            </a:xfrm>
            <a:custGeom>
              <a:avLst/>
              <a:gdLst/>
              <a:ahLst/>
              <a:cxnLst/>
              <a:rect r="r" b="b" t="t" l="l"/>
              <a:pathLst>
                <a:path h="1181100" w="4000500">
                  <a:moveTo>
                    <a:pt x="0" y="0"/>
                  </a:moveTo>
                  <a:lnTo>
                    <a:pt x="4000500" y="0"/>
                  </a:lnTo>
                  <a:lnTo>
                    <a:pt x="4000500" y="1181100"/>
                  </a:lnTo>
                  <a:lnTo>
                    <a:pt x="0" y="1181100"/>
                  </a:lnTo>
                  <a:close/>
                </a:path>
              </a:pathLst>
            </a:custGeom>
            <a:blipFill>
              <a:blip r:embed="rId3">
                <a:alphaModFix amt="0"/>
              </a:blip>
              <a:stretch>
                <a:fillRect l="0" t="-15997" r="0" b="-15997"/>
              </a:stretch>
            </a:blipFill>
          </p:spPr>
        </p:sp>
        <p:sp>
          <p:nvSpPr>
            <p:cNvPr name="TextBox 25" id="25"/>
            <p:cNvSpPr txBox="true"/>
            <p:nvPr/>
          </p:nvSpPr>
          <p:spPr>
            <a:xfrm>
              <a:off x="0" y="-19050"/>
              <a:ext cx="4000500" cy="1200150"/>
            </a:xfrm>
            <a:prstGeom prst="rect">
              <a:avLst/>
            </a:prstGeom>
          </p:spPr>
          <p:txBody>
            <a:bodyPr anchor="ctr" rtlCol="false" tIns="0" lIns="0" bIns="0" rIns="0"/>
            <a:lstStyle/>
            <a:p>
              <a:pPr algn="l">
                <a:lnSpc>
                  <a:spcPts val="5670"/>
                </a:lnSpc>
              </a:pPr>
              <a:r>
                <a:rPr lang="en-US" b="true" sz="4725">
                  <a:solidFill>
                    <a:srgbClr val="2B3F9E"/>
                  </a:solidFill>
                  <a:latin typeface="Arial Bold"/>
                  <a:ea typeface="Arial Bold"/>
                  <a:cs typeface="Arial Bold"/>
                  <a:sym typeface="Arial Bold"/>
                </a:rPr>
                <a:t>20</a:t>
              </a:r>
            </a:p>
          </p:txBody>
        </p:sp>
      </p:grpSp>
      <p:grpSp>
        <p:nvGrpSpPr>
          <p:cNvPr name="Group 26" id="26"/>
          <p:cNvGrpSpPr/>
          <p:nvPr/>
        </p:nvGrpSpPr>
        <p:grpSpPr>
          <a:xfrm rot="0">
            <a:off x="5429250" y="4029075"/>
            <a:ext cx="3000375" cy="785812"/>
            <a:chOff x="0" y="0"/>
            <a:chExt cx="4000500" cy="1047750"/>
          </a:xfrm>
        </p:grpSpPr>
        <p:sp>
          <p:nvSpPr>
            <p:cNvPr name="Freeform 27" id="27"/>
            <p:cNvSpPr/>
            <p:nvPr/>
          </p:nvSpPr>
          <p:spPr>
            <a:xfrm flipH="false" flipV="false" rot="0">
              <a:off x="0" y="0"/>
              <a:ext cx="4000500" cy="1047750"/>
            </a:xfrm>
            <a:custGeom>
              <a:avLst/>
              <a:gdLst/>
              <a:ahLst/>
              <a:cxnLst/>
              <a:rect r="r" b="b" t="t" l="l"/>
              <a:pathLst>
                <a:path h="1047750" w="4000500">
                  <a:moveTo>
                    <a:pt x="0" y="0"/>
                  </a:moveTo>
                  <a:lnTo>
                    <a:pt x="4000500" y="0"/>
                  </a:lnTo>
                  <a:lnTo>
                    <a:pt x="4000500" y="1047750"/>
                  </a:lnTo>
                  <a:lnTo>
                    <a:pt x="0" y="1047750"/>
                  </a:lnTo>
                  <a:close/>
                </a:path>
              </a:pathLst>
            </a:custGeom>
            <a:blipFill>
              <a:blip r:embed="rId3">
                <a:alphaModFix amt="0"/>
              </a:blip>
              <a:stretch>
                <a:fillRect l="0" t="-24397" r="0" b="-24397"/>
              </a:stretch>
            </a:blipFill>
          </p:spPr>
        </p:sp>
        <p:sp>
          <p:nvSpPr>
            <p:cNvPr name="TextBox 28" id="28"/>
            <p:cNvSpPr txBox="true"/>
            <p:nvPr/>
          </p:nvSpPr>
          <p:spPr>
            <a:xfrm>
              <a:off x="0" y="-19050"/>
              <a:ext cx="4000500" cy="1066800"/>
            </a:xfrm>
            <a:prstGeom prst="rect">
              <a:avLst/>
            </a:prstGeom>
          </p:spPr>
          <p:txBody>
            <a:bodyPr anchor="ctr" rtlCol="false" tIns="0" lIns="0" bIns="0" rIns="0"/>
            <a:lstStyle/>
            <a:p>
              <a:pPr algn="l">
                <a:lnSpc>
                  <a:spcPts val="2160"/>
                </a:lnSpc>
              </a:pPr>
              <a:r>
                <a:rPr lang="en-US" sz="1800">
                  <a:solidFill>
                    <a:srgbClr val="0C0E14"/>
                  </a:solidFill>
                  <a:latin typeface="Arial"/>
                  <a:ea typeface="Arial"/>
                  <a:cs typeface="Arial"/>
                  <a:sym typeface="Arial"/>
                </a:rPr>
                <a:t>distritos de Lima representados</a:t>
              </a:r>
            </a:p>
          </p:txBody>
        </p:sp>
      </p:grpSp>
      <p:grpSp>
        <p:nvGrpSpPr>
          <p:cNvPr name="Group 29" id="29"/>
          <p:cNvGrpSpPr/>
          <p:nvPr/>
        </p:nvGrpSpPr>
        <p:grpSpPr>
          <a:xfrm rot="0">
            <a:off x="9358312" y="3143250"/>
            <a:ext cx="3571875" cy="885825"/>
            <a:chOff x="0" y="0"/>
            <a:chExt cx="4762500" cy="1181100"/>
          </a:xfrm>
        </p:grpSpPr>
        <p:sp>
          <p:nvSpPr>
            <p:cNvPr name="Freeform 30" id="30"/>
            <p:cNvSpPr/>
            <p:nvPr/>
          </p:nvSpPr>
          <p:spPr>
            <a:xfrm flipH="false" flipV="false" rot="0">
              <a:off x="0" y="0"/>
              <a:ext cx="4762500" cy="1181100"/>
            </a:xfrm>
            <a:custGeom>
              <a:avLst/>
              <a:gdLst/>
              <a:ahLst/>
              <a:cxnLst/>
              <a:rect r="r" b="b" t="t" l="l"/>
              <a:pathLst>
                <a:path h="1181100" w="4762500">
                  <a:moveTo>
                    <a:pt x="0" y="0"/>
                  </a:moveTo>
                  <a:lnTo>
                    <a:pt x="4762500" y="0"/>
                  </a:lnTo>
                  <a:lnTo>
                    <a:pt x="4762500" y="1181100"/>
                  </a:lnTo>
                  <a:lnTo>
                    <a:pt x="0" y="1181100"/>
                  </a:lnTo>
                  <a:close/>
                </a:path>
              </a:pathLst>
            </a:custGeom>
            <a:blipFill>
              <a:blip r:embed="rId3">
                <a:alphaModFix amt="0"/>
              </a:blip>
              <a:stretch>
                <a:fillRect l="0" t="-28568" r="0" b="-28568"/>
              </a:stretch>
            </a:blipFill>
          </p:spPr>
        </p:sp>
        <p:sp>
          <p:nvSpPr>
            <p:cNvPr name="TextBox 31" id="31"/>
            <p:cNvSpPr txBox="true"/>
            <p:nvPr/>
          </p:nvSpPr>
          <p:spPr>
            <a:xfrm>
              <a:off x="0" y="-19050"/>
              <a:ext cx="4762500" cy="1200150"/>
            </a:xfrm>
            <a:prstGeom prst="rect">
              <a:avLst/>
            </a:prstGeom>
          </p:spPr>
          <p:txBody>
            <a:bodyPr anchor="ctr" rtlCol="false" tIns="0" lIns="0" bIns="0" rIns="0"/>
            <a:lstStyle/>
            <a:p>
              <a:pPr algn="l">
                <a:lnSpc>
                  <a:spcPts val="5670"/>
                </a:lnSpc>
              </a:pPr>
              <a:r>
                <a:rPr lang="en-US" b="true" sz="4725">
                  <a:solidFill>
                    <a:srgbClr val="2B3F9E"/>
                  </a:solidFill>
                  <a:latin typeface="Arial Bold"/>
                  <a:ea typeface="Arial Bold"/>
                  <a:cs typeface="Arial Bold"/>
                  <a:sym typeface="Arial Bold"/>
                </a:rPr>
                <a:t>91</a:t>
              </a:r>
            </a:p>
          </p:txBody>
        </p:sp>
      </p:grpSp>
      <p:grpSp>
        <p:nvGrpSpPr>
          <p:cNvPr name="Group 32" id="32"/>
          <p:cNvGrpSpPr/>
          <p:nvPr/>
        </p:nvGrpSpPr>
        <p:grpSpPr>
          <a:xfrm rot="0">
            <a:off x="9358312" y="4029075"/>
            <a:ext cx="3571875" cy="785812"/>
            <a:chOff x="0" y="0"/>
            <a:chExt cx="4762500" cy="1047750"/>
          </a:xfrm>
        </p:grpSpPr>
        <p:sp>
          <p:nvSpPr>
            <p:cNvPr name="Freeform 33" id="33"/>
            <p:cNvSpPr/>
            <p:nvPr/>
          </p:nvSpPr>
          <p:spPr>
            <a:xfrm flipH="false" flipV="false" rot="0">
              <a:off x="0" y="0"/>
              <a:ext cx="4762500" cy="1047750"/>
            </a:xfrm>
            <a:custGeom>
              <a:avLst/>
              <a:gdLst/>
              <a:ahLst/>
              <a:cxnLst/>
              <a:rect r="r" b="b" t="t" l="l"/>
              <a:pathLst>
                <a:path h="1047750" w="4762500">
                  <a:moveTo>
                    <a:pt x="0" y="0"/>
                  </a:moveTo>
                  <a:lnTo>
                    <a:pt x="4762500" y="0"/>
                  </a:lnTo>
                  <a:lnTo>
                    <a:pt x="4762500" y="1047750"/>
                  </a:lnTo>
                  <a:lnTo>
                    <a:pt x="0" y="1047750"/>
                  </a:lnTo>
                  <a:close/>
                </a:path>
              </a:pathLst>
            </a:custGeom>
            <a:blipFill>
              <a:blip r:embed="rId3">
                <a:alphaModFix amt="0"/>
              </a:blip>
              <a:stretch>
                <a:fillRect l="0" t="-38568" r="0" b="-38568"/>
              </a:stretch>
            </a:blipFill>
          </p:spPr>
        </p:sp>
        <p:sp>
          <p:nvSpPr>
            <p:cNvPr name="TextBox 34" id="34"/>
            <p:cNvSpPr txBox="true"/>
            <p:nvPr/>
          </p:nvSpPr>
          <p:spPr>
            <a:xfrm>
              <a:off x="0" y="-19050"/>
              <a:ext cx="4762500" cy="1066800"/>
            </a:xfrm>
            <a:prstGeom prst="rect">
              <a:avLst/>
            </a:prstGeom>
          </p:spPr>
          <p:txBody>
            <a:bodyPr anchor="ctr" rtlCol="false" tIns="0" lIns="0" bIns="0" rIns="0"/>
            <a:lstStyle/>
            <a:p>
              <a:pPr algn="l">
                <a:lnSpc>
                  <a:spcPts val="2160"/>
                </a:lnSpc>
              </a:pPr>
              <a:r>
                <a:rPr lang="en-US" sz="1800">
                  <a:solidFill>
                    <a:srgbClr val="0C0E14"/>
                  </a:solidFill>
                  <a:latin typeface="Arial"/>
                  <a:ea typeface="Arial"/>
                  <a:cs typeface="Arial"/>
                  <a:sym typeface="Arial"/>
                </a:rPr>
                <a:t>avisos históricos excluidos del conjunto de análisis</a:t>
              </a:r>
            </a:p>
          </p:txBody>
        </p:sp>
      </p:grpSp>
      <p:grpSp>
        <p:nvGrpSpPr>
          <p:cNvPr name="Group 35" id="35"/>
          <p:cNvGrpSpPr/>
          <p:nvPr/>
        </p:nvGrpSpPr>
        <p:grpSpPr>
          <a:xfrm rot="0">
            <a:off x="13716000" y="3143250"/>
            <a:ext cx="3571875" cy="885825"/>
            <a:chOff x="0" y="0"/>
            <a:chExt cx="4762500" cy="1181100"/>
          </a:xfrm>
        </p:grpSpPr>
        <p:sp>
          <p:nvSpPr>
            <p:cNvPr name="Freeform 36" id="36"/>
            <p:cNvSpPr/>
            <p:nvPr/>
          </p:nvSpPr>
          <p:spPr>
            <a:xfrm flipH="false" flipV="false" rot="0">
              <a:off x="0" y="0"/>
              <a:ext cx="4762500" cy="1181100"/>
            </a:xfrm>
            <a:custGeom>
              <a:avLst/>
              <a:gdLst/>
              <a:ahLst/>
              <a:cxnLst/>
              <a:rect r="r" b="b" t="t" l="l"/>
              <a:pathLst>
                <a:path h="1181100" w="4762500">
                  <a:moveTo>
                    <a:pt x="0" y="0"/>
                  </a:moveTo>
                  <a:lnTo>
                    <a:pt x="4762500" y="0"/>
                  </a:lnTo>
                  <a:lnTo>
                    <a:pt x="4762500" y="1181100"/>
                  </a:lnTo>
                  <a:lnTo>
                    <a:pt x="0" y="1181100"/>
                  </a:lnTo>
                  <a:close/>
                </a:path>
              </a:pathLst>
            </a:custGeom>
            <a:blipFill>
              <a:blip r:embed="rId3">
                <a:alphaModFix amt="0"/>
              </a:blip>
              <a:stretch>
                <a:fillRect l="0" t="-28568" r="0" b="-28568"/>
              </a:stretch>
            </a:blipFill>
          </p:spPr>
        </p:sp>
        <p:sp>
          <p:nvSpPr>
            <p:cNvPr name="TextBox 37" id="37"/>
            <p:cNvSpPr txBox="true"/>
            <p:nvPr/>
          </p:nvSpPr>
          <p:spPr>
            <a:xfrm>
              <a:off x="0" y="-19050"/>
              <a:ext cx="4762500" cy="1200150"/>
            </a:xfrm>
            <a:prstGeom prst="rect">
              <a:avLst/>
            </a:prstGeom>
          </p:spPr>
          <p:txBody>
            <a:bodyPr anchor="ctr" rtlCol="false" tIns="0" lIns="0" bIns="0" rIns="0"/>
            <a:lstStyle/>
            <a:p>
              <a:pPr algn="l">
                <a:lnSpc>
                  <a:spcPts val="5670"/>
                </a:lnSpc>
              </a:pPr>
              <a:r>
                <a:rPr lang="en-US" b="true" sz="4725">
                  <a:solidFill>
                    <a:srgbClr val="0C0E14"/>
                  </a:solidFill>
                  <a:latin typeface="Arial Bold"/>
                  <a:ea typeface="Arial Bold"/>
                  <a:cs typeface="Arial Bold"/>
                  <a:sym typeface="Arial Bold"/>
                </a:rPr>
                <a:t>133</a:t>
              </a:r>
            </a:p>
          </p:txBody>
        </p:sp>
      </p:grpSp>
      <p:grpSp>
        <p:nvGrpSpPr>
          <p:cNvPr name="Group 38" id="38"/>
          <p:cNvGrpSpPr/>
          <p:nvPr/>
        </p:nvGrpSpPr>
        <p:grpSpPr>
          <a:xfrm rot="0">
            <a:off x="13716000" y="4029075"/>
            <a:ext cx="3571875" cy="785812"/>
            <a:chOff x="0" y="0"/>
            <a:chExt cx="4762500" cy="1047750"/>
          </a:xfrm>
        </p:grpSpPr>
        <p:sp>
          <p:nvSpPr>
            <p:cNvPr name="Freeform 39" id="39"/>
            <p:cNvSpPr/>
            <p:nvPr/>
          </p:nvSpPr>
          <p:spPr>
            <a:xfrm flipH="false" flipV="false" rot="0">
              <a:off x="0" y="0"/>
              <a:ext cx="4762500" cy="1047750"/>
            </a:xfrm>
            <a:custGeom>
              <a:avLst/>
              <a:gdLst/>
              <a:ahLst/>
              <a:cxnLst/>
              <a:rect r="r" b="b" t="t" l="l"/>
              <a:pathLst>
                <a:path h="1047750" w="4762500">
                  <a:moveTo>
                    <a:pt x="0" y="0"/>
                  </a:moveTo>
                  <a:lnTo>
                    <a:pt x="4762500" y="0"/>
                  </a:lnTo>
                  <a:lnTo>
                    <a:pt x="4762500" y="1047750"/>
                  </a:lnTo>
                  <a:lnTo>
                    <a:pt x="0" y="1047750"/>
                  </a:lnTo>
                  <a:close/>
                </a:path>
              </a:pathLst>
            </a:custGeom>
            <a:blipFill>
              <a:blip r:embed="rId3">
                <a:alphaModFix amt="0"/>
              </a:blip>
              <a:stretch>
                <a:fillRect l="0" t="-38568" r="0" b="-38568"/>
              </a:stretch>
            </a:blipFill>
          </p:spPr>
        </p:sp>
        <p:sp>
          <p:nvSpPr>
            <p:cNvPr name="TextBox 40" id="40"/>
            <p:cNvSpPr txBox="true"/>
            <p:nvPr/>
          </p:nvSpPr>
          <p:spPr>
            <a:xfrm>
              <a:off x="0" y="-19050"/>
              <a:ext cx="4762500" cy="1066800"/>
            </a:xfrm>
            <a:prstGeom prst="rect">
              <a:avLst/>
            </a:prstGeom>
          </p:spPr>
          <p:txBody>
            <a:bodyPr anchor="ctr" rtlCol="false" tIns="0" lIns="0" bIns="0" rIns="0"/>
            <a:lstStyle/>
            <a:p>
              <a:pPr algn="l">
                <a:lnSpc>
                  <a:spcPts val="2160"/>
                </a:lnSpc>
              </a:pPr>
              <a:r>
                <a:rPr lang="en-US" sz="1800">
                  <a:solidFill>
                    <a:srgbClr val="0C0E14"/>
                  </a:solidFill>
                  <a:latin typeface="Arial"/>
                  <a:ea typeface="Arial"/>
                  <a:cs typeface="Arial"/>
                  <a:sym typeface="Arial"/>
                </a:rPr>
                <a:t>ubicaciones de calle o edificio para el mapa</a:t>
              </a:r>
            </a:p>
          </p:txBody>
        </p:sp>
      </p:grpSp>
      <p:sp>
        <p:nvSpPr>
          <p:cNvPr name="AutoShape 41" id="41"/>
          <p:cNvSpPr/>
          <p:nvPr/>
        </p:nvSpPr>
        <p:spPr>
          <a:xfrm rot="2940">
            <a:off x="850106" y="5653088"/>
            <a:ext cx="16587797" cy="0"/>
          </a:xfrm>
          <a:prstGeom prst="line">
            <a:avLst/>
          </a:prstGeom>
          <a:ln cap="rnd" w="9525">
            <a:solidFill>
              <a:srgbClr val="2B3F9E"/>
            </a:solidFill>
            <a:prstDash val="solid"/>
            <a:headEnd type="none" len="sm" w="sm"/>
            <a:tailEnd type="none" len="sm" w="sm"/>
          </a:ln>
        </p:spPr>
      </p:sp>
      <p:grpSp>
        <p:nvGrpSpPr>
          <p:cNvPr name="Group 42" id="42"/>
          <p:cNvGrpSpPr/>
          <p:nvPr/>
        </p:nvGrpSpPr>
        <p:grpSpPr>
          <a:xfrm rot="0">
            <a:off x="885825" y="6215062"/>
            <a:ext cx="128588" cy="128588"/>
            <a:chOff x="0" y="0"/>
            <a:chExt cx="171450" cy="171450"/>
          </a:xfrm>
        </p:grpSpPr>
        <p:sp>
          <p:nvSpPr>
            <p:cNvPr name="Freeform 43" id="43"/>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44" id="44"/>
          <p:cNvGrpSpPr/>
          <p:nvPr/>
        </p:nvGrpSpPr>
        <p:grpSpPr>
          <a:xfrm rot="0">
            <a:off x="1200150" y="6143625"/>
            <a:ext cx="6972300" cy="400050"/>
            <a:chOff x="0" y="0"/>
            <a:chExt cx="9296400" cy="533400"/>
          </a:xfrm>
        </p:grpSpPr>
        <p:sp>
          <p:nvSpPr>
            <p:cNvPr name="Freeform 45" id="45"/>
            <p:cNvSpPr/>
            <p:nvPr/>
          </p:nvSpPr>
          <p:spPr>
            <a:xfrm flipH="false" flipV="false" rot="0">
              <a:off x="0" y="0"/>
              <a:ext cx="9296400" cy="533400"/>
            </a:xfrm>
            <a:custGeom>
              <a:avLst/>
              <a:gdLst/>
              <a:ahLst/>
              <a:cxnLst/>
              <a:rect r="r" b="b" t="t" l="l"/>
              <a:pathLst>
                <a:path h="533400" w="9296400">
                  <a:moveTo>
                    <a:pt x="0" y="0"/>
                  </a:moveTo>
                  <a:lnTo>
                    <a:pt x="9296400" y="0"/>
                  </a:lnTo>
                  <a:lnTo>
                    <a:pt x="9296400" y="533400"/>
                  </a:lnTo>
                  <a:lnTo>
                    <a:pt x="0" y="533400"/>
                  </a:lnTo>
                  <a:close/>
                </a:path>
              </a:pathLst>
            </a:custGeom>
            <a:blipFill>
              <a:blip r:embed="rId3">
                <a:alphaModFix amt="0"/>
              </a:blip>
              <a:stretch>
                <a:fillRect l="0" t="-289596" r="0" b="-289596"/>
              </a:stretch>
            </a:blipFill>
          </p:spPr>
        </p:sp>
        <p:sp>
          <p:nvSpPr>
            <p:cNvPr name="TextBox 46" id="46"/>
            <p:cNvSpPr txBox="true"/>
            <p:nvPr/>
          </p:nvSpPr>
          <p:spPr>
            <a:xfrm>
              <a:off x="0" y="-9525"/>
              <a:ext cx="929640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Uso</a:t>
              </a:r>
            </a:p>
          </p:txBody>
        </p:sp>
      </p:grpSp>
      <p:sp>
        <p:nvSpPr>
          <p:cNvPr name="TextBox 47" id="47"/>
          <p:cNvSpPr txBox="true"/>
          <p:nvPr/>
        </p:nvSpPr>
        <p:spPr>
          <a:xfrm rot="0">
            <a:off x="1291590" y="6613207"/>
            <a:ext cx="6760845"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Entrenar y evaluar valoración; enriquecer cada zona con seguridad y conveniencia.</a:t>
            </a:r>
          </a:p>
        </p:txBody>
      </p:sp>
      <p:grpSp>
        <p:nvGrpSpPr>
          <p:cNvPr name="Group 48" id="48"/>
          <p:cNvGrpSpPr/>
          <p:nvPr/>
        </p:nvGrpSpPr>
        <p:grpSpPr>
          <a:xfrm rot="0">
            <a:off x="9286875" y="6215062"/>
            <a:ext cx="128588" cy="128588"/>
            <a:chOff x="0" y="0"/>
            <a:chExt cx="171450" cy="171450"/>
          </a:xfrm>
        </p:grpSpPr>
        <p:sp>
          <p:nvSpPr>
            <p:cNvPr name="Freeform 49" id="49"/>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50" id="50"/>
          <p:cNvGrpSpPr/>
          <p:nvPr/>
        </p:nvGrpSpPr>
        <p:grpSpPr>
          <a:xfrm rot="0">
            <a:off x="9601200" y="6143625"/>
            <a:ext cx="7400925" cy="400050"/>
            <a:chOff x="0" y="0"/>
            <a:chExt cx="9867900" cy="533400"/>
          </a:xfrm>
        </p:grpSpPr>
        <p:sp>
          <p:nvSpPr>
            <p:cNvPr name="Freeform 51" id="51"/>
            <p:cNvSpPr/>
            <p:nvPr/>
          </p:nvSpPr>
          <p:spPr>
            <a:xfrm flipH="false" flipV="false" rot="0">
              <a:off x="0" y="0"/>
              <a:ext cx="9867900" cy="533400"/>
            </a:xfrm>
            <a:custGeom>
              <a:avLst/>
              <a:gdLst/>
              <a:ahLst/>
              <a:cxnLst/>
              <a:rect r="r" b="b" t="t" l="l"/>
              <a:pathLst>
                <a:path h="533400" w="9867900">
                  <a:moveTo>
                    <a:pt x="0" y="0"/>
                  </a:moveTo>
                  <a:lnTo>
                    <a:pt x="9867900" y="0"/>
                  </a:lnTo>
                  <a:lnTo>
                    <a:pt x="9867900" y="533400"/>
                  </a:lnTo>
                  <a:lnTo>
                    <a:pt x="0" y="533400"/>
                  </a:lnTo>
                  <a:close/>
                </a:path>
              </a:pathLst>
            </a:custGeom>
            <a:blipFill>
              <a:blip r:embed="rId3">
                <a:alphaModFix amt="0"/>
              </a:blip>
              <a:stretch>
                <a:fillRect l="0" t="-310473" r="0" b="-310473"/>
              </a:stretch>
            </a:blipFill>
          </p:spPr>
        </p:sp>
        <p:sp>
          <p:nvSpPr>
            <p:cNvPr name="TextBox 52" id="52"/>
            <p:cNvSpPr txBox="true"/>
            <p:nvPr/>
          </p:nvSpPr>
          <p:spPr>
            <a:xfrm>
              <a:off x="0" y="-9525"/>
              <a:ext cx="986790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Alcance</a:t>
              </a:r>
            </a:p>
          </p:txBody>
        </p:sp>
      </p:grpSp>
      <p:sp>
        <p:nvSpPr>
          <p:cNvPr name="TextBox 53" id="53"/>
          <p:cNvSpPr txBox="true"/>
          <p:nvPr/>
        </p:nvSpPr>
        <p:spPr>
          <a:xfrm rot="0">
            <a:off x="9692640" y="6613207"/>
            <a:ext cx="7189470"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El inventario es histórico. La disponibilidad actual de cada aviso no está verificada.</a:t>
            </a:r>
          </a:p>
        </p:txBody>
      </p:sp>
      <p:sp>
        <p:nvSpPr>
          <p:cNvPr name="TextBox 54" id="54"/>
          <p:cNvSpPr txBox="true"/>
          <p:nvPr/>
        </p:nvSpPr>
        <p:spPr>
          <a:xfrm rot="0">
            <a:off x="9378315" y="7856220"/>
            <a:ext cx="7460932" cy="570548"/>
          </a:xfrm>
          <a:prstGeom prst="rect">
            <a:avLst/>
          </a:prstGeom>
        </p:spPr>
        <p:txBody>
          <a:bodyPr anchor="t" rtlCol="false" tIns="0" lIns="0" bIns="0" rIns="0">
            <a:spAutoFit/>
          </a:bodyPr>
          <a:lstStyle/>
          <a:p>
            <a:pPr algn="l">
              <a:lnSpc>
                <a:spcPts val="2025"/>
              </a:lnSpc>
            </a:pPr>
            <a:r>
              <a:rPr lang="en-US" sz="1687" i="true">
                <a:solidFill>
                  <a:srgbClr val="0C0E14"/>
                </a:solidFill>
                <a:latin typeface="Arial Italics"/>
                <a:ea typeface="Arial Italics"/>
                <a:cs typeface="Arial Italics"/>
                <a:sym typeface="Arial Italics"/>
              </a:rPr>
              <a:t>El mapa muestra las coordenadas disponibles; su precisión es de calle o edificio.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RECORRIDO DEL PRODUCTO</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0C0E14"/>
                  </a:solidFill>
                  <a:latin typeface="Arial Bold"/>
                  <a:ea typeface="Arial Bold"/>
                  <a:cs typeface="Arial Bold"/>
                  <a:sym typeface="Arial Bold"/>
                </a:rPr>
                <a:t>La experiencia acompaña seis decisiones del comprador</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El usuario entra por la landing, completa su perfil y evalúa resultados antes de guardar o comparar.</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04</a:t>
              </a:r>
            </a:p>
          </p:txBody>
        </p:sp>
      </p:grpSp>
      <p:sp>
        <p:nvSpPr>
          <p:cNvPr name="AutoShape 17" id="17"/>
          <p:cNvSpPr/>
          <p:nvPr/>
        </p:nvSpPr>
        <p:spPr>
          <a:xfrm flipV="true">
            <a:off x="3072211" y="4685141"/>
            <a:ext cx="10758924" cy="69146"/>
          </a:xfrm>
          <a:prstGeom prst="line">
            <a:avLst/>
          </a:prstGeom>
          <a:ln cap="rnd" w="38100">
            <a:solidFill>
              <a:srgbClr val="0C0E14"/>
            </a:solidFill>
            <a:prstDash val="solid"/>
            <a:headEnd type="none" len="sm" w="sm"/>
            <a:tailEnd type="none" len="sm" w="sm"/>
          </a:ln>
        </p:spPr>
      </p:sp>
      <p:grpSp>
        <p:nvGrpSpPr>
          <p:cNvPr name="Group 18" id="18"/>
          <p:cNvGrpSpPr/>
          <p:nvPr/>
        </p:nvGrpSpPr>
        <p:grpSpPr>
          <a:xfrm rot="0">
            <a:off x="1572381" y="3621668"/>
            <a:ext cx="2356864" cy="2356864"/>
            <a:chOff x="0" y="0"/>
            <a:chExt cx="1466850" cy="1466850"/>
          </a:xfrm>
        </p:grpSpPr>
        <p:sp>
          <p:nvSpPr>
            <p:cNvPr name="Freeform 19" id="19"/>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20" id="20"/>
          <p:cNvGrpSpPr/>
          <p:nvPr/>
        </p:nvGrpSpPr>
        <p:grpSpPr>
          <a:xfrm rot="0">
            <a:off x="1587685" y="4218536"/>
            <a:ext cx="2326255" cy="918259"/>
            <a:chOff x="0" y="0"/>
            <a:chExt cx="1447800" cy="571500"/>
          </a:xfrm>
        </p:grpSpPr>
        <p:sp>
          <p:nvSpPr>
            <p:cNvPr name="Freeform 21" id="21"/>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3">
                <a:alphaModFix amt="0"/>
              </a:blip>
              <a:stretch>
                <a:fillRect l="-646" t="0" r="-646" b="0"/>
              </a:stretch>
            </a:blipFill>
          </p:spPr>
        </p:sp>
        <p:sp>
          <p:nvSpPr>
            <p:cNvPr name="TextBox 22" id="22"/>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01</a:t>
              </a:r>
            </a:p>
          </p:txBody>
        </p:sp>
      </p:grpSp>
      <p:grpSp>
        <p:nvGrpSpPr>
          <p:cNvPr name="Group 23" id="23"/>
          <p:cNvGrpSpPr/>
          <p:nvPr/>
        </p:nvGrpSpPr>
        <p:grpSpPr>
          <a:xfrm rot="0">
            <a:off x="485775" y="6636618"/>
            <a:ext cx="4530076" cy="826433"/>
            <a:chOff x="0" y="0"/>
            <a:chExt cx="2819400" cy="514350"/>
          </a:xfrm>
        </p:grpSpPr>
        <p:sp>
          <p:nvSpPr>
            <p:cNvPr name="Freeform 24" id="24"/>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3">
                <a:alphaModFix amt="0"/>
              </a:blip>
              <a:stretch>
                <a:fillRect l="0" t="-56806" r="0" b="-56806"/>
              </a:stretch>
            </a:blipFill>
          </p:spPr>
        </p:sp>
        <p:sp>
          <p:nvSpPr>
            <p:cNvPr name="TextBox 25" id="25"/>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Landing</a:t>
              </a:r>
            </a:p>
          </p:txBody>
        </p:sp>
      </p:grpSp>
      <p:grpSp>
        <p:nvGrpSpPr>
          <p:cNvPr name="Group 26" id="26"/>
          <p:cNvGrpSpPr/>
          <p:nvPr/>
        </p:nvGrpSpPr>
        <p:grpSpPr>
          <a:xfrm rot="0">
            <a:off x="7694106" y="3621668"/>
            <a:ext cx="2356864" cy="2356864"/>
            <a:chOff x="0" y="0"/>
            <a:chExt cx="1466850" cy="1466850"/>
          </a:xfrm>
        </p:grpSpPr>
        <p:sp>
          <p:nvSpPr>
            <p:cNvPr name="Freeform 27" id="27"/>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28" id="28"/>
          <p:cNvGrpSpPr/>
          <p:nvPr/>
        </p:nvGrpSpPr>
        <p:grpSpPr>
          <a:xfrm rot="0">
            <a:off x="7709410" y="4218536"/>
            <a:ext cx="2326255" cy="918259"/>
            <a:chOff x="0" y="0"/>
            <a:chExt cx="1447800" cy="571500"/>
          </a:xfrm>
        </p:grpSpPr>
        <p:sp>
          <p:nvSpPr>
            <p:cNvPr name="Freeform 29" id="29"/>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3">
                <a:alphaModFix amt="0"/>
              </a:blip>
              <a:stretch>
                <a:fillRect l="-646" t="0" r="-646" b="0"/>
              </a:stretch>
            </a:blipFill>
          </p:spPr>
        </p:sp>
        <p:sp>
          <p:nvSpPr>
            <p:cNvPr name="TextBox 30" id="30"/>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02</a:t>
              </a:r>
            </a:p>
          </p:txBody>
        </p:sp>
      </p:grpSp>
      <p:grpSp>
        <p:nvGrpSpPr>
          <p:cNvPr name="Group 31" id="31"/>
          <p:cNvGrpSpPr/>
          <p:nvPr/>
        </p:nvGrpSpPr>
        <p:grpSpPr>
          <a:xfrm rot="0">
            <a:off x="6607499" y="6636618"/>
            <a:ext cx="4530076" cy="826433"/>
            <a:chOff x="0" y="0"/>
            <a:chExt cx="2819400" cy="514350"/>
          </a:xfrm>
        </p:grpSpPr>
        <p:sp>
          <p:nvSpPr>
            <p:cNvPr name="Freeform 32" id="32"/>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3">
                <a:alphaModFix amt="0"/>
              </a:blip>
              <a:stretch>
                <a:fillRect l="0" t="-56806" r="0" b="-56806"/>
              </a:stretch>
            </a:blipFill>
          </p:spPr>
        </p:sp>
        <p:sp>
          <p:nvSpPr>
            <p:cNvPr name="TextBox 33" id="33"/>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Acceso</a:t>
              </a:r>
            </a:p>
          </p:txBody>
        </p:sp>
      </p:grpSp>
      <p:grpSp>
        <p:nvGrpSpPr>
          <p:cNvPr name="Group 34" id="34"/>
          <p:cNvGrpSpPr/>
          <p:nvPr/>
        </p:nvGrpSpPr>
        <p:grpSpPr>
          <a:xfrm rot="0">
            <a:off x="13815830" y="3621668"/>
            <a:ext cx="2356864" cy="2356864"/>
            <a:chOff x="0" y="0"/>
            <a:chExt cx="1466850" cy="1466850"/>
          </a:xfrm>
        </p:grpSpPr>
        <p:sp>
          <p:nvSpPr>
            <p:cNvPr name="Freeform 35" id="35"/>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36" id="36"/>
          <p:cNvGrpSpPr/>
          <p:nvPr/>
        </p:nvGrpSpPr>
        <p:grpSpPr>
          <a:xfrm rot="0">
            <a:off x="13831134" y="4218536"/>
            <a:ext cx="2326255" cy="918259"/>
            <a:chOff x="0" y="0"/>
            <a:chExt cx="1447800" cy="571500"/>
          </a:xfrm>
        </p:grpSpPr>
        <p:sp>
          <p:nvSpPr>
            <p:cNvPr name="Freeform 37" id="37"/>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3">
                <a:alphaModFix amt="0"/>
              </a:blip>
              <a:stretch>
                <a:fillRect l="-646" t="0" r="-646" b="0"/>
              </a:stretch>
            </a:blipFill>
          </p:spPr>
        </p:sp>
        <p:sp>
          <p:nvSpPr>
            <p:cNvPr name="TextBox 38" id="38"/>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03</a:t>
              </a:r>
            </a:p>
          </p:txBody>
        </p:sp>
      </p:grpSp>
      <p:grpSp>
        <p:nvGrpSpPr>
          <p:cNvPr name="Group 39" id="39"/>
          <p:cNvGrpSpPr/>
          <p:nvPr/>
        </p:nvGrpSpPr>
        <p:grpSpPr>
          <a:xfrm rot="0">
            <a:off x="12729224" y="6636618"/>
            <a:ext cx="4530076" cy="826433"/>
            <a:chOff x="0" y="0"/>
            <a:chExt cx="2819400" cy="514350"/>
          </a:xfrm>
        </p:grpSpPr>
        <p:sp>
          <p:nvSpPr>
            <p:cNvPr name="Freeform 40" id="40"/>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3">
                <a:alphaModFix amt="0"/>
              </a:blip>
              <a:stretch>
                <a:fillRect l="0" t="-56806" r="0" b="-56806"/>
              </a:stretch>
            </a:blipFill>
          </p:spPr>
        </p:sp>
        <p:sp>
          <p:nvSpPr>
            <p:cNvPr name="TextBox 41" id="41"/>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Perfil</a:t>
              </a:r>
            </a:p>
          </p:txBody>
        </p:sp>
      </p:grpSp>
      <p:grpSp>
        <p:nvGrpSpPr>
          <p:cNvPr name="Group 42" id="42"/>
          <p:cNvGrpSpPr/>
          <p:nvPr/>
        </p:nvGrpSpPr>
        <p:grpSpPr>
          <a:xfrm rot="0">
            <a:off x="950721" y="8373879"/>
            <a:ext cx="16386557" cy="674871"/>
            <a:chOff x="0" y="0"/>
            <a:chExt cx="21848743" cy="899829"/>
          </a:xfrm>
        </p:grpSpPr>
        <p:grpSp>
          <p:nvGrpSpPr>
            <p:cNvPr name="Group 43" id="43"/>
            <p:cNvGrpSpPr/>
            <p:nvPr/>
          </p:nvGrpSpPr>
          <p:grpSpPr>
            <a:xfrm rot="0">
              <a:off x="0" y="0"/>
              <a:ext cx="21848743" cy="899829"/>
              <a:chOff x="0" y="0"/>
              <a:chExt cx="21869400" cy="900679"/>
            </a:xfrm>
          </p:grpSpPr>
          <p:sp>
            <p:nvSpPr>
              <p:cNvPr name="Freeform 44" id="44"/>
              <p:cNvSpPr/>
              <p:nvPr/>
            </p:nvSpPr>
            <p:spPr>
              <a:xfrm flipH="false" flipV="false" rot="0">
                <a:off x="0" y="0"/>
                <a:ext cx="21869400" cy="900679"/>
              </a:xfrm>
              <a:custGeom>
                <a:avLst/>
                <a:gdLst/>
                <a:ahLst/>
                <a:cxnLst/>
                <a:rect r="r" b="b" t="t" l="l"/>
                <a:pathLst>
                  <a:path h="900679" w="21869400">
                    <a:moveTo>
                      <a:pt x="0" y="69283"/>
                    </a:moveTo>
                    <a:cubicBezTo>
                      <a:pt x="0" y="31004"/>
                      <a:pt x="68199" y="0"/>
                      <a:pt x="152400" y="0"/>
                    </a:cubicBezTo>
                    <a:lnTo>
                      <a:pt x="21717000" y="0"/>
                    </a:lnTo>
                    <a:cubicBezTo>
                      <a:pt x="21801201" y="0"/>
                      <a:pt x="21869400" y="31004"/>
                      <a:pt x="21869400" y="69283"/>
                    </a:cubicBezTo>
                    <a:lnTo>
                      <a:pt x="21869400" y="831396"/>
                    </a:lnTo>
                    <a:cubicBezTo>
                      <a:pt x="21869400" y="869675"/>
                      <a:pt x="21801201" y="900679"/>
                      <a:pt x="21717000" y="900679"/>
                    </a:cubicBezTo>
                    <a:lnTo>
                      <a:pt x="152400" y="900679"/>
                    </a:lnTo>
                    <a:cubicBezTo>
                      <a:pt x="68199" y="900679"/>
                      <a:pt x="0" y="869675"/>
                      <a:pt x="0" y="831396"/>
                    </a:cubicBezTo>
                    <a:close/>
                  </a:path>
                </a:pathLst>
              </a:custGeom>
              <a:solidFill>
                <a:srgbClr val="2B3F9E"/>
              </a:solidFill>
            </p:spPr>
          </p:sp>
        </p:grpSp>
        <p:grpSp>
          <p:nvGrpSpPr>
            <p:cNvPr name="Group 45" id="45"/>
            <p:cNvGrpSpPr/>
            <p:nvPr/>
          </p:nvGrpSpPr>
          <p:grpSpPr>
            <a:xfrm rot="0">
              <a:off x="484971" y="0"/>
              <a:ext cx="20669250" cy="895350"/>
              <a:chOff x="0" y="0"/>
              <a:chExt cx="20669250" cy="895350"/>
            </a:xfrm>
          </p:grpSpPr>
          <p:sp>
            <p:nvSpPr>
              <p:cNvPr name="Freeform 46" id="46"/>
              <p:cNvSpPr/>
              <p:nvPr/>
            </p:nvSpPr>
            <p:spPr>
              <a:xfrm flipH="false" flipV="false" rot="0">
                <a:off x="0" y="0"/>
                <a:ext cx="20669250" cy="895350"/>
              </a:xfrm>
              <a:custGeom>
                <a:avLst/>
                <a:gdLst/>
                <a:ahLst/>
                <a:cxnLst/>
                <a:rect r="r" b="b" t="t" l="l"/>
                <a:pathLst>
                  <a:path h="895350" w="20669250">
                    <a:moveTo>
                      <a:pt x="0" y="0"/>
                    </a:moveTo>
                    <a:lnTo>
                      <a:pt x="20669250" y="0"/>
                    </a:lnTo>
                    <a:lnTo>
                      <a:pt x="20669250" y="895350"/>
                    </a:lnTo>
                    <a:lnTo>
                      <a:pt x="0" y="895350"/>
                    </a:lnTo>
                    <a:close/>
                  </a:path>
                </a:pathLst>
              </a:custGeom>
              <a:blipFill>
                <a:blip r:embed="rId3">
                  <a:alphaModFix amt="0"/>
                </a:blip>
                <a:stretch>
                  <a:fillRect l="0" t="-399814" r="0" b="-399814"/>
                </a:stretch>
              </a:blipFill>
            </p:spPr>
          </p:sp>
          <p:sp>
            <p:nvSpPr>
              <p:cNvPr name="TextBox 47" id="47"/>
              <p:cNvSpPr txBox="true"/>
              <p:nvPr/>
            </p:nvSpPr>
            <p:spPr>
              <a:xfrm>
                <a:off x="0" y="-19050"/>
                <a:ext cx="20669250" cy="914400"/>
              </a:xfrm>
              <a:prstGeom prst="rect">
                <a:avLst/>
              </a:prstGeom>
            </p:spPr>
            <p:txBody>
              <a:bodyPr anchor="ctr" rtlCol="false" tIns="0" lIns="0" bIns="0" rIns="0"/>
              <a:lstStyle/>
              <a:p>
                <a:pPr algn="ctr">
                  <a:lnSpc>
                    <a:spcPts val="2700"/>
                  </a:lnSpc>
                </a:pPr>
                <a:r>
                  <a:rPr lang="en-US" b="true" sz="2250">
                    <a:solidFill>
                      <a:srgbClr val="FEFEFF"/>
                    </a:solidFill>
                    <a:latin typeface="Arial Bold"/>
                    <a:ea typeface="Arial Bold"/>
                    <a:cs typeface="Arial Bold"/>
                    <a:sym typeface="Arial Bold"/>
                  </a:rPr>
                  <a:t>En cualquier punto, el usuario puede volver a sus favoritos y revisar hasta tres opciones a la vez.</a:t>
                </a:r>
              </a:p>
            </p:txBody>
          </p:sp>
        </p:grpSp>
      </p:grpSp>
      <p:grpSp>
        <p:nvGrpSpPr>
          <p:cNvPr name="Group 48" id="48"/>
          <p:cNvGrpSpPr/>
          <p:nvPr/>
        </p:nvGrpSpPr>
        <p:grpSpPr>
          <a:xfrm rot="0">
            <a:off x="1020954" y="9213056"/>
            <a:ext cx="16002000" cy="400050"/>
            <a:chOff x="0" y="0"/>
            <a:chExt cx="21336000" cy="533400"/>
          </a:xfrm>
        </p:grpSpPr>
        <p:sp>
          <p:nvSpPr>
            <p:cNvPr name="Freeform 49" id="49"/>
            <p:cNvSpPr/>
            <p:nvPr/>
          </p:nvSpPr>
          <p:spPr>
            <a:xfrm flipH="false" flipV="false" rot="0">
              <a:off x="0" y="0"/>
              <a:ext cx="21336000" cy="533400"/>
            </a:xfrm>
            <a:custGeom>
              <a:avLst/>
              <a:gdLst/>
              <a:ahLst/>
              <a:cxnLst/>
              <a:rect r="r" b="b" t="t" l="l"/>
              <a:pathLst>
                <a:path h="533400" w="21336000">
                  <a:moveTo>
                    <a:pt x="0" y="0"/>
                  </a:moveTo>
                  <a:lnTo>
                    <a:pt x="21336000" y="0"/>
                  </a:lnTo>
                  <a:lnTo>
                    <a:pt x="21336000" y="533400"/>
                  </a:lnTo>
                  <a:lnTo>
                    <a:pt x="0" y="533400"/>
                  </a:lnTo>
                  <a:close/>
                </a:path>
              </a:pathLst>
            </a:custGeom>
            <a:blipFill>
              <a:blip r:embed="rId3">
                <a:alphaModFix amt="0"/>
              </a:blip>
              <a:stretch>
                <a:fillRect l="0" t="-729401" r="0" b="-729401"/>
              </a:stretch>
            </a:blipFill>
          </p:spPr>
        </p:sp>
        <p:sp>
          <p:nvSpPr>
            <p:cNvPr name="TextBox 50" id="50"/>
            <p:cNvSpPr txBox="true"/>
            <p:nvPr/>
          </p:nvSpPr>
          <p:spPr>
            <a:xfrm>
              <a:off x="0" y="-9525"/>
              <a:ext cx="21336000" cy="542925"/>
            </a:xfrm>
            <a:prstGeom prst="rect">
              <a:avLst/>
            </a:prstGeom>
          </p:spPr>
          <p:txBody>
            <a:bodyPr anchor="ctr" rtlCol="false" tIns="0" lIns="0" bIns="0" rIns="0"/>
            <a:lstStyle/>
            <a:p>
              <a:pPr algn="ctr">
                <a:lnSpc>
                  <a:spcPts val="1889"/>
                </a:lnSpc>
              </a:pPr>
              <a:r>
                <a:rPr lang="en-US" sz="1575">
                  <a:solidFill>
                    <a:srgbClr val="0C0E14"/>
                  </a:solidFill>
                  <a:latin typeface="Arial"/>
                  <a:ea typeface="Arial"/>
                  <a:cs typeface="Arial"/>
                  <a:sym typeface="Arial"/>
                </a:rPr>
                <a:t>Cuentas propias con correo y contraseña; las sesiones usan token aleatorio y hash en SQLite.</a:t>
              </a:r>
            </a:p>
          </p:txBody>
        </p:sp>
      </p:grpSp>
      <p:grpSp>
        <p:nvGrpSpPr>
          <p:cNvPr name="Group 51" id="51"/>
          <p:cNvGrpSpPr>
            <a:grpSpLocks noChangeAspect="true"/>
          </p:cNvGrpSpPr>
          <p:nvPr/>
        </p:nvGrpSpPr>
        <p:grpSpPr>
          <a:xfrm rot="0">
            <a:off x="-116742" y="3015693"/>
            <a:ext cx="5858686" cy="3360472"/>
            <a:chOff x="0" y="0"/>
            <a:chExt cx="7981950" cy="4578350"/>
          </a:xfrm>
        </p:grpSpPr>
        <p:sp>
          <p:nvSpPr>
            <p:cNvPr name="Freeform 52" id="52"/>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53" id="53"/>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54" id="54"/>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55" id="55"/>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56" id="56"/>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4"/>
              <a:stretch>
                <a:fillRect l="-2112" t="0" r="-8655" b="0"/>
              </a:stretch>
            </a:blipFill>
          </p:spPr>
        </p:sp>
      </p:grpSp>
      <p:grpSp>
        <p:nvGrpSpPr>
          <p:cNvPr name="Group 57" id="57"/>
          <p:cNvGrpSpPr>
            <a:grpSpLocks noChangeAspect="true"/>
          </p:cNvGrpSpPr>
          <p:nvPr/>
        </p:nvGrpSpPr>
        <p:grpSpPr>
          <a:xfrm rot="0">
            <a:off x="6080752" y="2997430"/>
            <a:ext cx="5858686" cy="3360472"/>
            <a:chOff x="0" y="0"/>
            <a:chExt cx="7981950" cy="4578350"/>
          </a:xfrm>
        </p:grpSpPr>
        <p:sp>
          <p:nvSpPr>
            <p:cNvPr name="Freeform 58" id="58"/>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59" id="59"/>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60" id="60"/>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61" id="61"/>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62" id="62"/>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5"/>
              <a:stretch>
                <a:fillRect l="0" t="0" r="-6074" b="0"/>
              </a:stretch>
            </a:blipFill>
          </p:spPr>
        </p:sp>
      </p:grpSp>
      <p:grpSp>
        <p:nvGrpSpPr>
          <p:cNvPr name="Group 63" id="63"/>
          <p:cNvGrpSpPr>
            <a:grpSpLocks noChangeAspect="true"/>
          </p:cNvGrpSpPr>
          <p:nvPr/>
        </p:nvGrpSpPr>
        <p:grpSpPr>
          <a:xfrm rot="0">
            <a:off x="12278246" y="2838223"/>
            <a:ext cx="5858686" cy="3360472"/>
            <a:chOff x="0" y="0"/>
            <a:chExt cx="7981950" cy="4578350"/>
          </a:xfrm>
        </p:grpSpPr>
        <p:sp>
          <p:nvSpPr>
            <p:cNvPr name="Freeform 64" id="64"/>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65" id="65"/>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66" id="66"/>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67" id="67"/>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68" id="68"/>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6"/>
              <a:stretch>
                <a:fillRect l="0" t="0" r="0" b="-13035"/>
              </a:stretch>
            </a:blipFill>
          </p:spPr>
        </p:sp>
      </p:grpSp>
      <p:sp>
        <p:nvSpPr>
          <p:cNvPr name="Freeform 69" id="69"/>
          <p:cNvSpPr/>
          <p:nvPr/>
        </p:nvSpPr>
        <p:spPr>
          <a:xfrm flipH="false" flipV="false" rot="0">
            <a:off x="1039399" y="6636618"/>
            <a:ext cx="1096573" cy="899190"/>
          </a:xfrm>
          <a:custGeom>
            <a:avLst/>
            <a:gdLst/>
            <a:ahLst/>
            <a:cxnLst/>
            <a:rect r="r" b="b" t="t" l="l"/>
            <a:pathLst>
              <a:path h="899190" w="1096573">
                <a:moveTo>
                  <a:pt x="0" y="0"/>
                </a:moveTo>
                <a:lnTo>
                  <a:pt x="1096573" y="0"/>
                </a:lnTo>
                <a:lnTo>
                  <a:pt x="1096573" y="899189"/>
                </a:lnTo>
                <a:lnTo>
                  <a:pt x="0" y="899189"/>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70" id="70"/>
          <p:cNvSpPr/>
          <p:nvPr/>
        </p:nvSpPr>
        <p:spPr>
          <a:xfrm flipH="false" flipV="false" rot="0">
            <a:off x="7294603" y="6636618"/>
            <a:ext cx="1096573" cy="899190"/>
          </a:xfrm>
          <a:custGeom>
            <a:avLst/>
            <a:gdLst/>
            <a:ahLst/>
            <a:cxnLst/>
            <a:rect r="r" b="b" t="t" l="l"/>
            <a:pathLst>
              <a:path h="899190" w="1096573">
                <a:moveTo>
                  <a:pt x="0" y="0"/>
                </a:moveTo>
                <a:lnTo>
                  <a:pt x="1096572" y="0"/>
                </a:lnTo>
                <a:lnTo>
                  <a:pt x="1096572" y="899189"/>
                </a:lnTo>
                <a:lnTo>
                  <a:pt x="0" y="89918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71" id="71"/>
          <p:cNvSpPr/>
          <p:nvPr/>
        </p:nvSpPr>
        <p:spPr>
          <a:xfrm flipH="false" flipV="false" rot="0">
            <a:off x="13549806" y="6655279"/>
            <a:ext cx="985087" cy="807771"/>
          </a:xfrm>
          <a:custGeom>
            <a:avLst/>
            <a:gdLst/>
            <a:ahLst/>
            <a:cxnLst/>
            <a:rect r="r" b="b" t="t" l="l"/>
            <a:pathLst>
              <a:path h="807771" w="985087">
                <a:moveTo>
                  <a:pt x="0" y="0"/>
                </a:moveTo>
                <a:lnTo>
                  <a:pt x="985087" y="0"/>
                </a:lnTo>
                <a:lnTo>
                  <a:pt x="985087" y="807771"/>
                </a:lnTo>
                <a:lnTo>
                  <a:pt x="0" y="807771"/>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2">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RECORRIDO DEL PRODUCTO</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2">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0C0E14"/>
                  </a:solidFill>
                  <a:latin typeface="Arial Bold"/>
                  <a:ea typeface="Arial Bold"/>
                  <a:cs typeface="Arial Bold"/>
                  <a:sym typeface="Arial Bold"/>
                </a:rPr>
                <a:t>La experiencia acompaña seis decisiones del comprador</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2">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El usuario entra por la landing, completa su perfil y evalúa resultados antes de guardar o comparar.</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2">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2">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04</a:t>
              </a:r>
            </a:p>
          </p:txBody>
        </p:sp>
      </p:grpSp>
      <p:grpSp>
        <p:nvGrpSpPr>
          <p:cNvPr name="Group 17" id="17"/>
          <p:cNvGrpSpPr/>
          <p:nvPr/>
        </p:nvGrpSpPr>
        <p:grpSpPr>
          <a:xfrm rot="0">
            <a:off x="950721" y="8373879"/>
            <a:ext cx="16386557" cy="674871"/>
            <a:chOff x="0" y="0"/>
            <a:chExt cx="21848743" cy="899829"/>
          </a:xfrm>
        </p:grpSpPr>
        <p:grpSp>
          <p:nvGrpSpPr>
            <p:cNvPr name="Group 18" id="18"/>
            <p:cNvGrpSpPr/>
            <p:nvPr/>
          </p:nvGrpSpPr>
          <p:grpSpPr>
            <a:xfrm rot="0">
              <a:off x="0" y="0"/>
              <a:ext cx="21848743" cy="899829"/>
              <a:chOff x="0" y="0"/>
              <a:chExt cx="21869400" cy="900679"/>
            </a:xfrm>
          </p:grpSpPr>
          <p:sp>
            <p:nvSpPr>
              <p:cNvPr name="Freeform 19" id="19"/>
              <p:cNvSpPr/>
              <p:nvPr/>
            </p:nvSpPr>
            <p:spPr>
              <a:xfrm flipH="false" flipV="false" rot="0">
                <a:off x="0" y="0"/>
                <a:ext cx="21869400" cy="900679"/>
              </a:xfrm>
              <a:custGeom>
                <a:avLst/>
                <a:gdLst/>
                <a:ahLst/>
                <a:cxnLst/>
                <a:rect r="r" b="b" t="t" l="l"/>
                <a:pathLst>
                  <a:path h="900679" w="21869400">
                    <a:moveTo>
                      <a:pt x="0" y="69283"/>
                    </a:moveTo>
                    <a:cubicBezTo>
                      <a:pt x="0" y="31004"/>
                      <a:pt x="68199" y="0"/>
                      <a:pt x="152400" y="0"/>
                    </a:cubicBezTo>
                    <a:lnTo>
                      <a:pt x="21717000" y="0"/>
                    </a:lnTo>
                    <a:cubicBezTo>
                      <a:pt x="21801201" y="0"/>
                      <a:pt x="21869400" y="31004"/>
                      <a:pt x="21869400" y="69283"/>
                    </a:cubicBezTo>
                    <a:lnTo>
                      <a:pt x="21869400" y="831396"/>
                    </a:lnTo>
                    <a:cubicBezTo>
                      <a:pt x="21869400" y="869675"/>
                      <a:pt x="21801201" y="900679"/>
                      <a:pt x="21717000" y="900679"/>
                    </a:cubicBezTo>
                    <a:lnTo>
                      <a:pt x="152400" y="900679"/>
                    </a:lnTo>
                    <a:cubicBezTo>
                      <a:pt x="68199" y="900679"/>
                      <a:pt x="0" y="869675"/>
                      <a:pt x="0" y="831396"/>
                    </a:cubicBezTo>
                    <a:close/>
                  </a:path>
                </a:pathLst>
              </a:custGeom>
              <a:solidFill>
                <a:srgbClr val="2B3F9E"/>
              </a:solidFill>
            </p:spPr>
          </p:sp>
        </p:grpSp>
        <p:grpSp>
          <p:nvGrpSpPr>
            <p:cNvPr name="Group 20" id="20"/>
            <p:cNvGrpSpPr/>
            <p:nvPr/>
          </p:nvGrpSpPr>
          <p:grpSpPr>
            <a:xfrm rot="0">
              <a:off x="484971" y="0"/>
              <a:ext cx="20669250" cy="895350"/>
              <a:chOff x="0" y="0"/>
              <a:chExt cx="20669250" cy="895350"/>
            </a:xfrm>
          </p:grpSpPr>
          <p:sp>
            <p:nvSpPr>
              <p:cNvPr name="Freeform 21" id="21"/>
              <p:cNvSpPr/>
              <p:nvPr/>
            </p:nvSpPr>
            <p:spPr>
              <a:xfrm flipH="false" flipV="false" rot="0">
                <a:off x="0" y="0"/>
                <a:ext cx="20669250" cy="895350"/>
              </a:xfrm>
              <a:custGeom>
                <a:avLst/>
                <a:gdLst/>
                <a:ahLst/>
                <a:cxnLst/>
                <a:rect r="r" b="b" t="t" l="l"/>
                <a:pathLst>
                  <a:path h="895350" w="20669250">
                    <a:moveTo>
                      <a:pt x="0" y="0"/>
                    </a:moveTo>
                    <a:lnTo>
                      <a:pt x="20669250" y="0"/>
                    </a:lnTo>
                    <a:lnTo>
                      <a:pt x="20669250" y="895350"/>
                    </a:lnTo>
                    <a:lnTo>
                      <a:pt x="0" y="895350"/>
                    </a:lnTo>
                    <a:close/>
                  </a:path>
                </a:pathLst>
              </a:custGeom>
              <a:blipFill>
                <a:blip r:embed="rId2">
                  <a:alphaModFix amt="0"/>
                </a:blip>
                <a:stretch>
                  <a:fillRect l="0" t="-399814" r="0" b="-399814"/>
                </a:stretch>
              </a:blipFill>
            </p:spPr>
          </p:sp>
          <p:sp>
            <p:nvSpPr>
              <p:cNvPr name="TextBox 22" id="22"/>
              <p:cNvSpPr txBox="true"/>
              <p:nvPr/>
            </p:nvSpPr>
            <p:spPr>
              <a:xfrm>
                <a:off x="0" y="-19050"/>
                <a:ext cx="20669250" cy="914400"/>
              </a:xfrm>
              <a:prstGeom prst="rect">
                <a:avLst/>
              </a:prstGeom>
            </p:spPr>
            <p:txBody>
              <a:bodyPr anchor="ctr" rtlCol="false" tIns="0" lIns="0" bIns="0" rIns="0"/>
              <a:lstStyle/>
              <a:p>
                <a:pPr algn="ctr">
                  <a:lnSpc>
                    <a:spcPts val="2700"/>
                  </a:lnSpc>
                </a:pPr>
                <a:r>
                  <a:rPr lang="en-US" b="true" sz="2250">
                    <a:solidFill>
                      <a:srgbClr val="FEFEFF"/>
                    </a:solidFill>
                    <a:latin typeface="Arial Bold"/>
                    <a:ea typeface="Arial Bold"/>
                    <a:cs typeface="Arial Bold"/>
                    <a:sym typeface="Arial Bold"/>
                  </a:rPr>
                  <a:t>En cualquier punto, el usuario puede volver a sus favoritos y revisar hasta tres opciones a la vez.</a:t>
                </a:r>
              </a:p>
            </p:txBody>
          </p:sp>
        </p:grpSp>
      </p:grpSp>
      <p:grpSp>
        <p:nvGrpSpPr>
          <p:cNvPr name="Group 23" id="23"/>
          <p:cNvGrpSpPr/>
          <p:nvPr/>
        </p:nvGrpSpPr>
        <p:grpSpPr>
          <a:xfrm rot="0">
            <a:off x="1020954" y="9213056"/>
            <a:ext cx="16002000" cy="400050"/>
            <a:chOff x="0" y="0"/>
            <a:chExt cx="21336000" cy="533400"/>
          </a:xfrm>
        </p:grpSpPr>
        <p:sp>
          <p:nvSpPr>
            <p:cNvPr name="Freeform 24" id="24"/>
            <p:cNvSpPr/>
            <p:nvPr/>
          </p:nvSpPr>
          <p:spPr>
            <a:xfrm flipH="false" flipV="false" rot="0">
              <a:off x="0" y="0"/>
              <a:ext cx="21336000" cy="533400"/>
            </a:xfrm>
            <a:custGeom>
              <a:avLst/>
              <a:gdLst/>
              <a:ahLst/>
              <a:cxnLst/>
              <a:rect r="r" b="b" t="t" l="l"/>
              <a:pathLst>
                <a:path h="533400" w="21336000">
                  <a:moveTo>
                    <a:pt x="0" y="0"/>
                  </a:moveTo>
                  <a:lnTo>
                    <a:pt x="21336000" y="0"/>
                  </a:lnTo>
                  <a:lnTo>
                    <a:pt x="21336000" y="533400"/>
                  </a:lnTo>
                  <a:lnTo>
                    <a:pt x="0" y="533400"/>
                  </a:lnTo>
                  <a:close/>
                </a:path>
              </a:pathLst>
            </a:custGeom>
            <a:blipFill>
              <a:blip r:embed="rId2">
                <a:alphaModFix amt="0"/>
              </a:blip>
              <a:stretch>
                <a:fillRect l="0" t="-729401" r="0" b="-729401"/>
              </a:stretch>
            </a:blipFill>
          </p:spPr>
        </p:sp>
        <p:sp>
          <p:nvSpPr>
            <p:cNvPr name="TextBox 25" id="25"/>
            <p:cNvSpPr txBox="true"/>
            <p:nvPr/>
          </p:nvSpPr>
          <p:spPr>
            <a:xfrm>
              <a:off x="0" y="-9525"/>
              <a:ext cx="21336000" cy="542925"/>
            </a:xfrm>
            <a:prstGeom prst="rect">
              <a:avLst/>
            </a:prstGeom>
          </p:spPr>
          <p:txBody>
            <a:bodyPr anchor="ctr" rtlCol="false" tIns="0" lIns="0" bIns="0" rIns="0"/>
            <a:lstStyle/>
            <a:p>
              <a:pPr algn="ctr">
                <a:lnSpc>
                  <a:spcPts val="1889"/>
                </a:lnSpc>
              </a:pPr>
              <a:r>
                <a:rPr lang="en-US" sz="1575">
                  <a:solidFill>
                    <a:srgbClr val="0C0E14"/>
                  </a:solidFill>
                  <a:latin typeface="Arial"/>
                  <a:ea typeface="Arial"/>
                  <a:cs typeface="Arial"/>
                  <a:sym typeface="Arial"/>
                </a:rPr>
                <a:t>Cuentas propias con correo y contraseña; las sesiones usan token aleatorio y hash en SQLite.</a:t>
              </a:r>
            </a:p>
          </p:txBody>
        </p:sp>
      </p:grpSp>
      <p:grpSp>
        <p:nvGrpSpPr>
          <p:cNvPr name="Group 26" id="26"/>
          <p:cNvGrpSpPr/>
          <p:nvPr/>
        </p:nvGrpSpPr>
        <p:grpSpPr>
          <a:xfrm rot="0">
            <a:off x="950721" y="6781996"/>
            <a:ext cx="4321708" cy="788420"/>
            <a:chOff x="0" y="0"/>
            <a:chExt cx="2819400" cy="514350"/>
          </a:xfrm>
        </p:grpSpPr>
        <p:sp>
          <p:nvSpPr>
            <p:cNvPr name="Freeform 27" id="27"/>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2">
                <a:alphaModFix amt="0"/>
              </a:blip>
              <a:stretch>
                <a:fillRect l="0" t="-56806" r="0" b="-56806"/>
              </a:stretch>
            </a:blipFill>
          </p:spPr>
        </p:sp>
        <p:sp>
          <p:nvSpPr>
            <p:cNvPr name="TextBox 28" id="28"/>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Ranking</a:t>
              </a:r>
            </a:p>
          </p:txBody>
        </p:sp>
      </p:grpSp>
      <p:grpSp>
        <p:nvGrpSpPr>
          <p:cNvPr name="Group 29" id="29"/>
          <p:cNvGrpSpPr/>
          <p:nvPr/>
        </p:nvGrpSpPr>
        <p:grpSpPr>
          <a:xfrm rot="0">
            <a:off x="6790867" y="6781996"/>
            <a:ext cx="4321708" cy="788420"/>
            <a:chOff x="0" y="0"/>
            <a:chExt cx="2819400" cy="514350"/>
          </a:xfrm>
        </p:grpSpPr>
        <p:sp>
          <p:nvSpPr>
            <p:cNvPr name="Freeform 30" id="30"/>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2">
                <a:alphaModFix amt="0"/>
              </a:blip>
              <a:stretch>
                <a:fillRect l="0" t="-56806" r="0" b="-56806"/>
              </a:stretch>
            </a:blipFill>
          </p:spPr>
        </p:sp>
        <p:sp>
          <p:nvSpPr>
            <p:cNvPr name="TextBox 31" id="31"/>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Detalle</a:t>
              </a:r>
            </a:p>
          </p:txBody>
        </p:sp>
      </p:grpSp>
      <p:grpSp>
        <p:nvGrpSpPr>
          <p:cNvPr name="Group 32" id="32"/>
          <p:cNvGrpSpPr/>
          <p:nvPr/>
        </p:nvGrpSpPr>
        <p:grpSpPr>
          <a:xfrm rot="0">
            <a:off x="12631013" y="6781996"/>
            <a:ext cx="4321708" cy="788420"/>
            <a:chOff x="0" y="0"/>
            <a:chExt cx="2819400" cy="514350"/>
          </a:xfrm>
        </p:grpSpPr>
        <p:sp>
          <p:nvSpPr>
            <p:cNvPr name="Freeform 33" id="33"/>
            <p:cNvSpPr/>
            <p:nvPr/>
          </p:nvSpPr>
          <p:spPr>
            <a:xfrm flipH="false" flipV="false" rot="0">
              <a:off x="0" y="0"/>
              <a:ext cx="2819400" cy="514350"/>
            </a:xfrm>
            <a:custGeom>
              <a:avLst/>
              <a:gdLst/>
              <a:ahLst/>
              <a:cxnLst/>
              <a:rect r="r" b="b" t="t" l="l"/>
              <a:pathLst>
                <a:path h="514350" w="2819400">
                  <a:moveTo>
                    <a:pt x="0" y="0"/>
                  </a:moveTo>
                  <a:lnTo>
                    <a:pt x="2819400" y="0"/>
                  </a:lnTo>
                  <a:lnTo>
                    <a:pt x="2819400" y="514350"/>
                  </a:lnTo>
                  <a:lnTo>
                    <a:pt x="0" y="514350"/>
                  </a:lnTo>
                  <a:close/>
                </a:path>
              </a:pathLst>
            </a:custGeom>
            <a:blipFill>
              <a:blip r:embed="rId2">
                <a:alphaModFix amt="0"/>
              </a:blip>
              <a:stretch>
                <a:fillRect l="0" t="-56806" r="0" b="-56806"/>
              </a:stretch>
            </a:blipFill>
          </p:spPr>
        </p:sp>
        <p:sp>
          <p:nvSpPr>
            <p:cNvPr name="TextBox 34" id="34"/>
            <p:cNvSpPr txBox="true"/>
            <p:nvPr/>
          </p:nvSpPr>
          <p:spPr>
            <a:xfrm>
              <a:off x="0" y="-19050"/>
              <a:ext cx="2819400" cy="533400"/>
            </a:xfrm>
            <a:prstGeom prst="rect">
              <a:avLst/>
            </a:prstGeom>
          </p:spPr>
          <p:txBody>
            <a:bodyPr anchor="ctr" rtlCol="false" tIns="0" lIns="0" bIns="0" rIns="0"/>
            <a:lstStyle/>
            <a:p>
              <a:pPr algn="ctr">
                <a:lnSpc>
                  <a:spcPts val="2160"/>
                </a:lnSpc>
              </a:pPr>
              <a:r>
                <a:rPr lang="en-US" b="true" sz="1800">
                  <a:solidFill>
                    <a:srgbClr val="0C0E14"/>
                  </a:solidFill>
                  <a:latin typeface="Arial Bold"/>
                  <a:ea typeface="Arial Bold"/>
                  <a:cs typeface="Arial Bold"/>
                  <a:sym typeface="Arial Bold"/>
                </a:rPr>
                <a:t>Guardados</a:t>
              </a:r>
            </a:p>
          </p:txBody>
        </p:sp>
      </p:grpSp>
      <p:sp>
        <p:nvSpPr>
          <p:cNvPr name="AutoShape 35" id="35"/>
          <p:cNvSpPr/>
          <p:nvPr/>
        </p:nvSpPr>
        <p:spPr>
          <a:xfrm flipV="true">
            <a:off x="3072211" y="4685141"/>
            <a:ext cx="10758924" cy="69146"/>
          </a:xfrm>
          <a:prstGeom prst="line">
            <a:avLst/>
          </a:prstGeom>
          <a:ln cap="rnd" w="38100">
            <a:solidFill>
              <a:srgbClr val="0C0E14"/>
            </a:solidFill>
            <a:prstDash val="solid"/>
            <a:headEnd type="none" len="sm" w="sm"/>
            <a:tailEnd type="none" len="sm" w="sm"/>
          </a:ln>
        </p:spPr>
      </p:sp>
      <p:grpSp>
        <p:nvGrpSpPr>
          <p:cNvPr name="Group 36" id="36"/>
          <p:cNvGrpSpPr/>
          <p:nvPr/>
        </p:nvGrpSpPr>
        <p:grpSpPr>
          <a:xfrm rot="0">
            <a:off x="1572381" y="3621668"/>
            <a:ext cx="2356864" cy="2356864"/>
            <a:chOff x="0" y="0"/>
            <a:chExt cx="1466850" cy="1466850"/>
          </a:xfrm>
        </p:grpSpPr>
        <p:sp>
          <p:nvSpPr>
            <p:cNvPr name="Freeform 37" id="37"/>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38" id="38"/>
          <p:cNvGrpSpPr/>
          <p:nvPr/>
        </p:nvGrpSpPr>
        <p:grpSpPr>
          <a:xfrm rot="0">
            <a:off x="1587685" y="4218536"/>
            <a:ext cx="2326255" cy="918259"/>
            <a:chOff x="0" y="0"/>
            <a:chExt cx="1447800" cy="571500"/>
          </a:xfrm>
        </p:grpSpPr>
        <p:sp>
          <p:nvSpPr>
            <p:cNvPr name="Freeform 39" id="39"/>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2">
                <a:alphaModFix amt="0"/>
              </a:blip>
              <a:stretch>
                <a:fillRect l="-646" t="0" r="-646" b="0"/>
              </a:stretch>
            </a:blipFill>
          </p:spPr>
        </p:sp>
        <p:sp>
          <p:nvSpPr>
            <p:cNvPr name="TextBox 40" id="40"/>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01</a:t>
              </a:r>
            </a:p>
          </p:txBody>
        </p:sp>
      </p:grpSp>
      <p:grpSp>
        <p:nvGrpSpPr>
          <p:cNvPr name="Group 41" id="41"/>
          <p:cNvGrpSpPr/>
          <p:nvPr/>
        </p:nvGrpSpPr>
        <p:grpSpPr>
          <a:xfrm rot="0">
            <a:off x="7694106" y="3621668"/>
            <a:ext cx="2356864" cy="2356864"/>
            <a:chOff x="0" y="0"/>
            <a:chExt cx="1466850" cy="1466850"/>
          </a:xfrm>
        </p:grpSpPr>
        <p:sp>
          <p:nvSpPr>
            <p:cNvPr name="Freeform 42" id="42"/>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43" id="43"/>
          <p:cNvGrpSpPr/>
          <p:nvPr/>
        </p:nvGrpSpPr>
        <p:grpSpPr>
          <a:xfrm rot="0">
            <a:off x="7709410" y="4218536"/>
            <a:ext cx="2326255" cy="918259"/>
            <a:chOff x="0" y="0"/>
            <a:chExt cx="1447800" cy="571500"/>
          </a:xfrm>
        </p:grpSpPr>
        <p:sp>
          <p:nvSpPr>
            <p:cNvPr name="Freeform 44" id="44"/>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2">
                <a:alphaModFix amt="0"/>
              </a:blip>
              <a:stretch>
                <a:fillRect l="-646" t="0" r="-646" b="0"/>
              </a:stretch>
            </a:blipFill>
          </p:spPr>
        </p:sp>
        <p:sp>
          <p:nvSpPr>
            <p:cNvPr name="TextBox 45" id="45"/>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02</a:t>
              </a:r>
            </a:p>
          </p:txBody>
        </p:sp>
      </p:grpSp>
      <p:grpSp>
        <p:nvGrpSpPr>
          <p:cNvPr name="Group 46" id="46"/>
          <p:cNvGrpSpPr/>
          <p:nvPr/>
        </p:nvGrpSpPr>
        <p:grpSpPr>
          <a:xfrm rot="0">
            <a:off x="13815830" y="3621668"/>
            <a:ext cx="2356864" cy="2356864"/>
            <a:chOff x="0" y="0"/>
            <a:chExt cx="1466850" cy="1466850"/>
          </a:xfrm>
        </p:grpSpPr>
        <p:sp>
          <p:nvSpPr>
            <p:cNvPr name="Freeform 47" id="47"/>
            <p:cNvSpPr/>
            <p:nvPr/>
          </p:nvSpPr>
          <p:spPr>
            <a:xfrm flipH="false" flipV="false" rot="0">
              <a:off x="0" y="0"/>
              <a:ext cx="1466850" cy="1466850"/>
            </a:xfrm>
            <a:custGeom>
              <a:avLst/>
              <a:gdLst/>
              <a:ahLst/>
              <a:cxnLst/>
              <a:rect r="r" b="b" t="t" l="l"/>
              <a:pathLst>
                <a:path h="1466850" w="1466850">
                  <a:moveTo>
                    <a:pt x="0" y="154432"/>
                  </a:moveTo>
                  <a:cubicBezTo>
                    <a:pt x="0" y="69088"/>
                    <a:pt x="69088" y="0"/>
                    <a:pt x="154432" y="0"/>
                  </a:cubicBezTo>
                  <a:lnTo>
                    <a:pt x="1312418" y="0"/>
                  </a:lnTo>
                  <a:cubicBezTo>
                    <a:pt x="1397635" y="0"/>
                    <a:pt x="1466850" y="69088"/>
                    <a:pt x="1466850" y="154432"/>
                  </a:cubicBezTo>
                  <a:lnTo>
                    <a:pt x="1466850" y="1312418"/>
                  </a:lnTo>
                  <a:cubicBezTo>
                    <a:pt x="1466850" y="1397635"/>
                    <a:pt x="1397762" y="1466850"/>
                    <a:pt x="1312418" y="1466850"/>
                  </a:cubicBezTo>
                  <a:lnTo>
                    <a:pt x="154432" y="1466850"/>
                  </a:lnTo>
                  <a:cubicBezTo>
                    <a:pt x="69088" y="1466850"/>
                    <a:pt x="0" y="1397762"/>
                    <a:pt x="0" y="1312418"/>
                  </a:cubicBezTo>
                  <a:close/>
                </a:path>
              </a:pathLst>
            </a:custGeom>
            <a:solidFill>
              <a:srgbClr val="B0B1B3"/>
            </a:solidFill>
            <a:ln w="14288" cap="sq">
              <a:solidFill>
                <a:srgbClr val="D9DED5"/>
              </a:solidFill>
              <a:prstDash val="solid"/>
              <a:miter/>
            </a:ln>
          </p:spPr>
        </p:sp>
      </p:grpSp>
      <p:grpSp>
        <p:nvGrpSpPr>
          <p:cNvPr name="Group 48" id="48"/>
          <p:cNvGrpSpPr/>
          <p:nvPr/>
        </p:nvGrpSpPr>
        <p:grpSpPr>
          <a:xfrm rot="0">
            <a:off x="13831134" y="4218536"/>
            <a:ext cx="2326255" cy="918259"/>
            <a:chOff x="0" y="0"/>
            <a:chExt cx="1447800" cy="571500"/>
          </a:xfrm>
        </p:grpSpPr>
        <p:sp>
          <p:nvSpPr>
            <p:cNvPr name="Freeform 49" id="49"/>
            <p:cNvSpPr/>
            <p:nvPr/>
          </p:nvSpPr>
          <p:spPr>
            <a:xfrm flipH="false" flipV="false" rot="0">
              <a:off x="0" y="0"/>
              <a:ext cx="1447800" cy="571500"/>
            </a:xfrm>
            <a:custGeom>
              <a:avLst/>
              <a:gdLst/>
              <a:ahLst/>
              <a:cxnLst/>
              <a:rect r="r" b="b" t="t" l="l"/>
              <a:pathLst>
                <a:path h="571500" w="1447800">
                  <a:moveTo>
                    <a:pt x="0" y="0"/>
                  </a:moveTo>
                  <a:lnTo>
                    <a:pt x="1447800" y="0"/>
                  </a:lnTo>
                  <a:lnTo>
                    <a:pt x="1447800" y="571500"/>
                  </a:lnTo>
                  <a:lnTo>
                    <a:pt x="0" y="571500"/>
                  </a:lnTo>
                  <a:close/>
                </a:path>
              </a:pathLst>
            </a:custGeom>
            <a:blipFill>
              <a:blip r:embed="rId2">
                <a:alphaModFix amt="0"/>
              </a:blip>
              <a:stretch>
                <a:fillRect l="-646" t="0" r="-646" b="0"/>
              </a:stretch>
            </a:blipFill>
          </p:spPr>
        </p:sp>
        <p:sp>
          <p:nvSpPr>
            <p:cNvPr name="TextBox 50" id="50"/>
            <p:cNvSpPr txBox="true"/>
            <p:nvPr/>
          </p:nvSpPr>
          <p:spPr>
            <a:xfrm>
              <a:off x="0" y="-19050"/>
              <a:ext cx="1447800" cy="590550"/>
            </a:xfrm>
            <a:prstGeom prst="rect">
              <a:avLst/>
            </a:prstGeom>
          </p:spPr>
          <p:txBody>
            <a:bodyPr anchor="ctr" rtlCol="false" tIns="0" lIns="0" bIns="0" rIns="0"/>
            <a:lstStyle/>
            <a:p>
              <a:pPr algn="ctr">
                <a:lnSpc>
                  <a:spcPts val="2700"/>
                </a:lnSpc>
              </a:pPr>
              <a:r>
                <a:rPr lang="en-US" b="true" sz="2250">
                  <a:solidFill>
                    <a:srgbClr val="0C0E14"/>
                  </a:solidFill>
                  <a:latin typeface="Arial Bold"/>
                  <a:ea typeface="Arial Bold"/>
                  <a:cs typeface="Arial Bold"/>
                  <a:sym typeface="Arial Bold"/>
                </a:rPr>
                <a:t>03</a:t>
              </a:r>
            </a:p>
          </p:txBody>
        </p:sp>
      </p:grpSp>
      <p:grpSp>
        <p:nvGrpSpPr>
          <p:cNvPr name="Group 51" id="51"/>
          <p:cNvGrpSpPr>
            <a:grpSpLocks noChangeAspect="true"/>
          </p:cNvGrpSpPr>
          <p:nvPr/>
        </p:nvGrpSpPr>
        <p:grpSpPr>
          <a:xfrm rot="0">
            <a:off x="-116742" y="3015693"/>
            <a:ext cx="5858686" cy="3360472"/>
            <a:chOff x="0" y="0"/>
            <a:chExt cx="7981950" cy="4578350"/>
          </a:xfrm>
        </p:grpSpPr>
        <p:sp>
          <p:nvSpPr>
            <p:cNvPr name="Freeform 52" id="52"/>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53" id="53"/>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54" id="54"/>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55" id="55"/>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56" id="56"/>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3"/>
              <a:stretch>
                <a:fillRect l="0" t="-3924" r="0" b="-87625"/>
              </a:stretch>
            </a:blipFill>
          </p:spPr>
        </p:sp>
      </p:grpSp>
      <p:grpSp>
        <p:nvGrpSpPr>
          <p:cNvPr name="Group 57" id="57"/>
          <p:cNvGrpSpPr>
            <a:grpSpLocks noChangeAspect="true"/>
          </p:cNvGrpSpPr>
          <p:nvPr/>
        </p:nvGrpSpPr>
        <p:grpSpPr>
          <a:xfrm rot="0">
            <a:off x="6080752" y="2997430"/>
            <a:ext cx="5858686" cy="3360472"/>
            <a:chOff x="0" y="0"/>
            <a:chExt cx="7981950" cy="4578350"/>
          </a:xfrm>
        </p:grpSpPr>
        <p:sp>
          <p:nvSpPr>
            <p:cNvPr name="Freeform 58" id="58"/>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59" id="59"/>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60" id="60"/>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61" id="61"/>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62" id="62"/>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4"/>
              <a:stretch>
                <a:fillRect l="-726" t="0" r="-726" b="0"/>
              </a:stretch>
            </a:blipFill>
          </p:spPr>
        </p:sp>
      </p:grpSp>
      <p:grpSp>
        <p:nvGrpSpPr>
          <p:cNvPr name="Group 63" id="63"/>
          <p:cNvGrpSpPr>
            <a:grpSpLocks noChangeAspect="true"/>
          </p:cNvGrpSpPr>
          <p:nvPr/>
        </p:nvGrpSpPr>
        <p:grpSpPr>
          <a:xfrm rot="0">
            <a:off x="12278246" y="2838223"/>
            <a:ext cx="5858686" cy="3360472"/>
            <a:chOff x="0" y="0"/>
            <a:chExt cx="7981950" cy="4578350"/>
          </a:xfrm>
        </p:grpSpPr>
        <p:sp>
          <p:nvSpPr>
            <p:cNvPr name="Freeform 64" id="64"/>
            <p:cNvSpPr/>
            <p:nvPr/>
          </p:nvSpPr>
          <p:spPr>
            <a:xfrm flipH="false" flipV="false" rot="0">
              <a:off x="765810" y="21590"/>
              <a:ext cx="6451600" cy="4326890"/>
            </a:xfrm>
            <a:custGeom>
              <a:avLst/>
              <a:gdLst/>
              <a:ahLst/>
              <a:cxnLst/>
              <a:rect r="r" b="b" t="t" l="l"/>
              <a:pathLst>
                <a:path h="4326890" w="6451600">
                  <a:moveTo>
                    <a:pt x="6224270" y="0"/>
                  </a:moveTo>
                  <a:lnTo>
                    <a:pt x="226060" y="0"/>
                  </a:lnTo>
                  <a:cubicBezTo>
                    <a:pt x="101600" y="0"/>
                    <a:pt x="0" y="101600"/>
                    <a:pt x="0" y="226060"/>
                  </a:cubicBezTo>
                  <a:lnTo>
                    <a:pt x="0" y="4326890"/>
                  </a:lnTo>
                  <a:lnTo>
                    <a:pt x="6451601" y="4326890"/>
                  </a:lnTo>
                  <a:lnTo>
                    <a:pt x="6451601" y="226060"/>
                  </a:lnTo>
                  <a:cubicBezTo>
                    <a:pt x="6450331" y="101600"/>
                    <a:pt x="6348731" y="0"/>
                    <a:pt x="6224270" y="0"/>
                  </a:cubicBezTo>
                  <a:close/>
                  <a:moveTo>
                    <a:pt x="6252210" y="4043680"/>
                  </a:moveTo>
                  <a:lnTo>
                    <a:pt x="196851" y="4043680"/>
                  </a:lnTo>
                  <a:lnTo>
                    <a:pt x="196851" y="255270"/>
                  </a:lnTo>
                  <a:lnTo>
                    <a:pt x="6252210" y="255270"/>
                  </a:lnTo>
                  <a:lnTo>
                    <a:pt x="6252210" y="4043680"/>
                  </a:lnTo>
                  <a:close/>
                </a:path>
              </a:pathLst>
            </a:custGeom>
            <a:solidFill>
              <a:srgbClr val="000000"/>
            </a:solidFill>
          </p:spPr>
        </p:sp>
        <p:sp>
          <p:nvSpPr>
            <p:cNvPr name="Freeform 65" id="65"/>
            <p:cNvSpPr/>
            <p:nvPr/>
          </p:nvSpPr>
          <p:spPr>
            <a:xfrm flipH="false" flipV="false" rot="0">
              <a:off x="0" y="0"/>
              <a:ext cx="7981950" cy="4542790"/>
            </a:xfrm>
            <a:custGeom>
              <a:avLst/>
              <a:gdLst/>
              <a:ahLst/>
              <a:cxnLst/>
              <a:rect r="r" b="b" t="t" l="l"/>
              <a:pathLst>
                <a:path h="4542790" w="7981950">
                  <a:moveTo>
                    <a:pt x="7239000" y="4348480"/>
                  </a:moveTo>
                  <a:lnTo>
                    <a:pt x="7239000" y="243840"/>
                  </a:lnTo>
                  <a:cubicBezTo>
                    <a:pt x="7239000" y="109220"/>
                    <a:pt x="7129780" y="0"/>
                    <a:pt x="6995160" y="0"/>
                  </a:cubicBezTo>
                  <a:lnTo>
                    <a:pt x="985520" y="0"/>
                  </a:lnTo>
                  <a:cubicBezTo>
                    <a:pt x="852170" y="0"/>
                    <a:pt x="742950" y="109220"/>
                    <a:pt x="742950" y="243840"/>
                  </a:cubicBezTo>
                  <a:lnTo>
                    <a:pt x="742950" y="4349750"/>
                  </a:lnTo>
                  <a:lnTo>
                    <a:pt x="0" y="4349750"/>
                  </a:lnTo>
                  <a:lnTo>
                    <a:pt x="0" y="4447540"/>
                  </a:lnTo>
                  <a:cubicBezTo>
                    <a:pt x="0" y="4500880"/>
                    <a:pt x="43180" y="4542790"/>
                    <a:pt x="95250" y="4542790"/>
                  </a:cubicBezTo>
                  <a:lnTo>
                    <a:pt x="7886700" y="4542790"/>
                  </a:lnTo>
                  <a:cubicBezTo>
                    <a:pt x="7940040" y="4542790"/>
                    <a:pt x="7981950" y="4499610"/>
                    <a:pt x="7981950" y="4447540"/>
                  </a:cubicBezTo>
                  <a:lnTo>
                    <a:pt x="7981950" y="4349750"/>
                  </a:lnTo>
                  <a:lnTo>
                    <a:pt x="7239000" y="4349750"/>
                  </a:lnTo>
                  <a:close/>
                  <a:moveTo>
                    <a:pt x="4519930" y="4348480"/>
                  </a:moveTo>
                  <a:lnTo>
                    <a:pt x="4519930" y="4349750"/>
                  </a:lnTo>
                  <a:cubicBezTo>
                    <a:pt x="4519930" y="4403090"/>
                    <a:pt x="4476750" y="4445000"/>
                    <a:pt x="4424680" y="4445000"/>
                  </a:cubicBezTo>
                  <a:lnTo>
                    <a:pt x="3557270" y="4445000"/>
                  </a:lnTo>
                  <a:cubicBezTo>
                    <a:pt x="3503930" y="4445000"/>
                    <a:pt x="3462020" y="4401820"/>
                    <a:pt x="3462020" y="4349750"/>
                  </a:cubicBezTo>
                  <a:lnTo>
                    <a:pt x="3462020" y="4348480"/>
                  </a:lnTo>
                  <a:lnTo>
                    <a:pt x="765810" y="4348480"/>
                  </a:lnTo>
                  <a:lnTo>
                    <a:pt x="765810" y="247650"/>
                  </a:lnTo>
                  <a:cubicBezTo>
                    <a:pt x="765810" y="123190"/>
                    <a:pt x="867410" y="21590"/>
                    <a:pt x="991870" y="21590"/>
                  </a:cubicBezTo>
                  <a:lnTo>
                    <a:pt x="6990080" y="21590"/>
                  </a:lnTo>
                  <a:cubicBezTo>
                    <a:pt x="7114539" y="21590"/>
                    <a:pt x="7216139" y="123190"/>
                    <a:pt x="7216139" y="247650"/>
                  </a:cubicBezTo>
                  <a:lnTo>
                    <a:pt x="7216139" y="4348480"/>
                  </a:lnTo>
                  <a:lnTo>
                    <a:pt x="4519930" y="4348480"/>
                  </a:lnTo>
                  <a:close/>
                </a:path>
              </a:pathLst>
            </a:custGeom>
            <a:solidFill>
              <a:srgbClr val="E9E9E9"/>
            </a:solidFill>
          </p:spPr>
        </p:sp>
        <p:sp>
          <p:nvSpPr>
            <p:cNvPr name="Freeform 66" id="66"/>
            <p:cNvSpPr/>
            <p:nvPr/>
          </p:nvSpPr>
          <p:spPr>
            <a:xfrm flipH="false" flipV="false" rot="0">
              <a:off x="3460750" y="4349750"/>
              <a:ext cx="1059180" cy="96520"/>
            </a:xfrm>
            <a:custGeom>
              <a:avLst/>
              <a:gdLst/>
              <a:ahLst/>
              <a:cxnLst/>
              <a:rect r="r" b="b" t="t" l="l"/>
              <a:pathLst>
                <a:path h="96520" w="1059180">
                  <a:moveTo>
                    <a:pt x="96520" y="96520"/>
                  </a:moveTo>
                  <a:lnTo>
                    <a:pt x="963930" y="96520"/>
                  </a:lnTo>
                  <a:cubicBezTo>
                    <a:pt x="1017270" y="96520"/>
                    <a:pt x="1059180" y="53340"/>
                    <a:pt x="1059180" y="1270"/>
                  </a:cubicBezTo>
                  <a:lnTo>
                    <a:pt x="1059180" y="0"/>
                  </a:lnTo>
                  <a:lnTo>
                    <a:pt x="0" y="0"/>
                  </a:lnTo>
                  <a:lnTo>
                    <a:pt x="0" y="1270"/>
                  </a:lnTo>
                  <a:cubicBezTo>
                    <a:pt x="0" y="53340"/>
                    <a:pt x="43180" y="96520"/>
                    <a:pt x="96520" y="96520"/>
                  </a:cubicBezTo>
                  <a:close/>
                </a:path>
              </a:pathLst>
            </a:custGeom>
            <a:solidFill>
              <a:srgbClr val="CCCCCC"/>
            </a:solidFill>
          </p:spPr>
        </p:sp>
        <p:sp>
          <p:nvSpPr>
            <p:cNvPr name="Freeform 67" id="67"/>
            <p:cNvSpPr/>
            <p:nvPr/>
          </p:nvSpPr>
          <p:spPr>
            <a:xfrm flipH="false" flipV="false" rot="0">
              <a:off x="163830" y="4542790"/>
              <a:ext cx="7654290" cy="35560"/>
            </a:xfrm>
            <a:custGeom>
              <a:avLst/>
              <a:gdLst/>
              <a:ahLst/>
              <a:cxnLst/>
              <a:rect r="r" b="b" t="t" l="l"/>
              <a:pathLst>
                <a:path h="35560" w="7654290">
                  <a:moveTo>
                    <a:pt x="0" y="0"/>
                  </a:moveTo>
                  <a:cubicBezTo>
                    <a:pt x="0" y="20320"/>
                    <a:pt x="16510" y="35560"/>
                    <a:pt x="35560" y="35560"/>
                  </a:cubicBezTo>
                  <a:lnTo>
                    <a:pt x="7618730" y="35560"/>
                  </a:lnTo>
                  <a:cubicBezTo>
                    <a:pt x="7639050" y="35560"/>
                    <a:pt x="7654290" y="19050"/>
                    <a:pt x="7654290" y="0"/>
                  </a:cubicBezTo>
                  <a:lnTo>
                    <a:pt x="0" y="0"/>
                  </a:lnTo>
                  <a:close/>
                </a:path>
              </a:pathLst>
            </a:custGeom>
            <a:solidFill>
              <a:srgbClr val="CCCCCC"/>
            </a:solidFill>
          </p:spPr>
        </p:sp>
        <p:sp>
          <p:nvSpPr>
            <p:cNvPr name="Freeform 68" id="68"/>
            <p:cNvSpPr/>
            <p:nvPr/>
          </p:nvSpPr>
          <p:spPr>
            <a:xfrm flipH="false" flipV="false" rot="0">
              <a:off x="962660" y="276860"/>
              <a:ext cx="6055360" cy="3789680"/>
            </a:xfrm>
            <a:custGeom>
              <a:avLst/>
              <a:gdLst/>
              <a:ahLst/>
              <a:cxnLst/>
              <a:rect r="r" b="b" t="t" l="l"/>
              <a:pathLst>
                <a:path h="3789680" w="6055360">
                  <a:moveTo>
                    <a:pt x="0" y="0"/>
                  </a:moveTo>
                  <a:lnTo>
                    <a:pt x="6055360" y="0"/>
                  </a:lnTo>
                  <a:lnTo>
                    <a:pt x="6055360" y="3789680"/>
                  </a:lnTo>
                  <a:lnTo>
                    <a:pt x="0" y="3789680"/>
                  </a:lnTo>
                  <a:close/>
                </a:path>
              </a:pathLst>
            </a:custGeom>
            <a:blipFill>
              <a:blip r:embed="rId5"/>
              <a:stretch>
                <a:fillRect l="-12623" t="0" r="-16552" b="-16360"/>
              </a:stretch>
            </a:blipFill>
          </p:spPr>
        </p:sp>
      </p:grpSp>
      <p:sp>
        <p:nvSpPr>
          <p:cNvPr name="Freeform 69" id="69"/>
          <p:cNvSpPr/>
          <p:nvPr/>
        </p:nvSpPr>
        <p:spPr>
          <a:xfrm flipH="false" flipV="false" rot="0">
            <a:off x="1425424" y="6764231"/>
            <a:ext cx="1004815" cy="823948"/>
          </a:xfrm>
          <a:custGeom>
            <a:avLst/>
            <a:gdLst/>
            <a:ahLst/>
            <a:cxnLst/>
            <a:rect r="r" b="b" t="t" l="l"/>
            <a:pathLst>
              <a:path h="823948" w="1004815">
                <a:moveTo>
                  <a:pt x="0" y="0"/>
                </a:moveTo>
                <a:lnTo>
                  <a:pt x="1004815" y="0"/>
                </a:lnTo>
                <a:lnTo>
                  <a:pt x="1004815" y="823949"/>
                </a:lnTo>
                <a:lnTo>
                  <a:pt x="0" y="82394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0" id="70"/>
          <p:cNvSpPr/>
          <p:nvPr/>
        </p:nvSpPr>
        <p:spPr>
          <a:xfrm flipH="false" flipV="false" rot="0">
            <a:off x="7381154" y="6746467"/>
            <a:ext cx="1004815" cy="823948"/>
          </a:xfrm>
          <a:custGeom>
            <a:avLst/>
            <a:gdLst/>
            <a:ahLst/>
            <a:cxnLst/>
            <a:rect r="r" b="b" t="t" l="l"/>
            <a:pathLst>
              <a:path h="823948" w="1004815">
                <a:moveTo>
                  <a:pt x="0" y="0"/>
                </a:moveTo>
                <a:lnTo>
                  <a:pt x="1004815" y="0"/>
                </a:lnTo>
                <a:lnTo>
                  <a:pt x="1004815" y="823948"/>
                </a:lnTo>
                <a:lnTo>
                  <a:pt x="0" y="823948"/>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71" id="71"/>
          <p:cNvSpPr/>
          <p:nvPr/>
        </p:nvSpPr>
        <p:spPr>
          <a:xfrm flipH="false" flipV="false" rot="0">
            <a:off x="13092942" y="6822694"/>
            <a:ext cx="911855" cy="747721"/>
          </a:xfrm>
          <a:custGeom>
            <a:avLst/>
            <a:gdLst/>
            <a:ahLst/>
            <a:cxnLst/>
            <a:rect r="r" b="b" t="t" l="l"/>
            <a:pathLst>
              <a:path h="747721" w="911855">
                <a:moveTo>
                  <a:pt x="0" y="0"/>
                </a:moveTo>
                <a:lnTo>
                  <a:pt x="911855" y="0"/>
                </a:lnTo>
                <a:lnTo>
                  <a:pt x="911855" y="747721"/>
                </a:lnTo>
                <a:lnTo>
                  <a:pt x="0" y="7477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2B3F9E"/>
                  </a:solidFill>
                  <a:latin typeface="Arial Bold"/>
                  <a:ea typeface="Arial Bold"/>
                  <a:cs typeface="Arial Bold"/>
                  <a:sym typeface="Arial Bold"/>
                </a:rPr>
                <a:t>EXPERIENCIA · ENTRADA</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Una entrada simple lleva al perfil de búsqueda</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2B3F9E"/>
                  </a:solidFill>
                  <a:latin typeface="Arial"/>
                  <a:ea typeface="Arial"/>
                  <a:cs typeface="Arial"/>
                  <a:sym typeface="Arial"/>
                </a:rPr>
                <a:t>La landing presenta el producto; una cuenta propia permite conservar el perfil y los favoritos.</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2B3F9E"/>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05</a:t>
              </a:r>
            </a:p>
          </p:txBody>
        </p:sp>
      </p:grpSp>
      <p:grpSp>
        <p:nvGrpSpPr>
          <p:cNvPr name="Group 17" id="17"/>
          <p:cNvGrpSpPr/>
          <p:nvPr/>
        </p:nvGrpSpPr>
        <p:grpSpPr>
          <a:xfrm rot="0">
            <a:off x="1185862" y="2943225"/>
            <a:ext cx="7143750" cy="5357812"/>
            <a:chOff x="0" y="0"/>
            <a:chExt cx="9525000" cy="7143750"/>
          </a:xfrm>
        </p:grpSpPr>
        <p:sp>
          <p:nvSpPr>
            <p:cNvPr name="Freeform 18" id="18"/>
            <p:cNvSpPr/>
            <p:nvPr/>
          </p:nvSpPr>
          <p:spPr>
            <a:xfrm flipH="false" flipV="false" rot="0">
              <a:off x="0" y="0"/>
              <a:ext cx="9525000" cy="7143750"/>
            </a:xfrm>
            <a:custGeom>
              <a:avLst/>
              <a:gdLst/>
              <a:ahLst/>
              <a:cxnLst/>
              <a:rect r="r" b="b" t="t" l="l"/>
              <a:pathLst>
                <a:path h="7143750" w="9525000">
                  <a:moveTo>
                    <a:pt x="0" y="0"/>
                  </a:moveTo>
                  <a:lnTo>
                    <a:pt x="9525000" y="0"/>
                  </a:lnTo>
                  <a:lnTo>
                    <a:pt x="9525000" y="7143750"/>
                  </a:lnTo>
                  <a:lnTo>
                    <a:pt x="0" y="7143750"/>
                  </a:lnTo>
                  <a:lnTo>
                    <a:pt x="0" y="0"/>
                  </a:lnTo>
                  <a:close/>
                </a:path>
              </a:pathLst>
            </a:custGeom>
            <a:blipFill>
              <a:blip r:embed="rId4"/>
              <a:stretch>
                <a:fillRect l="0" t="0" r="0" b="0"/>
              </a:stretch>
            </a:blipFill>
          </p:spPr>
        </p:sp>
      </p:grpSp>
      <p:grpSp>
        <p:nvGrpSpPr>
          <p:cNvPr name="Group 19" id="19"/>
          <p:cNvGrpSpPr/>
          <p:nvPr/>
        </p:nvGrpSpPr>
        <p:grpSpPr>
          <a:xfrm rot="0">
            <a:off x="10920784" y="2943225"/>
            <a:ext cx="5133232" cy="5357812"/>
            <a:chOff x="0" y="0"/>
            <a:chExt cx="6844309" cy="7143750"/>
          </a:xfrm>
        </p:grpSpPr>
        <p:sp>
          <p:nvSpPr>
            <p:cNvPr name="Freeform 20" id="20"/>
            <p:cNvSpPr/>
            <p:nvPr/>
          </p:nvSpPr>
          <p:spPr>
            <a:xfrm flipH="false" flipV="false" rot="0">
              <a:off x="0" y="0"/>
              <a:ext cx="6844284" cy="7143750"/>
            </a:xfrm>
            <a:custGeom>
              <a:avLst/>
              <a:gdLst/>
              <a:ahLst/>
              <a:cxnLst/>
              <a:rect r="r" b="b" t="t" l="l"/>
              <a:pathLst>
                <a:path h="7143750" w="6844284">
                  <a:moveTo>
                    <a:pt x="0" y="0"/>
                  </a:moveTo>
                  <a:lnTo>
                    <a:pt x="6844284" y="0"/>
                  </a:lnTo>
                  <a:lnTo>
                    <a:pt x="6844284" y="7143750"/>
                  </a:lnTo>
                  <a:lnTo>
                    <a:pt x="0" y="7143750"/>
                  </a:lnTo>
                  <a:lnTo>
                    <a:pt x="0" y="0"/>
                  </a:lnTo>
                  <a:close/>
                </a:path>
              </a:pathLst>
            </a:custGeom>
            <a:blipFill>
              <a:blip r:embed="rId5"/>
              <a:stretch>
                <a:fillRect l="0" t="0" r="0" b="0"/>
              </a:stretch>
            </a:blipFill>
          </p:spPr>
        </p:sp>
      </p:grpSp>
      <p:grpSp>
        <p:nvGrpSpPr>
          <p:cNvPr name="Group 21" id="21"/>
          <p:cNvGrpSpPr/>
          <p:nvPr/>
        </p:nvGrpSpPr>
        <p:grpSpPr>
          <a:xfrm rot="0">
            <a:off x="828675" y="8586788"/>
            <a:ext cx="7858125" cy="357188"/>
            <a:chOff x="0" y="0"/>
            <a:chExt cx="10477500" cy="476250"/>
          </a:xfrm>
        </p:grpSpPr>
        <p:sp>
          <p:nvSpPr>
            <p:cNvPr name="Freeform 22" id="22"/>
            <p:cNvSpPr/>
            <p:nvPr/>
          </p:nvSpPr>
          <p:spPr>
            <a:xfrm flipH="false" flipV="false" rot="0">
              <a:off x="0" y="0"/>
              <a:ext cx="10477500" cy="476250"/>
            </a:xfrm>
            <a:custGeom>
              <a:avLst/>
              <a:gdLst/>
              <a:ahLst/>
              <a:cxnLst/>
              <a:rect r="r" b="b" t="t" l="l"/>
              <a:pathLst>
                <a:path h="476250" w="10477500">
                  <a:moveTo>
                    <a:pt x="0" y="0"/>
                  </a:moveTo>
                  <a:lnTo>
                    <a:pt x="10477500" y="0"/>
                  </a:lnTo>
                  <a:lnTo>
                    <a:pt x="10477500" y="476250"/>
                  </a:lnTo>
                  <a:lnTo>
                    <a:pt x="0" y="476250"/>
                  </a:lnTo>
                  <a:close/>
                </a:path>
              </a:pathLst>
            </a:custGeom>
            <a:blipFill>
              <a:blip r:embed="rId3">
                <a:alphaModFix amt="0"/>
              </a:blip>
              <a:stretch>
                <a:fillRect l="0" t="-378670" r="0" b="-378670"/>
              </a:stretch>
            </a:blipFill>
          </p:spPr>
        </p:sp>
        <p:sp>
          <p:nvSpPr>
            <p:cNvPr name="TextBox 23" id="23"/>
            <p:cNvSpPr txBox="true"/>
            <p:nvPr/>
          </p:nvSpPr>
          <p:spPr>
            <a:xfrm>
              <a:off x="0" y="-19050"/>
              <a:ext cx="10477500" cy="495300"/>
            </a:xfrm>
            <a:prstGeom prst="rect">
              <a:avLst/>
            </a:prstGeom>
          </p:spPr>
          <p:txBody>
            <a:bodyPr anchor="ctr" rtlCol="false" tIns="0" lIns="0" bIns="0" rIns="0"/>
            <a:lstStyle/>
            <a:p>
              <a:pPr algn="l">
                <a:lnSpc>
                  <a:spcPts val="2160"/>
                </a:lnSpc>
              </a:pPr>
              <a:r>
                <a:rPr lang="en-US" b="true" sz="1800">
                  <a:solidFill>
                    <a:srgbClr val="2B3F9E"/>
                  </a:solidFill>
                  <a:latin typeface="Arial Bold"/>
                  <a:ea typeface="Arial Bold"/>
                  <a:cs typeface="Arial Bold"/>
                  <a:sym typeface="Arial Bold"/>
                </a:rPr>
                <a:t>Landing</a:t>
              </a:r>
            </a:p>
          </p:txBody>
        </p:sp>
      </p:grpSp>
      <p:grpSp>
        <p:nvGrpSpPr>
          <p:cNvPr name="Group 24" id="24"/>
          <p:cNvGrpSpPr/>
          <p:nvPr/>
        </p:nvGrpSpPr>
        <p:grpSpPr>
          <a:xfrm rot="0">
            <a:off x="9558338" y="8586788"/>
            <a:ext cx="7858125" cy="357188"/>
            <a:chOff x="0" y="0"/>
            <a:chExt cx="10477500" cy="476250"/>
          </a:xfrm>
        </p:grpSpPr>
        <p:sp>
          <p:nvSpPr>
            <p:cNvPr name="Freeform 25" id="25"/>
            <p:cNvSpPr/>
            <p:nvPr/>
          </p:nvSpPr>
          <p:spPr>
            <a:xfrm flipH="false" flipV="false" rot="0">
              <a:off x="0" y="0"/>
              <a:ext cx="10477500" cy="476250"/>
            </a:xfrm>
            <a:custGeom>
              <a:avLst/>
              <a:gdLst/>
              <a:ahLst/>
              <a:cxnLst/>
              <a:rect r="r" b="b" t="t" l="l"/>
              <a:pathLst>
                <a:path h="476250" w="10477500">
                  <a:moveTo>
                    <a:pt x="0" y="0"/>
                  </a:moveTo>
                  <a:lnTo>
                    <a:pt x="10477500" y="0"/>
                  </a:lnTo>
                  <a:lnTo>
                    <a:pt x="10477500" y="476250"/>
                  </a:lnTo>
                  <a:lnTo>
                    <a:pt x="0" y="476250"/>
                  </a:lnTo>
                  <a:close/>
                </a:path>
              </a:pathLst>
            </a:custGeom>
            <a:blipFill>
              <a:blip r:embed="rId3">
                <a:alphaModFix amt="0"/>
              </a:blip>
              <a:stretch>
                <a:fillRect l="0" t="-378670" r="0" b="-378670"/>
              </a:stretch>
            </a:blipFill>
          </p:spPr>
        </p:sp>
        <p:sp>
          <p:nvSpPr>
            <p:cNvPr name="TextBox 26" id="26"/>
            <p:cNvSpPr txBox="true"/>
            <p:nvPr/>
          </p:nvSpPr>
          <p:spPr>
            <a:xfrm>
              <a:off x="0" y="-19050"/>
              <a:ext cx="10477500" cy="495300"/>
            </a:xfrm>
            <a:prstGeom prst="rect">
              <a:avLst/>
            </a:prstGeom>
          </p:spPr>
          <p:txBody>
            <a:bodyPr anchor="ctr" rtlCol="false" tIns="0" lIns="0" bIns="0" rIns="0"/>
            <a:lstStyle/>
            <a:p>
              <a:pPr algn="l">
                <a:lnSpc>
                  <a:spcPts val="2160"/>
                </a:lnSpc>
              </a:pPr>
              <a:r>
                <a:rPr lang="en-US" b="true" sz="1800">
                  <a:solidFill>
                    <a:srgbClr val="2B3F9E"/>
                  </a:solidFill>
                  <a:latin typeface="Arial Bold"/>
                  <a:ea typeface="Arial Bold"/>
                  <a:cs typeface="Arial Bold"/>
                  <a:sym typeface="Arial Bold"/>
                </a:rPr>
                <a:t>Inicio de sesión con correo y contraseña</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EXPERIENCIA · PERSONALIZACIÓN</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Tres criterios ordenan los resultados para cada perfil</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Precio, seguridad y conveniencia tienen pesos configurables; el límite financiero filtra opciones.</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06</a:t>
              </a:r>
            </a:p>
          </p:txBody>
        </p:sp>
      </p:grpSp>
      <p:grpSp>
        <p:nvGrpSpPr>
          <p:cNvPr name="Group 17" id="17"/>
          <p:cNvGrpSpPr/>
          <p:nvPr/>
        </p:nvGrpSpPr>
        <p:grpSpPr>
          <a:xfrm rot="0">
            <a:off x="1042988" y="2857500"/>
            <a:ext cx="6858000" cy="5143500"/>
            <a:chOff x="0" y="0"/>
            <a:chExt cx="9144000" cy="6858000"/>
          </a:xfrm>
        </p:grpSpPr>
        <p:sp>
          <p:nvSpPr>
            <p:cNvPr name="Freeform 18" id="18"/>
            <p:cNvSpPr/>
            <p:nvPr/>
          </p:nvSpPr>
          <p:spPr>
            <a:xfrm flipH="false" flipV="false" rot="0">
              <a:off x="0" y="0"/>
              <a:ext cx="9144000" cy="6858000"/>
            </a:xfrm>
            <a:custGeom>
              <a:avLst/>
              <a:gdLst/>
              <a:ahLst/>
              <a:cxnLst/>
              <a:rect r="r" b="b" t="t" l="l"/>
              <a:pathLst>
                <a:path h="6858000" w="9144000">
                  <a:moveTo>
                    <a:pt x="0" y="0"/>
                  </a:moveTo>
                  <a:lnTo>
                    <a:pt x="9144000" y="0"/>
                  </a:lnTo>
                  <a:lnTo>
                    <a:pt x="9144000" y="6858000"/>
                  </a:lnTo>
                  <a:lnTo>
                    <a:pt x="0" y="6858000"/>
                  </a:lnTo>
                  <a:lnTo>
                    <a:pt x="0" y="0"/>
                  </a:lnTo>
                  <a:close/>
                </a:path>
              </a:pathLst>
            </a:custGeom>
            <a:blipFill>
              <a:blip r:embed="rId4"/>
              <a:stretch>
                <a:fillRect l="0" t="0" r="0" b="0"/>
              </a:stretch>
            </a:blipFill>
          </p:spPr>
        </p:sp>
      </p:grpSp>
      <p:grpSp>
        <p:nvGrpSpPr>
          <p:cNvPr name="Group 19" id="19"/>
          <p:cNvGrpSpPr/>
          <p:nvPr/>
        </p:nvGrpSpPr>
        <p:grpSpPr>
          <a:xfrm rot="0">
            <a:off x="9629775" y="2857500"/>
            <a:ext cx="6858000" cy="5143500"/>
            <a:chOff x="0" y="0"/>
            <a:chExt cx="9144000" cy="6858000"/>
          </a:xfrm>
        </p:grpSpPr>
        <p:sp>
          <p:nvSpPr>
            <p:cNvPr name="Freeform 20" id="20"/>
            <p:cNvSpPr/>
            <p:nvPr/>
          </p:nvSpPr>
          <p:spPr>
            <a:xfrm flipH="false" flipV="false" rot="0">
              <a:off x="0" y="0"/>
              <a:ext cx="9144000" cy="6858000"/>
            </a:xfrm>
            <a:custGeom>
              <a:avLst/>
              <a:gdLst/>
              <a:ahLst/>
              <a:cxnLst/>
              <a:rect r="r" b="b" t="t" l="l"/>
              <a:pathLst>
                <a:path h="6858000" w="9144000">
                  <a:moveTo>
                    <a:pt x="0" y="0"/>
                  </a:moveTo>
                  <a:lnTo>
                    <a:pt x="9144000" y="0"/>
                  </a:lnTo>
                  <a:lnTo>
                    <a:pt x="9144000" y="6858000"/>
                  </a:lnTo>
                  <a:lnTo>
                    <a:pt x="0" y="6858000"/>
                  </a:lnTo>
                  <a:lnTo>
                    <a:pt x="0" y="0"/>
                  </a:lnTo>
                  <a:close/>
                </a:path>
              </a:pathLst>
            </a:custGeom>
            <a:blipFill>
              <a:blip r:embed="rId5"/>
              <a:stretch>
                <a:fillRect l="0" t="0" r="0" b="0"/>
              </a:stretch>
            </a:blipFill>
          </p:spPr>
        </p:sp>
      </p:grpSp>
      <p:grpSp>
        <p:nvGrpSpPr>
          <p:cNvPr name="Group 21" id="21"/>
          <p:cNvGrpSpPr/>
          <p:nvPr/>
        </p:nvGrpSpPr>
        <p:grpSpPr>
          <a:xfrm rot="0">
            <a:off x="828675" y="8286750"/>
            <a:ext cx="1485900" cy="400050"/>
            <a:chOff x="0" y="0"/>
            <a:chExt cx="1981200" cy="533400"/>
          </a:xfrm>
        </p:grpSpPr>
        <p:sp>
          <p:nvSpPr>
            <p:cNvPr name="Freeform 22" id="22"/>
            <p:cNvSpPr/>
            <p:nvPr/>
          </p:nvSpPr>
          <p:spPr>
            <a:xfrm flipH="false" flipV="false" rot="0">
              <a:off x="0" y="0"/>
              <a:ext cx="1981200" cy="533400"/>
            </a:xfrm>
            <a:custGeom>
              <a:avLst/>
              <a:gdLst/>
              <a:ahLst/>
              <a:cxnLst/>
              <a:rect r="r" b="b" t="t" l="l"/>
              <a:pathLst>
                <a:path h="533400" w="1981200">
                  <a:moveTo>
                    <a:pt x="0" y="152400"/>
                  </a:moveTo>
                  <a:cubicBezTo>
                    <a:pt x="0" y="68199"/>
                    <a:pt x="68199" y="0"/>
                    <a:pt x="152400" y="0"/>
                  </a:cubicBezTo>
                  <a:lnTo>
                    <a:pt x="1828800" y="0"/>
                  </a:lnTo>
                  <a:cubicBezTo>
                    <a:pt x="1913001" y="0"/>
                    <a:pt x="1981200" y="68199"/>
                    <a:pt x="1981200" y="152400"/>
                  </a:cubicBezTo>
                  <a:lnTo>
                    <a:pt x="1981200" y="381000"/>
                  </a:lnTo>
                  <a:cubicBezTo>
                    <a:pt x="1981200" y="465201"/>
                    <a:pt x="1913001" y="533400"/>
                    <a:pt x="1828800" y="533400"/>
                  </a:cubicBezTo>
                  <a:lnTo>
                    <a:pt x="152400" y="533400"/>
                  </a:lnTo>
                  <a:cubicBezTo>
                    <a:pt x="68199" y="533400"/>
                    <a:pt x="0" y="465201"/>
                    <a:pt x="0" y="381000"/>
                  </a:cubicBezTo>
                  <a:close/>
                </a:path>
              </a:pathLst>
            </a:custGeom>
            <a:solidFill>
              <a:srgbClr val="98A8F0"/>
            </a:solidFill>
          </p:spPr>
        </p:sp>
      </p:grpSp>
      <p:grpSp>
        <p:nvGrpSpPr>
          <p:cNvPr name="Group 23" id="23"/>
          <p:cNvGrpSpPr/>
          <p:nvPr/>
        </p:nvGrpSpPr>
        <p:grpSpPr>
          <a:xfrm rot="0">
            <a:off x="971550" y="8301038"/>
            <a:ext cx="1200150" cy="357188"/>
            <a:chOff x="0" y="0"/>
            <a:chExt cx="1600200" cy="476250"/>
          </a:xfrm>
        </p:grpSpPr>
        <p:sp>
          <p:nvSpPr>
            <p:cNvPr name="Freeform 24" id="24"/>
            <p:cNvSpPr/>
            <p:nvPr/>
          </p:nvSpPr>
          <p:spPr>
            <a:xfrm flipH="false" flipV="false" rot="0">
              <a:off x="0" y="0"/>
              <a:ext cx="1600200" cy="476250"/>
            </a:xfrm>
            <a:custGeom>
              <a:avLst/>
              <a:gdLst/>
              <a:ahLst/>
              <a:cxnLst/>
              <a:rect r="r" b="b" t="t" l="l"/>
              <a:pathLst>
                <a:path h="476250" w="1600200">
                  <a:moveTo>
                    <a:pt x="0" y="0"/>
                  </a:moveTo>
                  <a:lnTo>
                    <a:pt x="1600200" y="0"/>
                  </a:lnTo>
                  <a:lnTo>
                    <a:pt x="1600200" y="476250"/>
                  </a:lnTo>
                  <a:lnTo>
                    <a:pt x="0" y="476250"/>
                  </a:lnTo>
                  <a:close/>
                </a:path>
              </a:pathLst>
            </a:custGeom>
            <a:blipFill>
              <a:blip r:embed="rId3">
                <a:alphaModFix amt="0"/>
              </a:blip>
              <a:stretch>
                <a:fillRect l="0" t="-15469" r="0" b="-15469"/>
              </a:stretch>
            </a:blipFill>
          </p:spPr>
        </p:sp>
        <p:sp>
          <p:nvSpPr>
            <p:cNvPr name="TextBox 25" id="25"/>
            <p:cNvSpPr txBox="true"/>
            <p:nvPr/>
          </p:nvSpPr>
          <p:spPr>
            <a:xfrm>
              <a:off x="0" y="-19050"/>
              <a:ext cx="1600200" cy="495300"/>
            </a:xfrm>
            <a:prstGeom prst="rect">
              <a:avLst/>
            </a:prstGeom>
          </p:spPr>
          <p:txBody>
            <a:bodyPr anchor="ctr" rtlCol="false" tIns="0" lIns="0" bIns="0" rIns="0"/>
            <a:lstStyle/>
            <a:p>
              <a:pPr algn="ctr">
                <a:lnSpc>
                  <a:spcPts val="1620"/>
                </a:lnSpc>
              </a:pPr>
              <a:r>
                <a:rPr lang="en-US" b="true" sz="1350">
                  <a:solidFill>
                    <a:srgbClr val="0C0E14"/>
                  </a:solidFill>
                  <a:latin typeface="Arial Bold"/>
                  <a:ea typeface="Arial Bold"/>
                  <a:cs typeface="Arial Bold"/>
                  <a:sym typeface="Arial Bold"/>
                </a:rPr>
                <a:t>Precio</a:t>
              </a:r>
            </a:p>
          </p:txBody>
        </p:sp>
      </p:grpSp>
      <p:grpSp>
        <p:nvGrpSpPr>
          <p:cNvPr name="Group 26" id="26"/>
          <p:cNvGrpSpPr/>
          <p:nvPr/>
        </p:nvGrpSpPr>
        <p:grpSpPr>
          <a:xfrm rot="0">
            <a:off x="2514600" y="8301038"/>
            <a:ext cx="3643312" cy="600075"/>
            <a:chOff x="0" y="0"/>
            <a:chExt cx="4857750" cy="800100"/>
          </a:xfrm>
        </p:grpSpPr>
        <p:sp>
          <p:nvSpPr>
            <p:cNvPr name="Freeform 27" id="27"/>
            <p:cNvSpPr/>
            <p:nvPr/>
          </p:nvSpPr>
          <p:spPr>
            <a:xfrm flipH="false" flipV="false" rot="0">
              <a:off x="0" y="0"/>
              <a:ext cx="4857750" cy="800100"/>
            </a:xfrm>
            <a:custGeom>
              <a:avLst/>
              <a:gdLst/>
              <a:ahLst/>
              <a:cxnLst/>
              <a:rect r="r" b="b" t="t" l="l"/>
              <a:pathLst>
                <a:path h="800100" w="4857750">
                  <a:moveTo>
                    <a:pt x="0" y="0"/>
                  </a:moveTo>
                  <a:lnTo>
                    <a:pt x="4857750" y="0"/>
                  </a:lnTo>
                  <a:lnTo>
                    <a:pt x="4857750" y="800100"/>
                  </a:lnTo>
                  <a:lnTo>
                    <a:pt x="0" y="800100"/>
                  </a:lnTo>
                  <a:close/>
                </a:path>
              </a:pathLst>
            </a:custGeom>
            <a:blipFill>
              <a:blip r:embed="rId3">
                <a:alphaModFix amt="0"/>
              </a:blip>
              <a:stretch>
                <a:fillRect l="0" t="-68302" r="0" b="-68302"/>
              </a:stretch>
            </a:blipFill>
          </p:spPr>
        </p:sp>
        <p:sp>
          <p:nvSpPr>
            <p:cNvPr name="TextBox 28" id="28"/>
            <p:cNvSpPr txBox="true"/>
            <p:nvPr/>
          </p:nvSpPr>
          <p:spPr>
            <a:xfrm>
              <a:off x="0" y="-9525"/>
              <a:ext cx="4857750" cy="809625"/>
            </a:xfrm>
            <a:prstGeom prst="rect">
              <a:avLst/>
            </a:prstGeom>
          </p:spPr>
          <p:txBody>
            <a:bodyPr anchor="ctr" rtlCol="false" tIns="0" lIns="0" bIns="0" rIns="0"/>
            <a:lstStyle/>
            <a:p>
              <a:pPr algn="l">
                <a:lnSpc>
                  <a:spcPts val="1889"/>
                </a:lnSpc>
              </a:pPr>
              <a:r>
                <a:rPr lang="en-US" sz="1575">
                  <a:solidFill>
                    <a:srgbClr val="0C0E14"/>
                  </a:solidFill>
                  <a:latin typeface="Arial"/>
                  <a:ea typeface="Arial"/>
                  <a:cs typeface="Arial"/>
                  <a:sym typeface="Arial"/>
                </a:rPr>
                <a:t>Valor estimado y precio publicado</a:t>
              </a:r>
            </a:p>
          </p:txBody>
        </p:sp>
      </p:grpSp>
      <p:grpSp>
        <p:nvGrpSpPr>
          <p:cNvPr name="Group 29" id="29"/>
          <p:cNvGrpSpPr/>
          <p:nvPr/>
        </p:nvGrpSpPr>
        <p:grpSpPr>
          <a:xfrm rot="0">
            <a:off x="6372225" y="8286750"/>
            <a:ext cx="1485900" cy="400050"/>
            <a:chOff x="0" y="0"/>
            <a:chExt cx="1981200" cy="533400"/>
          </a:xfrm>
        </p:grpSpPr>
        <p:sp>
          <p:nvSpPr>
            <p:cNvPr name="Freeform 30" id="30"/>
            <p:cNvSpPr/>
            <p:nvPr/>
          </p:nvSpPr>
          <p:spPr>
            <a:xfrm flipH="false" flipV="false" rot="0">
              <a:off x="0" y="0"/>
              <a:ext cx="1981200" cy="533400"/>
            </a:xfrm>
            <a:custGeom>
              <a:avLst/>
              <a:gdLst/>
              <a:ahLst/>
              <a:cxnLst/>
              <a:rect r="r" b="b" t="t" l="l"/>
              <a:pathLst>
                <a:path h="533400" w="1981200">
                  <a:moveTo>
                    <a:pt x="0" y="152400"/>
                  </a:moveTo>
                  <a:cubicBezTo>
                    <a:pt x="0" y="68199"/>
                    <a:pt x="68199" y="0"/>
                    <a:pt x="152400" y="0"/>
                  </a:cubicBezTo>
                  <a:lnTo>
                    <a:pt x="1828800" y="0"/>
                  </a:lnTo>
                  <a:cubicBezTo>
                    <a:pt x="1913001" y="0"/>
                    <a:pt x="1981200" y="68199"/>
                    <a:pt x="1981200" y="152400"/>
                  </a:cubicBezTo>
                  <a:lnTo>
                    <a:pt x="1981200" y="381000"/>
                  </a:lnTo>
                  <a:cubicBezTo>
                    <a:pt x="1981200" y="465201"/>
                    <a:pt x="1913001" y="533400"/>
                    <a:pt x="1828800" y="533400"/>
                  </a:cubicBezTo>
                  <a:lnTo>
                    <a:pt x="152400" y="533400"/>
                  </a:lnTo>
                  <a:cubicBezTo>
                    <a:pt x="68199" y="533400"/>
                    <a:pt x="0" y="465201"/>
                    <a:pt x="0" y="381000"/>
                  </a:cubicBezTo>
                  <a:close/>
                </a:path>
              </a:pathLst>
            </a:custGeom>
            <a:solidFill>
              <a:srgbClr val="B0B1B3"/>
            </a:solidFill>
          </p:spPr>
        </p:sp>
      </p:grpSp>
      <p:grpSp>
        <p:nvGrpSpPr>
          <p:cNvPr name="Group 31" id="31"/>
          <p:cNvGrpSpPr/>
          <p:nvPr/>
        </p:nvGrpSpPr>
        <p:grpSpPr>
          <a:xfrm rot="0">
            <a:off x="6515100" y="8301038"/>
            <a:ext cx="1200150" cy="357188"/>
            <a:chOff x="0" y="0"/>
            <a:chExt cx="1600200" cy="476250"/>
          </a:xfrm>
        </p:grpSpPr>
        <p:sp>
          <p:nvSpPr>
            <p:cNvPr name="Freeform 32" id="32"/>
            <p:cNvSpPr/>
            <p:nvPr/>
          </p:nvSpPr>
          <p:spPr>
            <a:xfrm flipH="false" flipV="false" rot="0">
              <a:off x="0" y="0"/>
              <a:ext cx="1600200" cy="476250"/>
            </a:xfrm>
            <a:custGeom>
              <a:avLst/>
              <a:gdLst/>
              <a:ahLst/>
              <a:cxnLst/>
              <a:rect r="r" b="b" t="t" l="l"/>
              <a:pathLst>
                <a:path h="476250" w="1600200">
                  <a:moveTo>
                    <a:pt x="0" y="0"/>
                  </a:moveTo>
                  <a:lnTo>
                    <a:pt x="1600200" y="0"/>
                  </a:lnTo>
                  <a:lnTo>
                    <a:pt x="1600200" y="476250"/>
                  </a:lnTo>
                  <a:lnTo>
                    <a:pt x="0" y="476250"/>
                  </a:lnTo>
                  <a:close/>
                </a:path>
              </a:pathLst>
            </a:custGeom>
            <a:blipFill>
              <a:blip r:embed="rId3">
                <a:alphaModFix amt="0"/>
              </a:blip>
              <a:stretch>
                <a:fillRect l="0" t="-15469" r="0" b="-15469"/>
              </a:stretch>
            </a:blipFill>
          </p:spPr>
        </p:sp>
        <p:sp>
          <p:nvSpPr>
            <p:cNvPr name="TextBox 33" id="33"/>
            <p:cNvSpPr txBox="true"/>
            <p:nvPr/>
          </p:nvSpPr>
          <p:spPr>
            <a:xfrm>
              <a:off x="0" y="-19050"/>
              <a:ext cx="1600200" cy="495300"/>
            </a:xfrm>
            <a:prstGeom prst="rect">
              <a:avLst/>
            </a:prstGeom>
          </p:spPr>
          <p:txBody>
            <a:bodyPr anchor="ctr" rtlCol="false" tIns="0" lIns="0" bIns="0" rIns="0"/>
            <a:lstStyle/>
            <a:p>
              <a:pPr algn="ctr">
                <a:lnSpc>
                  <a:spcPts val="1620"/>
                </a:lnSpc>
              </a:pPr>
              <a:r>
                <a:rPr lang="en-US" b="true" sz="1350">
                  <a:solidFill>
                    <a:srgbClr val="0C0E14"/>
                  </a:solidFill>
                  <a:latin typeface="Arial Bold"/>
                  <a:ea typeface="Arial Bold"/>
                  <a:cs typeface="Arial Bold"/>
                  <a:sym typeface="Arial Bold"/>
                </a:rPr>
                <a:t>Seguridad</a:t>
              </a:r>
            </a:p>
          </p:txBody>
        </p:sp>
      </p:grpSp>
      <p:grpSp>
        <p:nvGrpSpPr>
          <p:cNvPr name="Group 34" id="34"/>
          <p:cNvGrpSpPr/>
          <p:nvPr/>
        </p:nvGrpSpPr>
        <p:grpSpPr>
          <a:xfrm rot="0">
            <a:off x="8058150" y="8301038"/>
            <a:ext cx="3643312" cy="600075"/>
            <a:chOff x="0" y="0"/>
            <a:chExt cx="4857750" cy="800100"/>
          </a:xfrm>
        </p:grpSpPr>
        <p:sp>
          <p:nvSpPr>
            <p:cNvPr name="Freeform 35" id="35"/>
            <p:cNvSpPr/>
            <p:nvPr/>
          </p:nvSpPr>
          <p:spPr>
            <a:xfrm flipH="false" flipV="false" rot="0">
              <a:off x="0" y="0"/>
              <a:ext cx="4857750" cy="800100"/>
            </a:xfrm>
            <a:custGeom>
              <a:avLst/>
              <a:gdLst/>
              <a:ahLst/>
              <a:cxnLst/>
              <a:rect r="r" b="b" t="t" l="l"/>
              <a:pathLst>
                <a:path h="800100" w="4857750">
                  <a:moveTo>
                    <a:pt x="0" y="0"/>
                  </a:moveTo>
                  <a:lnTo>
                    <a:pt x="4857750" y="0"/>
                  </a:lnTo>
                  <a:lnTo>
                    <a:pt x="4857750" y="800100"/>
                  </a:lnTo>
                  <a:lnTo>
                    <a:pt x="0" y="800100"/>
                  </a:lnTo>
                  <a:close/>
                </a:path>
              </a:pathLst>
            </a:custGeom>
            <a:blipFill>
              <a:blip r:embed="rId3">
                <a:alphaModFix amt="0"/>
              </a:blip>
              <a:stretch>
                <a:fillRect l="0" t="-68302" r="0" b="-68302"/>
              </a:stretch>
            </a:blipFill>
          </p:spPr>
        </p:sp>
        <p:sp>
          <p:nvSpPr>
            <p:cNvPr name="TextBox 36" id="36"/>
            <p:cNvSpPr txBox="true"/>
            <p:nvPr/>
          </p:nvSpPr>
          <p:spPr>
            <a:xfrm>
              <a:off x="0" y="-9525"/>
              <a:ext cx="4857750" cy="809625"/>
            </a:xfrm>
            <a:prstGeom prst="rect">
              <a:avLst/>
            </a:prstGeom>
          </p:spPr>
          <p:txBody>
            <a:bodyPr anchor="ctr" rtlCol="false" tIns="0" lIns="0" bIns="0" rIns="0"/>
            <a:lstStyle/>
            <a:p>
              <a:pPr algn="l">
                <a:lnSpc>
                  <a:spcPts val="1889"/>
                </a:lnSpc>
              </a:pPr>
              <a:r>
                <a:rPr lang="en-US" sz="1575">
                  <a:solidFill>
                    <a:srgbClr val="0C0E14"/>
                  </a:solidFill>
                  <a:latin typeface="Arial"/>
                  <a:ea typeface="Arial"/>
                  <a:cs typeface="Arial"/>
                  <a:sym typeface="Arial"/>
                </a:rPr>
                <a:t>Señal de seguridad de la zona</a:t>
              </a:r>
            </a:p>
          </p:txBody>
        </p:sp>
      </p:grpSp>
      <p:grpSp>
        <p:nvGrpSpPr>
          <p:cNvPr name="Group 37" id="37"/>
          <p:cNvGrpSpPr/>
          <p:nvPr/>
        </p:nvGrpSpPr>
        <p:grpSpPr>
          <a:xfrm rot="0">
            <a:off x="11915775" y="8286750"/>
            <a:ext cx="2114550" cy="400050"/>
            <a:chOff x="0" y="0"/>
            <a:chExt cx="2819400" cy="533400"/>
          </a:xfrm>
        </p:grpSpPr>
        <p:sp>
          <p:nvSpPr>
            <p:cNvPr name="Freeform 38" id="38"/>
            <p:cNvSpPr/>
            <p:nvPr/>
          </p:nvSpPr>
          <p:spPr>
            <a:xfrm flipH="false" flipV="false" rot="0">
              <a:off x="0" y="0"/>
              <a:ext cx="2819400" cy="533400"/>
            </a:xfrm>
            <a:custGeom>
              <a:avLst/>
              <a:gdLst/>
              <a:ahLst/>
              <a:cxnLst/>
              <a:rect r="r" b="b" t="t" l="l"/>
              <a:pathLst>
                <a:path h="533400" w="2819400">
                  <a:moveTo>
                    <a:pt x="0" y="152400"/>
                  </a:moveTo>
                  <a:cubicBezTo>
                    <a:pt x="0" y="68199"/>
                    <a:pt x="68199" y="0"/>
                    <a:pt x="152400" y="0"/>
                  </a:cubicBezTo>
                  <a:lnTo>
                    <a:pt x="2667000" y="0"/>
                  </a:lnTo>
                  <a:cubicBezTo>
                    <a:pt x="2751201" y="0"/>
                    <a:pt x="2819400" y="68199"/>
                    <a:pt x="2819400" y="152400"/>
                  </a:cubicBezTo>
                  <a:lnTo>
                    <a:pt x="2819400" y="381000"/>
                  </a:lnTo>
                  <a:cubicBezTo>
                    <a:pt x="2819400" y="465201"/>
                    <a:pt x="2751201" y="533400"/>
                    <a:pt x="2667000" y="533400"/>
                  </a:cubicBezTo>
                  <a:lnTo>
                    <a:pt x="152400" y="533400"/>
                  </a:lnTo>
                  <a:cubicBezTo>
                    <a:pt x="68199" y="533400"/>
                    <a:pt x="0" y="465201"/>
                    <a:pt x="0" y="381000"/>
                  </a:cubicBezTo>
                  <a:close/>
                </a:path>
              </a:pathLst>
            </a:custGeom>
            <a:solidFill>
              <a:srgbClr val="C2C9ED"/>
            </a:solidFill>
          </p:spPr>
        </p:sp>
      </p:grpSp>
      <p:grpSp>
        <p:nvGrpSpPr>
          <p:cNvPr name="Group 39" id="39"/>
          <p:cNvGrpSpPr/>
          <p:nvPr/>
        </p:nvGrpSpPr>
        <p:grpSpPr>
          <a:xfrm rot="0">
            <a:off x="12058650" y="8301038"/>
            <a:ext cx="1828800" cy="357188"/>
            <a:chOff x="0" y="0"/>
            <a:chExt cx="2438400" cy="476250"/>
          </a:xfrm>
        </p:grpSpPr>
        <p:sp>
          <p:nvSpPr>
            <p:cNvPr name="Freeform 40" id="40"/>
            <p:cNvSpPr/>
            <p:nvPr/>
          </p:nvSpPr>
          <p:spPr>
            <a:xfrm flipH="false" flipV="false" rot="0">
              <a:off x="0" y="0"/>
              <a:ext cx="2438400" cy="476250"/>
            </a:xfrm>
            <a:custGeom>
              <a:avLst/>
              <a:gdLst/>
              <a:ahLst/>
              <a:cxnLst/>
              <a:rect r="r" b="b" t="t" l="l"/>
              <a:pathLst>
                <a:path h="476250" w="2438400">
                  <a:moveTo>
                    <a:pt x="0" y="0"/>
                  </a:moveTo>
                  <a:lnTo>
                    <a:pt x="2438400" y="0"/>
                  </a:lnTo>
                  <a:lnTo>
                    <a:pt x="2438400" y="476250"/>
                  </a:lnTo>
                  <a:lnTo>
                    <a:pt x="0" y="476250"/>
                  </a:lnTo>
                  <a:close/>
                </a:path>
              </a:pathLst>
            </a:custGeom>
            <a:blipFill>
              <a:blip r:embed="rId3">
                <a:alphaModFix amt="0"/>
              </a:blip>
              <a:stretch>
                <a:fillRect l="0" t="-49763" r="0" b="-49763"/>
              </a:stretch>
            </a:blipFill>
          </p:spPr>
        </p:sp>
        <p:sp>
          <p:nvSpPr>
            <p:cNvPr name="TextBox 41" id="41"/>
            <p:cNvSpPr txBox="true"/>
            <p:nvPr/>
          </p:nvSpPr>
          <p:spPr>
            <a:xfrm>
              <a:off x="0" y="-19050"/>
              <a:ext cx="2438400" cy="495300"/>
            </a:xfrm>
            <a:prstGeom prst="rect">
              <a:avLst/>
            </a:prstGeom>
          </p:spPr>
          <p:txBody>
            <a:bodyPr anchor="ctr" rtlCol="false" tIns="0" lIns="0" bIns="0" rIns="0"/>
            <a:lstStyle/>
            <a:p>
              <a:pPr algn="ctr">
                <a:lnSpc>
                  <a:spcPts val="1620"/>
                </a:lnSpc>
              </a:pPr>
              <a:r>
                <a:rPr lang="en-US" b="true" sz="1350">
                  <a:solidFill>
                    <a:srgbClr val="0C0E14"/>
                  </a:solidFill>
                  <a:latin typeface="Arial Bold"/>
                  <a:ea typeface="Arial Bold"/>
                  <a:cs typeface="Arial Bold"/>
                  <a:sym typeface="Arial Bold"/>
                </a:rPr>
                <a:t>Conveniencia</a:t>
              </a:r>
            </a:p>
          </p:txBody>
        </p:sp>
      </p:grpSp>
      <p:grpSp>
        <p:nvGrpSpPr>
          <p:cNvPr name="Group 42" id="42"/>
          <p:cNvGrpSpPr/>
          <p:nvPr/>
        </p:nvGrpSpPr>
        <p:grpSpPr>
          <a:xfrm rot="0">
            <a:off x="14201775" y="8301038"/>
            <a:ext cx="3000375" cy="600075"/>
            <a:chOff x="0" y="0"/>
            <a:chExt cx="4000500" cy="800100"/>
          </a:xfrm>
        </p:grpSpPr>
        <p:sp>
          <p:nvSpPr>
            <p:cNvPr name="Freeform 43" id="43"/>
            <p:cNvSpPr/>
            <p:nvPr/>
          </p:nvSpPr>
          <p:spPr>
            <a:xfrm flipH="false" flipV="false" rot="0">
              <a:off x="0" y="0"/>
              <a:ext cx="4000500" cy="800100"/>
            </a:xfrm>
            <a:custGeom>
              <a:avLst/>
              <a:gdLst/>
              <a:ahLst/>
              <a:cxnLst/>
              <a:rect r="r" b="b" t="t" l="l"/>
              <a:pathLst>
                <a:path h="800100" w="4000500">
                  <a:moveTo>
                    <a:pt x="0" y="0"/>
                  </a:moveTo>
                  <a:lnTo>
                    <a:pt x="4000500" y="0"/>
                  </a:lnTo>
                  <a:lnTo>
                    <a:pt x="4000500" y="800100"/>
                  </a:lnTo>
                  <a:lnTo>
                    <a:pt x="0" y="800100"/>
                  </a:lnTo>
                  <a:close/>
                </a:path>
              </a:pathLst>
            </a:custGeom>
            <a:blipFill>
              <a:blip r:embed="rId3">
                <a:alphaModFix amt="0"/>
              </a:blip>
              <a:stretch>
                <a:fillRect l="0" t="-47425" r="0" b="-47425"/>
              </a:stretch>
            </a:blipFill>
          </p:spPr>
        </p:sp>
        <p:sp>
          <p:nvSpPr>
            <p:cNvPr name="TextBox 44" id="44"/>
            <p:cNvSpPr txBox="true"/>
            <p:nvPr/>
          </p:nvSpPr>
          <p:spPr>
            <a:xfrm>
              <a:off x="0" y="-9525"/>
              <a:ext cx="4000500" cy="809625"/>
            </a:xfrm>
            <a:prstGeom prst="rect">
              <a:avLst/>
            </a:prstGeom>
          </p:spPr>
          <p:txBody>
            <a:bodyPr anchor="ctr" rtlCol="false" tIns="0" lIns="0" bIns="0" rIns="0"/>
            <a:lstStyle/>
            <a:p>
              <a:pPr algn="l">
                <a:lnSpc>
                  <a:spcPts val="1889"/>
                </a:lnSpc>
              </a:pPr>
              <a:r>
                <a:rPr lang="en-US" sz="1575">
                  <a:solidFill>
                    <a:srgbClr val="0C0E14"/>
                  </a:solidFill>
                  <a:latin typeface="Arial"/>
                  <a:ea typeface="Arial"/>
                  <a:cs typeface="Arial"/>
                  <a:sym typeface="Arial"/>
                </a:rPr>
                <a:t>Servicios y accesibilidad del entorno</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EXPERIENCIA · EVALUACIÓN</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El detalle explica cada opción y habilita acciones</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El comprador revisa la ficha, guarda favoritos y compara hasta tres viviendas.</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07</a:t>
              </a:r>
            </a:p>
          </p:txBody>
        </p:sp>
      </p:grpSp>
      <p:grpSp>
        <p:nvGrpSpPr>
          <p:cNvPr name="Group 17" id="17"/>
          <p:cNvGrpSpPr/>
          <p:nvPr/>
        </p:nvGrpSpPr>
        <p:grpSpPr>
          <a:xfrm rot="0">
            <a:off x="1364456" y="2857500"/>
            <a:ext cx="6858000" cy="5143500"/>
            <a:chOff x="0" y="0"/>
            <a:chExt cx="9144000" cy="6858000"/>
          </a:xfrm>
        </p:grpSpPr>
        <p:sp>
          <p:nvSpPr>
            <p:cNvPr name="Freeform 18" id="18"/>
            <p:cNvSpPr/>
            <p:nvPr/>
          </p:nvSpPr>
          <p:spPr>
            <a:xfrm flipH="false" flipV="false" rot="0">
              <a:off x="0" y="0"/>
              <a:ext cx="9144000" cy="6858000"/>
            </a:xfrm>
            <a:custGeom>
              <a:avLst/>
              <a:gdLst/>
              <a:ahLst/>
              <a:cxnLst/>
              <a:rect r="r" b="b" t="t" l="l"/>
              <a:pathLst>
                <a:path h="6858000" w="9144000">
                  <a:moveTo>
                    <a:pt x="0" y="0"/>
                  </a:moveTo>
                  <a:lnTo>
                    <a:pt x="9144000" y="0"/>
                  </a:lnTo>
                  <a:lnTo>
                    <a:pt x="9144000" y="6858000"/>
                  </a:lnTo>
                  <a:lnTo>
                    <a:pt x="0" y="6858000"/>
                  </a:lnTo>
                  <a:lnTo>
                    <a:pt x="0" y="0"/>
                  </a:lnTo>
                  <a:close/>
                </a:path>
              </a:pathLst>
            </a:custGeom>
            <a:blipFill>
              <a:blip r:embed="rId4"/>
              <a:stretch>
                <a:fillRect l="0" t="0" r="0" b="0"/>
              </a:stretch>
            </a:blipFill>
          </p:spPr>
        </p:sp>
      </p:grpSp>
      <p:grpSp>
        <p:nvGrpSpPr>
          <p:cNvPr name="Group 19" id="19"/>
          <p:cNvGrpSpPr/>
          <p:nvPr/>
        </p:nvGrpSpPr>
        <p:grpSpPr>
          <a:xfrm rot="0">
            <a:off x="10086975" y="2857500"/>
            <a:ext cx="6858000" cy="5143500"/>
            <a:chOff x="0" y="0"/>
            <a:chExt cx="9144000" cy="6858000"/>
          </a:xfrm>
        </p:grpSpPr>
        <p:sp>
          <p:nvSpPr>
            <p:cNvPr name="Freeform 20" id="20"/>
            <p:cNvSpPr/>
            <p:nvPr/>
          </p:nvSpPr>
          <p:spPr>
            <a:xfrm flipH="false" flipV="false" rot="0">
              <a:off x="0" y="0"/>
              <a:ext cx="9144000" cy="6858000"/>
            </a:xfrm>
            <a:custGeom>
              <a:avLst/>
              <a:gdLst/>
              <a:ahLst/>
              <a:cxnLst/>
              <a:rect r="r" b="b" t="t" l="l"/>
              <a:pathLst>
                <a:path h="6858000" w="9144000">
                  <a:moveTo>
                    <a:pt x="0" y="0"/>
                  </a:moveTo>
                  <a:lnTo>
                    <a:pt x="9144000" y="0"/>
                  </a:lnTo>
                  <a:lnTo>
                    <a:pt x="9144000" y="6858000"/>
                  </a:lnTo>
                  <a:lnTo>
                    <a:pt x="0" y="6858000"/>
                  </a:lnTo>
                  <a:lnTo>
                    <a:pt x="0" y="0"/>
                  </a:lnTo>
                  <a:close/>
                </a:path>
              </a:pathLst>
            </a:custGeom>
            <a:blipFill>
              <a:blip r:embed="rId5"/>
              <a:stretch>
                <a:fillRect l="0" t="0" r="0" b="0"/>
              </a:stretch>
            </a:blipFill>
          </p:spPr>
        </p:sp>
      </p:grpSp>
      <p:grpSp>
        <p:nvGrpSpPr>
          <p:cNvPr name="Group 21" id="21"/>
          <p:cNvGrpSpPr/>
          <p:nvPr/>
        </p:nvGrpSpPr>
        <p:grpSpPr>
          <a:xfrm rot="0">
            <a:off x="1000125" y="8558212"/>
            <a:ext cx="128588" cy="128588"/>
            <a:chOff x="0" y="0"/>
            <a:chExt cx="171450" cy="171450"/>
          </a:xfrm>
        </p:grpSpPr>
        <p:sp>
          <p:nvSpPr>
            <p:cNvPr name="Freeform 22" id="22"/>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23" id="23"/>
          <p:cNvGrpSpPr/>
          <p:nvPr/>
        </p:nvGrpSpPr>
        <p:grpSpPr>
          <a:xfrm rot="0">
            <a:off x="1314450" y="8486775"/>
            <a:ext cx="7043738" cy="400050"/>
            <a:chOff x="0" y="0"/>
            <a:chExt cx="9391650" cy="533400"/>
          </a:xfrm>
        </p:grpSpPr>
        <p:sp>
          <p:nvSpPr>
            <p:cNvPr name="Freeform 24" id="24"/>
            <p:cNvSpPr/>
            <p:nvPr/>
          </p:nvSpPr>
          <p:spPr>
            <a:xfrm flipH="false" flipV="false" rot="0">
              <a:off x="0" y="0"/>
              <a:ext cx="9391650" cy="533400"/>
            </a:xfrm>
            <a:custGeom>
              <a:avLst/>
              <a:gdLst/>
              <a:ahLst/>
              <a:cxnLst/>
              <a:rect r="r" b="b" t="t" l="l"/>
              <a:pathLst>
                <a:path h="533400" w="9391650">
                  <a:moveTo>
                    <a:pt x="0" y="0"/>
                  </a:moveTo>
                  <a:lnTo>
                    <a:pt x="9391650" y="0"/>
                  </a:lnTo>
                  <a:lnTo>
                    <a:pt x="9391650" y="533400"/>
                  </a:lnTo>
                  <a:lnTo>
                    <a:pt x="0" y="533400"/>
                  </a:lnTo>
                  <a:close/>
                </a:path>
              </a:pathLst>
            </a:custGeom>
            <a:blipFill>
              <a:blip r:embed="rId3">
                <a:alphaModFix amt="0"/>
              </a:blip>
              <a:stretch>
                <a:fillRect l="0" t="-293075" r="0" b="-293075"/>
              </a:stretch>
            </a:blipFill>
          </p:spPr>
        </p:sp>
        <p:sp>
          <p:nvSpPr>
            <p:cNvPr name="TextBox 25" id="25"/>
            <p:cNvSpPr txBox="true"/>
            <p:nvPr/>
          </p:nvSpPr>
          <p:spPr>
            <a:xfrm>
              <a:off x="0" y="-9525"/>
              <a:ext cx="939165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Ubicación</a:t>
              </a:r>
            </a:p>
          </p:txBody>
        </p:sp>
      </p:grpSp>
      <p:sp>
        <p:nvSpPr>
          <p:cNvPr name="TextBox 26" id="26"/>
          <p:cNvSpPr txBox="true"/>
          <p:nvPr/>
        </p:nvSpPr>
        <p:spPr>
          <a:xfrm rot="0">
            <a:off x="1405890" y="8956357"/>
            <a:ext cx="6832282"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133 ubicaciones geocodificadas con precisión de calle o edificio.</a:t>
            </a:r>
          </a:p>
          <a:p>
            <a:pPr algn="l">
              <a:lnSpc>
                <a:spcPts val="2025"/>
              </a:lnSpc>
            </a:pPr>
            <a:r>
              <a:rPr lang="en-US" sz="1687">
                <a:solidFill>
                  <a:srgbClr val="0C0E14"/>
                </a:solidFill>
                <a:latin typeface="Arial"/>
                <a:ea typeface="Arial"/>
                <a:cs typeface="Arial"/>
                <a:sym typeface="Arial"/>
              </a:rPr>
              <a:t>Cuando hay coordenadas, la ficha ofrece un enlace a OpenStreetMap.</a:t>
            </a:r>
          </a:p>
        </p:txBody>
      </p:sp>
      <p:grpSp>
        <p:nvGrpSpPr>
          <p:cNvPr name="Group 27" id="27"/>
          <p:cNvGrpSpPr/>
          <p:nvPr/>
        </p:nvGrpSpPr>
        <p:grpSpPr>
          <a:xfrm rot="0">
            <a:off x="9501188" y="8558212"/>
            <a:ext cx="128588" cy="128588"/>
            <a:chOff x="0" y="0"/>
            <a:chExt cx="171450" cy="171450"/>
          </a:xfrm>
        </p:grpSpPr>
        <p:sp>
          <p:nvSpPr>
            <p:cNvPr name="Freeform 28" id="28"/>
            <p:cNvSpPr/>
            <p:nvPr/>
          </p:nvSpPr>
          <p:spPr>
            <a:xfrm flipH="false" flipV="false" rot="0">
              <a:off x="0" y="0"/>
              <a:ext cx="171450" cy="171450"/>
            </a:xfrm>
            <a:custGeom>
              <a:avLst/>
              <a:gdLst/>
              <a:ahLst/>
              <a:cxnLst/>
              <a:rect r="r" b="b" t="t" l="l"/>
              <a:pathLst>
                <a:path h="171450" w="171450">
                  <a:moveTo>
                    <a:pt x="0" y="85725"/>
                  </a:moveTo>
                  <a:cubicBezTo>
                    <a:pt x="0" y="38354"/>
                    <a:pt x="38354" y="0"/>
                    <a:pt x="85725" y="0"/>
                  </a:cubicBezTo>
                  <a:cubicBezTo>
                    <a:pt x="133096" y="0"/>
                    <a:pt x="171450" y="38354"/>
                    <a:pt x="171450" y="85725"/>
                  </a:cubicBezTo>
                  <a:cubicBezTo>
                    <a:pt x="171450" y="133096"/>
                    <a:pt x="133096" y="171450"/>
                    <a:pt x="85725" y="171450"/>
                  </a:cubicBezTo>
                  <a:cubicBezTo>
                    <a:pt x="38354" y="171450"/>
                    <a:pt x="0" y="133096"/>
                    <a:pt x="0" y="85725"/>
                  </a:cubicBezTo>
                  <a:close/>
                </a:path>
              </a:pathLst>
            </a:custGeom>
            <a:solidFill>
              <a:srgbClr val="B0B1B3"/>
            </a:solidFill>
          </p:spPr>
        </p:sp>
      </p:grpSp>
      <p:grpSp>
        <p:nvGrpSpPr>
          <p:cNvPr name="Group 29" id="29"/>
          <p:cNvGrpSpPr/>
          <p:nvPr/>
        </p:nvGrpSpPr>
        <p:grpSpPr>
          <a:xfrm rot="0">
            <a:off x="9815512" y="8486775"/>
            <a:ext cx="7043738" cy="400050"/>
            <a:chOff x="0" y="0"/>
            <a:chExt cx="9391650" cy="533400"/>
          </a:xfrm>
        </p:grpSpPr>
        <p:sp>
          <p:nvSpPr>
            <p:cNvPr name="Freeform 30" id="30"/>
            <p:cNvSpPr/>
            <p:nvPr/>
          </p:nvSpPr>
          <p:spPr>
            <a:xfrm flipH="false" flipV="false" rot="0">
              <a:off x="0" y="0"/>
              <a:ext cx="9391650" cy="533400"/>
            </a:xfrm>
            <a:custGeom>
              <a:avLst/>
              <a:gdLst/>
              <a:ahLst/>
              <a:cxnLst/>
              <a:rect r="r" b="b" t="t" l="l"/>
              <a:pathLst>
                <a:path h="533400" w="9391650">
                  <a:moveTo>
                    <a:pt x="0" y="0"/>
                  </a:moveTo>
                  <a:lnTo>
                    <a:pt x="9391650" y="0"/>
                  </a:lnTo>
                  <a:lnTo>
                    <a:pt x="9391650" y="533400"/>
                  </a:lnTo>
                  <a:lnTo>
                    <a:pt x="0" y="533400"/>
                  </a:lnTo>
                  <a:close/>
                </a:path>
              </a:pathLst>
            </a:custGeom>
            <a:blipFill>
              <a:blip r:embed="rId3">
                <a:alphaModFix amt="0"/>
              </a:blip>
              <a:stretch>
                <a:fillRect l="0" t="-293075" r="0" b="-293075"/>
              </a:stretch>
            </a:blipFill>
          </p:spPr>
        </p:sp>
        <p:sp>
          <p:nvSpPr>
            <p:cNvPr name="TextBox 31" id="31"/>
            <p:cNvSpPr txBox="true"/>
            <p:nvPr/>
          </p:nvSpPr>
          <p:spPr>
            <a:xfrm>
              <a:off x="0" y="-9525"/>
              <a:ext cx="9391650" cy="542925"/>
            </a:xfrm>
            <a:prstGeom prst="rect">
              <a:avLst/>
            </a:prstGeom>
          </p:spPr>
          <p:txBody>
            <a:bodyPr anchor="ctr" rtlCol="false" tIns="0" lIns="0" bIns="0" rIns="0"/>
            <a:lstStyle/>
            <a:p>
              <a:pPr algn="l">
                <a:lnSpc>
                  <a:spcPts val="2565"/>
                </a:lnSpc>
              </a:pPr>
              <a:r>
                <a:rPr lang="en-US" b="true" sz="2137">
                  <a:solidFill>
                    <a:srgbClr val="0C0E14"/>
                  </a:solidFill>
                  <a:latin typeface="Arial Bold"/>
                  <a:ea typeface="Arial Bold"/>
                  <a:cs typeface="Arial Bold"/>
                  <a:sym typeface="Arial Bold"/>
                </a:rPr>
                <a:t>Guardados</a:t>
              </a:r>
            </a:p>
          </p:txBody>
        </p:sp>
      </p:grpSp>
      <p:sp>
        <p:nvSpPr>
          <p:cNvPr name="TextBox 32" id="32"/>
          <p:cNvSpPr txBox="true"/>
          <p:nvPr/>
        </p:nvSpPr>
        <p:spPr>
          <a:xfrm rot="0">
            <a:off x="9906952" y="8956357"/>
            <a:ext cx="6832282" cy="613410"/>
          </a:xfrm>
          <a:prstGeom prst="rect">
            <a:avLst/>
          </a:prstGeom>
        </p:spPr>
        <p:txBody>
          <a:bodyPr anchor="t" rtlCol="false" tIns="0" lIns="0" bIns="0" rIns="0">
            <a:spAutoFit/>
          </a:bodyPr>
          <a:lstStyle/>
          <a:p>
            <a:pPr algn="l">
              <a:lnSpc>
                <a:spcPts val="2025"/>
              </a:lnSpc>
            </a:pPr>
            <a:r>
              <a:rPr lang="en-US" sz="1687">
                <a:solidFill>
                  <a:srgbClr val="0C0E14"/>
                </a:solidFill>
                <a:latin typeface="Arial"/>
                <a:ea typeface="Arial"/>
                <a:cs typeface="Arial"/>
                <a:sym typeface="Arial"/>
              </a:rPr>
              <a:t>Recupera tus favoritas al volver a iniciar sesión.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EXPERIENCIA · MÓVIL</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El recorrido también se adapta a pantallas pequeñas</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2B3F9E"/>
                  </a:solidFill>
                  <a:latin typeface="Arial"/>
                  <a:ea typeface="Arial"/>
                  <a:cs typeface="Arial"/>
                  <a:sym typeface="Arial"/>
                </a:rPr>
                <a:t>Captura del prototipo web en formato móvil.</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2B3F9E"/>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2B3F9E"/>
                  </a:solidFill>
                  <a:latin typeface="Arial"/>
                  <a:ea typeface="Arial"/>
                  <a:cs typeface="Arial"/>
                  <a:sym typeface="Arial"/>
                </a:rPr>
                <a:t>08</a:t>
              </a:r>
            </a:p>
          </p:txBody>
        </p:sp>
      </p:grpSp>
      <p:sp>
        <p:nvSpPr>
          <p:cNvPr name="Freeform 17" id="17"/>
          <p:cNvSpPr/>
          <p:nvPr/>
        </p:nvSpPr>
        <p:spPr>
          <a:xfrm flipH="false" flipV="false" rot="0">
            <a:off x="6885437" y="2369908"/>
            <a:ext cx="4517126" cy="7359879"/>
          </a:xfrm>
          <a:custGeom>
            <a:avLst/>
            <a:gdLst/>
            <a:ahLst/>
            <a:cxnLst/>
            <a:rect r="r" b="b" t="t" l="l"/>
            <a:pathLst>
              <a:path h="7359879" w="4517126">
                <a:moveTo>
                  <a:pt x="0" y="0"/>
                </a:moveTo>
                <a:lnTo>
                  <a:pt x="4517126" y="0"/>
                </a:lnTo>
                <a:lnTo>
                  <a:pt x="4517126" y="7359880"/>
                </a:lnTo>
                <a:lnTo>
                  <a:pt x="0" y="7359880"/>
                </a:lnTo>
                <a:lnTo>
                  <a:pt x="0" y="0"/>
                </a:lnTo>
                <a:close/>
              </a:path>
            </a:pathLst>
          </a:custGeom>
          <a:blipFill>
            <a:blip r:embed="rId4"/>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596343" y="578644"/>
            <a:ext cx="9054971" cy="900112"/>
            <a:chOff x="0" y="0"/>
            <a:chExt cx="12073294" cy="1200150"/>
          </a:xfrm>
        </p:grpSpPr>
        <p:sp>
          <p:nvSpPr>
            <p:cNvPr name="Freeform 3" id="3"/>
            <p:cNvSpPr/>
            <p:nvPr/>
          </p:nvSpPr>
          <p:spPr>
            <a:xfrm flipH="false" flipV="false" rot="0">
              <a:off x="0" y="0"/>
              <a:ext cx="12073295" cy="1200150"/>
            </a:xfrm>
            <a:custGeom>
              <a:avLst/>
              <a:gdLst/>
              <a:ahLst/>
              <a:cxnLst/>
              <a:rect r="r" b="b" t="t" l="l"/>
              <a:pathLst>
                <a:path h="1200150" w="12073295">
                  <a:moveTo>
                    <a:pt x="0" y="0"/>
                  </a:moveTo>
                  <a:lnTo>
                    <a:pt x="12073295" y="0"/>
                  </a:lnTo>
                  <a:lnTo>
                    <a:pt x="12073295" y="1200150"/>
                  </a:lnTo>
                  <a:lnTo>
                    <a:pt x="0" y="1200150"/>
                  </a:lnTo>
                  <a:close/>
                </a:path>
              </a:pathLst>
            </a:custGeom>
            <a:blipFill>
              <a:blip r:embed="rId3">
                <a:alphaModFix amt="0"/>
              </a:blip>
              <a:stretch>
                <a:fillRect l="0" t="-310318" r="-83820" b="-310318"/>
              </a:stretch>
            </a:blipFill>
          </p:spPr>
        </p:sp>
        <p:sp>
          <p:nvSpPr>
            <p:cNvPr name="TextBox 4" id="4"/>
            <p:cNvSpPr txBox="true"/>
            <p:nvPr/>
          </p:nvSpPr>
          <p:spPr>
            <a:xfrm>
              <a:off x="0" y="-19050"/>
              <a:ext cx="12073294" cy="1219200"/>
            </a:xfrm>
            <a:prstGeom prst="rect">
              <a:avLst/>
            </a:prstGeom>
          </p:spPr>
          <p:txBody>
            <a:bodyPr anchor="ctr" rtlCol="false" tIns="0" lIns="0" bIns="0" rIns="0"/>
            <a:lstStyle/>
            <a:p>
              <a:pPr algn="l">
                <a:lnSpc>
                  <a:spcPts val="4860"/>
                </a:lnSpc>
              </a:pPr>
              <a:r>
                <a:rPr lang="en-US" sz="4050" b="true">
                  <a:solidFill>
                    <a:srgbClr val="0C0E14"/>
                  </a:solidFill>
                  <a:latin typeface="Arial Bold"/>
                  <a:ea typeface="Arial Bold"/>
                  <a:cs typeface="Arial Bold"/>
                  <a:sym typeface="Arial Bold"/>
                </a:rPr>
                <a:t>DEMO: Recorrido de usuario</a:t>
              </a:r>
            </a:p>
          </p:txBody>
        </p:sp>
      </p:grpSp>
      <p:grpSp>
        <p:nvGrpSpPr>
          <p:cNvPr name="Group 5" id="5"/>
          <p:cNvGrpSpPr/>
          <p:nvPr/>
        </p:nvGrpSpPr>
        <p:grpSpPr>
          <a:xfrm rot="0">
            <a:off x="714375" y="9729788"/>
            <a:ext cx="4286250" cy="314325"/>
            <a:chOff x="0" y="0"/>
            <a:chExt cx="5715000" cy="419100"/>
          </a:xfrm>
        </p:grpSpPr>
        <p:sp>
          <p:nvSpPr>
            <p:cNvPr name="Freeform 6" id="6"/>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7" id="7"/>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8" id="8"/>
          <p:cNvGrpSpPr/>
          <p:nvPr/>
        </p:nvGrpSpPr>
        <p:grpSpPr>
          <a:xfrm rot="0">
            <a:off x="17216438" y="9729788"/>
            <a:ext cx="500062" cy="314325"/>
            <a:chOff x="0" y="0"/>
            <a:chExt cx="666750" cy="419100"/>
          </a:xfrm>
        </p:grpSpPr>
        <p:sp>
          <p:nvSpPr>
            <p:cNvPr name="Freeform 9" id="9"/>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0" id="10"/>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09</a:t>
              </a:r>
            </a:p>
          </p:txBody>
        </p:sp>
      </p:grpSp>
      <p:grpSp>
        <p:nvGrpSpPr>
          <p:cNvPr name="Group 11" id="11"/>
          <p:cNvGrpSpPr/>
          <p:nvPr/>
        </p:nvGrpSpPr>
        <p:grpSpPr>
          <a:xfrm rot="0">
            <a:off x="771525" y="2775004"/>
            <a:ext cx="8704606" cy="6082170"/>
            <a:chOff x="0" y="0"/>
            <a:chExt cx="11124915" cy="7773313"/>
          </a:xfrm>
        </p:grpSpPr>
        <p:sp>
          <p:nvSpPr>
            <p:cNvPr name="Freeform 12" id="12"/>
            <p:cNvSpPr/>
            <p:nvPr/>
          </p:nvSpPr>
          <p:spPr>
            <a:xfrm flipH="false" flipV="false" rot="0">
              <a:off x="0" y="0"/>
              <a:ext cx="11124966" cy="7773326"/>
            </a:xfrm>
            <a:custGeom>
              <a:avLst/>
              <a:gdLst/>
              <a:ahLst/>
              <a:cxnLst/>
              <a:rect r="r" b="b" t="t" l="l"/>
              <a:pathLst>
                <a:path h="7773326" w="11124966">
                  <a:moveTo>
                    <a:pt x="0" y="388747"/>
                  </a:moveTo>
                  <a:cubicBezTo>
                    <a:pt x="0" y="173962"/>
                    <a:pt x="86904" y="0"/>
                    <a:pt x="194202" y="0"/>
                  </a:cubicBezTo>
                  <a:lnTo>
                    <a:pt x="10930766" y="0"/>
                  </a:lnTo>
                  <a:cubicBezTo>
                    <a:pt x="11038064" y="0"/>
                    <a:pt x="11124966" y="173962"/>
                    <a:pt x="11124966" y="388747"/>
                  </a:cubicBezTo>
                  <a:lnTo>
                    <a:pt x="11124966" y="7384593"/>
                  </a:lnTo>
                  <a:cubicBezTo>
                    <a:pt x="11124966" y="7599377"/>
                    <a:pt x="11038064" y="7773326"/>
                    <a:pt x="10930766" y="7773326"/>
                  </a:cubicBezTo>
                  <a:lnTo>
                    <a:pt x="194202" y="7773326"/>
                  </a:lnTo>
                  <a:cubicBezTo>
                    <a:pt x="86904" y="7773326"/>
                    <a:pt x="0" y="7599377"/>
                    <a:pt x="0" y="7384592"/>
                  </a:cubicBezTo>
                  <a:close/>
                </a:path>
              </a:pathLst>
            </a:custGeom>
            <a:solidFill>
              <a:srgbClr val="2A3D9B"/>
            </a:solidFill>
          </p:spPr>
        </p:sp>
      </p:grpSp>
      <p:grpSp>
        <p:nvGrpSpPr>
          <p:cNvPr name="Group 13" id="13"/>
          <p:cNvGrpSpPr/>
          <p:nvPr/>
        </p:nvGrpSpPr>
        <p:grpSpPr>
          <a:xfrm rot="0">
            <a:off x="1028700" y="1736879"/>
            <a:ext cx="780002" cy="780002"/>
            <a:chOff x="0" y="0"/>
            <a:chExt cx="1040003" cy="1040003"/>
          </a:xfrm>
        </p:grpSpPr>
        <p:sp>
          <p:nvSpPr>
            <p:cNvPr name="Freeform 14" id="14"/>
            <p:cNvSpPr/>
            <p:nvPr/>
          </p:nvSpPr>
          <p:spPr>
            <a:xfrm flipH="false" flipV="false" rot="0">
              <a:off x="0" y="0"/>
              <a:ext cx="1040003" cy="1040003"/>
            </a:xfrm>
            <a:custGeom>
              <a:avLst/>
              <a:gdLst/>
              <a:ahLst/>
              <a:cxnLst/>
              <a:rect r="r" b="b" t="t" l="l"/>
              <a:pathLst>
                <a:path h="1040003" w="1040003">
                  <a:moveTo>
                    <a:pt x="0" y="519938"/>
                  </a:moveTo>
                  <a:cubicBezTo>
                    <a:pt x="0" y="232791"/>
                    <a:pt x="232791" y="0"/>
                    <a:pt x="519938" y="0"/>
                  </a:cubicBezTo>
                  <a:cubicBezTo>
                    <a:pt x="807085" y="0"/>
                    <a:pt x="1040003" y="232791"/>
                    <a:pt x="1040003" y="519938"/>
                  </a:cubicBezTo>
                  <a:cubicBezTo>
                    <a:pt x="1040003" y="807085"/>
                    <a:pt x="807212" y="1040003"/>
                    <a:pt x="519938" y="1040003"/>
                  </a:cubicBezTo>
                  <a:cubicBezTo>
                    <a:pt x="232664" y="1040003"/>
                    <a:pt x="0" y="807212"/>
                    <a:pt x="0" y="519938"/>
                  </a:cubicBezTo>
                  <a:close/>
                </a:path>
              </a:pathLst>
            </a:custGeom>
            <a:solidFill>
              <a:srgbClr val="B0B1B3"/>
            </a:solidFill>
          </p:spPr>
        </p:sp>
        <p:sp>
          <p:nvSpPr>
            <p:cNvPr name="TextBox 15" id="15"/>
            <p:cNvSpPr txBox="true"/>
            <p:nvPr/>
          </p:nvSpPr>
          <p:spPr>
            <a:xfrm>
              <a:off x="0" y="-9525"/>
              <a:ext cx="1040003" cy="1049528"/>
            </a:xfrm>
            <a:prstGeom prst="rect">
              <a:avLst/>
            </a:prstGeom>
          </p:spPr>
          <p:txBody>
            <a:bodyPr anchor="ctr" rtlCol="false" tIns="50800" lIns="50800" bIns="50800" rIns="50800"/>
            <a:lstStyle/>
            <a:p>
              <a:pPr algn="ctr">
                <a:lnSpc>
                  <a:spcPts val="2520"/>
                </a:lnSpc>
              </a:pPr>
              <a:r>
                <a:rPr lang="en-US" b="true" sz="2100">
                  <a:solidFill>
                    <a:srgbClr val="FEFEFF"/>
                  </a:solidFill>
                  <a:latin typeface="Arial Bold"/>
                  <a:ea typeface="Arial Bold"/>
                  <a:cs typeface="Arial Bold"/>
                  <a:sym typeface="Arial Bold"/>
                </a:rPr>
                <a:t>01</a:t>
              </a:r>
            </a:p>
          </p:txBody>
        </p:sp>
      </p:grpSp>
      <p:grpSp>
        <p:nvGrpSpPr>
          <p:cNvPr name="Group 16" id="16"/>
          <p:cNvGrpSpPr/>
          <p:nvPr/>
        </p:nvGrpSpPr>
        <p:grpSpPr>
          <a:xfrm rot="0">
            <a:off x="1975706" y="1736881"/>
            <a:ext cx="1763588" cy="780000"/>
            <a:chOff x="0" y="0"/>
            <a:chExt cx="2351451" cy="1040000"/>
          </a:xfrm>
        </p:grpSpPr>
        <p:sp>
          <p:nvSpPr>
            <p:cNvPr name="Freeform 17" id="17"/>
            <p:cNvSpPr/>
            <p:nvPr/>
          </p:nvSpPr>
          <p:spPr>
            <a:xfrm flipH="false" flipV="false" rot="0">
              <a:off x="0" y="0"/>
              <a:ext cx="2351455" cy="1039997"/>
            </a:xfrm>
            <a:custGeom>
              <a:avLst/>
              <a:gdLst/>
              <a:ahLst/>
              <a:cxnLst/>
              <a:rect r="r" b="b" t="t" l="l"/>
              <a:pathLst>
                <a:path h="1039997" w="2351455">
                  <a:moveTo>
                    <a:pt x="0" y="0"/>
                  </a:moveTo>
                  <a:lnTo>
                    <a:pt x="2351455" y="0"/>
                  </a:lnTo>
                  <a:lnTo>
                    <a:pt x="2351455" y="1039997"/>
                  </a:lnTo>
                  <a:lnTo>
                    <a:pt x="0" y="1039997"/>
                  </a:lnTo>
                  <a:close/>
                </a:path>
              </a:pathLst>
            </a:custGeom>
            <a:blipFill>
              <a:blip r:embed="rId3">
                <a:alphaModFix amt="0"/>
              </a:blip>
              <a:stretch>
                <a:fillRect l="0" t="-103632" r="-248720" b="-103632"/>
              </a:stretch>
            </a:blipFill>
          </p:spPr>
        </p:sp>
        <p:sp>
          <p:nvSpPr>
            <p:cNvPr name="TextBox 18" id="18"/>
            <p:cNvSpPr txBox="true"/>
            <p:nvPr/>
          </p:nvSpPr>
          <p:spPr>
            <a:xfrm>
              <a:off x="0" y="-19050"/>
              <a:ext cx="2351451" cy="1059050"/>
            </a:xfrm>
            <a:prstGeom prst="rect">
              <a:avLst/>
            </a:prstGeom>
          </p:spPr>
          <p:txBody>
            <a:bodyPr anchor="ctr" rtlCol="false" tIns="0" lIns="0" bIns="0" rIns="0"/>
            <a:lstStyle/>
            <a:p>
              <a:pPr algn="l">
                <a:lnSpc>
                  <a:spcPts val="3240"/>
                </a:lnSpc>
              </a:pPr>
              <a:r>
                <a:rPr lang="en-US" b="true" sz="2700">
                  <a:solidFill>
                    <a:srgbClr val="0C0E14"/>
                  </a:solidFill>
                  <a:latin typeface="Arial Bold"/>
                  <a:ea typeface="Arial Bold"/>
                  <a:cs typeface="Arial Bold"/>
                  <a:sym typeface="Arial Bold"/>
                </a:rPr>
                <a:t>P</a:t>
              </a:r>
              <a:r>
                <a:rPr lang="en-US" b="true" sz="2700">
                  <a:solidFill>
                    <a:srgbClr val="0C0E14"/>
                  </a:solidFill>
                  <a:latin typeface="Arial Bold"/>
                  <a:ea typeface="Arial Bold"/>
                  <a:cs typeface="Arial Bold"/>
                  <a:sym typeface="Arial Bold"/>
                </a:rPr>
                <a:t>roblema</a:t>
              </a:r>
            </a:p>
          </p:txBody>
        </p:sp>
      </p:grpSp>
      <p:grpSp>
        <p:nvGrpSpPr>
          <p:cNvPr name="Group 19" id="19"/>
          <p:cNvGrpSpPr/>
          <p:nvPr/>
        </p:nvGrpSpPr>
        <p:grpSpPr>
          <a:xfrm rot="0">
            <a:off x="10729747" y="3740645"/>
            <a:ext cx="2725498" cy="2075444"/>
            <a:chOff x="0" y="0"/>
            <a:chExt cx="1365741" cy="1040000"/>
          </a:xfrm>
        </p:grpSpPr>
        <p:sp>
          <p:nvSpPr>
            <p:cNvPr name="Freeform 20" id="20"/>
            <p:cNvSpPr/>
            <p:nvPr/>
          </p:nvSpPr>
          <p:spPr>
            <a:xfrm flipH="false" flipV="false" rot="0">
              <a:off x="0" y="0"/>
              <a:ext cx="1365745" cy="1039997"/>
            </a:xfrm>
            <a:custGeom>
              <a:avLst/>
              <a:gdLst/>
              <a:ahLst/>
              <a:cxnLst/>
              <a:rect r="r" b="b" t="t" l="l"/>
              <a:pathLst>
                <a:path h="1039997" w="1365745">
                  <a:moveTo>
                    <a:pt x="0" y="0"/>
                  </a:moveTo>
                  <a:lnTo>
                    <a:pt x="1365745" y="0"/>
                  </a:lnTo>
                  <a:lnTo>
                    <a:pt x="1365745" y="1039997"/>
                  </a:lnTo>
                  <a:lnTo>
                    <a:pt x="0" y="1039997"/>
                  </a:lnTo>
                  <a:close/>
                </a:path>
              </a:pathLst>
            </a:custGeom>
            <a:blipFill>
              <a:blip r:embed="rId3">
                <a:alphaModFix amt="0"/>
              </a:blip>
              <a:stretch>
                <a:fillRect l="0" t="-103632" r="-500404" b="-103632"/>
              </a:stretch>
            </a:blipFill>
          </p:spPr>
        </p:sp>
        <p:sp>
          <p:nvSpPr>
            <p:cNvPr name="TextBox 21" id="21"/>
            <p:cNvSpPr txBox="true"/>
            <p:nvPr/>
          </p:nvSpPr>
          <p:spPr>
            <a:xfrm>
              <a:off x="0" y="-28575"/>
              <a:ext cx="1365741" cy="1068575"/>
            </a:xfrm>
            <a:prstGeom prst="rect">
              <a:avLst/>
            </a:prstGeom>
          </p:spPr>
          <p:txBody>
            <a:bodyPr anchor="ctr" rtlCol="false" tIns="0" lIns="0" bIns="0" rIns="0"/>
            <a:lstStyle/>
            <a:p>
              <a:pPr algn="l">
                <a:lnSpc>
                  <a:spcPts val="8399"/>
                </a:lnSpc>
              </a:pPr>
              <a:r>
                <a:rPr lang="en-US" b="true" sz="6999">
                  <a:solidFill>
                    <a:srgbClr val="3A58E4"/>
                  </a:solidFill>
                  <a:latin typeface="Arial Bold"/>
                  <a:ea typeface="Arial Bold"/>
                  <a:cs typeface="Arial Bold"/>
                  <a:sym typeface="Arial Bold"/>
                </a:rPr>
                <a:t>María</a:t>
              </a:r>
            </a:p>
          </p:txBody>
        </p:sp>
      </p:grpSp>
      <p:sp>
        <p:nvSpPr>
          <p:cNvPr name="Freeform 22" id="22"/>
          <p:cNvSpPr/>
          <p:nvPr/>
        </p:nvSpPr>
        <p:spPr>
          <a:xfrm flipH="false" flipV="false" rot="0">
            <a:off x="12742553" y="1028700"/>
            <a:ext cx="5726406" cy="8465344"/>
          </a:xfrm>
          <a:custGeom>
            <a:avLst/>
            <a:gdLst/>
            <a:ahLst/>
            <a:cxnLst/>
            <a:rect r="r" b="b" t="t" l="l"/>
            <a:pathLst>
              <a:path h="8465344" w="5726406">
                <a:moveTo>
                  <a:pt x="0" y="0"/>
                </a:moveTo>
                <a:lnTo>
                  <a:pt x="5726406" y="0"/>
                </a:lnTo>
                <a:lnTo>
                  <a:pt x="5726406" y="8465344"/>
                </a:lnTo>
                <a:lnTo>
                  <a:pt x="0" y="8465344"/>
                </a:lnTo>
                <a:lnTo>
                  <a:pt x="0" y="0"/>
                </a:lnTo>
                <a:close/>
              </a:path>
            </a:pathLst>
          </a:custGeom>
          <a:blipFill>
            <a:blip r:embed="rId4"/>
            <a:stretch>
              <a:fillRect l="-42326" t="0" r="-79974" b="0"/>
            </a:stretch>
          </a:blipFill>
        </p:spPr>
      </p:sp>
      <p:sp>
        <p:nvSpPr>
          <p:cNvPr name="TextBox 23" id="23"/>
          <p:cNvSpPr txBox="true"/>
          <p:nvPr/>
        </p:nvSpPr>
        <p:spPr>
          <a:xfrm rot="0">
            <a:off x="1754379" y="3690938"/>
            <a:ext cx="6253644" cy="2886075"/>
          </a:xfrm>
          <a:prstGeom prst="rect">
            <a:avLst/>
          </a:prstGeom>
        </p:spPr>
        <p:txBody>
          <a:bodyPr anchor="t" rtlCol="false" tIns="0" lIns="0" bIns="0" rIns="0">
            <a:spAutoFit/>
          </a:bodyPr>
          <a:lstStyle/>
          <a:p>
            <a:pPr algn="l">
              <a:lnSpc>
                <a:spcPts val="3233"/>
              </a:lnSpc>
            </a:pPr>
          </a:p>
          <a:p>
            <a:pPr algn="l" marL="581806" indent="-290903" lvl="1">
              <a:lnSpc>
                <a:spcPts val="3233"/>
              </a:lnSpc>
              <a:buFont typeface="Arial"/>
              <a:buChar char="•"/>
            </a:pPr>
            <a:r>
              <a:rPr lang="en-US" sz="2694">
                <a:solidFill>
                  <a:srgbClr val="FEFEFF"/>
                </a:solidFill>
                <a:latin typeface="Arial"/>
                <a:ea typeface="Arial"/>
                <a:cs typeface="Arial"/>
                <a:sym typeface="Arial"/>
              </a:rPr>
              <a:t>Gana S/ 15 000 x mes</a:t>
            </a:r>
          </a:p>
          <a:p>
            <a:pPr algn="l" marL="581806" indent="-290903" lvl="1">
              <a:lnSpc>
                <a:spcPts val="3233"/>
              </a:lnSpc>
              <a:buFont typeface="Arial"/>
              <a:buChar char="•"/>
            </a:pPr>
            <a:r>
              <a:rPr lang="en-US" sz="2694">
                <a:solidFill>
                  <a:srgbClr val="FEFEFF"/>
                </a:solidFill>
                <a:latin typeface="Arial"/>
                <a:ea typeface="Arial"/>
                <a:cs typeface="Arial"/>
                <a:sym typeface="Arial"/>
              </a:rPr>
              <a:t>Ahorró S/ 150 000</a:t>
            </a:r>
          </a:p>
          <a:p>
            <a:pPr algn="l" marL="581806" indent="-290903" lvl="1">
              <a:lnSpc>
                <a:spcPts val="3233"/>
              </a:lnSpc>
              <a:buFont typeface="Arial"/>
              <a:buChar char="•"/>
            </a:pPr>
            <a:r>
              <a:rPr lang="en-US" sz="2694">
                <a:solidFill>
                  <a:srgbClr val="FEFEFF"/>
                </a:solidFill>
                <a:latin typeface="Arial"/>
                <a:ea typeface="Arial"/>
                <a:cs typeface="Arial"/>
                <a:sym typeface="Arial"/>
              </a:rPr>
              <a:t>Quiere comprar un departamento de 3 dormitorios en Lima, </a:t>
            </a:r>
          </a:p>
          <a:p>
            <a:pPr algn="l" marL="581806" indent="-290903" lvl="1">
              <a:lnSpc>
                <a:spcPts val="3233"/>
              </a:lnSpc>
              <a:buFont typeface="Arial"/>
              <a:buChar char="•"/>
            </a:pPr>
            <a:r>
              <a:rPr lang="en-US" sz="2694">
                <a:solidFill>
                  <a:srgbClr val="FEFEFF"/>
                </a:solidFill>
                <a:latin typeface="Arial"/>
                <a:ea typeface="Arial"/>
                <a:cs typeface="Arial"/>
                <a:sym typeface="Arial"/>
              </a:rPr>
              <a:t>Límite de inversión S/ 700 000. </a:t>
            </a:r>
          </a:p>
          <a:p>
            <a:pPr algn="l">
              <a:lnSpc>
                <a:spcPts val="3233"/>
              </a:lnSpc>
            </a:pPr>
          </a:p>
        </p:txBody>
      </p:sp>
      <p:sp>
        <p:nvSpPr>
          <p:cNvPr name="TextBox 24" id="24"/>
          <p:cNvSpPr txBox="true"/>
          <p:nvPr/>
        </p:nvSpPr>
        <p:spPr>
          <a:xfrm rot="0">
            <a:off x="1288152" y="6557962"/>
            <a:ext cx="7671352" cy="1657350"/>
          </a:xfrm>
          <a:prstGeom prst="rect">
            <a:avLst/>
          </a:prstGeom>
        </p:spPr>
        <p:txBody>
          <a:bodyPr anchor="t" rtlCol="false" tIns="0" lIns="0" bIns="0" rIns="0">
            <a:spAutoFit/>
          </a:bodyPr>
          <a:lstStyle/>
          <a:p>
            <a:pPr algn="ctr">
              <a:lnSpc>
                <a:spcPts val="3240"/>
              </a:lnSpc>
              <a:spcBef>
                <a:spcPct val="0"/>
              </a:spcBef>
            </a:pPr>
            <a:r>
              <a:rPr lang="en-US" b="true" sz="2700">
                <a:solidFill>
                  <a:srgbClr val="FEFEFF"/>
                </a:solidFill>
                <a:latin typeface="Arial Bold"/>
                <a:ea typeface="Arial Bold"/>
                <a:cs typeface="Arial Bold"/>
                <a:sym typeface="Arial Bold"/>
              </a:rPr>
              <a:t>Pero cada aviso le da solo una parte: el precio en un portal, la seguridad del distrito en otro y los colegios en otro más. Al final no sabe cuál le conviene ni si el precio es justo.</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234FAD"/>
        </a:solidFill>
      </p:bgPr>
    </p:bg>
    <p:spTree>
      <p:nvGrpSpPr>
        <p:cNvPr id="1" name=""/>
        <p:cNvGrpSpPr/>
        <p:nvPr/>
      </p:nvGrpSpPr>
      <p:grpSpPr>
        <a:xfrm>
          <a:off x="0" y="0"/>
          <a:ext cx="0" cy="0"/>
          <a:chOff x="0" y="0"/>
          <a:chExt cx="0" cy="0"/>
        </a:xfrm>
      </p:grpSpPr>
      <p:sp>
        <p:nvSpPr>
          <p:cNvPr name="TextBox 2" id="2"/>
          <p:cNvSpPr txBox="true"/>
          <p:nvPr/>
        </p:nvSpPr>
        <p:spPr>
          <a:xfrm rot="0">
            <a:off x="14995914" y="636480"/>
            <a:ext cx="2763448" cy="993990"/>
          </a:xfrm>
          <a:prstGeom prst="rect">
            <a:avLst/>
          </a:prstGeom>
        </p:spPr>
        <p:txBody>
          <a:bodyPr anchor="t" rtlCol="false" tIns="0" lIns="0" bIns="0" rIns="0">
            <a:spAutoFit/>
          </a:bodyPr>
          <a:lstStyle/>
          <a:p>
            <a:pPr algn="l" marL="0" indent="0" lvl="0">
              <a:lnSpc>
                <a:spcPts val="7214"/>
              </a:lnSpc>
              <a:spcBef>
                <a:spcPct val="0"/>
              </a:spcBef>
            </a:pPr>
            <a:r>
              <a:rPr lang="en-US" b="true" sz="7927" spc="-578">
                <a:solidFill>
                  <a:srgbClr val="FFF3B0"/>
                </a:solidFill>
                <a:latin typeface="Eastman Grotesque Bold"/>
                <a:ea typeface="Eastman Grotesque Bold"/>
                <a:cs typeface="Eastman Grotesque Bold"/>
                <a:sym typeface="Eastman Grotesque Bold"/>
              </a:rPr>
              <a:t>María </a:t>
            </a:r>
          </a:p>
        </p:txBody>
      </p:sp>
      <p:sp>
        <p:nvSpPr>
          <p:cNvPr name="Freeform 3" id="3"/>
          <p:cNvSpPr/>
          <p:nvPr/>
        </p:nvSpPr>
        <p:spPr>
          <a:xfrm flipH="false" flipV="false" rot="0">
            <a:off x="1418026" y="2928533"/>
            <a:ext cx="3118658" cy="6711036"/>
          </a:xfrm>
          <a:custGeom>
            <a:avLst/>
            <a:gdLst/>
            <a:ahLst/>
            <a:cxnLst/>
            <a:rect r="r" b="b" t="t" l="l"/>
            <a:pathLst>
              <a:path h="6711036" w="3118658">
                <a:moveTo>
                  <a:pt x="0" y="0"/>
                </a:moveTo>
                <a:lnTo>
                  <a:pt x="3118658" y="0"/>
                </a:lnTo>
                <a:lnTo>
                  <a:pt x="3118658" y="6711036"/>
                </a:lnTo>
                <a:lnTo>
                  <a:pt x="0" y="6711036"/>
                </a:lnTo>
                <a:lnTo>
                  <a:pt x="0" y="0"/>
                </a:lnTo>
                <a:close/>
              </a:path>
            </a:pathLst>
          </a:custGeom>
          <a:blipFill>
            <a:blip r:embed="rId2"/>
            <a:stretch>
              <a:fillRect l="0" t="0" r="0" b="0"/>
            </a:stretch>
          </a:blipFill>
        </p:spPr>
      </p:sp>
      <p:sp>
        <p:nvSpPr>
          <p:cNvPr name="Freeform 4" id="4"/>
          <p:cNvSpPr/>
          <p:nvPr/>
        </p:nvSpPr>
        <p:spPr>
          <a:xfrm flipH="false" flipV="false" rot="0">
            <a:off x="4536684" y="2928533"/>
            <a:ext cx="2978949" cy="6699325"/>
          </a:xfrm>
          <a:custGeom>
            <a:avLst/>
            <a:gdLst/>
            <a:ahLst/>
            <a:cxnLst/>
            <a:rect r="r" b="b" t="t" l="l"/>
            <a:pathLst>
              <a:path h="6699325" w="2978949">
                <a:moveTo>
                  <a:pt x="0" y="0"/>
                </a:moveTo>
                <a:lnTo>
                  <a:pt x="2978949" y="0"/>
                </a:lnTo>
                <a:lnTo>
                  <a:pt x="2978949" y="6699326"/>
                </a:lnTo>
                <a:lnTo>
                  <a:pt x="0" y="6699326"/>
                </a:lnTo>
                <a:lnTo>
                  <a:pt x="0" y="0"/>
                </a:lnTo>
                <a:close/>
              </a:path>
            </a:pathLst>
          </a:custGeom>
          <a:blipFill>
            <a:blip r:embed="rId3"/>
            <a:stretch>
              <a:fillRect l="0" t="0" r="0" b="0"/>
            </a:stretch>
          </a:blipFill>
        </p:spPr>
      </p:sp>
      <p:grpSp>
        <p:nvGrpSpPr>
          <p:cNvPr name="Group 5" id="5"/>
          <p:cNvGrpSpPr/>
          <p:nvPr/>
        </p:nvGrpSpPr>
        <p:grpSpPr>
          <a:xfrm rot="0">
            <a:off x="2167619" y="1768689"/>
            <a:ext cx="4584114" cy="956145"/>
            <a:chOff x="0" y="0"/>
            <a:chExt cx="1981200" cy="413235"/>
          </a:xfrm>
        </p:grpSpPr>
        <p:sp>
          <p:nvSpPr>
            <p:cNvPr name="Freeform 6" id="6"/>
            <p:cNvSpPr/>
            <p:nvPr/>
          </p:nvSpPr>
          <p:spPr>
            <a:xfrm flipH="false" flipV="false" rot="0">
              <a:off x="0" y="0"/>
              <a:ext cx="1981200" cy="413235"/>
            </a:xfrm>
            <a:custGeom>
              <a:avLst/>
              <a:gdLst/>
              <a:ahLst/>
              <a:cxnLst/>
              <a:rect r="r" b="b" t="t" l="l"/>
              <a:pathLst>
                <a:path h="413235" w="1981200">
                  <a:moveTo>
                    <a:pt x="0" y="118067"/>
                  </a:moveTo>
                  <a:cubicBezTo>
                    <a:pt x="0" y="52835"/>
                    <a:pt x="68199" y="0"/>
                    <a:pt x="152400" y="0"/>
                  </a:cubicBezTo>
                  <a:lnTo>
                    <a:pt x="1828800" y="0"/>
                  </a:lnTo>
                  <a:cubicBezTo>
                    <a:pt x="1913001" y="0"/>
                    <a:pt x="1981200" y="52835"/>
                    <a:pt x="1981200" y="118067"/>
                  </a:cubicBezTo>
                  <a:lnTo>
                    <a:pt x="1981200" y="295168"/>
                  </a:lnTo>
                  <a:cubicBezTo>
                    <a:pt x="1981200" y="360400"/>
                    <a:pt x="1913001" y="413235"/>
                    <a:pt x="1828800" y="413235"/>
                  </a:cubicBezTo>
                  <a:lnTo>
                    <a:pt x="152400" y="413235"/>
                  </a:lnTo>
                  <a:cubicBezTo>
                    <a:pt x="68199" y="413235"/>
                    <a:pt x="0" y="360400"/>
                    <a:pt x="0" y="295168"/>
                  </a:cubicBezTo>
                  <a:close/>
                </a:path>
              </a:pathLst>
            </a:custGeom>
            <a:solidFill>
              <a:srgbClr val="98A8F0"/>
            </a:solidFill>
          </p:spPr>
        </p:sp>
      </p:grpSp>
      <p:grpSp>
        <p:nvGrpSpPr>
          <p:cNvPr name="Group 7" id="7"/>
          <p:cNvGrpSpPr/>
          <p:nvPr/>
        </p:nvGrpSpPr>
        <p:grpSpPr>
          <a:xfrm rot="0">
            <a:off x="2319499" y="1757508"/>
            <a:ext cx="4294662" cy="967327"/>
            <a:chOff x="0" y="0"/>
            <a:chExt cx="5726216" cy="1289769"/>
          </a:xfrm>
        </p:grpSpPr>
        <p:sp>
          <p:nvSpPr>
            <p:cNvPr name="Freeform 8" id="8"/>
            <p:cNvSpPr/>
            <p:nvPr/>
          </p:nvSpPr>
          <p:spPr>
            <a:xfrm flipH="false" flipV="false" rot="0">
              <a:off x="0" y="0"/>
              <a:ext cx="5726219" cy="1289766"/>
            </a:xfrm>
            <a:custGeom>
              <a:avLst/>
              <a:gdLst/>
              <a:ahLst/>
              <a:cxnLst/>
              <a:rect r="r" b="b" t="t" l="l"/>
              <a:pathLst>
                <a:path h="1289766" w="5726219">
                  <a:moveTo>
                    <a:pt x="0" y="0"/>
                  </a:moveTo>
                  <a:lnTo>
                    <a:pt x="5726219" y="0"/>
                  </a:lnTo>
                  <a:lnTo>
                    <a:pt x="5726219" y="1289766"/>
                  </a:lnTo>
                  <a:lnTo>
                    <a:pt x="0" y="1289766"/>
                  </a:lnTo>
                  <a:close/>
                </a:path>
              </a:pathLst>
            </a:custGeom>
            <a:blipFill>
              <a:blip r:embed="rId4">
                <a:alphaModFix amt="0"/>
              </a:blip>
              <a:stretch>
                <a:fillRect l="0" t="-83563" r="-43200" b="-64198"/>
              </a:stretch>
            </a:blipFill>
          </p:spPr>
        </p:sp>
        <p:sp>
          <p:nvSpPr>
            <p:cNvPr name="TextBox 9" id="9"/>
            <p:cNvSpPr txBox="true"/>
            <p:nvPr/>
          </p:nvSpPr>
          <p:spPr>
            <a:xfrm>
              <a:off x="0" y="-19050"/>
              <a:ext cx="5726216" cy="1308819"/>
            </a:xfrm>
            <a:prstGeom prst="rect">
              <a:avLst/>
            </a:prstGeom>
          </p:spPr>
          <p:txBody>
            <a:bodyPr anchor="ctr" rtlCol="false" tIns="0" lIns="0" bIns="0" rIns="0"/>
            <a:lstStyle/>
            <a:p>
              <a:pPr algn="l">
                <a:lnSpc>
                  <a:spcPts val="3120"/>
                </a:lnSpc>
              </a:pPr>
              <a:r>
                <a:rPr lang="en-US" sz="2600" b="true">
                  <a:solidFill>
                    <a:srgbClr val="293E9C"/>
                  </a:solidFill>
                  <a:latin typeface="Arial Bold"/>
                  <a:ea typeface="Arial Bold"/>
                  <a:cs typeface="Arial Bold"/>
                  <a:sym typeface="Arial Bold"/>
                </a:rPr>
                <a:t>Resumen de Preferencias</a:t>
              </a:r>
            </a:p>
            <a:p>
              <a:pPr algn="ctr">
                <a:lnSpc>
                  <a:spcPts val="3120"/>
                </a:lnSpc>
              </a:pPr>
              <a:r>
                <a:rPr lang="en-US" sz="2600" b="true">
                  <a:solidFill>
                    <a:srgbClr val="293E9C"/>
                  </a:solidFill>
                  <a:latin typeface="Arial Bold"/>
                  <a:ea typeface="Arial Bold"/>
                  <a:cs typeface="Arial Bold"/>
                  <a:sym typeface="Arial Bold"/>
                </a:rPr>
                <a:t> (editables) </a:t>
              </a:r>
            </a:p>
          </p:txBody>
        </p:sp>
      </p:grpSp>
      <p:grpSp>
        <p:nvGrpSpPr>
          <p:cNvPr name="Group 10" id="10"/>
          <p:cNvGrpSpPr/>
          <p:nvPr/>
        </p:nvGrpSpPr>
        <p:grpSpPr>
          <a:xfrm rot="0">
            <a:off x="10189387" y="1757508"/>
            <a:ext cx="4584114" cy="601207"/>
            <a:chOff x="0" y="0"/>
            <a:chExt cx="1981200" cy="259834"/>
          </a:xfrm>
        </p:grpSpPr>
        <p:sp>
          <p:nvSpPr>
            <p:cNvPr name="Freeform 11" id="11"/>
            <p:cNvSpPr/>
            <p:nvPr/>
          </p:nvSpPr>
          <p:spPr>
            <a:xfrm flipH="false" flipV="false" rot="0">
              <a:off x="0" y="0"/>
              <a:ext cx="1981200" cy="259834"/>
            </a:xfrm>
            <a:custGeom>
              <a:avLst/>
              <a:gdLst/>
              <a:ahLst/>
              <a:cxnLst/>
              <a:rect r="r" b="b" t="t" l="l"/>
              <a:pathLst>
                <a:path h="259834" w="1981200">
                  <a:moveTo>
                    <a:pt x="0" y="74238"/>
                  </a:moveTo>
                  <a:cubicBezTo>
                    <a:pt x="0" y="33222"/>
                    <a:pt x="68199" y="0"/>
                    <a:pt x="152400" y="0"/>
                  </a:cubicBezTo>
                  <a:lnTo>
                    <a:pt x="1828800" y="0"/>
                  </a:lnTo>
                  <a:cubicBezTo>
                    <a:pt x="1913001" y="0"/>
                    <a:pt x="1981200" y="33222"/>
                    <a:pt x="1981200" y="74238"/>
                  </a:cubicBezTo>
                  <a:lnTo>
                    <a:pt x="1981200" y="185596"/>
                  </a:lnTo>
                  <a:cubicBezTo>
                    <a:pt x="1981200" y="226613"/>
                    <a:pt x="1913001" y="259834"/>
                    <a:pt x="1828800" y="259834"/>
                  </a:cubicBezTo>
                  <a:lnTo>
                    <a:pt x="152400" y="259834"/>
                  </a:lnTo>
                  <a:cubicBezTo>
                    <a:pt x="68199" y="259834"/>
                    <a:pt x="0" y="226613"/>
                    <a:pt x="0" y="185596"/>
                  </a:cubicBezTo>
                  <a:close/>
                </a:path>
              </a:pathLst>
            </a:custGeom>
            <a:solidFill>
              <a:srgbClr val="98A8F0"/>
            </a:solidFill>
          </p:spPr>
        </p:sp>
      </p:grpSp>
      <p:grpSp>
        <p:nvGrpSpPr>
          <p:cNvPr name="Group 12" id="12"/>
          <p:cNvGrpSpPr/>
          <p:nvPr/>
        </p:nvGrpSpPr>
        <p:grpSpPr>
          <a:xfrm rot="0">
            <a:off x="10407591" y="1757508"/>
            <a:ext cx="4147704" cy="601207"/>
            <a:chOff x="0" y="0"/>
            <a:chExt cx="5530273" cy="801609"/>
          </a:xfrm>
        </p:grpSpPr>
        <p:sp>
          <p:nvSpPr>
            <p:cNvPr name="Freeform 13" id="13"/>
            <p:cNvSpPr/>
            <p:nvPr/>
          </p:nvSpPr>
          <p:spPr>
            <a:xfrm flipH="false" flipV="false" rot="0">
              <a:off x="0" y="0"/>
              <a:ext cx="5530276" cy="801606"/>
            </a:xfrm>
            <a:custGeom>
              <a:avLst/>
              <a:gdLst/>
              <a:ahLst/>
              <a:cxnLst/>
              <a:rect r="r" b="b" t="t" l="l"/>
              <a:pathLst>
                <a:path h="801606" w="5530276">
                  <a:moveTo>
                    <a:pt x="0" y="0"/>
                  </a:moveTo>
                  <a:lnTo>
                    <a:pt x="5530276" y="0"/>
                  </a:lnTo>
                  <a:lnTo>
                    <a:pt x="5530276" y="801606"/>
                  </a:lnTo>
                  <a:lnTo>
                    <a:pt x="0" y="801606"/>
                  </a:lnTo>
                  <a:close/>
                </a:path>
              </a:pathLst>
            </a:custGeom>
            <a:blipFill>
              <a:blip r:embed="rId4">
                <a:alphaModFix amt="0"/>
              </a:blip>
              <a:stretch>
                <a:fillRect l="0" t="-134451" r="-48274" b="-164191"/>
              </a:stretch>
            </a:blipFill>
          </p:spPr>
        </p:sp>
        <p:sp>
          <p:nvSpPr>
            <p:cNvPr name="TextBox 14" id="14"/>
            <p:cNvSpPr txBox="true"/>
            <p:nvPr/>
          </p:nvSpPr>
          <p:spPr>
            <a:xfrm>
              <a:off x="0" y="-19050"/>
              <a:ext cx="5530273" cy="820659"/>
            </a:xfrm>
            <a:prstGeom prst="rect">
              <a:avLst/>
            </a:prstGeom>
          </p:spPr>
          <p:txBody>
            <a:bodyPr anchor="ctr" rtlCol="false" tIns="0" lIns="0" bIns="0" rIns="0"/>
            <a:lstStyle/>
            <a:p>
              <a:pPr algn="l">
                <a:lnSpc>
                  <a:spcPts val="3240"/>
                </a:lnSpc>
              </a:pPr>
              <a:r>
                <a:rPr lang="en-US" sz="2700" b="true">
                  <a:solidFill>
                    <a:srgbClr val="293E9C"/>
                  </a:solidFill>
                  <a:latin typeface="Arial Bold"/>
                  <a:ea typeface="Arial Bold"/>
                  <a:cs typeface="Arial Bold"/>
                  <a:sym typeface="Arial Bold"/>
                </a:rPr>
                <a:t>Sugerencia de inmuebles  </a:t>
              </a:r>
            </a:p>
          </p:txBody>
        </p:sp>
      </p:grpSp>
      <p:sp>
        <p:nvSpPr>
          <p:cNvPr name="Freeform 15" id="15"/>
          <p:cNvSpPr/>
          <p:nvPr/>
        </p:nvSpPr>
        <p:spPr>
          <a:xfrm flipH="false" flipV="false" rot="0">
            <a:off x="8678623" y="2509426"/>
            <a:ext cx="8425576" cy="7130143"/>
          </a:xfrm>
          <a:custGeom>
            <a:avLst/>
            <a:gdLst/>
            <a:ahLst/>
            <a:cxnLst/>
            <a:rect r="r" b="b" t="t" l="l"/>
            <a:pathLst>
              <a:path h="7130143" w="8425576">
                <a:moveTo>
                  <a:pt x="0" y="0"/>
                </a:moveTo>
                <a:lnTo>
                  <a:pt x="8425575" y="0"/>
                </a:lnTo>
                <a:lnTo>
                  <a:pt x="8425575" y="7130143"/>
                </a:lnTo>
                <a:lnTo>
                  <a:pt x="0" y="7130143"/>
                </a:lnTo>
                <a:lnTo>
                  <a:pt x="0" y="0"/>
                </a:lnTo>
                <a:close/>
              </a:path>
            </a:pathLst>
          </a:custGeom>
          <a:blipFill>
            <a:blip r:embed="rId5"/>
            <a:stretch>
              <a:fillRect l="0" t="0" r="0" b="0"/>
            </a:stretch>
          </a:blipFill>
        </p:spPr>
      </p:sp>
      <p:grpSp>
        <p:nvGrpSpPr>
          <p:cNvPr name="Group 16" id="16"/>
          <p:cNvGrpSpPr/>
          <p:nvPr/>
        </p:nvGrpSpPr>
        <p:grpSpPr>
          <a:xfrm rot="0">
            <a:off x="17268825" y="9729788"/>
            <a:ext cx="500062" cy="314325"/>
            <a:chOff x="0" y="0"/>
            <a:chExt cx="666750" cy="419100"/>
          </a:xfrm>
        </p:grpSpPr>
        <p:sp>
          <p:nvSpPr>
            <p:cNvPr name="Freeform 17" id="17"/>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4">
                <a:alphaModFix amt="0"/>
              </a:blip>
              <a:stretch>
                <a:fillRect l="-30647" t="0" r="-30647" b="0"/>
              </a:stretch>
            </a:blipFill>
          </p:spPr>
        </p:sp>
        <p:sp>
          <p:nvSpPr>
            <p:cNvPr name="TextBox 18" id="18"/>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10</a:t>
              </a:r>
            </a:p>
          </p:txBody>
        </p:sp>
      </p:grpSp>
      <p:grpSp>
        <p:nvGrpSpPr>
          <p:cNvPr name="Group 19" id="19"/>
          <p:cNvGrpSpPr/>
          <p:nvPr/>
        </p:nvGrpSpPr>
        <p:grpSpPr>
          <a:xfrm rot="0">
            <a:off x="2109990" y="474989"/>
            <a:ext cx="10811286" cy="711019"/>
            <a:chOff x="0" y="0"/>
            <a:chExt cx="17611295" cy="1158230"/>
          </a:xfrm>
        </p:grpSpPr>
        <p:sp>
          <p:nvSpPr>
            <p:cNvPr name="Freeform 20" id="20"/>
            <p:cNvSpPr/>
            <p:nvPr/>
          </p:nvSpPr>
          <p:spPr>
            <a:xfrm flipH="false" flipV="false" rot="0">
              <a:off x="0" y="0"/>
              <a:ext cx="17611299" cy="1158227"/>
            </a:xfrm>
            <a:custGeom>
              <a:avLst/>
              <a:gdLst/>
              <a:ahLst/>
              <a:cxnLst/>
              <a:rect r="r" b="b" t="t" l="l"/>
              <a:pathLst>
                <a:path h="1158227" w="17611299">
                  <a:moveTo>
                    <a:pt x="0" y="0"/>
                  </a:moveTo>
                  <a:lnTo>
                    <a:pt x="17611299" y="0"/>
                  </a:lnTo>
                  <a:lnTo>
                    <a:pt x="17611299" y="1158227"/>
                  </a:lnTo>
                  <a:lnTo>
                    <a:pt x="0" y="1158227"/>
                  </a:lnTo>
                  <a:close/>
                </a:path>
              </a:pathLst>
            </a:custGeom>
            <a:blipFill>
              <a:blip r:embed="rId4">
                <a:alphaModFix amt="0"/>
              </a:blip>
              <a:stretch>
                <a:fillRect l="0" t="-93053" r="53439" b="-82846"/>
              </a:stretch>
            </a:blipFill>
          </p:spPr>
        </p:sp>
        <p:sp>
          <p:nvSpPr>
            <p:cNvPr name="TextBox 21" id="21"/>
            <p:cNvSpPr txBox="true"/>
            <p:nvPr/>
          </p:nvSpPr>
          <p:spPr>
            <a:xfrm>
              <a:off x="0" y="-28575"/>
              <a:ext cx="17611295" cy="1186805"/>
            </a:xfrm>
            <a:prstGeom prst="rect">
              <a:avLst/>
            </a:prstGeom>
          </p:spPr>
          <p:txBody>
            <a:bodyPr anchor="ctr" rtlCol="false" tIns="0" lIns="0" bIns="0" rIns="0"/>
            <a:lstStyle/>
            <a:p>
              <a:pPr algn="l">
                <a:lnSpc>
                  <a:spcPts val="3960"/>
                </a:lnSpc>
              </a:pPr>
              <a:r>
                <a:rPr lang="en-US" b="true" sz="3300" i="true">
                  <a:solidFill>
                    <a:srgbClr val="FFF3B0"/>
                  </a:solidFill>
                  <a:latin typeface="Arial Bold Italics"/>
                  <a:ea typeface="Arial Bold Italics"/>
                  <a:cs typeface="Arial Bold Italics"/>
                  <a:sym typeface="Arial Bold Italics"/>
                </a:rPr>
                <a:t>Ingresa a INMOSCORE y completa sus preferencias</a:t>
              </a:r>
            </a:p>
          </p:txBody>
        </p:sp>
      </p:grpSp>
      <p:grpSp>
        <p:nvGrpSpPr>
          <p:cNvPr name="Group 22" id="22"/>
          <p:cNvGrpSpPr/>
          <p:nvPr/>
        </p:nvGrpSpPr>
        <p:grpSpPr>
          <a:xfrm rot="0">
            <a:off x="1168694" y="406008"/>
            <a:ext cx="780002" cy="780000"/>
            <a:chOff x="0" y="0"/>
            <a:chExt cx="1040003" cy="1040000"/>
          </a:xfrm>
        </p:grpSpPr>
        <p:sp>
          <p:nvSpPr>
            <p:cNvPr name="Freeform 23" id="23"/>
            <p:cNvSpPr/>
            <p:nvPr/>
          </p:nvSpPr>
          <p:spPr>
            <a:xfrm flipH="false" flipV="false" rot="0">
              <a:off x="0" y="0"/>
              <a:ext cx="1040003" cy="1040000"/>
            </a:xfrm>
            <a:custGeom>
              <a:avLst/>
              <a:gdLst/>
              <a:ahLst/>
              <a:cxnLst/>
              <a:rect r="r" b="b" t="t" l="l"/>
              <a:pathLst>
                <a:path h="1040000" w="1040003">
                  <a:moveTo>
                    <a:pt x="0" y="519936"/>
                  </a:moveTo>
                  <a:cubicBezTo>
                    <a:pt x="0" y="232790"/>
                    <a:pt x="232791" y="0"/>
                    <a:pt x="519938" y="0"/>
                  </a:cubicBezTo>
                  <a:cubicBezTo>
                    <a:pt x="807085" y="0"/>
                    <a:pt x="1040003" y="232790"/>
                    <a:pt x="1040003" y="519936"/>
                  </a:cubicBezTo>
                  <a:cubicBezTo>
                    <a:pt x="1040003" y="807083"/>
                    <a:pt x="807212" y="1040000"/>
                    <a:pt x="519938" y="1040000"/>
                  </a:cubicBezTo>
                  <a:cubicBezTo>
                    <a:pt x="232664" y="1040000"/>
                    <a:pt x="0" y="807210"/>
                    <a:pt x="0" y="519936"/>
                  </a:cubicBezTo>
                  <a:close/>
                </a:path>
              </a:pathLst>
            </a:custGeom>
            <a:solidFill>
              <a:srgbClr val="9495A2"/>
            </a:solidFill>
          </p:spPr>
        </p:sp>
        <p:sp>
          <p:nvSpPr>
            <p:cNvPr name="TextBox 24" id="24"/>
            <p:cNvSpPr txBox="true"/>
            <p:nvPr/>
          </p:nvSpPr>
          <p:spPr>
            <a:xfrm>
              <a:off x="0" y="-9525"/>
              <a:ext cx="1040003" cy="1049525"/>
            </a:xfrm>
            <a:prstGeom prst="rect">
              <a:avLst/>
            </a:prstGeom>
          </p:spPr>
          <p:txBody>
            <a:bodyPr anchor="ctr" rtlCol="false" tIns="50800" lIns="50800" bIns="50800" rIns="50800"/>
            <a:lstStyle/>
            <a:p>
              <a:pPr algn="ctr">
                <a:lnSpc>
                  <a:spcPts val="2520"/>
                </a:lnSpc>
              </a:pPr>
              <a:r>
                <a:rPr lang="en-US" b="true" sz="2100">
                  <a:solidFill>
                    <a:srgbClr val="ECEFFD"/>
                  </a:solidFill>
                  <a:latin typeface="Arial Bold"/>
                  <a:ea typeface="Arial Bold"/>
                  <a:cs typeface="Arial Bold"/>
                  <a:sym typeface="Arial Bold"/>
                </a:rPr>
                <a:t>02</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6667981" y="221551"/>
            <a:ext cx="4988289" cy="1446604"/>
          </a:xfrm>
          <a:custGeom>
            <a:avLst/>
            <a:gdLst/>
            <a:ahLst/>
            <a:cxnLst/>
            <a:rect r="r" b="b" t="t" l="l"/>
            <a:pathLst>
              <a:path h="1446604" w="4988289">
                <a:moveTo>
                  <a:pt x="0" y="0"/>
                </a:moveTo>
                <a:lnTo>
                  <a:pt x="4988289" y="0"/>
                </a:lnTo>
                <a:lnTo>
                  <a:pt x="4988289" y="1446603"/>
                </a:lnTo>
                <a:lnTo>
                  <a:pt x="0" y="1446603"/>
                </a:lnTo>
                <a:lnTo>
                  <a:pt x="0" y="0"/>
                </a:lnTo>
                <a:close/>
              </a:path>
            </a:pathLst>
          </a:custGeom>
          <a:blipFill>
            <a:blip r:embed="rId2">
              <a:alphaModFix amt="79000"/>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5659458" y="542562"/>
            <a:ext cx="7051642" cy="804582"/>
            <a:chOff x="0" y="0"/>
            <a:chExt cx="9402189" cy="1072776"/>
          </a:xfrm>
        </p:grpSpPr>
        <p:sp>
          <p:nvSpPr>
            <p:cNvPr name="Freeform 4" id="4"/>
            <p:cNvSpPr/>
            <p:nvPr/>
          </p:nvSpPr>
          <p:spPr>
            <a:xfrm flipH="false" flipV="false" rot="0">
              <a:off x="0" y="0"/>
              <a:ext cx="9402194" cy="1072773"/>
            </a:xfrm>
            <a:custGeom>
              <a:avLst/>
              <a:gdLst/>
              <a:ahLst/>
              <a:cxnLst/>
              <a:rect r="r" b="b" t="t" l="l"/>
              <a:pathLst>
                <a:path h="1072773" w="9402194">
                  <a:moveTo>
                    <a:pt x="0" y="0"/>
                  </a:moveTo>
                  <a:lnTo>
                    <a:pt x="9402194" y="0"/>
                  </a:lnTo>
                  <a:lnTo>
                    <a:pt x="9402194" y="1072773"/>
                  </a:lnTo>
                  <a:lnTo>
                    <a:pt x="0" y="1072773"/>
                  </a:lnTo>
                  <a:close/>
                </a:path>
              </a:pathLst>
            </a:custGeom>
            <a:blipFill>
              <a:blip r:embed="rId4">
                <a:alphaModFix amt="0"/>
              </a:blip>
              <a:stretch>
                <a:fillRect l="0" t="-100465" r="12786" b="-97411"/>
              </a:stretch>
            </a:blipFill>
          </p:spPr>
        </p:sp>
        <p:sp>
          <p:nvSpPr>
            <p:cNvPr name="TextBox 5" id="5"/>
            <p:cNvSpPr txBox="true"/>
            <p:nvPr/>
          </p:nvSpPr>
          <p:spPr>
            <a:xfrm>
              <a:off x="0" y="-19050"/>
              <a:ext cx="9402189" cy="1091826"/>
            </a:xfrm>
            <a:prstGeom prst="rect">
              <a:avLst/>
            </a:prstGeom>
          </p:spPr>
          <p:txBody>
            <a:bodyPr anchor="ctr" rtlCol="false" tIns="0" lIns="0" bIns="0" rIns="0"/>
            <a:lstStyle/>
            <a:p>
              <a:pPr algn="l">
                <a:lnSpc>
                  <a:spcPts val="4679"/>
                </a:lnSpc>
              </a:pPr>
              <a:r>
                <a:rPr lang="en-US" sz="3899" b="true">
                  <a:solidFill>
                    <a:srgbClr val="3A58E4"/>
                  </a:solidFill>
                  <a:latin typeface="Arial Bold"/>
                  <a:ea typeface="Arial Bold"/>
                  <a:cs typeface="Arial Bold"/>
                  <a:sym typeface="Arial Bold"/>
                </a:rPr>
                <a:t>Editar preferencias</a:t>
              </a:r>
            </a:p>
          </p:txBody>
        </p:sp>
      </p:grpSp>
      <p:sp>
        <p:nvSpPr>
          <p:cNvPr name="Freeform 6" id="6"/>
          <p:cNvSpPr/>
          <p:nvPr/>
        </p:nvSpPr>
        <p:spPr>
          <a:xfrm flipH="false" flipV="false" rot="0">
            <a:off x="3642064" y="2448154"/>
            <a:ext cx="3025917" cy="6529610"/>
          </a:xfrm>
          <a:custGeom>
            <a:avLst/>
            <a:gdLst/>
            <a:ahLst/>
            <a:cxnLst/>
            <a:rect r="r" b="b" t="t" l="l"/>
            <a:pathLst>
              <a:path h="6529610" w="3025917">
                <a:moveTo>
                  <a:pt x="0" y="0"/>
                </a:moveTo>
                <a:lnTo>
                  <a:pt x="3025917" y="0"/>
                </a:lnTo>
                <a:lnTo>
                  <a:pt x="3025917" y="6529610"/>
                </a:lnTo>
                <a:lnTo>
                  <a:pt x="0" y="6529610"/>
                </a:lnTo>
                <a:lnTo>
                  <a:pt x="0" y="0"/>
                </a:lnTo>
                <a:close/>
              </a:path>
            </a:pathLst>
          </a:custGeom>
          <a:blipFill>
            <a:blip r:embed="rId5"/>
            <a:stretch>
              <a:fillRect l="0" t="0" r="0" b="0"/>
            </a:stretch>
          </a:blipFill>
        </p:spPr>
      </p:sp>
      <p:sp>
        <p:nvSpPr>
          <p:cNvPr name="Freeform 7" id="7"/>
          <p:cNvSpPr/>
          <p:nvPr/>
        </p:nvSpPr>
        <p:spPr>
          <a:xfrm flipH="false" flipV="false" rot="0">
            <a:off x="567065" y="2448154"/>
            <a:ext cx="2978949" cy="6699325"/>
          </a:xfrm>
          <a:custGeom>
            <a:avLst/>
            <a:gdLst/>
            <a:ahLst/>
            <a:cxnLst/>
            <a:rect r="r" b="b" t="t" l="l"/>
            <a:pathLst>
              <a:path h="6699325" w="2978949">
                <a:moveTo>
                  <a:pt x="0" y="0"/>
                </a:moveTo>
                <a:lnTo>
                  <a:pt x="2978949" y="0"/>
                </a:lnTo>
                <a:lnTo>
                  <a:pt x="2978949" y="6699326"/>
                </a:lnTo>
                <a:lnTo>
                  <a:pt x="0" y="6699326"/>
                </a:lnTo>
                <a:lnTo>
                  <a:pt x="0" y="0"/>
                </a:lnTo>
                <a:close/>
              </a:path>
            </a:pathLst>
          </a:custGeom>
          <a:blipFill>
            <a:blip r:embed="rId6"/>
            <a:stretch>
              <a:fillRect l="0" t="0" r="0" b="0"/>
            </a:stretch>
          </a:blipFill>
        </p:spPr>
      </p:sp>
      <p:grpSp>
        <p:nvGrpSpPr>
          <p:cNvPr name="Group 8" id="8"/>
          <p:cNvGrpSpPr/>
          <p:nvPr/>
        </p:nvGrpSpPr>
        <p:grpSpPr>
          <a:xfrm rot="0">
            <a:off x="879947" y="1858129"/>
            <a:ext cx="1485900" cy="400050"/>
            <a:chOff x="0" y="0"/>
            <a:chExt cx="1981200" cy="533400"/>
          </a:xfrm>
        </p:grpSpPr>
        <p:sp>
          <p:nvSpPr>
            <p:cNvPr name="Freeform 9" id="9"/>
            <p:cNvSpPr/>
            <p:nvPr/>
          </p:nvSpPr>
          <p:spPr>
            <a:xfrm flipH="false" flipV="false" rot="0">
              <a:off x="0" y="0"/>
              <a:ext cx="1981200" cy="533400"/>
            </a:xfrm>
            <a:custGeom>
              <a:avLst/>
              <a:gdLst/>
              <a:ahLst/>
              <a:cxnLst/>
              <a:rect r="r" b="b" t="t" l="l"/>
              <a:pathLst>
                <a:path h="533400" w="1981200">
                  <a:moveTo>
                    <a:pt x="0" y="152400"/>
                  </a:moveTo>
                  <a:cubicBezTo>
                    <a:pt x="0" y="68199"/>
                    <a:pt x="68199" y="0"/>
                    <a:pt x="152400" y="0"/>
                  </a:cubicBezTo>
                  <a:lnTo>
                    <a:pt x="1828800" y="0"/>
                  </a:lnTo>
                  <a:cubicBezTo>
                    <a:pt x="1913001" y="0"/>
                    <a:pt x="1981200" y="68199"/>
                    <a:pt x="1981200" y="152400"/>
                  </a:cubicBezTo>
                  <a:lnTo>
                    <a:pt x="1981200" y="381000"/>
                  </a:lnTo>
                  <a:cubicBezTo>
                    <a:pt x="1981200" y="465201"/>
                    <a:pt x="1913001" y="533400"/>
                    <a:pt x="1828800" y="533400"/>
                  </a:cubicBezTo>
                  <a:lnTo>
                    <a:pt x="152400" y="533400"/>
                  </a:lnTo>
                  <a:cubicBezTo>
                    <a:pt x="68199" y="533400"/>
                    <a:pt x="0" y="465201"/>
                    <a:pt x="0" y="381000"/>
                  </a:cubicBezTo>
                  <a:close/>
                </a:path>
              </a:pathLst>
            </a:custGeom>
            <a:solidFill>
              <a:srgbClr val="B0B1B3"/>
            </a:solidFill>
          </p:spPr>
        </p:sp>
      </p:grpSp>
      <p:grpSp>
        <p:nvGrpSpPr>
          <p:cNvPr name="Group 10" id="10"/>
          <p:cNvGrpSpPr/>
          <p:nvPr/>
        </p:nvGrpSpPr>
        <p:grpSpPr>
          <a:xfrm rot="0">
            <a:off x="1028700" y="1668154"/>
            <a:ext cx="1337147" cy="780000"/>
            <a:chOff x="0" y="0"/>
            <a:chExt cx="1782862" cy="1040000"/>
          </a:xfrm>
        </p:grpSpPr>
        <p:sp>
          <p:nvSpPr>
            <p:cNvPr name="Freeform 11" id="11"/>
            <p:cNvSpPr/>
            <p:nvPr/>
          </p:nvSpPr>
          <p:spPr>
            <a:xfrm flipH="false" flipV="false" rot="0">
              <a:off x="0" y="0"/>
              <a:ext cx="1782866" cy="1039997"/>
            </a:xfrm>
            <a:custGeom>
              <a:avLst/>
              <a:gdLst/>
              <a:ahLst/>
              <a:cxnLst/>
              <a:rect r="r" b="b" t="t" l="l"/>
              <a:pathLst>
                <a:path h="1039997" w="1782866">
                  <a:moveTo>
                    <a:pt x="0" y="0"/>
                  </a:moveTo>
                  <a:lnTo>
                    <a:pt x="1782866" y="0"/>
                  </a:lnTo>
                  <a:lnTo>
                    <a:pt x="1782866" y="1039997"/>
                  </a:lnTo>
                  <a:lnTo>
                    <a:pt x="0" y="1039997"/>
                  </a:lnTo>
                  <a:close/>
                </a:path>
              </a:pathLst>
            </a:custGeom>
            <a:blipFill>
              <a:blip r:embed="rId4">
                <a:alphaModFix amt="0"/>
              </a:blip>
              <a:stretch>
                <a:fillRect l="0" t="-103632" r="-359933" b="-103632"/>
              </a:stretch>
            </a:blipFill>
          </p:spPr>
        </p:sp>
        <p:sp>
          <p:nvSpPr>
            <p:cNvPr name="TextBox 12" id="12"/>
            <p:cNvSpPr txBox="true"/>
            <p:nvPr/>
          </p:nvSpPr>
          <p:spPr>
            <a:xfrm>
              <a:off x="0" y="-19050"/>
              <a:ext cx="1782862" cy="1059050"/>
            </a:xfrm>
            <a:prstGeom prst="rect">
              <a:avLst/>
            </a:prstGeom>
          </p:spPr>
          <p:txBody>
            <a:bodyPr anchor="ctr" rtlCol="false" tIns="0" lIns="0" bIns="0" rIns="0"/>
            <a:lstStyle/>
            <a:p>
              <a:pPr algn="l">
                <a:lnSpc>
                  <a:spcPts val="3240"/>
                </a:lnSpc>
              </a:pPr>
              <a:r>
                <a:rPr lang="en-US" sz="2700" b="true">
                  <a:solidFill>
                    <a:srgbClr val="3A58E4"/>
                  </a:solidFill>
                  <a:latin typeface="Arial Bold"/>
                  <a:ea typeface="Arial Bold"/>
                  <a:cs typeface="Arial Bold"/>
                  <a:sym typeface="Arial Bold"/>
                </a:rPr>
                <a:t>Antes</a:t>
              </a:r>
            </a:p>
          </p:txBody>
        </p:sp>
      </p:grpSp>
      <p:grpSp>
        <p:nvGrpSpPr>
          <p:cNvPr name="Group 13" id="13"/>
          <p:cNvGrpSpPr/>
          <p:nvPr/>
        </p:nvGrpSpPr>
        <p:grpSpPr>
          <a:xfrm rot="0">
            <a:off x="4173558" y="1858129"/>
            <a:ext cx="1485900" cy="400050"/>
            <a:chOff x="0" y="0"/>
            <a:chExt cx="1981200" cy="533400"/>
          </a:xfrm>
        </p:grpSpPr>
        <p:sp>
          <p:nvSpPr>
            <p:cNvPr name="Freeform 14" id="14"/>
            <p:cNvSpPr/>
            <p:nvPr/>
          </p:nvSpPr>
          <p:spPr>
            <a:xfrm flipH="false" flipV="false" rot="0">
              <a:off x="0" y="0"/>
              <a:ext cx="1981200" cy="533400"/>
            </a:xfrm>
            <a:custGeom>
              <a:avLst/>
              <a:gdLst/>
              <a:ahLst/>
              <a:cxnLst/>
              <a:rect r="r" b="b" t="t" l="l"/>
              <a:pathLst>
                <a:path h="533400" w="1981200">
                  <a:moveTo>
                    <a:pt x="0" y="152400"/>
                  </a:moveTo>
                  <a:cubicBezTo>
                    <a:pt x="0" y="68199"/>
                    <a:pt x="68199" y="0"/>
                    <a:pt x="152400" y="0"/>
                  </a:cubicBezTo>
                  <a:lnTo>
                    <a:pt x="1828800" y="0"/>
                  </a:lnTo>
                  <a:cubicBezTo>
                    <a:pt x="1913001" y="0"/>
                    <a:pt x="1981200" y="68199"/>
                    <a:pt x="1981200" y="152400"/>
                  </a:cubicBezTo>
                  <a:lnTo>
                    <a:pt x="1981200" y="381000"/>
                  </a:lnTo>
                  <a:cubicBezTo>
                    <a:pt x="1981200" y="465201"/>
                    <a:pt x="1913001" y="533400"/>
                    <a:pt x="1828800" y="533400"/>
                  </a:cubicBezTo>
                  <a:lnTo>
                    <a:pt x="152400" y="533400"/>
                  </a:lnTo>
                  <a:cubicBezTo>
                    <a:pt x="68199" y="533400"/>
                    <a:pt x="0" y="465201"/>
                    <a:pt x="0" y="381000"/>
                  </a:cubicBezTo>
                  <a:close/>
                </a:path>
              </a:pathLst>
            </a:custGeom>
            <a:solidFill>
              <a:srgbClr val="B0B1B3"/>
            </a:solidFill>
          </p:spPr>
        </p:sp>
      </p:grpSp>
      <p:grpSp>
        <p:nvGrpSpPr>
          <p:cNvPr name="Group 15" id="15"/>
          <p:cNvGrpSpPr/>
          <p:nvPr/>
        </p:nvGrpSpPr>
        <p:grpSpPr>
          <a:xfrm rot="0">
            <a:off x="4395790" y="1668154"/>
            <a:ext cx="1263668" cy="780000"/>
            <a:chOff x="0" y="0"/>
            <a:chExt cx="1684891" cy="1040000"/>
          </a:xfrm>
        </p:grpSpPr>
        <p:sp>
          <p:nvSpPr>
            <p:cNvPr name="Freeform 16" id="16"/>
            <p:cNvSpPr/>
            <p:nvPr/>
          </p:nvSpPr>
          <p:spPr>
            <a:xfrm flipH="false" flipV="false" rot="0">
              <a:off x="0" y="0"/>
              <a:ext cx="1684895" cy="1039997"/>
            </a:xfrm>
            <a:custGeom>
              <a:avLst/>
              <a:gdLst/>
              <a:ahLst/>
              <a:cxnLst/>
              <a:rect r="r" b="b" t="t" l="l"/>
              <a:pathLst>
                <a:path h="1039997" w="1684895">
                  <a:moveTo>
                    <a:pt x="0" y="0"/>
                  </a:moveTo>
                  <a:lnTo>
                    <a:pt x="1684895" y="0"/>
                  </a:lnTo>
                  <a:lnTo>
                    <a:pt x="1684895" y="1039997"/>
                  </a:lnTo>
                  <a:lnTo>
                    <a:pt x="0" y="1039997"/>
                  </a:lnTo>
                  <a:close/>
                </a:path>
              </a:pathLst>
            </a:custGeom>
            <a:blipFill>
              <a:blip r:embed="rId4">
                <a:alphaModFix amt="0"/>
              </a:blip>
              <a:stretch>
                <a:fillRect l="0" t="-103632" r="-386677" b="-103632"/>
              </a:stretch>
            </a:blipFill>
          </p:spPr>
        </p:sp>
        <p:sp>
          <p:nvSpPr>
            <p:cNvPr name="TextBox 17" id="17"/>
            <p:cNvSpPr txBox="true"/>
            <p:nvPr/>
          </p:nvSpPr>
          <p:spPr>
            <a:xfrm>
              <a:off x="0" y="-19050"/>
              <a:ext cx="1684891" cy="1059050"/>
            </a:xfrm>
            <a:prstGeom prst="rect">
              <a:avLst/>
            </a:prstGeom>
          </p:spPr>
          <p:txBody>
            <a:bodyPr anchor="ctr" rtlCol="false" tIns="0" lIns="0" bIns="0" rIns="0"/>
            <a:lstStyle/>
            <a:p>
              <a:pPr algn="l">
                <a:lnSpc>
                  <a:spcPts val="3240"/>
                </a:lnSpc>
              </a:pPr>
              <a:r>
                <a:rPr lang="en-US" sz="2700" b="true">
                  <a:solidFill>
                    <a:srgbClr val="3A58E4"/>
                  </a:solidFill>
                  <a:latin typeface="Arial Bold"/>
                  <a:ea typeface="Arial Bold"/>
                  <a:cs typeface="Arial Bold"/>
                  <a:sym typeface="Arial Bold"/>
                </a:rPr>
                <a:t>Ahora</a:t>
              </a:r>
            </a:p>
          </p:txBody>
        </p:sp>
      </p:grpSp>
      <p:sp>
        <p:nvSpPr>
          <p:cNvPr name="Freeform 18" id="18"/>
          <p:cNvSpPr/>
          <p:nvPr/>
        </p:nvSpPr>
        <p:spPr>
          <a:xfrm flipH="false" flipV="false" rot="0">
            <a:off x="7140188" y="3203400"/>
            <a:ext cx="10676807" cy="4677776"/>
          </a:xfrm>
          <a:custGeom>
            <a:avLst/>
            <a:gdLst/>
            <a:ahLst/>
            <a:cxnLst/>
            <a:rect r="r" b="b" t="t" l="l"/>
            <a:pathLst>
              <a:path h="4677776" w="10676807">
                <a:moveTo>
                  <a:pt x="0" y="0"/>
                </a:moveTo>
                <a:lnTo>
                  <a:pt x="10676807" y="0"/>
                </a:lnTo>
                <a:lnTo>
                  <a:pt x="10676807" y="4677777"/>
                </a:lnTo>
                <a:lnTo>
                  <a:pt x="0" y="4677777"/>
                </a:lnTo>
                <a:lnTo>
                  <a:pt x="0" y="0"/>
                </a:lnTo>
                <a:close/>
              </a:path>
            </a:pathLst>
          </a:custGeom>
          <a:blipFill>
            <a:blip r:embed="rId7"/>
            <a:stretch>
              <a:fillRect l="0" t="0" r="0" b="0"/>
            </a:stretch>
          </a:blipFill>
        </p:spPr>
      </p:sp>
      <p:grpSp>
        <p:nvGrpSpPr>
          <p:cNvPr name="Group 19" id="19"/>
          <p:cNvGrpSpPr/>
          <p:nvPr/>
        </p:nvGrpSpPr>
        <p:grpSpPr>
          <a:xfrm rot="0">
            <a:off x="755333" y="5058728"/>
            <a:ext cx="1121092" cy="438150"/>
            <a:chOff x="0" y="0"/>
            <a:chExt cx="1494790" cy="584200"/>
          </a:xfrm>
        </p:grpSpPr>
        <p:sp>
          <p:nvSpPr>
            <p:cNvPr name="Freeform 20" id="20"/>
            <p:cNvSpPr/>
            <p:nvPr/>
          </p:nvSpPr>
          <p:spPr>
            <a:xfrm flipH="false" flipV="false" rot="0">
              <a:off x="9031" y="33898"/>
              <a:ext cx="1482588" cy="564139"/>
            </a:xfrm>
            <a:custGeom>
              <a:avLst/>
              <a:gdLst/>
              <a:ahLst/>
              <a:cxnLst/>
              <a:rect r="r" b="b" t="t" l="l"/>
              <a:pathLst>
                <a:path h="564139" w="1482588">
                  <a:moveTo>
                    <a:pt x="41769" y="37222"/>
                  </a:moveTo>
                  <a:cubicBezTo>
                    <a:pt x="1287639" y="32142"/>
                    <a:pt x="1382889" y="-28818"/>
                    <a:pt x="1432419" y="16902"/>
                  </a:cubicBezTo>
                  <a:cubicBezTo>
                    <a:pt x="1498459" y="77862"/>
                    <a:pt x="1499729" y="402982"/>
                    <a:pt x="1433689" y="474102"/>
                  </a:cubicBezTo>
                  <a:cubicBezTo>
                    <a:pt x="1384159" y="528712"/>
                    <a:pt x="1287639" y="489342"/>
                    <a:pt x="1169529" y="494422"/>
                  </a:cubicBezTo>
                  <a:cubicBezTo>
                    <a:pt x="923149" y="503312"/>
                    <a:pt x="189089" y="644282"/>
                    <a:pt x="41769" y="498232"/>
                  </a:cubicBezTo>
                  <a:cubicBezTo>
                    <a:pt x="-52211" y="405522"/>
                    <a:pt x="41769" y="37222"/>
                    <a:pt x="41769" y="37222"/>
                  </a:cubicBezTo>
                </a:path>
              </a:pathLst>
            </a:custGeom>
            <a:solidFill>
              <a:srgbClr val="FFF234">
                <a:alpha val="24706"/>
              </a:srgbClr>
            </a:solidFill>
            <a:ln cap="sq">
              <a:noFill/>
              <a:prstDash val="solid"/>
              <a:miter/>
            </a:ln>
          </p:spPr>
        </p:sp>
      </p:grpSp>
      <p:grpSp>
        <p:nvGrpSpPr>
          <p:cNvPr name="Group 21" id="21"/>
          <p:cNvGrpSpPr/>
          <p:nvPr/>
        </p:nvGrpSpPr>
        <p:grpSpPr>
          <a:xfrm rot="0">
            <a:off x="3807142" y="4961572"/>
            <a:ext cx="1551623" cy="456247"/>
            <a:chOff x="0" y="0"/>
            <a:chExt cx="2068830" cy="608330"/>
          </a:xfrm>
        </p:grpSpPr>
        <p:sp>
          <p:nvSpPr>
            <p:cNvPr name="Freeform 22" id="22"/>
            <p:cNvSpPr/>
            <p:nvPr/>
          </p:nvSpPr>
          <p:spPr>
            <a:xfrm flipH="false" flipV="false" rot="0">
              <a:off x="12982" y="-9812"/>
              <a:ext cx="2075692" cy="610804"/>
            </a:xfrm>
            <a:custGeom>
              <a:avLst/>
              <a:gdLst/>
              <a:ahLst/>
              <a:cxnLst/>
              <a:rect r="r" b="b" t="t" l="l"/>
              <a:pathLst>
                <a:path h="610804" w="2075692">
                  <a:moveTo>
                    <a:pt x="37818" y="105062"/>
                  </a:moveTo>
                  <a:cubicBezTo>
                    <a:pt x="1062708" y="98712"/>
                    <a:pt x="1842488" y="-95598"/>
                    <a:pt x="2003778" y="60612"/>
                  </a:cubicBezTo>
                  <a:cubicBezTo>
                    <a:pt x="2099028" y="153322"/>
                    <a:pt x="2100298" y="418752"/>
                    <a:pt x="2003778" y="517812"/>
                  </a:cubicBezTo>
                  <a:cubicBezTo>
                    <a:pt x="1842488" y="685452"/>
                    <a:pt x="1062708" y="554642"/>
                    <a:pt x="700758" y="562262"/>
                  </a:cubicBezTo>
                  <a:cubicBezTo>
                    <a:pt x="442948" y="567342"/>
                    <a:pt x="138148" y="666402"/>
                    <a:pt x="37818" y="566072"/>
                  </a:cubicBezTo>
                  <a:cubicBezTo>
                    <a:pt x="-47272" y="483522"/>
                    <a:pt x="37818" y="105062"/>
                    <a:pt x="37818" y="105062"/>
                  </a:cubicBezTo>
                </a:path>
              </a:pathLst>
            </a:custGeom>
            <a:solidFill>
              <a:srgbClr val="FFF234">
                <a:alpha val="24706"/>
              </a:srgbClr>
            </a:solidFill>
            <a:ln cap="sq">
              <a:noFill/>
              <a:prstDash val="solid"/>
              <a:miter/>
            </a:ln>
          </p:spPr>
        </p:sp>
      </p:grpSp>
      <p:grpSp>
        <p:nvGrpSpPr>
          <p:cNvPr name="Group 23" id="23"/>
          <p:cNvGrpSpPr/>
          <p:nvPr/>
        </p:nvGrpSpPr>
        <p:grpSpPr>
          <a:xfrm rot="0">
            <a:off x="2832946" y="5039099"/>
            <a:ext cx="713068" cy="457779"/>
            <a:chOff x="0" y="0"/>
            <a:chExt cx="12169701" cy="7812756"/>
          </a:xfrm>
        </p:grpSpPr>
        <p:sp>
          <p:nvSpPr>
            <p:cNvPr name="Freeform 24" id="24"/>
            <p:cNvSpPr/>
            <p:nvPr/>
          </p:nvSpPr>
          <p:spPr>
            <a:xfrm flipH="false" flipV="false" rot="0">
              <a:off x="0" y="0"/>
              <a:ext cx="12169701" cy="7812756"/>
            </a:xfrm>
            <a:custGeom>
              <a:avLst/>
              <a:gdLst/>
              <a:ahLst/>
              <a:cxnLst/>
              <a:rect r="r" b="b" t="t" l="l"/>
              <a:pathLst>
                <a:path h="7812756" w="12169701">
                  <a:moveTo>
                    <a:pt x="108572" y="0"/>
                  </a:moveTo>
                  <a:lnTo>
                    <a:pt x="12061130" y="0"/>
                  </a:lnTo>
                  <a:cubicBezTo>
                    <a:pt x="12121092" y="0"/>
                    <a:pt x="12169701" y="48609"/>
                    <a:pt x="12169701" y="108572"/>
                  </a:cubicBezTo>
                  <a:lnTo>
                    <a:pt x="12169701" y="7704185"/>
                  </a:lnTo>
                  <a:cubicBezTo>
                    <a:pt x="12169701" y="7764147"/>
                    <a:pt x="12121092" y="7812756"/>
                    <a:pt x="12061130" y="7812756"/>
                  </a:cubicBezTo>
                  <a:lnTo>
                    <a:pt x="108572" y="7812756"/>
                  </a:lnTo>
                  <a:cubicBezTo>
                    <a:pt x="48609" y="7812756"/>
                    <a:pt x="0" y="7764147"/>
                    <a:pt x="0" y="7704185"/>
                  </a:cubicBezTo>
                  <a:lnTo>
                    <a:pt x="0" y="108572"/>
                  </a:lnTo>
                  <a:cubicBezTo>
                    <a:pt x="0" y="48609"/>
                    <a:pt x="48609" y="0"/>
                    <a:pt x="108572" y="0"/>
                  </a:cubicBezTo>
                  <a:close/>
                </a:path>
              </a:pathLst>
            </a:custGeom>
            <a:ln w="38100" cap="sq">
              <a:solidFill>
                <a:srgbClr val="FF3131"/>
              </a:solidFill>
              <a:prstDash val="solid"/>
              <a:miter/>
            </a:ln>
          </p:spPr>
        </p:sp>
        <p:sp>
          <p:nvSpPr>
            <p:cNvPr name="TextBox 25" id="25"/>
            <p:cNvSpPr txBox="true"/>
            <p:nvPr/>
          </p:nvSpPr>
          <p:spPr>
            <a:xfrm>
              <a:off x="0" y="-19050"/>
              <a:ext cx="12169701" cy="7831806"/>
            </a:xfrm>
            <a:prstGeom prst="rect">
              <a:avLst/>
            </a:prstGeom>
          </p:spPr>
          <p:txBody>
            <a:bodyPr anchor="ctr" rtlCol="false" tIns="50800" lIns="50800" bIns="50800" rIns="50800"/>
            <a:lstStyle/>
            <a:p>
              <a:pPr algn="ctr">
                <a:lnSpc>
                  <a:spcPts val="559"/>
                </a:lnSpc>
              </a:pPr>
            </a:p>
          </p:txBody>
        </p:sp>
      </p:grpSp>
      <p:grpSp>
        <p:nvGrpSpPr>
          <p:cNvPr name="Group 26" id="26"/>
          <p:cNvGrpSpPr/>
          <p:nvPr/>
        </p:nvGrpSpPr>
        <p:grpSpPr>
          <a:xfrm rot="0">
            <a:off x="5892942" y="5039099"/>
            <a:ext cx="713068" cy="457779"/>
            <a:chOff x="0" y="0"/>
            <a:chExt cx="12169701" cy="7812756"/>
          </a:xfrm>
        </p:grpSpPr>
        <p:sp>
          <p:nvSpPr>
            <p:cNvPr name="Freeform 27" id="27"/>
            <p:cNvSpPr/>
            <p:nvPr/>
          </p:nvSpPr>
          <p:spPr>
            <a:xfrm flipH="false" flipV="false" rot="0">
              <a:off x="0" y="0"/>
              <a:ext cx="12169701" cy="7812756"/>
            </a:xfrm>
            <a:custGeom>
              <a:avLst/>
              <a:gdLst/>
              <a:ahLst/>
              <a:cxnLst/>
              <a:rect r="r" b="b" t="t" l="l"/>
              <a:pathLst>
                <a:path h="7812756" w="12169701">
                  <a:moveTo>
                    <a:pt x="108572" y="0"/>
                  </a:moveTo>
                  <a:lnTo>
                    <a:pt x="12061130" y="0"/>
                  </a:lnTo>
                  <a:cubicBezTo>
                    <a:pt x="12121092" y="0"/>
                    <a:pt x="12169701" y="48609"/>
                    <a:pt x="12169701" y="108572"/>
                  </a:cubicBezTo>
                  <a:lnTo>
                    <a:pt x="12169701" y="7704185"/>
                  </a:lnTo>
                  <a:cubicBezTo>
                    <a:pt x="12169701" y="7764147"/>
                    <a:pt x="12121092" y="7812756"/>
                    <a:pt x="12061130" y="7812756"/>
                  </a:cubicBezTo>
                  <a:lnTo>
                    <a:pt x="108572" y="7812756"/>
                  </a:lnTo>
                  <a:cubicBezTo>
                    <a:pt x="48609" y="7812756"/>
                    <a:pt x="0" y="7764147"/>
                    <a:pt x="0" y="7704185"/>
                  </a:cubicBezTo>
                  <a:lnTo>
                    <a:pt x="0" y="108572"/>
                  </a:lnTo>
                  <a:cubicBezTo>
                    <a:pt x="0" y="48609"/>
                    <a:pt x="48609" y="0"/>
                    <a:pt x="108572" y="0"/>
                  </a:cubicBezTo>
                  <a:close/>
                </a:path>
              </a:pathLst>
            </a:custGeom>
            <a:ln w="38100" cap="sq">
              <a:solidFill>
                <a:srgbClr val="FF3131"/>
              </a:solidFill>
              <a:prstDash val="solid"/>
              <a:miter/>
            </a:ln>
          </p:spPr>
        </p:sp>
        <p:sp>
          <p:nvSpPr>
            <p:cNvPr name="TextBox 28" id="28"/>
            <p:cNvSpPr txBox="true"/>
            <p:nvPr/>
          </p:nvSpPr>
          <p:spPr>
            <a:xfrm>
              <a:off x="0" y="-19050"/>
              <a:ext cx="12169701" cy="7831806"/>
            </a:xfrm>
            <a:prstGeom prst="rect">
              <a:avLst/>
            </a:prstGeom>
          </p:spPr>
          <p:txBody>
            <a:bodyPr anchor="ctr" rtlCol="false" tIns="50800" lIns="50800" bIns="50800" rIns="50800"/>
            <a:lstStyle/>
            <a:p>
              <a:pPr algn="ctr">
                <a:lnSpc>
                  <a:spcPts val="559"/>
                </a:lnSpc>
              </a:pPr>
            </a:p>
          </p:txBody>
        </p:sp>
      </p:grpSp>
      <p:grpSp>
        <p:nvGrpSpPr>
          <p:cNvPr name="Group 29" id="29"/>
          <p:cNvGrpSpPr/>
          <p:nvPr/>
        </p:nvGrpSpPr>
        <p:grpSpPr>
          <a:xfrm rot="0">
            <a:off x="17259300" y="9696477"/>
            <a:ext cx="500062" cy="314325"/>
            <a:chOff x="0" y="0"/>
            <a:chExt cx="666750" cy="419100"/>
          </a:xfrm>
        </p:grpSpPr>
        <p:sp>
          <p:nvSpPr>
            <p:cNvPr name="Freeform 30" id="30"/>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4">
                <a:alphaModFix amt="0"/>
              </a:blip>
              <a:stretch>
                <a:fillRect l="-30647" t="0" r="-30647" b="0"/>
              </a:stretch>
            </a:blipFill>
          </p:spPr>
        </p:sp>
        <p:sp>
          <p:nvSpPr>
            <p:cNvPr name="TextBox 31" id="31"/>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11</a:t>
              </a:r>
            </a:p>
          </p:txBody>
        </p:sp>
      </p:grpSp>
      <p:grpSp>
        <p:nvGrpSpPr>
          <p:cNvPr name="Group 32" id="32"/>
          <p:cNvGrpSpPr/>
          <p:nvPr/>
        </p:nvGrpSpPr>
        <p:grpSpPr>
          <a:xfrm rot="0">
            <a:off x="4765021" y="542562"/>
            <a:ext cx="780002" cy="780002"/>
            <a:chOff x="0" y="0"/>
            <a:chExt cx="1040003" cy="1040003"/>
          </a:xfrm>
        </p:grpSpPr>
        <p:sp>
          <p:nvSpPr>
            <p:cNvPr name="Freeform 33" id="33"/>
            <p:cNvSpPr/>
            <p:nvPr/>
          </p:nvSpPr>
          <p:spPr>
            <a:xfrm flipH="false" flipV="false" rot="0">
              <a:off x="0" y="0"/>
              <a:ext cx="1040003" cy="1040003"/>
            </a:xfrm>
            <a:custGeom>
              <a:avLst/>
              <a:gdLst/>
              <a:ahLst/>
              <a:cxnLst/>
              <a:rect r="r" b="b" t="t" l="l"/>
              <a:pathLst>
                <a:path h="1040003" w="1040003">
                  <a:moveTo>
                    <a:pt x="0" y="519938"/>
                  </a:moveTo>
                  <a:cubicBezTo>
                    <a:pt x="0" y="232791"/>
                    <a:pt x="232791" y="0"/>
                    <a:pt x="519938" y="0"/>
                  </a:cubicBezTo>
                  <a:cubicBezTo>
                    <a:pt x="807085" y="0"/>
                    <a:pt x="1040003" y="232791"/>
                    <a:pt x="1040003" y="519938"/>
                  </a:cubicBezTo>
                  <a:cubicBezTo>
                    <a:pt x="1040003" y="807085"/>
                    <a:pt x="807212" y="1040003"/>
                    <a:pt x="519938" y="1040003"/>
                  </a:cubicBezTo>
                  <a:cubicBezTo>
                    <a:pt x="232664" y="1040003"/>
                    <a:pt x="0" y="807212"/>
                    <a:pt x="0" y="519938"/>
                  </a:cubicBezTo>
                  <a:close/>
                </a:path>
              </a:pathLst>
            </a:custGeom>
            <a:solidFill>
              <a:srgbClr val="B0B1B3"/>
            </a:solidFill>
          </p:spPr>
        </p:sp>
        <p:sp>
          <p:nvSpPr>
            <p:cNvPr name="TextBox 34" id="34"/>
            <p:cNvSpPr txBox="true"/>
            <p:nvPr/>
          </p:nvSpPr>
          <p:spPr>
            <a:xfrm>
              <a:off x="0" y="-9525"/>
              <a:ext cx="1040003" cy="1049528"/>
            </a:xfrm>
            <a:prstGeom prst="rect">
              <a:avLst/>
            </a:prstGeom>
          </p:spPr>
          <p:txBody>
            <a:bodyPr anchor="ctr" rtlCol="false" tIns="50800" lIns="50800" bIns="50800" rIns="50800"/>
            <a:lstStyle/>
            <a:p>
              <a:pPr algn="ctr">
                <a:lnSpc>
                  <a:spcPts val="2520"/>
                </a:lnSpc>
              </a:pPr>
              <a:r>
                <a:rPr lang="en-US" b="true" sz="2100">
                  <a:solidFill>
                    <a:srgbClr val="FEFEFF"/>
                  </a:solidFill>
                  <a:latin typeface="Arial Bold"/>
                  <a:ea typeface="Arial Bold"/>
                  <a:cs typeface="Arial Bold"/>
                  <a:sym typeface="Arial Bold"/>
                </a:rPr>
                <a:t>03</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721338" y="0"/>
            <a:ext cx="9786547" cy="11611148"/>
          </a:xfrm>
          <a:custGeom>
            <a:avLst/>
            <a:gdLst/>
            <a:ahLst/>
            <a:cxnLst/>
            <a:rect r="r" b="b" t="t" l="l"/>
            <a:pathLst>
              <a:path h="11611148" w="9786547">
                <a:moveTo>
                  <a:pt x="0" y="0"/>
                </a:moveTo>
                <a:lnTo>
                  <a:pt x="9786547" y="0"/>
                </a:lnTo>
                <a:lnTo>
                  <a:pt x="9786547" y="11611148"/>
                </a:lnTo>
                <a:lnTo>
                  <a:pt x="0" y="11611148"/>
                </a:lnTo>
                <a:lnTo>
                  <a:pt x="0" y="0"/>
                </a:lnTo>
                <a:close/>
              </a:path>
            </a:pathLst>
          </a:custGeom>
          <a:blipFill>
            <a:blip r:embed="rId2">
              <a:alphaModFix amt="65999"/>
            </a:blip>
            <a:stretch>
              <a:fillRect l="0" t="-36079" r="0" b="-36079"/>
            </a:stretch>
          </a:blipFill>
        </p:spPr>
      </p:sp>
      <p:sp>
        <p:nvSpPr>
          <p:cNvPr name="Freeform 3" id="3"/>
          <p:cNvSpPr/>
          <p:nvPr/>
        </p:nvSpPr>
        <p:spPr>
          <a:xfrm flipH="false" flipV="false" rot="0">
            <a:off x="0" y="0"/>
            <a:ext cx="8721338" cy="11611148"/>
          </a:xfrm>
          <a:custGeom>
            <a:avLst/>
            <a:gdLst/>
            <a:ahLst/>
            <a:cxnLst/>
            <a:rect r="r" b="b" t="t" l="l"/>
            <a:pathLst>
              <a:path h="11611148" w="8721338">
                <a:moveTo>
                  <a:pt x="0" y="0"/>
                </a:moveTo>
                <a:lnTo>
                  <a:pt x="8721338" y="0"/>
                </a:lnTo>
                <a:lnTo>
                  <a:pt x="8721338" y="11611148"/>
                </a:lnTo>
                <a:lnTo>
                  <a:pt x="0" y="11611148"/>
                </a:lnTo>
                <a:lnTo>
                  <a:pt x="0" y="0"/>
                </a:lnTo>
                <a:close/>
              </a:path>
            </a:pathLst>
          </a:custGeom>
          <a:blipFill>
            <a:blip r:embed="rId2">
              <a:alphaModFix amt="65999"/>
            </a:blip>
            <a:stretch>
              <a:fillRect l="0" t="-36079" r="-12213" b="-36079"/>
            </a:stretch>
          </a:blipFill>
        </p:spPr>
      </p:sp>
      <p:sp>
        <p:nvSpPr>
          <p:cNvPr name="TextBox 4" id="4"/>
          <p:cNvSpPr txBox="true"/>
          <p:nvPr/>
        </p:nvSpPr>
        <p:spPr>
          <a:xfrm rot="0">
            <a:off x="2254188" y="3680638"/>
            <a:ext cx="12934301" cy="3392449"/>
          </a:xfrm>
          <a:prstGeom prst="rect">
            <a:avLst/>
          </a:prstGeom>
        </p:spPr>
        <p:txBody>
          <a:bodyPr anchor="t" rtlCol="false" tIns="0" lIns="0" bIns="0" rIns="0">
            <a:spAutoFit/>
          </a:bodyPr>
          <a:lstStyle/>
          <a:p>
            <a:pPr algn="ctr">
              <a:lnSpc>
                <a:spcPts val="12741"/>
              </a:lnSpc>
            </a:pPr>
            <a:r>
              <a:rPr lang="en-US" sz="14815" b="true">
                <a:solidFill>
                  <a:srgbClr val="3A58E4"/>
                </a:solidFill>
                <a:latin typeface="Work Sans Bold"/>
                <a:ea typeface="Work Sans Bold"/>
                <a:cs typeface="Work Sans Bold"/>
                <a:sym typeface="Work Sans Bold"/>
              </a:rPr>
              <a:t>Primera</a:t>
            </a:r>
          </a:p>
          <a:p>
            <a:pPr algn="ctr">
              <a:lnSpc>
                <a:spcPts val="12741"/>
              </a:lnSpc>
              <a:spcBef>
                <a:spcPct val="0"/>
              </a:spcBef>
            </a:pPr>
            <a:r>
              <a:rPr lang="en-US" b="true" sz="14815">
                <a:solidFill>
                  <a:srgbClr val="3A58E4"/>
                </a:solidFill>
                <a:latin typeface="Work Sans Bold"/>
                <a:ea typeface="Work Sans Bold"/>
                <a:cs typeface="Work Sans Bold"/>
                <a:sym typeface="Work Sans Bold"/>
              </a:rPr>
              <a:t> sugerencia!</a:t>
            </a:r>
          </a:p>
        </p:txBody>
      </p:sp>
      <p:grpSp>
        <p:nvGrpSpPr>
          <p:cNvPr name="Group 5" id="5"/>
          <p:cNvGrpSpPr/>
          <p:nvPr/>
        </p:nvGrpSpPr>
        <p:grpSpPr>
          <a:xfrm rot="0">
            <a:off x="17259300" y="9696477"/>
            <a:ext cx="500062" cy="314325"/>
            <a:chOff x="0" y="0"/>
            <a:chExt cx="666750" cy="419100"/>
          </a:xfrm>
        </p:grpSpPr>
        <p:sp>
          <p:nvSpPr>
            <p:cNvPr name="Freeform 6" id="6"/>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7" id="7"/>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12</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721338" y="0"/>
            <a:ext cx="9786547" cy="11611148"/>
          </a:xfrm>
          <a:custGeom>
            <a:avLst/>
            <a:gdLst/>
            <a:ahLst/>
            <a:cxnLst/>
            <a:rect r="r" b="b" t="t" l="l"/>
            <a:pathLst>
              <a:path h="11611148" w="9786547">
                <a:moveTo>
                  <a:pt x="0" y="0"/>
                </a:moveTo>
                <a:lnTo>
                  <a:pt x="9786547" y="0"/>
                </a:lnTo>
                <a:lnTo>
                  <a:pt x="9786547" y="11611148"/>
                </a:lnTo>
                <a:lnTo>
                  <a:pt x="0" y="11611148"/>
                </a:lnTo>
                <a:lnTo>
                  <a:pt x="0" y="0"/>
                </a:lnTo>
                <a:close/>
              </a:path>
            </a:pathLst>
          </a:custGeom>
          <a:blipFill>
            <a:blip r:embed="rId2">
              <a:alphaModFix amt="65999"/>
            </a:blip>
            <a:stretch>
              <a:fillRect l="0" t="-36079" r="0" b="-36079"/>
            </a:stretch>
          </a:blipFill>
        </p:spPr>
      </p:sp>
      <p:sp>
        <p:nvSpPr>
          <p:cNvPr name="Freeform 3" id="3"/>
          <p:cNvSpPr/>
          <p:nvPr/>
        </p:nvSpPr>
        <p:spPr>
          <a:xfrm flipH="false" flipV="false" rot="0">
            <a:off x="0" y="0"/>
            <a:ext cx="8721338" cy="11611148"/>
          </a:xfrm>
          <a:custGeom>
            <a:avLst/>
            <a:gdLst/>
            <a:ahLst/>
            <a:cxnLst/>
            <a:rect r="r" b="b" t="t" l="l"/>
            <a:pathLst>
              <a:path h="11611148" w="8721338">
                <a:moveTo>
                  <a:pt x="0" y="0"/>
                </a:moveTo>
                <a:lnTo>
                  <a:pt x="8721338" y="0"/>
                </a:lnTo>
                <a:lnTo>
                  <a:pt x="8721338" y="11611148"/>
                </a:lnTo>
                <a:lnTo>
                  <a:pt x="0" y="11611148"/>
                </a:lnTo>
                <a:lnTo>
                  <a:pt x="0" y="0"/>
                </a:lnTo>
                <a:close/>
              </a:path>
            </a:pathLst>
          </a:custGeom>
          <a:blipFill>
            <a:blip r:embed="rId2">
              <a:alphaModFix amt="65999"/>
            </a:blip>
            <a:stretch>
              <a:fillRect l="0" t="-36079" r="-12213" b="-36079"/>
            </a:stretch>
          </a:blipFill>
        </p:spPr>
      </p:sp>
      <p:sp>
        <p:nvSpPr>
          <p:cNvPr name="Freeform 4" id="4"/>
          <p:cNvSpPr/>
          <p:nvPr/>
        </p:nvSpPr>
        <p:spPr>
          <a:xfrm flipH="false" flipV="false" rot="0">
            <a:off x="620062" y="1154732"/>
            <a:ext cx="9605766" cy="8103568"/>
          </a:xfrm>
          <a:custGeom>
            <a:avLst/>
            <a:gdLst/>
            <a:ahLst/>
            <a:cxnLst/>
            <a:rect r="r" b="b" t="t" l="l"/>
            <a:pathLst>
              <a:path h="8103568" w="9605766">
                <a:moveTo>
                  <a:pt x="0" y="0"/>
                </a:moveTo>
                <a:lnTo>
                  <a:pt x="9605767" y="0"/>
                </a:lnTo>
                <a:lnTo>
                  <a:pt x="9605767" y="8103568"/>
                </a:lnTo>
                <a:lnTo>
                  <a:pt x="0" y="8103568"/>
                </a:lnTo>
                <a:lnTo>
                  <a:pt x="0" y="0"/>
                </a:lnTo>
                <a:close/>
              </a:path>
            </a:pathLst>
          </a:custGeom>
          <a:blipFill>
            <a:blip r:embed="rId3"/>
            <a:stretch>
              <a:fillRect l="0" t="0" r="-25561" b="0"/>
            </a:stretch>
          </a:blipFill>
        </p:spPr>
      </p:sp>
      <p:sp>
        <p:nvSpPr>
          <p:cNvPr name="Freeform 5" id="5"/>
          <p:cNvSpPr/>
          <p:nvPr/>
        </p:nvSpPr>
        <p:spPr>
          <a:xfrm flipH="false" flipV="false" rot="0">
            <a:off x="10744540" y="7129997"/>
            <a:ext cx="6992371" cy="2128303"/>
          </a:xfrm>
          <a:custGeom>
            <a:avLst/>
            <a:gdLst/>
            <a:ahLst/>
            <a:cxnLst/>
            <a:rect r="r" b="b" t="t" l="l"/>
            <a:pathLst>
              <a:path h="2128303" w="6992371">
                <a:moveTo>
                  <a:pt x="0" y="0"/>
                </a:moveTo>
                <a:lnTo>
                  <a:pt x="6992371" y="0"/>
                </a:lnTo>
                <a:lnTo>
                  <a:pt x="6992371" y="2128303"/>
                </a:lnTo>
                <a:lnTo>
                  <a:pt x="0" y="2128303"/>
                </a:lnTo>
                <a:lnTo>
                  <a:pt x="0" y="0"/>
                </a:lnTo>
                <a:close/>
              </a:path>
            </a:pathLst>
          </a:custGeom>
          <a:blipFill>
            <a:blip r:embed="rId4"/>
            <a:stretch>
              <a:fillRect l="0" t="0" r="0" b="0"/>
            </a:stretch>
          </a:blipFill>
        </p:spPr>
      </p:sp>
      <p:sp>
        <p:nvSpPr>
          <p:cNvPr name="Freeform 6" id="6"/>
          <p:cNvSpPr/>
          <p:nvPr/>
        </p:nvSpPr>
        <p:spPr>
          <a:xfrm flipH="false" flipV="false" rot="0">
            <a:off x="10606790" y="1154732"/>
            <a:ext cx="3184522" cy="5735158"/>
          </a:xfrm>
          <a:custGeom>
            <a:avLst/>
            <a:gdLst/>
            <a:ahLst/>
            <a:cxnLst/>
            <a:rect r="r" b="b" t="t" l="l"/>
            <a:pathLst>
              <a:path h="5735158" w="3184522">
                <a:moveTo>
                  <a:pt x="0" y="0"/>
                </a:moveTo>
                <a:lnTo>
                  <a:pt x="3184522" y="0"/>
                </a:lnTo>
                <a:lnTo>
                  <a:pt x="3184522" y="5735159"/>
                </a:lnTo>
                <a:lnTo>
                  <a:pt x="0" y="5735159"/>
                </a:lnTo>
                <a:lnTo>
                  <a:pt x="0" y="0"/>
                </a:lnTo>
                <a:close/>
              </a:path>
            </a:pathLst>
          </a:custGeom>
          <a:blipFill>
            <a:blip r:embed="rId5"/>
            <a:stretch>
              <a:fillRect l="0" t="0" r="0" b="0"/>
            </a:stretch>
          </a:blipFill>
        </p:spPr>
      </p:sp>
      <p:grpSp>
        <p:nvGrpSpPr>
          <p:cNvPr name="Group 7" id="7"/>
          <p:cNvGrpSpPr/>
          <p:nvPr/>
        </p:nvGrpSpPr>
        <p:grpSpPr>
          <a:xfrm rot="0">
            <a:off x="14240726" y="6042301"/>
            <a:ext cx="2769980" cy="967327"/>
            <a:chOff x="0" y="0"/>
            <a:chExt cx="3693307" cy="1289769"/>
          </a:xfrm>
        </p:grpSpPr>
        <p:sp>
          <p:nvSpPr>
            <p:cNvPr name="Freeform 8" id="8"/>
            <p:cNvSpPr/>
            <p:nvPr/>
          </p:nvSpPr>
          <p:spPr>
            <a:xfrm flipH="false" flipV="false" rot="0">
              <a:off x="0" y="0"/>
              <a:ext cx="3693311" cy="1289766"/>
            </a:xfrm>
            <a:custGeom>
              <a:avLst/>
              <a:gdLst/>
              <a:ahLst/>
              <a:cxnLst/>
              <a:rect r="r" b="b" t="t" l="l"/>
              <a:pathLst>
                <a:path h="1289766" w="3693311">
                  <a:moveTo>
                    <a:pt x="0" y="0"/>
                  </a:moveTo>
                  <a:lnTo>
                    <a:pt x="3693311" y="0"/>
                  </a:lnTo>
                  <a:lnTo>
                    <a:pt x="3693311" y="1289766"/>
                  </a:lnTo>
                  <a:lnTo>
                    <a:pt x="0" y="1289766"/>
                  </a:lnTo>
                  <a:close/>
                </a:path>
              </a:pathLst>
            </a:custGeom>
            <a:blipFill>
              <a:blip r:embed="rId6">
                <a:alphaModFix amt="0"/>
              </a:blip>
              <a:stretch>
                <a:fillRect l="0" t="-83563" r="-122022" b="-64198"/>
              </a:stretch>
            </a:blipFill>
          </p:spPr>
        </p:sp>
        <p:sp>
          <p:nvSpPr>
            <p:cNvPr name="TextBox 9" id="9"/>
            <p:cNvSpPr txBox="true"/>
            <p:nvPr/>
          </p:nvSpPr>
          <p:spPr>
            <a:xfrm>
              <a:off x="0" y="-19050"/>
              <a:ext cx="3693307" cy="1308819"/>
            </a:xfrm>
            <a:prstGeom prst="rect">
              <a:avLst/>
            </a:prstGeom>
          </p:spPr>
          <p:txBody>
            <a:bodyPr anchor="ctr" rtlCol="false" tIns="0" lIns="0" bIns="0" rIns="0"/>
            <a:lstStyle/>
            <a:p>
              <a:pPr algn="ctr">
                <a:lnSpc>
                  <a:spcPts val="3240"/>
                </a:lnSpc>
              </a:pPr>
              <a:r>
                <a:rPr lang="en-US" sz="2700" b="true">
                  <a:solidFill>
                    <a:srgbClr val="3A58E4"/>
                  </a:solidFill>
                  <a:latin typeface="Arial Bold"/>
                  <a:ea typeface="Arial Bold"/>
                  <a:cs typeface="Arial Bold"/>
                  <a:sym typeface="Arial Bold"/>
                </a:rPr>
                <a:t>Match con las preferencias</a:t>
              </a:r>
            </a:p>
          </p:txBody>
        </p:sp>
      </p:grpSp>
      <p:grpSp>
        <p:nvGrpSpPr>
          <p:cNvPr name="Group 10" id="10"/>
          <p:cNvGrpSpPr/>
          <p:nvPr/>
        </p:nvGrpSpPr>
        <p:grpSpPr>
          <a:xfrm rot="0">
            <a:off x="17259300" y="9696477"/>
            <a:ext cx="500062" cy="314325"/>
            <a:chOff x="0" y="0"/>
            <a:chExt cx="666750" cy="419100"/>
          </a:xfrm>
        </p:grpSpPr>
        <p:sp>
          <p:nvSpPr>
            <p:cNvPr name="Freeform 11" id="11"/>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6">
                <a:alphaModFix amt="0"/>
              </a:blip>
              <a:stretch>
                <a:fillRect l="-30647" t="0" r="-30647" b="0"/>
              </a:stretch>
            </a:blipFill>
          </p:spPr>
        </p:sp>
        <p:sp>
          <p:nvSpPr>
            <p:cNvPr name="TextBox 12" id="12"/>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13</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214859" y="0"/>
            <a:ext cx="10073141" cy="9614922"/>
          </a:xfrm>
          <a:custGeom>
            <a:avLst/>
            <a:gdLst/>
            <a:ahLst/>
            <a:cxnLst/>
            <a:rect r="r" b="b" t="t" l="l"/>
            <a:pathLst>
              <a:path h="9614922" w="10073141">
                <a:moveTo>
                  <a:pt x="0" y="0"/>
                </a:moveTo>
                <a:lnTo>
                  <a:pt x="10073141" y="0"/>
                </a:lnTo>
                <a:lnTo>
                  <a:pt x="10073141" y="9614922"/>
                </a:lnTo>
                <a:lnTo>
                  <a:pt x="0" y="9614922"/>
                </a:lnTo>
                <a:lnTo>
                  <a:pt x="0" y="0"/>
                </a:lnTo>
                <a:close/>
              </a:path>
            </a:pathLst>
          </a:custGeom>
          <a:blipFill>
            <a:blip r:embed="rId2"/>
            <a:stretch>
              <a:fillRect l="-37511" t="0" r="-34086" b="0"/>
            </a:stretch>
          </a:blipFill>
        </p:spPr>
      </p:sp>
      <p:sp>
        <p:nvSpPr>
          <p:cNvPr name="TextBox 3" id="3"/>
          <p:cNvSpPr txBox="true"/>
          <p:nvPr/>
        </p:nvSpPr>
        <p:spPr>
          <a:xfrm rot="0">
            <a:off x="-248778" y="3849624"/>
            <a:ext cx="8463637" cy="2220473"/>
          </a:xfrm>
          <a:prstGeom prst="rect">
            <a:avLst/>
          </a:prstGeom>
        </p:spPr>
        <p:txBody>
          <a:bodyPr anchor="t" rtlCol="false" tIns="0" lIns="0" bIns="0" rIns="0">
            <a:spAutoFit/>
          </a:bodyPr>
          <a:lstStyle/>
          <a:p>
            <a:pPr algn="ctr">
              <a:lnSpc>
                <a:spcPts val="8337"/>
              </a:lnSpc>
            </a:pPr>
            <a:r>
              <a:rPr lang="en-US" sz="9694" b="true">
                <a:solidFill>
                  <a:srgbClr val="3A58E4"/>
                </a:solidFill>
                <a:latin typeface="Work Sans Bold"/>
                <a:ea typeface="Work Sans Bold"/>
                <a:cs typeface="Work Sans Bold"/>
                <a:sym typeface="Work Sans Bold"/>
              </a:rPr>
              <a:t>Comparar</a:t>
            </a:r>
          </a:p>
          <a:p>
            <a:pPr algn="ctr">
              <a:lnSpc>
                <a:spcPts val="8337"/>
              </a:lnSpc>
              <a:spcBef>
                <a:spcPct val="0"/>
              </a:spcBef>
            </a:pPr>
            <a:r>
              <a:rPr lang="en-US" b="true" sz="9694">
                <a:solidFill>
                  <a:srgbClr val="3A58E4"/>
                </a:solidFill>
                <a:latin typeface="Work Sans Bold"/>
                <a:ea typeface="Work Sans Bold"/>
                <a:cs typeface="Work Sans Bold"/>
                <a:sym typeface="Work Sans Bold"/>
              </a:rPr>
              <a:t>viviendas</a:t>
            </a:r>
          </a:p>
        </p:txBody>
      </p:sp>
      <p:grpSp>
        <p:nvGrpSpPr>
          <p:cNvPr name="Group 4" id="4"/>
          <p:cNvGrpSpPr/>
          <p:nvPr/>
        </p:nvGrpSpPr>
        <p:grpSpPr>
          <a:xfrm rot="0">
            <a:off x="248698" y="3318978"/>
            <a:ext cx="780002" cy="780000"/>
            <a:chOff x="0" y="0"/>
            <a:chExt cx="1040003" cy="1040000"/>
          </a:xfrm>
        </p:grpSpPr>
        <p:sp>
          <p:nvSpPr>
            <p:cNvPr name="Freeform 5" id="5"/>
            <p:cNvSpPr/>
            <p:nvPr/>
          </p:nvSpPr>
          <p:spPr>
            <a:xfrm flipH="false" flipV="false" rot="0">
              <a:off x="0" y="0"/>
              <a:ext cx="1040003" cy="1040000"/>
            </a:xfrm>
            <a:custGeom>
              <a:avLst/>
              <a:gdLst/>
              <a:ahLst/>
              <a:cxnLst/>
              <a:rect r="r" b="b" t="t" l="l"/>
              <a:pathLst>
                <a:path h="1040000" w="1040003">
                  <a:moveTo>
                    <a:pt x="0" y="519936"/>
                  </a:moveTo>
                  <a:cubicBezTo>
                    <a:pt x="0" y="232790"/>
                    <a:pt x="232791" y="0"/>
                    <a:pt x="519938" y="0"/>
                  </a:cubicBezTo>
                  <a:cubicBezTo>
                    <a:pt x="807085" y="0"/>
                    <a:pt x="1040003" y="232790"/>
                    <a:pt x="1040003" y="519936"/>
                  </a:cubicBezTo>
                  <a:cubicBezTo>
                    <a:pt x="1040003" y="807083"/>
                    <a:pt x="807212" y="1040000"/>
                    <a:pt x="519938" y="1040000"/>
                  </a:cubicBezTo>
                  <a:cubicBezTo>
                    <a:pt x="232664" y="1040000"/>
                    <a:pt x="0" y="807210"/>
                    <a:pt x="0" y="519936"/>
                  </a:cubicBezTo>
                  <a:close/>
                </a:path>
              </a:pathLst>
            </a:custGeom>
            <a:solidFill>
              <a:srgbClr val="B0B1B3"/>
            </a:solidFill>
          </p:spPr>
        </p:sp>
        <p:sp>
          <p:nvSpPr>
            <p:cNvPr name="TextBox 6" id="6"/>
            <p:cNvSpPr txBox="true"/>
            <p:nvPr/>
          </p:nvSpPr>
          <p:spPr>
            <a:xfrm>
              <a:off x="0" y="-9525"/>
              <a:ext cx="1040003" cy="1049525"/>
            </a:xfrm>
            <a:prstGeom prst="rect">
              <a:avLst/>
            </a:prstGeom>
          </p:spPr>
          <p:txBody>
            <a:bodyPr anchor="ctr" rtlCol="false" tIns="50800" lIns="50800" bIns="50800" rIns="50800"/>
            <a:lstStyle/>
            <a:p>
              <a:pPr algn="ctr">
                <a:lnSpc>
                  <a:spcPts val="2520"/>
                </a:lnSpc>
              </a:pPr>
              <a:r>
                <a:rPr lang="en-US" b="true" sz="2100">
                  <a:solidFill>
                    <a:srgbClr val="FEFEFF"/>
                  </a:solidFill>
                  <a:latin typeface="Arial Bold"/>
                  <a:ea typeface="Arial Bold"/>
                  <a:cs typeface="Arial Bold"/>
                  <a:sym typeface="Arial Bold"/>
                </a:rPr>
                <a:t>04</a:t>
              </a:r>
            </a:p>
          </p:txBody>
        </p:sp>
      </p:grpSp>
      <p:grpSp>
        <p:nvGrpSpPr>
          <p:cNvPr name="Group 7" id="7"/>
          <p:cNvGrpSpPr/>
          <p:nvPr/>
        </p:nvGrpSpPr>
        <p:grpSpPr>
          <a:xfrm rot="0">
            <a:off x="17259300" y="9696477"/>
            <a:ext cx="500062" cy="314325"/>
            <a:chOff x="0" y="0"/>
            <a:chExt cx="666750" cy="419100"/>
          </a:xfrm>
        </p:grpSpPr>
        <p:sp>
          <p:nvSpPr>
            <p:cNvPr name="Freeform 8" id="8"/>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9" id="9"/>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14</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ARQUITECTURA</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0C0E14"/>
                  </a:solidFill>
                  <a:latin typeface="Arial Bold"/>
                  <a:ea typeface="Arial Bold"/>
                  <a:cs typeface="Arial Bold"/>
                  <a:sym typeface="Arial Bold"/>
                </a:rPr>
                <a:t>SQLite local sostiene la experiencia web</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Next.js sirve la API; el contrato async de persistencia deja espacio para un adaptador futuro de RDS.</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15</a:t>
              </a:r>
            </a:p>
          </p:txBody>
        </p:sp>
      </p:grpSp>
      <p:grpSp>
        <p:nvGrpSpPr>
          <p:cNvPr name="Group 17" id="17"/>
          <p:cNvGrpSpPr/>
          <p:nvPr/>
        </p:nvGrpSpPr>
        <p:grpSpPr>
          <a:xfrm rot="0">
            <a:off x="850106" y="3607594"/>
            <a:ext cx="4086225" cy="3186112"/>
            <a:chOff x="0" y="0"/>
            <a:chExt cx="5448300" cy="4248150"/>
          </a:xfrm>
        </p:grpSpPr>
        <p:sp>
          <p:nvSpPr>
            <p:cNvPr name="Freeform 18" id="18"/>
            <p:cNvSpPr/>
            <p:nvPr/>
          </p:nvSpPr>
          <p:spPr>
            <a:xfrm flipH="false" flipV="false" rot="0">
              <a:off x="0" y="0"/>
              <a:ext cx="5448300" cy="4248150"/>
            </a:xfrm>
            <a:custGeom>
              <a:avLst/>
              <a:gdLst/>
              <a:ahLst/>
              <a:cxnLst/>
              <a:rect r="r" b="b" t="t" l="l"/>
              <a:pathLst>
                <a:path h="4248150" w="5448300">
                  <a:moveTo>
                    <a:pt x="0" y="153162"/>
                  </a:moveTo>
                  <a:cubicBezTo>
                    <a:pt x="0" y="68580"/>
                    <a:pt x="68580" y="0"/>
                    <a:pt x="153162" y="0"/>
                  </a:cubicBezTo>
                  <a:lnTo>
                    <a:pt x="5295138" y="0"/>
                  </a:lnTo>
                  <a:cubicBezTo>
                    <a:pt x="5379720" y="0"/>
                    <a:pt x="5448300" y="68580"/>
                    <a:pt x="5448300" y="153162"/>
                  </a:cubicBezTo>
                  <a:lnTo>
                    <a:pt x="5448300" y="4094988"/>
                  </a:lnTo>
                  <a:cubicBezTo>
                    <a:pt x="5448300" y="4179570"/>
                    <a:pt x="5379720" y="4248150"/>
                    <a:pt x="5295138" y="4248150"/>
                  </a:cubicBezTo>
                  <a:lnTo>
                    <a:pt x="153162" y="4248150"/>
                  </a:lnTo>
                  <a:cubicBezTo>
                    <a:pt x="68580" y="4248150"/>
                    <a:pt x="0" y="4179570"/>
                    <a:pt x="0" y="4094988"/>
                  </a:cubicBezTo>
                  <a:close/>
                </a:path>
              </a:pathLst>
            </a:custGeom>
            <a:blipFill>
              <a:blip r:embed="rId3">
                <a:alphaModFix amt="0"/>
              </a:blip>
              <a:stretch>
                <a:fillRect l="-50040" t="0" r="-50040" b="0"/>
              </a:stretch>
            </a:blipFill>
            <a:ln w="14288" cap="sq">
              <a:solidFill>
                <a:srgbClr val="D9DED5"/>
              </a:solidFill>
              <a:prstDash val="solid"/>
              <a:miter/>
            </a:ln>
          </p:spPr>
        </p:sp>
      </p:grpSp>
      <p:grpSp>
        <p:nvGrpSpPr>
          <p:cNvPr name="Group 19" id="19"/>
          <p:cNvGrpSpPr/>
          <p:nvPr/>
        </p:nvGrpSpPr>
        <p:grpSpPr>
          <a:xfrm rot="0">
            <a:off x="1200150" y="3957638"/>
            <a:ext cx="3386138" cy="328612"/>
            <a:chOff x="0" y="0"/>
            <a:chExt cx="4514850" cy="438150"/>
          </a:xfrm>
        </p:grpSpPr>
        <p:sp>
          <p:nvSpPr>
            <p:cNvPr name="Freeform 20" id="20"/>
            <p:cNvSpPr/>
            <p:nvPr/>
          </p:nvSpPr>
          <p:spPr>
            <a:xfrm flipH="false" flipV="false" rot="0">
              <a:off x="0" y="0"/>
              <a:ext cx="4514850" cy="438150"/>
            </a:xfrm>
            <a:custGeom>
              <a:avLst/>
              <a:gdLst/>
              <a:ahLst/>
              <a:cxnLst/>
              <a:rect r="r" b="b" t="t" l="l"/>
              <a:pathLst>
                <a:path h="438150" w="4514850">
                  <a:moveTo>
                    <a:pt x="0" y="0"/>
                  </a:moveTo>
                  <a:lnTo>
                    <a:pt x="4514850" y="0"/>
                  </a:lnTo>
                  <a:lnTo>
                    <a:pt x="4514850" y="438150"/>
                  </a:lnTo>
                  <a:lnTo>
                    <a:pt x="0" y="438150"/>
                  </a:lnTo>
                  <a:close/>
                </a:path>
              </a:pathLst>
            </a:custGeom>
            <a:blipFill>
              <a:blip r:embed="rId3">
                <a:alphaModFix amt="0"/>
              </a:blip>
              <a:stretch>
                <a:fillRect l="0" t="-150780" r="0" b="-150780"/>
              </a:stretch>
            </a:blipFill>
          </p:spPr>
        </p:sp>
        <p:sp>
          <p:nvSpPr>
            <p:cNvPr name="TextBox 21" id="21"/>
            <p:cNvSpPr txBox="true"/>
            <p:nvPr/>
          </p:nvSpPr>
          <p:spPr>
            <a:xfrm>
              <a:off x="0" y="-19050"/>
              <a:ext cx="451485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01  DATOS</a:t>
              </a:r>
            </a:p>
          </p:txBody>
        </p:sp>
      </p:grpSp>
      <p:grpSp>
        <p:nvGrpSpPr>
          <p:cNvPr name="Group 22" id="22"/>
          <p:cNvGrpSpPr/>
          <p:nvPr/>
        </p:nvGrpSpPr>
        <p:grpSpPr>
          <a:xfrm rot="0">
            <a:off x="1200150" y="4586288"/>
            <a:ext cx="3386138" cy="571500"/>
            <a:chOff x="0" y="0"/>
            <a:chExt cx="4514850" cy="762000"/>
          </a:xfrm>
        </p:grpSpPr>
        <p:sp>
          <p:nvSpPr>
            <p:cNvPr name="Freeform 23" id="23"/>
            <p:cNvSpPr/>
            <p:nvPr/>
          </p:nvSpPr>
          <p:spPr>
            <a:xfrm flipH="false" flipV="false" rot="0">
              <a:off x="0" y="0"/>
              <a:ext cx="4514850" cy="762000"/>
            </a:xfrm>
            <a:custGeom>
              <a:avLst/>
              <a:gdLst/>
              <a:ahLst/>
              <a:cxnLst/>
              <a:rect r="r" b="b" t="t" l="l"/>
              <a:pathLst>
                <a:path h="762000" w="4514850">
                  <a:moveTo>
                    <a:pt x="0" y="0"/>
                  </a:moveTo>
                  <a:lnTo>
                    <a:pt x="4514850" y="0"/>
                  </a:lnTo>
                  <a:lnTo>
                    <a:pt x="4514850" y="762000"/>
                  </a:lnTo>
                  <a:lnTo>
                    <a:pt x="0" y="762000"/>
                  </a:lnTo>
                  <a:close/>
                </a:path>
              </a:pathLst>
            </a:custGeom>
            <a:blipFill>
              <a:blip r:embed="rId3">
                <a:alphaModFix amt="0"/>
              </a:blip>
              <a:stretch>
                <a:fillRect l="0" t="-65448" r="0" b="-65448"/>
              </a:stretch>
            </a:blipFill>
          </p:spPr>
        </p:sp>
        <p:sp>
          <p:nvSpPr>
            <p:cNvPr name="TextBox 24" id="24"/>
            <p:cNvSpPr txBox="true"/>
            <p:nvPr/>
          </p:nvSpPr>
          <p:spPr>
            <a:xfrm>
              <a:off x="0" y="-19050"/>
              <a:ext cx="4514850" cy="781050"/>
            </a:xfrm>
            <a:prstGeom prst="rect">
              <a:avLst/>
            </a:prstGeom>
          </p:spPr>
          <p:txBody>
            <a:bodyPr anchor="ctr" rtlCol="false" tIns="0" lIns="0" bIns="0" rIns="0"/>
            <a:lstStyle/>
            <a:p>
              <a:pPr algn="l">
                <a:lnSpc>
                  <a:spcPts val="3375"/>
                </a:lnSpc>
              </a:pPr>
              <a:r>
                <a:rPr lang="en-US" b="true" sz="2812">
                  <a:solidFill>
                    <a:srgbClr val="0C0E14"/>
                  </a:solidFill>
                  <a:latin typeface="Arial Bold"/>
                  <a:ea typeface="Arial Bold"/>
                  <a:cs typeface="Arial Bold"/>
                  <a:sym typeface="Arial Bold"/>
                </a:rPr>
                <a:t>Pipeline batch</a:t>
              </a:r>
            </a:p>
          </p:txBody>
        </p:sp>
      </p:grpSp>
      <p:sp>
        <p:nvSpPr>
          <p:cNvPr name="TextBox 25" id="25"/>
          <p:cNvSpPr txBox="true"/>
          <p:nvPr/>
        </p:nvSpPr>
        <p:spPr>
          <a:xfrm rot="0">
            <a:off x="1291590" y="5508307"/>
            <a:ext cx="3203258" cy="775335"/>
          </a:xfrm>
          <a:prstGeom prst="rect">
            <a:avLst/>
          </a:prstGeom>
        </p:spPr>
        <p:txBody>
          <a:bodyPr anchor="t" rtlCol="false" tIns="0" lIns="0" bIns="0" rIns="0">
            <a:spAutoFit/>
          </a:bodyPr>
          <a:lstStyle/>
          <a:p>
            <a:pPr algn="l">
              <a:lnSpc>
                <a:spcPts val="2295"/>
              </a:lnSpc>
            </a:pPr>
            <a:r>
              <a:rPr lang="en-US" sz="1912">
                <a:solidFill>
                  <a:srgbClr val="0C0E14"/>
                </a:solidFill>
                <a:latin typeface="Arial"/>
                <a:ea typeface="Arial"/>
                <a:cs typeface="Arial"/>
                <a:sym typeface="Arial"/>
              </a:rPr>
              <a:t>Limpieza y preparación</a:t>
            </a:r>
          </a:p>
          <a:p>
            <a:pPr algn="l">
              <a:lnSpc>
                <a:spcPts val="2295"/>
              </a:lnSpc>
            </a:pPr>
            <a:r>
              <a:rPr lang="en-US" sz="1912">
                <a:solidFill>
                  <a:srgbClr val="0C0E14"/>
                </a:solidFill>
                <a:latin typeface="Arial"/>
                <a:ea typeface="Arial"/>
                <a:cs typeface="Arial"/>
                <a:sym typeface="Arial"/>
              </a:rPr>
              <a:t>Python</a:t>
            </a:r>
          </a:p>
        </p:txBody>
      </p:sp>
      <p:grpSp>
        <p:nvGrpSpPr>
          <p:cNvPr name="Group 26" id="26"/>
          <p:cNvGrpSpPr/>
          <p:nvPr/>
        </p:nvGrpSpPr>
        <p:grpSpPr>
          <a:xfrm rot="0">
            <a:off x="6279356" y="3607594"/>
            <a:ext cx="5086350" cy="3186112"/>
            <a:chOff x="0" y="0"/>
            <a:chExt cx="6781800" cy="4248150"/>
          </a:xfrm>
        </p:grpSpPr>
        <p:sp>
          <p:nvSpPr>
            <p:cNvPr name="Freeform 27" id="27"/>
            <p:cNvSpPr/>
            <p:nvPr/>
          </p:nvSpPr>
          <p:spPr>
            <a:xfrm flipH="false" flipV="false" rot="0">
              <a:off x="0" y="0"/>
              <a:ext cx="6781800" cy="4248150"/>
            </a:xfrm>
            <a:custGeom>
              <a:avLst/>
              <a:gdLst/>
              <a:ahLst/>
              <a:cxnLst/>
              <a:rect r="r" b="b" t="t" l="l"/>
              <a:pathLst>
                <a:path h="4248150" w="6781800">
                  <a:moveTo>
                    <a:pt x="0" y="153162"/>
                  </a:moveTo>
                  <a:cubicBezTo>
                    <a:pt x="0" y="68580"/>
                    <a:pt x="68580" y="0"/>
                    <a:pt x="153162" y="0"/>
                  </a:cubicBezTo>
                  <a:lnTo>
                    <a:pt x="6628638" y="0"/>
                  </a:lnTo>
                  <a:cubicBezTo>
                    <a:pt x="6713220" y="0"/>
                    <a:pt x="6781800" y="68580"/>
                    <a:pt x="6781800" y="153162"/>
                  </a:cubicBezTo>
                  <a:lnTo>
                    <a:pt x="6781800" y="4094988"/>
                  </a:lnTo>
                  <a:cubicBezTo>
                    <a:pt x="6781800" y="4179570"/>
                    <a:pt x="6713220" y="4248150"/>
                    <a:pt x="6628638" y="4248150"/>
                  </a:cubicBezTo>
                  <a:lnTo>
                    <a:pt x="153162" y="4248150"/>
                  </a:lnTo>
                  <a:cubicBezTo>
                    <a:pt x="68580" y="4248150"/>
                    <a:pt x="0" y="4179570"/>
                    <a:pt x="0" y="4094988"/>
                  </a:cubicBezTo>
                  <a:close/>
                </a:path>
              </a:pathLst>
            </a:custGeom>
            <a:blipFill>
              <a:blip r:embed="rId3">
                <a:alphaModFix amt="0"/>
              </a:blip>
              <a:stretch>
                <a:fillRect l="-30369" t="0" r="-30369" b="0"/>
              </a:stretch>
            </a:blipFill>
            <a:ln w="14288" cap="sq">
              <a:solidFill>
                <a:srgbClr val="D9DED5"/>
              </a:solidFill>
              <a:prstDash val="solid"/>
              <a:miter/>
            </a:ln>
          </p:spPr>
        </p:sp>
      </p:grpSp>
      <p:grpSp>
        <p:nvGrpSpPr>
          <p:cNvPr name="Group 28" id="28"/>
          <p:cNvGrpSpPr/>
          <p:nvPr/>
        </p:nvGrpSpPr>
        <p:grpSpPr>
          <a:xfrm rot="0">
            <a:off x="6629400" y="3957638"/>
            <a:ext cx="4386262" cy="328612"/>
            <a:chOff x="0" y="0"/>
            <a:chExt cx="5848350" cy="438150"/>
          </a:xfrm>
        </p:grpSpPr>
        <p:sp>
          <p:nvSpPr>
            <p:cNvPr name="Freeform 29" id="29"/>
            <p:cNvSpPr/>
            <p:nvPr/>
          </p:nvSpPr>
          <p:spPr>
            <a:xfrm flipH="false" flipV="false" rot="0">
              <a:off x="0" y="0"/>
              <a:ext cx="5848350" cy="438150"/>
            </a:xfrm>
            <a:custGeom>
              <a:avLst/>
              <a:gdLst/>
              <a:ahLst/>
              <a:cxnLst/>
              <a:rect r="r" b="b" t="t" l="l"/>
              <a:pathLst>
                <a:path h="438150" w="5848350">
                  <a:moveTo>
                    <a:pt x="0" y="0"/>
                  </a:moveTo>
                  <a:lnTo>
                    <a:pt x="5848350" y="0"/>
                  </a:lnTo>
                  <a:lnTo>
                    <a:pt x="5848350" y="438150"/>
                  </a:lnTo>
                  <a:lnTo>
                    <a:pt x="0" y="438150"/>
                  </a:lnTo>
                  <a:close/>
                </a:path>
              </a:pathLst>
            </a:custGeom>
            <a:blipFill>
              <a:blip r:embed="rId3">
                <a:alphaModFix amt="0"/>
              </a:blip>
              <a:stretch>
                <a:fillRect l="0" t="-210082" r="0" b="-210082"/>
              </a:stretch>
            </a:blipFill>
          </p:spPr>
        </p:sp>
        <p:sp>
          <p:nvSpPr>
            <p:cNvPr name="TextBox 30" id="30"/>
            <p:cNvSpPr txBox="true"/>
            <p:nvPr/>
          </p:nvSpPr>
          <p:spPr>
            <a:xfrm>
              <a:off x="0" y="-19050"/>
              <a:ext cx="584835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02  MODELO</a:t>
              </a:r>
            </a:p>
          </p:txBody>
        </p:sp>
      </p:grpSp>
      <p:grpSp>
        <p:nvGrpSpPr>
          <p:cNvPr name="Group 31" id="31"/>
          <p:cNvGrpSpPr/>
          <p:nvPr/>
        </p:nvGrpSpPr>
        <p:grpSpPr>
          <a:xfrm rot="0">
            <a:off x="6629400" y="4586288"/>
            <a:ext cx="4386262" cy="571500"/>
            <a:chOff x="0" y="0"/>
            <a:chExt cx="5848350" cy="762000"/>
          </a:xfrm>
        </p:grpSpPr>
        <p:sp>
          <p:nvSpPr>
            <p:cNvPr name="Freeform 32" id="32"/>
            <p:cNvSpPr/>
            <p:nvPr/>
          </p:nvSpPr>
          <p:spPr>
            <a:xfrm flipH="false" flipV="false" rot="0">
              <a:off x="0" y="0"/>
              <a:ext cx="5848350" cy="762000"/>
            </a:xfrm>
            <a:custGeom>
              <a:avLst/>
              <a:gdLst/>
              <a:ahLst/>
              <a:cxnLst/>
              <a:rect r="r" b="b" t="t" l="l"/>
              <a:pathLst>
                <a:path h="762000" w="5848350">
                  <a:moveTo>
                    <a:pt x="0" y="0"/>
                  </a:moveTo>
                  <a:lnTo>
                    <a:pt x="5848350" y="0"/>
                  </a:lnTo>
                  <a:lnTo>
                    <a:pt x="5848350" y="762000"/>
                  </a:lnTo>
                  <a:lnTo>
                    <a:pt x="0" y="762000"/>
                  </a:lnTo>
                  <a:close/>
                </a:path>
              </a:pathLst>
            </a:custGeom>
            <a:blipFill>
              <a:blip r:embed="rId3">
                <a:alphaModFix amt="0"/>
              </a:blip>
              <a:stretch>
                <a:fillRect l="0" t="-99547" r="0" b="-99547"/>
              </a:stretch>
            </a:blipFill>
          </p:spPr>
        </p:sp>
        <p:sp>
          <p:nvSpPr>
            <p:cNvPr name="TextBox 33" id="33"/>
            <p:cNvSpPr txBox="true"/>
            <p:nvPr/>
          </p:nvSpPr>
          <p:spPr>
            <a:xfrm>
              <a:off x="0" y="-19050"/>
              <a:ext cx="5848350" cy="781050"/>
            </a:xfrm>
            <a:prstGeom prst="rect">
              <a:avLst/>
            </a:prstGeom>
          </p:spPr>
          <p:txBody>
            <a:bodyPr anchor="ctr" rtlCol="false" tIns="0" lIns="0" bIns="0" rIns="0"/>
            <a:lstStyle/>
            <a:p>
              <a:pPr algn="l">
                <a:lnSpc>
                  <a:spcPts val="3375"/>
                </a:lnSpc>
              </a:pPr>
              <a:r>
                <a:rPr lang="en-US" b="true" sz="2812">
                  <a:solidFill>
                    <a:srgbClr val="0C0E14"/>
                  </a:solidFill>
                  <a:latin typeface="Arial Bold"/>
                  <a:ea typeface="Arial Bold"/>
                  <a:cs typeface="Arial Bold"/>
                  <a:sym typeface="Arial Bold"/>
                </a:rPr>
                <a:t>Valoración</a:t>
              </a:r>
            </a:p>
          </p:txBody>
        </p:sp>
      </p:grpSp>
      <p:sp>
        <p:nvSpPr>
          <p:cNvPr name="TextBox 34" id="34"/>
          <p:cNvSpPr txBox="true"/>
          <p:nvPr/>
        </p:nvSpPr>
        <p:spPr>
          <a:xfrm rot="0">
            <a:off x="6720840" y="5508307"/>
            <a:ext cx="4203382" cy="775335"/>
          </a:xfrm>
          <a:prstGeom prst="rect">
            <a:avLst/>
          </a:prstGeom>
        </p:spPr>
        <p:txBody>
          <a:bodyPr anchor="t" rtlCol="false" tIns="0" lIns="0" bIns="0" rIns="0">
            <a:spAutoFit/>
          </a:bodyPr>
          <a:lstStyle/>
          <a:p>
            <a:pPr algn="l">
              <a:lnSpc>
                <a:spcPts val="2295"/>
              </a:lnSpc>
            </a:pPr>
            <a:r>
              <a:rPr lang="en-US" sz="1912">
                <a:solidFill>
                  <a:srgbClr val="0C0E14"/>
                </a:solidFill>
                <a:latin typeface="Arial"/>
                <a:ea typeface="Arial"/>
                <a:cs typeface="Arial"/>
                <a:sym typeface="Arial"/>
              </a:rPr>
              <a:t>Gradient Boosting</a:t>
            </a:r>
          </a:p>
          <a:p>
            <a:pPr algn="l">
              <a:lnSpc>
                <a:spcPts val="2295"/>
              </a:lnSpc>
            </a:pPr>
            <a:r>
              <a:rPr lang="en-US" sz="1912">
                <a:solidFill>
                  <a:srgbClr val="0C0E14"/>
                </a:solidFill>
                <a:latin typeface="Arial"/>
                <a:ea typeface="Arial"/>
                <a:cs typeface="Arial"/>
                <a:sym typeface="Arial"/>
              </a:rPr>
              <a:t>Cálculo de resultados</a:t>
            </a:r>
          </a:p>
        </p:txBody>
      </p:sp>
      <p:grpSp>
        <p:nvGrpSpPr>
          <p:cNvPr name="Group 35" id="35"/>
          <p:cNvGrpSpPr/>
          <p:nvPr/>
        </p:nvGrpSpPr>
        <p:grpSpPr>
          <a:xfrm rot="0">
            <a:off x="12137231" y="3607594"/>
            <a:ext cx="5300662" cy="3186112"/>
            <a:chOff x="0" y="0"/>
            <a:chExt cx="7067550" cy="4248150"/>
          </a:xfrm>
        </p:grpSpPr>
        <p:sp>
          <p:nvSpPr>
            <p:cNvPr name="Freeform 36" id="36"/>
            <p:cNvSpPr/>
            <p:nvPr/>
          </p:nvSpPr>
          <p:spPr>
            <a:xfrm flipH="false" flipV="false" rot="0">
              <a:off x="0" y="0"/>
              <a:ext cx="7067550" cy="4248150"/>
            </a:xfrm>
            <a:custGeom>
              <a:avLst/>
              <a:gdLst/>
              <a:ahLst/>
              <a:cxnLst/>
              <a:rect r="r" b="b" t="t" l="l"/>
              <a:pathLst>
                <a:path h="4248150" w="7067550">
                  <a:moveTo>
                    <a:pt x="0" y="153162"/>
                  </a:moveTo>
                  <a:cubicBezTo>
                    <a:pt x="0" y="68580"/>
                    <a:pt x="68580" y="0"/>
                    <a:pt x="153162" y="0"/>
                  </a:cubicBezTo>
                  <a:lnTo>
                    <a:pt x="6914388" y="0"/>
                  </a:lnTo>
                  <a:cubicBezTo>
                    <a:pt x="6998970" y="0"/>
                    <a:pt x="7067550" y="68580"/>
                    <a:pt x="7067550" y="153162"/>
                  </a:cubicBezTo>
                  <a:lnTo>
                    <a:pt x="7067550" y="4094988"/>
                  </a:lnTo>
                  <a:cubicBezTo>
                    <a:pt x="7067550" y="4179570"/>
                    <a:pt x="6998970" y="4248150"/>
                    <a:pt x="6914388" y="4248150"/>
                  </a:cubicBezTo>
                  <a:lnTo>
                    <a:pt x="153162" y="4248150"/>
                  </a:lnTo>
                  <a:cubicBezTo>
                    <a:pt x="68580" y="4248150"/>
                    <a:pt x="0" y="4179570"/>
                    <a:pt x="0" y="4094988"/>
                  </a:cubicBezTo>
                  <a:close/>
                </a:path>
              </a:pathLst>
            </a:custGeom>
            <a:blipFill>
              <a:blip r:embed="rId3">
                <a:alphaModFix amt="0"/>
              </a:blip>
              <a:stretch>
                <a:fillRect l="-27120" t="0" r="-27120" b="0"/>
              </a:stretch>
            </a:blipFill>
            <a:ln w="14288" cap="sq">
              <a:solidFill>
                <a:srgbClr val="D9DED5"/>
              </a:solidFill>
              <a:prstDash val="solid"/>
              <a:miter/>
            </a:ln>
          </p:spPr>
        </p:sp>
      </p:grpSp>
      <p:grpSp>
        <p:nvGrpSpPr>
          <p:cNvPr name="Group 37" id="37"/>
          <p:cNvGrpSpPr/>
          <p:nvPr/>
        </p:nvGrpSpPr>
        <p:grpSpPr>
          <a:xfrm rot="0">
            <a:off x="12487275" y="3957638"/>
            <a:ext cx="4600575" cy="328612"/>
            <a:chOff x="0" y="0"/>
            <a:chExt cx="6134100" cy="438150"/>
          </a:xfrm>
        </p:grpSpPr>
        <p:sp>
          <p:nvSpPr>
            <p:cNvPr name="Freeform 38" id="38"/>
            <p:cNvSpPr/>
            <p:nvPr/>
          </p:nvSpPr>
          <p:spPr>
            <a:xfrm flipH="false" flipV="false" rot="0">
              <a:off x="0" y="0"/>
              <a:ext cx="6134100" cy="438150"/>
            </a:xfrm>
            <a:custGeom>
              <a:avLst/>
              <a:gdLst/>
              <a:ahLst/>
              <a:cxnLst/>
              <a:rect r="r" b="b" t="t" l="l"/>
              <a:pathLst>
                <a:path h="438150" w="6134100">
                  <a:moveTo>
                    <a:pt x="0" y="0"/>
                  </a:moveTo>
                  <a:lnTo>
                    <a:pt x="6134100" y="0"/>
                  </a:lnTo>
                  <a:lnTo>
                    <a:pt x="6134100" y="438150"/>
                  </a:lnTo>
                  <a:lnTo>
                    <a:pt x="0" y="438150"/>
                  </a:lnTo>
                  <a:close/>
                </a:path>
              </a:pathLst>
            </a:custGeom>
            <a:blipFill>
              <a:blip r:embed="rId3">
                <a:alphaModFix amt="0"/>
              </a:blip>
              <a:stretch>
                <a:fillRect l="0" t="-222790" r="0" b="-222790"/>
              </a:stretch>
            </a:blipFill>
          </p:spPr>
        </p:sp>
        <p:sp>
          <p:nvSpPr>
            <p:cNvPr name="TextBox 39" id="39"/>
            <p:cNvSpPr txBox="true"/>
            <p:nvPr/>
          </p:nvSpPr>
          <p:spPr>
            <a:xfrm>
              <a:off x="0" y="-19050"/>
              <a:ext cx="61341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03  APLICACIÓN</a:t>
              </a:r>
            </a:p>
          </p:txBody>
        </p:sp>
      </p:grpSp>
      <p:grpSp>
        <p:nvGrpSpPr>
          <p:cNvPr name="Group 40" id="40"/>
          <p:cNvGrpSpPr/>
          <p:nvPr/>
        </p:nvGrpSpPr>
        <p:grpSpPr>
          <a:xfrm rot="0">
            <a:off x="12487275" y="4586288"/>
            <a:ext cx="4600575" cy="571500"/>
            <a:chOff x="0" y="0"/>
            <a:chExt cx="6134100" cy="762000"/>
          </a:xfrm>
        </p:grpSpPr>
        <p:sp>
          <p:nvSpPr>
            <p:cNvPr name="Freeform 41" id="41"/>
            <p:cNvSpPr/>
            <p:nvPr/>
          </p:nvSpPr>
          <p:spPr>
            <a:xfrm flipH="false" flipV="false" rot="0">
              <a:off x="0" y="0"/>
              <a:ext cx="6134100" cy="762000"/>
            </a:xfrm>
            <a:custGeom>
              <a:avLst/>
              <a:gdLst/>
              <a:ahLst/>
              <a:cxnLst/>
              <a:rect r="r" b="b" t="t" l="l"/>
              <a:pathLst>
                <a:path h="762000" w="6134100">
                  <a:moveTo>
                    <a:pt x="0" y="0"/>
                  </a:moveTo>
                  <a:lnTo>
                    <a:pt x="6134100" y="0"/>
                  </a:lnTo>
                  <a:lnTo>
                    <a:pt x="6134100" y="762000"/>
                  </a:lnTo>
                  <a:lnTo>
                    <a:pt x="0" y="762000"/>
                  </a:lnTo>
                  <a:close/>
                </a:path>
              </a:pathLst>
            </a:custGeom>
            <a:blipFill>
              <a:blip r:embed="rId3">
                <a:alphaModFix amt="0"/>
              </a:blip>
              <a:stretch>
                <a:fillRect l="0" t="-106854" r="0" b="-106854"/>
              </a:stretch>
            </a:blipFill>
          </p:spPr>
        </p:sp>
        <p:sp>
          <p:nvSpPr>
            <p:cNvPr name="TextBox 42" id="42"/>
            <p:cNvSpPr txBox="true"/>
            <p:nvPr/>
          </p:nvSpPr>
          <p:spPr>
            <a:xfrm>
              <a:off x="0" y="-19050"/>
              <a:ext cx="6134100" cy="781050"/>
            </a:xfrm>
            <a:prstGeom prst="rect">
              <a:avLst/>
            </a:prstGeom>
          </p:spPr>
          <p:txBody>
            <a:bodyPr anchor="ctr" rtlCol="false" tIns="0" lIns="0" bIns="0" rIns="0"/>
            <a:lstStyle/>
            <a:p>
              <a:pPr algn="l">
                <a:lnSpc>
                  <a:spcPts val="3375"/>
                </a:lnSpc>
              </a:pPr>
              <a:r>
                <a:rPr lang="en-US" b="true" sz="2812">
                  <a:solidFill>
                    <a:srgbClr val="0C0E14"/>
                  </a:solidFill>
                  <a:latin typeface="Arial Bold"/>
                  <a:ea typeface="Arial Bold"/>
                  <a:cs typeface="Arial Bold"/>
                  <a:sym typeface="Arial Bold"/>
                </a:rPr>
                <a:t>Experiencia web</a:t>
              </a:r>
            </a:p>
          </p:txBody>
        </p:sp>
      </p:grpSp>
      <p:sp>
        <p:nvSpPr>
          <p:cNvPr name="TextBox 43" id="43"/>
          <p:cNvSpPr txBox="true"/>
          <p:nvPr/>
        </p:nvSpPr>
        <p:spPr>
          <a:xfrm rot="0">
            <a:off x="12578715" y="5508307"/>
            <a:ext cx="4417695" cy="775335"/>
          </a:xfrm>
          <a:prstGeom prst="rect">
            <a:avLst/>
          </a:prstGeom>
        </p:spPr>
        <p:txBody>
          <a:bodyPr anchor="t" rtlCol="false" tIns="0" lIns="0" bIns="0" rIns="0">
            <a:spAutoFit/>
          </a:bodyPr>
          <a:lstStyle/>
          <a:p>
            <a:pPr algn="l">
              <a:lnSpc>
                <a:spcPts val="2295"/>
              </a:lnSpc>
            </a:pPr>
            <a:r>
              <a:rPr lang="en-US" sz="1912">
                <a:solidFill>
                  <a:srgbClr val="0C0E14"/>
                </a:solidFill>
                <a:latin typeface="Arial"/>
                <a:ea typeface="Arial"/>
                <a:cs typeface="Arial"/>
                <a:sym typeface="Arial"/>
              </a:rPr>
              <a:t>React + Next.js API</a:t>
            </a:r>
          </a:p>
          <a:p>
            <a:pPr algn="l">
              <a:lnSpc>
                <a:spcPts val="2295"/>
              </a:lnSpc>
            </a:pPr>
            <a:r>
              <a:rPr lang="en-US" sz="1912">
                <a:solidFill>
                  <a:srgbClr val="0C0E14"/>
                </a:solidFill>
                <a:latin typeface="Arial"/>
                <a:ea typeface="Arial"/>
                <a:cs typeface="Arial"/>
                <a:sym typeface="Arial"/>
              </a:rPr>
              <a:t>SQLite local</a:t>
            </a:r>
          </a:p>
        </p:txBody>
      </p:sp>
      <p:sp>
        <p:nvSpPr>
          <p:cNvPr name="AutoShape 44" id="44"/>
          <p:cNvSpPr/>
          <p:nvPr/>
        </p:nvSpPr>
        <p:spPr>
          <a:xfrm rot="125700">
            <a:off x="4993091" y="5162550"/>
            <a:ext cx="1172356" cy="0"/>
          </a:xfrm>
          <a:prstGeom prst="line">
            <a:avLst/>
          </a:prstGeom>
          <a:ln cap="rnd" w="19050">
            <a:solidFill>
              <a:srgbClr val="B0B1B3"/>
            </a:solidFill>
            <a:prstDash val="solid"/>
            <a:headEnd type="none" len="sm" w="sm"/>
            <a:tailEnd type="none" len="sm" w="sm"/>
          </a:ln>
        </p:spPr>
      </p:sp>
      <p:sp>
        <p:nvSpPr>
          <p:cNvPr name="AutoShape 45" id="45"/>
          <p:cNvSpPr/>
          <p:nvPr/>
        </p:nvSpPr>
        <p:spPr>
          <a:xfrm rot="245160">
            <a:off x="11422094" y="5162550"/>
            <a:ext cx="601609" cy="0"/>
          </a:xfrm>
          <a:prstGeom prst="line">
            <a:avLst/>
          </a:prstGeom>
          <a:ln cap="rnd" w="19050">
            <a:solidFill>
              <a:srgbClr val="B0B1B3"/>
            </a:solidFill>
            <a:prstDash val="solid"/>
            <a:headEnd type="none" len="sm" w="sm"/>
            <a:tailEnd type="none" len="sm" w="sm"/>
          </a:ln>
        </p:spPr>
      </p:sp>
      <p:grpSp>
        <p:nvGrpSpPr>
          <p:cNvPr name="Group 46" id="46"/>
          <p:cNvGrpSpPr/>
          <p:nvPr/>
        </p:nvGrpSpPr>
        <p:grpSpPr>
          <a:xfrm rot="0">
            <a:off x="857250" y="7400925"/>
            <a:ext cx="16573500" cy="1057275"/>
            <a:chOff x="0" y="0"/>
            <a:chExt cx="22098000" cy="1409700"/>
          </a:xfrm>
        </p:grpSpPr>
        <p:sp>
          <p:nvSpPr>
            <p:cNvPr name="Freeform 47" id="47"/>
            <p:cNvSpPr/>
            <p:nvPr/>
          </p:nvSpPr>
          <p:spPr>
            <a:xfrm flipH="false" flipV="false" rot="0">
              <a:off x="0" y="0"/>
              <a:ext cx="22098000" cy="1409700"/>
            </a:xfrm>
            <a:custGeom>
              <a:avLst/>
              <a:gdLst/>
              <a:ahLst/>
              <a:cxnLst/>
              <a:rect r="r" b="b" t="t" l="l"/>
              <a:pathLst>
                <a:path h="1409700" w="22098000">
                  <a:moveTo>
                    <a:pt x="0" y="152400"/>
                  </a:moveTo>
                  <a:cubicBezTo>
                    <a:pt x="0" y="68199"/>
                    <a:pt x="68199" y="0"/>
                    <a:pt x="152400" y="0"/>
                  </a:cubicBezTo>
                  <a:lnTo>
                    <a:pt x="21945600" y="0"/>
                  </a:lnTo>
                  <a:cubicBezTo>
                    <a:pt x="22029801" y="0"/>
                    <a:pt x="22098000" y="68199"/>
                    <a:pt x="22098000" y="152400"/>
                  </a:cubicBezTo>
                  <a:lnTo>
                    <a:pt x="22098000" y="1257300"/>
                  </a:lnTo>
                  <a:cubicBezTo>
                    <a:pt x="22098000" y="1341501"/>
                    <a:pt x="22029801" y="1409700"/>
                    <a:pt x="21945600" y="1409700"/>
                  </a:cubicBezTo>
                  <a:lnTo>
                    <a:pt x="152400" y="1409700"/>
                  </a:lnTo>
                  <a:cubicBezTo>
                    <a:pt x="68199" y="1409700"/>
                    <a:pt x="0" y="1341501"/>
                    <a:pt x="0" y="1257300"/>
                  </a:cubicBezTo>
                  <a:close/>
                </a:path>
              </a:pathLst>
            </a:custGeom>
            <a:solidFill>
              <a:srgbClr val="2B3F9E"/>
            </a:solidFill>
          </p:spPr>
        </p:sp>
      </p:grpSp>
      <p:grpSp>
        <p:nvGrpSpPr>
          <p:cNvPr name="Group 48" id="48"/>
          <p:cNvGrpSpPr/>
          <p:nvPr/>
        </p:nvGrpSpPr>
        <p:grpSpPr>
          <a:xfrm rot="0">
            <a:off x="1200150" y="7729538"/>
            <a:ext cx="1714500" cy="385762"/>
            <a:chOff x="0" y="0"/>
            <a:chExt cx="2286000" cy="514350"/>
          </a:xfrm>
        </p:grpSpPr>
        <p:sp>
          <p:nvSpPr>
            <p:cNvPr name="Freeform 49" id="49"/>
            <p:cNvSpPr/>
            <p:nvPr/>
          </p:nvSpPr>
          <p:spPr>
            <a:xfrm flipH="false" flipV="false" rot="0">
              <a:off x="0" y="0"/>
              <a:ext cx="2286000" cy="514350"/>
            </a:xfrm>
            <a:custGeom>
              <a:avLst/>
              <a:gdLst/>
              <a:ahLst/>
              <a:cxnLst/>
              <a:rect r="r" b="b" t="t" l="l"/>
              <a:pathLst>
                <a:path h="514350" w="2286000">
                  <a:moveTo>
                    <a:pt x="0" y="0"/>
                  </a:moveTo>
                  <a:lnTo>
                    <a:pt x="2286000" y="0"/>
                  </a:lnTo>
                  <a:lnTo>
                    <a:pt x="2286000" y="514350"/>
                  </a:lnTo>
                  <a:lnTo>
                    <a:pt x="0" y="514350"/>
                  </a:lnTo>
                  <a:close/>
                </a:path>
              </a:pathLst>
            </a:custGeom>
            <a:blipFill>
              <a:blip r:embed="rId3">
                <a:alphaModFix amt="0"/>
              </a:blip>
              <a:stretch>
                <a:fillRect l="0" t="-36600" r="0" b="-36600"/>
              </a:stretch>
            </a:blipFill>
          </p:spPr>
        </p:sp>
        <p:sp>
          <p:nvSpPr>
            <p:cNvPr name="TextBox 50" id="50"/>
            <p:cNvSpPr txBox="true"/>
            <p:nvPr/>
          </p:nvSpPr>
          <p:spPr>
            <a:xfrm>
              <a:off x="0" y="-19050"/>
              <a:ext cx="2286000" cy="533400"/>
            </a:xfrm>
            <a:prstGeom prst="rect">
              <a:avLst/>
            </a:prstGeom>
          </p:spPr>
          <p:txBody>
            <a:bodyPr anchor="ctr" rtlCol="false" tIns="0" lIns="0" bIns="0" rIns="0"/>
            <a:lstStyle/>
            <a:p>
              <a:pPr algn="l">
                <a:lnSpc>
                  <a:spcPts val="2025"/>
                </a:lnSpc>
              </a:pPr>
              <a:r>
                <a:rPr lang="en-US" b="true" sz="1687">
                  <a:solidFill>
                    <a:srgbClr val="FEFEFF"/>
                  </a:solidFill>
                  <a:latin typeface="Arial Bold"/>
                  <a:ea typeface="Arial Bold"/>
                  <a:cs typeface="Arial Bold"/>
                  <a:sym typeface="Arial Bold"/>
                </a:rPr>
                <a:t>Persistencia</a:t>
              </a:r>
            </a:p>
          </p:txBody>
        </p:sp>
      </p:grpSp>
      <p:grpSp>
        <p:nvGrpSpPr>
          <p:cNvPr name="Group 51" id="51"/>
          <p:cNvGrpSpPr/>
          <p:nvPr/>
        </p:nvGrpSpPr>
        <p:grpSpPr>
          <a:xfrm rot="0">
            <a:off x="3028950" y="7700962"/>
            <a:ext cx="13916025" cy="485775"/>
            <a:chOff x="0" y="0"/>
            <a:chExt cx="18554700" cy="647700"/>
          </a:xfrm>
        </p:grpSpPr>
        <p:sp>
          <p:nvSpPr>
            <p:cNvPr name="Freeform 52" id="52"/>
            <p:cNvSpPr/>
            <p:nvPr/>
          </p:nvSpPr>
          <p:spPr>
            <a:xfrm flipH="false" flipV="false" rot="0">
              <a:off x="0" y="0"/>
              <a:ext cx="18554700" cy="647700"/>
            </a:xfrm>
            <a:custGeom>
              <a:avLst/>
              <a:gdLst/>
              <a:ahLst/>
              <a:cxnLst/>
              <a:rect r="r" b="b" t="t" l="l"/>
              <a:pathLst>
                <a:path h="647700" w="18554700">
                  <a:moveTo>
                    <a:pt x="0" y="0"/>
                  </a:moveTo>
                  <a:lnTo>
                    <a:pt x="18554700" y="0"/>
                  </a:lnTo>
                  <a:lnTo>
                    <a:pt x="18554700" y="647700"/>
                  </a:lnTo>
                  <a:lnTo>
                    <a:pt x="0" y="647700"/>
                  </a:lnTo>
                  <a:close/>
                </a:path>
              </a:pathLst>
            </a:custGeom>
            <a:blipFill>
              <a:blip r:embed="rId3">
                <a:alphaModFix amt="0"/>
              </a:blip>
              <a:stretch>
                <a:fillRect l="0" t="-508189" r="0" b="-508189"/>
              </a:stretch>
            </a:blipFill>
          </p:spPr>
        </p:sp>
        <p:sp>
          <p:nvSpPr>
            <p:cNvPr name="TextBox 53" id="53"/>
            <p:cNvSpPr txBox="true"/>
            <p:nvPr/>
          </p:nvSpPr>
          <p:spPr>
            <a:xfrm>
              <a:off x="0" y="-19050"/>
              <a:ext cx="18554700" cy="666750"/>
            </a:xfrm>
            <a:prstGeom prst="rect">
              <a:avLst/>
            </a:prstGeom>
          </p:spPr>
          <p:txBody>
            <a:bodyPr anchor="ctr" rtlCol="false" tIns="0" lIns="0" bIns="0" rIns="0"/>
            <a:lstStyle/>
            <a:p>
              <a:pPr algn="l">
                <a:lnSpc>
                  <a:spcPts val="2160"/>
                </a:lnSpc>
              </a:pPr>
              <a:r>
                <a:rPr lang="en-US" sz="1800">
                  <a:solidFill>
                    <a:srgbClr val="FEFEFF"/>
                  </a:solidFill>
                  <a:latin typeface="Arial"/>
                  <a:ea typeface="Arial"/>
                  <a:cs typeface="Arial"/>
                  <a:sym typeface="Arial"/>
                </a:rPr>
                <a:t>db/repository.ts define el contrato async; db/sqlite.ts crea storage/inmoscore.sqlite al iniciar.</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EFEFF"/>
        </a:solidFill>
      </p:bgPr>
    </p:bg>
    <p:spTree>
      <p:nvGrpSpPr>
        <p:cNvPr id="1" name=""/>
        <p:cNvGrpSpPr/>
        <p:nvPr/>
      </p:nvGrpSpPr>
      <p:grpSpPr>
        <a:xfrm>
          <a:off x="0" y="0"/>
          <a:ext cx="0" cy="0"/>
          <a:chOff x="0" y="0"/>
          <a:chExt cx="0" cy="0"/>
        </a:xfrm>
      </p:grpSpPr>
      <p:grpSp>
        <p:nvGrpSpPr>
          <p:cNvPr name="Group 2" id="2"/>
          <p:cNvGrpSpPr/>
          <p:nvPr/>
        </p:nvGrpSpPr>
        <p:grpSpPr>
          <a:xfrm rot="0">
            <a:off x="742950" y="485775"/>
            <a:ext cx="12144375" cy="328612"/>
            <a:chOff x="0" y="0"/>
            <a:chExt cx="16192500" cy="438150"/>
          </a:xfrm>
        </p:grpSpPr>
        <p:sp>
          <p:nvSpPr>
            <p:cNvPr name="Freeform 3" id="3"/>
            <p:cNvSpPr/>
            <p:nvPr/>
          </p:nvSpPr>
          <p:spPr>
            <a:xfrm flipH="false" flipV="false" rot="0">
              <a:off x="0" y="0"/>
              <a:ext cx="16192500" cy="438150"/>
            </a:xfrm>
            <a:custGeom>
              <a:avLst/>
              <a:gdLst/>
              <a:ahLst/>
              <a:cxnLst/>
              <a:rect r="r" b="b" t="t" l="l"/>
              <a:pathLst>
                <a:path h="438150" w="16192500">
                  <a:moveTo>
                    <a:pt x="0" y="0"/>
                  </a:moveTo>
                  <a:lnTo>
                    <a:pt x="16192500" y="0"/>
                  </a:lnTo>
                  <a:lnTo>
                    <a:pt x="16192500" y="438150"/>
                  </a:lnTo>
                  <a:lnTo>
                    <a:pt x="0" y="438150"/>
                  </a:lnTo>
                  <a:close/>
                </a:path>
              </a:pathLst>
            </a:custGeom>
            <a:blipFill>
              <a:blip r:embed="rId3">
                <a:alphaModFix amt="0"/>
              </a:blip>
              <a:stretch>
                <a:fillRect l="0" t="-670099" r="0" b="-670099"/>
              </a:stretch>
            </a:blipFill>
          </p:spPr>
        </p:sp>
        <p:sp>
          <p:nvSpPr>
            <p:cNvPr name="TextBox 4" id="4"/>
            <p:cNvSpPr txBox="true"/>
            <p:nvPr/>
          </p:nvSpPr>
          <p:spPr>
            <a:xfrm>
              <a:off x="0" y="-19050"/>
              <a:ext cx="16192500" cy="45720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EVALUACIÓN Y ALCANCE</a:t>
              </a:r>
            </a:p>
          </p:txBody>
        </p:sp>
      </p:grpSp>
      <p:grpSp>
        <p:nvGrpSpPr>
          <p:cNvPr name="Group 5" id="5"/>
          <p:cNvGrpSpPr/>
          <p:nvPr/>
        </p:nvGrpSpPr>
        <p:grpSpPr>
          <a:xfrm rot="0">
            <a:off x="742950" y="971550"/>
            <a:ext cx="16644938" cy="900112"/>
            <a:chOff x="0" y="0"/>
            <a:chExt cx="22193250" cy="1200150"/>
          </a:xfrm>
        </p:grpSpPr>
        <p:sp>
          <p:nvSpPr>
            <p:cNvPr name="Freeform 6" id="6"/>
            <p:cNvSpPr/>
            <p:nvPr/>
          </p:nvSpPr>
          <p:spPr>
            <a:xfrm flipH="false" flipV="false" rot="0">
              <a:off x="0" y="0"/>
              <a:ext cx="22193250" cy="1200150"/>
            </a:xfrm>
            <a:custGeom>
              <a:avLst/>
              <a:gdLst/>
              <a:ahLst/>
              <a:cxnLst/>
              <a:rect r="r" b="b" t="t" l="l"/>
              <a:pathLst>
                <a:path h="1200150" w="22193250">
                  <a:moveTo>
                    <a:pt x="0" y="0"/>
                  </a:moveTo>
                  <a:lnTo>
                    <a:pt x="22193250" y="0"/>
                  </a:lnTo>
                  <a:lnTo>
                    <a:pt x="22193250" y="1200150"/>
                  </a:lnTo>
                  <a:lnTo>
                    <a:pt x="0" y="1200150"/>
                  </a:lnTo>
                  <a:close/>
                </a:path>
              </a:pathLst>
            </a:custGeom>
            <a:blipFill>
              <a:blip r:embed="rId3">
                <a:alphaModFix amt="0"/>
              </a:blip>
              <a:stretch>
                <a:fillRect l="0" t="-310318" r="0" b="-310318"/>
              </a:stretch>
            </a:blipFill>
          </p:spPr>
        </p:sp>
        <p:sp>
          <p:nvSpPr>
            <p:cNvPr name="TextBox 7" id="7"/>
            <p:cNvSpPr txBox="true"/>
            <p:nvPr/>
          </p:nvSpPr>
          <p:spPr>
            <a:xfrm>
              <a:off x="0" y="-19050"/>
              <a:ext cx="22193250" cy="1219200"/>
            </a:xfrm>
            <a:prstGeom prst="rect">
              <a:avLst/>
            </a:prstGeom>
          </p:spPr>
          <p:txBody>
            <a:bodyPr anchor="ctr" rtlCol="false" tIns="0" lIns="0" bIns="0" rIns="0"/>
            <a:lstStyle/>
            <a:p>
              <a:pPr algn="l">
                <a:lnSpc>
                  <a:spcPts val="4860"/>
                </a:lnSpc>
              </a:pPr>
              <a:r>
                <a:rPr lang="en-US" b="true" sz="4050">
                  <a:solidFill>
                    <a:srgbClr val="2B3F9E"/>
                  </a:solidFill>
                  <a:latin typeface="Arial Bold"/>
                  <a:ea typeface="Arial Bold"/>
                  <a:cs typeface="Arial Bold"/>
                  <a:sym typeface="Arial Bold"/>
                </a:rPr>
                <a:t>El MAE baja 22 % frente a la línea base</a:t>
              </a:r>
            </a:p>
          </p:txBody>
        </p:sp>
      </p:grpSp>
      <p:grpSp>
        <p:nvGrpSpPr>
          <p:cNvPr name="Group 8" id="8"/>
          <p:cNvGrpSpPr/>
          <p:nvPr/>
        </p:nvGrpSpPr>
        <p:grpSpPr>
          <a:xfrm rot="0">
            <a:off x="771525" y="1885950"/>
            <a:ext cx="16002000" cy="514350"/>
            <a:chOff x="0" y="0"/>
            <a:chExt cx="21336000" cy="685800"/>
          </a:xfrm>
        </p:grpSpPr>
        <p:sp>
          <p:nvSpPr>
            <p:cNvPr name="Freeform 9" id="9"/>
            <p:cNvSpPr/>
            <p:nvPr/>
          </p:nvSpPr>
          <p:spPr>
            <a:xfrm flipH="false" flipV="false" rot="0">
              <a:off x="0" y="0"/>
              <a:ext cx="21336000" cy="685800"/>
            </a:xfrm>
            <a:custGeom>
              <a:avLst/>
              <a:gdLst/>
              <a:ahLst/>
              <a:cxnLst/>
              <a:rect r="r" b="b" t="t" l="l"/>
              <a:pathLst>
                <a:path h="685800" w="21336000">
                  <a:moveTo>
                    <a:pt x="0" y="0"/>
                  </a:moveTo>
                  <a:lnTo>
                    <a:pt x="21336000" y="0"/>
                  </a:lnTo>
                  <a:lnTo>
                    <a:pt x="21336000" y="685800"/>
                  </a:lnTo>
                  <a:lnTo>
                    <a:pt x="0" y="685800"/>
                  </a:lnTo>
                  <a:close/>
                </a:path>
              </a:pathLst>
            </a:custGeom>
            <a:blipFill>
              <a:blip r:embed="rId3">
                <a:alphaModFix amt="0"/>
              </a:blip>
              <a:stretch>
                <a:fillRect l="0" t="-556201" r="0" b="-556201"/>
              </a:stretch>
            </a:blipFill>
          </p:spPr>
        </p:sp>
        <p:sp>
          <p:nvSpPr>
            <p:cNvPr name="TextBox 10" id="10"/>
            <p:cNvSpPr txBox="true"/>
            <p:nvPr/>
          </p:nvSpPr>
          <p:spPr>
            <a:xfrm>
              <a:off x="0" y="-9525"/>
              <a:ext cx="21336000" cy="6953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Comparación en 779 registros finales después del desarrollo con 3 117 registros.</a:t>
              </a:r>
            </a:p>
          </p:txBody>
        </p:sp>
      </p:grpSp>
      <p:grpSp>
        <p:nvGrpSpPr>
          <p:cNvPr name="Group 11" id="11"/>
          <p:cNvGrpSpPr/>
          <p:nvPr/>
        </p:nvGrpSpPr>
        <p:grpSpPr>
          <a:xfrm rot="0">
            <a:off x="714375" y="9729788"/>
            <a:ext cx="4286250" cy="314325"/>
            <a:chOff x="0" y="0"/>
            <a:chExt cx="5715000" cy="419100"/>
          </a:xfrm>
        </p:grpSpPr>
        <p:sp>
          <p:nvSpPr>
            <p:cNvPr name="Freeform 12" id="12"/>
            <p:cNvSpPr/>
            <p:nvPr/>
          </p:nvSpPr>
          <p:spPr>
            <a:xfrm flipH="false" flipV="false" rot="0">
              <a:off x="0" y="0"/>
              <a:ext cx="5715000" cy="419100"/>
            </a:xfrm>
            <a:custGeom>
              <a:avLst/>
              <a:gdLst/>
              <a:ahLst/>
              <a:cxnLst/>
              <a:rect r="r" b="b" t="t" l="l"/>
              <a:pathLst>
                <a:path h="419100" w="5715000">
                  <a:moveTo>
                    <a:pt x="0" y="0"/>
                  </a:moveTo>
                  <a:lnTo>
                    <a:pt x="5715000" y="0"/>
                  </a:lnTo>
                  <a:lnTo>
                    <a:pt x="5715000" y="419100"/>
                  </a:lnTo>
                  <a:lnTo>
                    <a:pt x="0" y="419100"/>
                  </a:lnTo>
                  <a:close/>
                </a:path>
              </a:pathLst>
            </a:custGeom>
            <a:blipFill>
              <a:blip r:embed="rId3">
                <a:alphaModFix amt="0"/>
              </a:blip>
              <a:stretch>
                <a:fillRect l="0" t="-215705" r="0" b="-215705"/>
              </a:stretch>
            </a:blipFill>
          </p:spPr>
        </p:sp>
        <p:sp>
          <p:nvSpPr>
            <p:cNvPr name="TextBox 13" id="13"/>
            <p:cNvSpPr txBox="true"/>
            <p:nvPr/>
          </p:nvSpPr>
          <p:spPr>
            <a:xfrm>
              <a:off x="0" y="-19050"/>
              <a:ext cx="5715000" cy="438150"/>
            </a:xfrm>
            <a:prstGeom prst="rect">
              <a:avLst/>
            </a:prstGeom>
          </p:spPr>
          <p:txBody>
            <a:bodyPr anchor="ctr" rtlCol="false" tIns="0" lIns="0" bIns="0" rIns="0"/>
            <a:lstStyle/>
            <a:p>
              <a:pPr algn="l">
                <a:lnSpc>
                  <a:spcPts val="1620"/>
                </a:lnSpc>
              </a:pPr>
              <a:r>
                <a:rPr lang="en-US" sz="1350">
                  <a:solidFill>
                    <a:srgbClr val="0C0E14"/>
                  </a:solidFill>
                  <a:latin typeface="Arial"/>
                  <a:ea typeface="Arial"/>
                  <a:cs typeface="Arial"/>
                  <a:sym typeface="Arial"/>
                </a:rPr>
                <a:t>InmoScore  /  Week 10</a:t>
              </a:r>
            </a:p>
          </p:txBody>
        </p:sp>
      </p:grpSp>
      <p:grpSp>
        <p:nvGrpSpPr>
          <p:cNvPr name="Group 14" id="14"/>
          <p:cNvGrpSpPr/>
          <p:nvPr/>
        </p:nvGrpSpPr>
        <p:grpSpPr>
          <a:xfrm rot="0">
            <a:off x="17216438" y="9729788"/>
            <a:ext cx="500062" cy="314325"/>
            <a:chOff x="0" y="0"/>
            <a:chExt cx="666750" cy="419100"/>
          </a:xfrm>
        </p:grpSpPr>
        <p:sp>
          <p:nvSpPr>
            <p:cNvPr name="Freeform 15" id="15"/>
            <p:cNvSpPr/>
            <p:nvPr/>
          </p:nvSpPr>
          <p:spPr>
            <a:xfrm flipH="false" flipV="false" rot="0">
              <a:off x="0" y="0"/>
              <a:ext cx="666750" cy="419100"/>
            </a:xfrm>
            <a:custGeom>
              <a:avLst/>
              <a:gdLst/>
              <a:ahLst/>
              <a:cxnLst/>
              <a:rect r="r" b="b" t="t" l="l"/>
              <a:pathLst>
                <a:path h="419100" w="666750">
                  <a:moveTo>
                    <a:pt x="0" y="0"/>
                  </a:moveTo>
                  <a:lnTo>
                    <a:pt x="666750" y="0"/>
                  </a:lnTo>
                  <a:lnTo>
                    <a:pt x="666750" y="419100"/>
                  </a:lnTo>
                  <a:lnTo>
                    <a:pt x="0" y="419100"/>
                  </a:lnTo>
                  <a:close/>
                </a:path>
              </a:pathLst>
            </a:custGeom>
            <a:blipFill>
              <a:blip r:embed="rId3">
                <a:alphaModFix amt="0"/>
              </a:blip>
              <a:stretch>
                <a:fillRect l="-30647" t="0" r="-30647" b="0"/>
              </a:stretch>
            </a:blipFill>
          </p:spPr>
        </p:sp>
        <p:sp>
          <p:nvSpPr>
            <p:cNvPr name="TextBox 16" id="16"/>
            <p:cNvSpPr txBox="true"/>
            <p:nvPr/>
          </p:nvSpPr>
          <p:spPr>
            <a:xfrm>
              <a:off x="0" y="-19050"/>
              <a:ext cx="666750" cy="438150"/>
            </a:xfrm>
            <a:prstGeom prst="rect">
              <a:avLst/>
            </a:prstGeom>
          </p:spPr>
          <p:txBody>
            <a:bodyPr anchor="ctr" rtlCol="false" tIns="0" lIns="0" bIns="0" rIns="0"/>
            <a:lstStyle/>
            <a:p>
              <a:pPr algn="r">
                <a:lnSpc>
                  <a:spcPts val="1620"/>
                </a:lnSpc>
              </a:pPr>
              <a:r>
                <a:rPr lang="en-US" sz="1350">
                  <a:solidFill>
                    <a:srgbClr val="0C0E14"/>
                  </a:solidFill>
                  <a:latin typeface="Arial"/>
                  <a:ea typeface="Arial"/>
                  <a:cs typeface="Arial"/>
                  <a:sym typeface="Arial"/>
                </a:rPr>
                <a:t>16</a:t>
              </a:r>
            </a:p>
          </p:txBody>
        </p:sp>
      </p:grpSp>
      <p:grpSp>
        <p:nvGrpSpPr>
          <p:cNvPr name="Group 17" id="17"/>
          <p:cNvGrpSpPr/>
          <p:nvPr/>
        </p:nvGrpSpPr>
        <p:grpSpPr>
          <a:xfrm rot="0">
            <a:off x="878681" y="3136106"/>
            <a:ext cx="7586662" cy="4186238"/>
            <a:chOff x="0" y="0"/>
            <a:chExt cx="10115550" cy="5581650"/>
          </a:xfrm>
        </p:grpSpPr>
        <p:sp>
          <p:nvSpPr>
            <p:cNvPr name="Freeform 18" id="18"/>
            <p:cNvSpPr/>
            <p:nvPr/>
          </p:nvSpPr>
          <p:spPr>
            <a:xfrm flipH="false" flipV="false" rot="0">
              <a:off x="0" y="0"/>
              <a:ext cx="10115550" cy="5581650"/>
            </a:xfrm>
            <a:custGeom>
              <a:avLst/>
              <a:gdLst/>
              <a:ahLst/>
              <a:cxnLst/>
              <a:rect r="r" b="b" t="t" l="l"/>
              <a:pathLst>
                <a:path h="5581650" w="10115550">
                  <a:moveTo>
                    <a:pt x="0" y="152908"/>
                  </a:moveTo>
                  <a:cubicBezTo>
                    <a:pt x="0" y="68453"/>
                    <a:pt x="68453" y="0"/>
                    <a:pt x="152908" y="0"/>
                  </a:cubicBezTo>
                  <a:lnTo>
                    <a:pt x="9962642" y="0"/>
                  </a:lnTo>
                  <a:cubicBezTo>
                    <a:pt x="10047098" y="0"/>
                    <a:pt x="10115550" y="68453"/>
                    <a:pt x="10115550" y="152908"/>
                  </a:cubicBezTo>
                  <a:lnTo>
                    <a:pt x="10115550" y="5428742"/>
                  </a:lnTo>
                  <a:cubicBezTo>
                    <a:pt x="10115550" y="5513197"/>
                    <a:pt x="10047098" y="5581650"/>
                    <a:pt x="9962642" y="5581650"/>
                  </a:cubicBezTo>
                  <a:lnTo>
                    <a:pt x="152908" y="5581650"/>
                  </a:lnTo>
                  <a:cubicBezTo>
                    <a:pt x="68453" y="5581650"/>
                    <a:pt x="0" y="5513197"/>
                    <a:pt x="0" y="5428742"/>
                  </a:cubicBezTo>
                  <a:close/>
                </a:path>
              </a:pathLst>
            </a:custGeom>
            <a:solidFill>
              <a:srgbClr val="98A8F0"/>
            </a:solidFill>
            <a:ln w="14288" cap="sq">
              <a:solidFill>
                <a:srgbClr val="D9DED5"/>
              </a:solidFill>
              <a:prstDash val="solid"/>
              <a:miter/>
            </a:ln>
          </p:spPr>
        </p:sp>
      </p:grpSp>
      <p:grpSp>
        <p:nvGrpSpPr>
          <p:cNvPr name="Group 19" id="19"/>
          <p:cNvGrpSpPr/>
          <p:nvPr/>
        </p:nvGrpSpPr>
        <p:grpSpPr>
          <a:xfrm rot="0">
            <a:off x="1314450" y="3586162"/>
            <a:ext cx="5857875" cy="314325"/>
            <a:chOff x="0" y="0"/>
            <a:chExt cx="7810500" cy="419100"/>
          </a:xfrm>
        </p:grpSpPr>
        <p:sp>
          <p:nvSpPr>
            <p:cNvPr name="Freeform 20" id="20"/>
            <p:cNvSpPr/>
            <p:nvPr/>
          </p:nvSpPr>
          <p:spPr>
            <a:xfrm flipH="false" flipV="false" rot="0">
              <a:off x="0" y="0"/>
              <a:ext cx="7810500" cy="419100"/>
            </a:xfrm>
            <a:custGeom>
              <a:avLst/>
              <a:gdLst/>
              <a:ahLst/>
              <a:cxnLst/>
              <a:rect r="r" b="b" t="t" l="l"/>
              <a:pathLst>
                <a:path h="419100" w="7810500">
                  <a:moveTo>
                    <a:pt x="0" y="0"/>
                  </a:moveTo>
                  <a:lnTo>
                    <a:pt x="7810500" y="0"/>
                  </a:lnTo>
                  <a:lnTo>
                    <a:pt x="7810500" y="419100"/>
                  </a:lnTo>
                  <a:lnTo>
                    <a:pt x="0" y="419100"/>
                  </a:lnTo>
                  <a:close/>
                </a:path>
              </a:pathLst>
            </a:custGeom>
            <a:blipFill>
              <a:blip r:embed="rId3">
                <a:alphaModFix amt="0"/>
              </a:blip>
              <a:stretch>
                <a:fillRect l="0" t="-313130" r="0" b="-313130"/>
              </a:stretch>
            </a:blipFill>
          </p:spPr>
        </p:sp>
        <p:sp>
          <p:nvSpPr>
            <p:cNvPr name="TextBox 21" id="21"/>
            <p:cNvSpPr txBox="true"/>
            <p:nvPr/>
          </p:nvSpPr>
          <p:spPr>
            <a:xfrm>
              <a:off x="0" y="-19050"/>
              <a:ext cx="7810500" cy="438150"/>
            </a:xfrm>
            <a:prstGeom prst="rect">
              <a:avLst/>
            </a:prstGeom>
          </p:spPr>
          <p:txBody>
            <a:bodyPr anchor="ctr" rtlCol="false" tIns="0" lIns="0" bIns="0" rIns="0"/>
            <a:lstStyle/>
            <a:p>
              <a:pPr algn="l">
                <a:lnSpc>
                  <a:spcPts val="1620"/>
                </a:lnSpc>
              </a:pPr>
              <a:r>
                <a:rPr lang="en-US" b="true" sz="1350">
                  <a:solidFill>
                    <a:srgbClr val="0C0E14"/>
                  </a:solidFill>
                  <a:latin typeface="Arial Bold"/>
                  <a:ea typeface="Arial Bold"/>
                  <a:cs typeface="Arial Bold"/>
                  <a:sym typeface="Arial Bold"/>
                </a:rPr>
                <a:t>ERROR ABSOLUTO MEDIO</a:t>
              </a:r>
            </a:p>
          </p:txBody>
        </p:sp>
      </p:grpSp>
      <p:grpSp>
        <p:nvGrpSpPr>
          <p:cNvPr name="Group 22" id="22"/>
          <p:cNvGrpSpPr/>
          <p:nvPr/>
        </p:nvGrpSpPr>
        <p:grpSpPr>
          <a:xfrm rot="0">
            <a:off x="1314450" y="4257675"/>
            <a:ext cx="5715000" cy="828675"/>
            <a:chOff x="0" y="0"/>
            <a:chExt cx="7620000" cy="1104900"/>
          </a:xfrm>
        </p:grpSpPr>
        <p:sp>
          <p:nvSpPr>
            <p:cNvPr name="Freeform 23" id="23"/>
            <p:cNvSpPr/>
            <p:nvPr/>
          </p:nvSpPr>
          <p:spPr>
            <a:xfrm flipH="false" flipV="false" rot="0">
              <a:off x="0" y="0"/>
              <a:ext cx="7620000" cy="1104900"/>
            </a:xfrm>
            <a:custGeom>
              <a:avLst/>
              <a:gdLst/>
              <a:ahLst/>
              <a:cxnLst/>
              <a:rect r="r" b="b" t="t" l="l"/>
              <a:pathLst>
                <a:path h="1104900" w="7620000">
                  <a:moveTo>
                    <a:pt x="0" y="0"/>
                  </a:moveTo>
                  <a:lnTo>
                    <a:pt x="7620000" y="0"/>
                  </a:lnTo>
                  <a:lnTo>
                    <a:pt x="7620000" y="1104900"/>
                  </a:lnTo>
                  <a:lnTo>
                    <a:pt x="0" y="1104900"/>
                  </a:lnTo>
                  <a:close/>
                </a:path>
              </a:pathLst>
            </a:custGeom>
            <a:blipFill>
              <a:blip r:embed="rId3">
                <a:alphaModFix amt="0"/>
              </a:blip>
              <a:stretch>
                <a:fillRect l="0" t="-84379" r="0" b="-84379"/>
              </a:stretch>
            </a:blipFill>
          </p:spPr>
        </p:sp>
        <p:sp>
          <p:nvSpPr>
            <p:cNvPr name="TextBox 24" id="24"/>
            <p:cNvSpPr txBox="true"/>
            <p:nvPr/>
          </p:nvSpPr>
          <p:spPr>
            <a:xfrm>
              <a:off x="0" y="-28575"/>
              <a:ext cx="7620000" cy="1133475"/>
            </a:xfrm>
            <a:prstGeom prst="rect">
              <a:avLst/>
            </a:prstGeom>
          </p:spPr>
          <p:txBody>
            <a:bodyPr anchor="ctr" rtlCol="false" tIns="0" lIns="0" bIns="0" rIns="0"/>
            <a:lstStyle/>
            <a:p>
              <a:pPr algn="l">
                <a:lnSpc>
                  <a:spcPts val="5535"/>
                </a:lnSpc>
              </a:pPr>
              <a:r>
                <a:rPr lang="en-US" b="true" sz="4612">
                  <a:solidFill>
                    <a:srgbClr val="0C0E14"/>
                  </a:solidFill>
                  <a:latin typeface="Arial Bold"/>
                  <a:ea typeface="Arial Bold"/>
                  <a:cs typeface="Arial Bold"/>
                  <a:sym typeface="Arial Bold"/>
                </a:rPr>
                <a:t>S/ 119 801</a:t>
              </a:r>
            </a:p>
          </p:txBody>
        </p:sp>
      </p:grpSp>
      <p:grpSp>
        <p:nvGrpSpPr>
          <p:cNvPr name="Group 25" id="25"/>
          <p:cNvGrpSpPr/>
          <p:nvPr/>
        </p:nvGrpSpPr>
        <p:grpSpPr>
          <a:xfrm rot="0">
            <a:off x="1343025" y="5114925"/>
            <a:ext cx="5715000" cy="342900"/>
            <a:chOff x="0" y="0"/>
            <a:chExt cx="7620000" cy="457200"/>
          </a:xfrm>
        </p:grpSpPr>
        <p:sp>
          <p:nvSpPr>
            <p:cNvPr name="Freeform 26" id="26"/>
            <p:cNvSpPr/>
            <p:nvPr/>
          </p:nvSpPr>
          <p:spPr>
            <a:xfrm flipH="false" flipV="false" rot="0">
              <a:off x="0" y="0"/>
              <a:ext cx="7620000" cy="457200"/>
            </a:xfrm>
            <a:custGeom>
              <a:avLst/>
              <a:gdLst/>
              <a:ahLst/>
              <a:cxnLst/>
              <a:rect r="r" b="b" t="t" l="l"/>
              <a:pathLst>
                <a:path h="457200" w="7620000">
                  <a:moveTo>
                    <a:pt x="0" y="0"/>
                  </a:moveTo>
                  <a:lnTo>
                    <a:pt x="7620000" y="0"/>
                  </a:lnTo>
                  <a:lnTo>
                    <a:pt x="7620000" y="457200"/>
                  </a:lnTo>
                  <a:lnTo>
                    <a:pt x="0" y="457200"/>
                  </a:lnTo>
                  <a:close/>
                </a:path>
              </a:pathLst>
            </a:custGeom>
            <a:blipFill>
              <a:blip r:embed="rId3">
                <a:alphaModFix amt="0"/>
              </a:blip>
              <a:stretch>
                <a:fillRect l="0" t="-274750" r="0" b="-274750"/>
              </a:stretch>
            </a:blipFill>
          </p:spPr>
        </p:sp>
        <p:sp>
          <p:nvSpPr>
            <p:cNvPr name="TextBox 27" id="27"/>
            <p:cNvSpPr txBox="true"/>
            <p:nvPr/>
          </p:nvSpPr>
          <p:spPr>
            <a:xfrm>
              <a:off x="0" y="-19050"/>
              <a:ext cx="7620000" cy="476250"/>
            </a:xfrm>
            <a:prstGeom prst="rect">
              <a:avLst/>
            </a:prstGeom>
          </p:spPr>
          <p:txBody>
            <a:bodyPr anchor="ctr" rtlCol="false" tIns="0" lIns="0" bIns="0" rIns="0"/>
            <a:lstStyle/>
            <a:p>
              <a:pPr algn="l">
                <a:lnSpc>
                  <a:spcPts val="2025"/>
                </a:lnSpc>
              </a:pPr>
              <a:r>
                <a:rPr lang="en-US" sz="1687">
                  <a:solidFill>
                    <a:srgbClr val="0C0E14"/>
                  </a:solidFill>
                  <a:latin typeface="Arial"/>
                  <a:ea typeface="Arial"/>
                  <a:cs typeface="Arial"/>
                  <a:sym typeface="Arial"/>
                </a:rPr>
                <a:t>Modelo actual</a:t>
              </a:r>
            </a:p>
          </p:txBody>
        </p:sp>
      </p:grpSp>
      <p:grpSp>
        <p:nvGrpSpPr>
          <p:cNvPr name="Group 28" id="28"/>
          <p:cNvGrpSpPr/>
          <p:nvPr/>
        </p:nvGrpSpPr>
        <p:grpSpPr>
          <a:xfrm rot="0">
            <a:off x="1314450" y="5829300"/>
            <a:ext cx="5715000" cy="685800"/>
            <a:chOff x="0" y="0"/>
            <a:chExt cx="7620000" cy="914400"/>
          </a:xfrm>
        </p:grpSpPr>
        <p:sp>
          <p:nvSpPr>
            <p:cNvPr name="Freeform 29" id="29"/>
            <p:cNvSpPr/>
            <p:nvPr/>
          </p:nvSpPr>
          <p:spPr>
            <a:xfrm flipH="false" flipV="false" rot="0">
              <a:off x="0" y="0"/>
              <a:ext cx="7620000" cy="914400"/>
            </a:xfrm>
            <a:custGeom>
              <a:avLst/>
              <a:gdLst/>
              <a:ahLst/>
              <a:cxnLst/>
              <a:rect r="r" b="b" t="t" l="l"/>
              <a:pathLst>
                <a:path h="914400" w="7620000">
                  <a:moveTo>
                    <a:pt x="0" y="0"/>
                  </a:moveTo>
                  <a:lnTo>
                    <a:pt x="7620000" y="0"/>
                  </a:lnTo>
                  <a:lnTo>
                    <a:pt x="7620000" y="914400"/>
                  </a:lnTo>
                  <a:lnTo>
                    <a:pt x="0" y="914400"/>
                  </a:lnTo>
                  <a:close/>
                </a:path>
              </a:pathLst>
            </a:custGeom>
            <a:blipFill>
              <a:blip r:embed="rId3">
                <a:alphaModFix amt="0"/>
              </a:blip>
              <a:stretch>
                <a:fillRect l="0" t="-112375" r="0" b="-112375"/>
              </a:stretch>
            </a:blipFill>
          </p:spPr>
        </p:sp>
        <p:sp>
          <p:nvSpPr>
            <p:cNvPr name="TextBox 30" id="30"/>
            <p:cNvSpPr txBox="true"/>
            <p:nvPr/>
          </p:nvSpPr>
          <p:spPr>
            <a:xfrm>
              <a:off x="0" y="-19050"/>
              <a:ext cx="7620000" cy="933450"/>
            </a:xfrm>
            <a:prstGeom prst="rect">
              <a:avLst/>
            </a:prstGeom>
          </p:spPr>
          <p:txBody>
            <a:bodyPr anchor="ctr" rtlCol="false" tIns="0" lIns="0" bIns="0" rIns="0"/>
            <a:lstStyle/>
            <a:p>
              <a:pPr algn="l">
                <a:lnSpc>
                  <a:spcPts val="4185"/>
                </a:lnSpc>
              </a:pPr>
              <a:r>
                <a:rPr lang="en-US" b="true" sz="3487">
                  <a:solidFill>
                    <a:srgbClr val="0C0E14"/>
                  </a:solidFill>
                  <a:latin typeface="Arial Bold"/>
                  <a:ea typeface="Arial Bold"/>
                  <a:cs typeface="Arial Bold"/>
                  <a:sym typeface="Arial Bold"/>
                </a:rPr>
                <a:t>S/ 153 665</a:t>
              </a:r>
            </a:p>
          </p:txBody>
        </p:sp>
      </p:grpSp>
      <p:grpSp>
        <p:nvGrpSpPr>
          <p:cNvPr name="Group 31" id="31"/>
          <p:cNvGrpSpPr/>
          <p:nvPr/>
        </p:nvGrpSpPr>
        <p:grpSpPr>
          <a:xfrm rot="0">
            <a:off x="1343025" y="6529388"/>
            <a:ext cx="5715000" cy="314325"/>
            <a:chOff x="0" y="0"/>
            <a:chExt cx="7620000" cy="419100"/>
          </a:xfrm>
        </p:grpSpPr>
        <p:sp>
          <p:nvSpPr>
            <p:cNvPr name="Freeform 32" id="32"/>
            <p:cNvSpPr/>
            <p:nvPr/>
          </p:nvSpPr>
          <p:spPr>
            <a:xfrm flipH="false" flipV="false" rot="0">
              <a:off x="0" y="0"/>
              <a:ext cx="7620000" cy="419100"/>
            </a:xfrm>
            <a:custGeom>
              <a:avLst/>
              <a:gdLst/>
              <a:ahLst/>
              <a:cxnLst/>
              <a:rect r="r" b="b" t="t" l="l"/>
              <a:pathLst>
                <a:path h="419100" w="7620000">
                  <a:moveTo>
                    <a:pt x="0" y="0"/>
                  </a:moveTo>
                  <a:lnTo>
                    <a:pt x="7620000" y="0"/>
                  </a:lnTo>
                  <a:lnTo>
                    <a:pt x="7620000" y="419100"/>
                  </a:lnTo>
                  <a:lnTo>
                    <a:pt x="0" y="419100"/>
                  </a:lnTo>
                  <a:close/>
                </a:path>
              </a:pathLst>
            </a:custGeom>
            <a:blipFill>
              <a:blip r:embed="rId3">
                <a:alphaModFix amt="0"/>
              </a:blip>
              <a:stretch>
                <a:fillRect l="0" t="-304273" r="0" b="-304273"/>
              </a:stretch>
            </a:blipFill>
          </p:spPr>
        </p:sp>
        <p:sp>
          <p:nvSpPr>
            <p:cNvPr name="TextBox 33" id="33"/>
            <p:cNvSpPr txBox="true"/>
            <p:nvPr/>
          </p:nvSpPr>
          <p:spPr>
            <a:xfrm>
              <a:off x="0" y="-9525"/>
              <a:ext cx="7620000" cy="428625"/>
            </a:xfrm>
            <a:prstGeom prst="rect">
              <a:avLst/>
            </a:prstGeom>
          </p:spPr>
          <p:txBody>
            <a:bodyPr anchor="ctr" rtlCol="false" tIns="0" lIns="0" bIns="0" rIns="0"/>
            <a:lstStyle/>
            <a:p>
              <a:pPr algn="l">
                <a:lnSpc>
                  <a:spcPts val="1889"/>
                </a:lnSpc>
              </a:pPr>
              <a:r>
                <a:rPr lang="en-US" sz="1575">
                  <a:solidFill>
                    <a:srgbClr val="0C0E14"/>
                  </a:solidFill>
                  <a:latin typeface="Arial"/>
                  <a:ea typeface="Arial"/>
                  <a:cs typeface="Arial"/>
                  <a:sym typeface="Arial"/>
                </a:rPr>
                <a:t>Línea base</a:t>
              </a:r>
            </a:p>
          </p:txBody>
        </p:sp>
      </p:grpSp>
      <p:grpSp>
        <p:nvGrpSpPr>
          <p:cNvPr name="Group 34" id="34"/>
          <p:cNvGrpSpPr/>
          <p:nvPr/>
        </p:nvGrpSpPr>
        <p:grpSpPr>
          <a:xfrm rot="0">
            <a:off x="6143625" y="5957888"/>
            <a:ext cx="1657350" cy="571500"/>
            <a:chOff x="0" y="0"/>
            <a:chExt cx="2209800" cy="762000"/>
          </a:xfrm>
        </p:grpSpPr>
        <p:sp>
          <p:nvSpPr>
            <p:cNvPr name="Freeform 35" id="35"/>
            <p:cNvSpPr/>
            <p:nvPr/>
          </p:nvSpPr>
          <p:spPr>
            <a:xfrm flipH="false" flipV="false" rot="0">
              <a:off x="0" y="0"/>
              <a:ext cx="2209800" cy="762000"/>
            </a:xfrm>
            <a:custGeom>
              <a:avLst/>
              <a:gdLst/>
              <a:ahLst/>
              <a:cxnLst/>
              <a:rect r="r" b="b" t="t" l="l"/>
              <a:pathLst>
                <a:path h="762000" w="2209800">
                  <a:moveTo>
                    <a:pt x="0" y="152400"/>
                  </a:moveTo>
                  <a:cubicBezTo>
                    <a:pt x="0" y="68199"/>
                    <a:pt x="68199" y="0"/>
                    <a:pt x="152400" y="0"/>
                  </a:cubicBezTo>
                  <a:lnTo>
                    <a:pt x="2057400" y="0"/>
                  </a:lnTo>
                  <a:cubicBezTo>
                    <a:pt x="2141601" y="0"/>
                    <a:pt x="2209800" y="68199"/>
                    <a:pt x="2209800" y="152400"/>
                  </a:cubicBezTo>
                  <a:lnTo>
                    <a:pt x="2209800" y="609600"/>
                  </a:lnTo>
                  <a:cubicBezTo>
                    <a:pt x="2209800" y="693801"/>
                    <a:pt x="2141601" y="762000"/>
                    <a:pt x="2057400" y="762000"/>
                  </a:cubicBezTo>
                  <a:lnTo>
                    <a:pt x="152400" y="762000"/>
                  </a:lnTo>
                  <a:cubicBezTo>
                    <a:pt x="68199" y="762000"/>
                    <a:pt x="0" y="693801"/>
                    <a:pt x="0" y="609600"/>
                  </a:cubicBezTo>
                  <a:close/>
                </a:path>
              </a:pathLst>
            </a:custGeom>
            <a:solidFill>
              <a:srgbClr val="C2C9ED"/>
            </a:solidFill>
          </p:spPr>
        </p:sp>
      </p:grpSp>
      <p:grpSp>
        <p:nvGrpSpPr>
          <p:cNvPr name="Group 36" id="36"/>
          <p:cNvGrpSpPr/>
          <p:nvPr/>
        </p:nvGrpSpPr>
        <p:grpSpPr>
          <a:xfrm rot="0">
            <a:off x="6143625" y="6029325"/>
            <a:ext cx="1657350" cy="414338"/>
            <a:chOff x="0" y="0"/>
            <a:chExt cx="2209800" cy="552450"/>
          </a:xfrm>
        </p:grpSpPr>
        <p:sp>
          <p:nvSpPr>
            <p:cNvPr name="Freeform 37" id="37"/>
            <p:cNvSpPr/>
            <p:nvPr/>
          </p:nvSpPr>
          <p:spPr>
            <a:xfrm flipH="false" flipV="false" rot="0">
              <a:off x="0" y="0"/>
              <a:ext cx="2209800" cy="552450"/>
            </a:xfrm>
            <a:custGeom>
              <a:avLst/>
              <a:gdLst/>
              <a:ahLst/>
              <a:cxnLst/>
              <a:rect r="r" b="b" t="t" l="l"/>
              <a:pathLst>
                <a:path h="552450" w="2209800">
                  <a:moveTo>
                    <a:pt x="0" y="0"/>
                  </a:moveTo>
                  <a:lnTo>
                    <a:pt x="2209800" y="0"/>
                  </a:lnTo>
                  <a:lnTo>
                    <a:pt x="2209800" y="552450"/>
                  </a:lnTo>
                  <a:lnTo>
                    <a:pt x="0" y="552450"/>
                  </a:lnTo>
                  <a:close/>
                </a:path>
              </a:pathLst>
            </a:custGeom>
            <a:blipFill>
              <a:blip r:embed="rId3">
                <a:alphaModFix amt="0"/>
              </a:blip>
              <a:stretch>
                <a:fillRect l="0" t="-27940" r="0" b="-27940"/>
              </a:stretch>
            </a:blipFill>
          </p:spPr>
        </p:sp>
        <p:sp>
          <p:nvSpPr>
            <p:cNvPr name="TextBox 38" id="38"/>
            <p:cNvSpPr txBox="true"/>
            <p:nvPr/>
          </p:nvSpPr>
          <p:spPr>
            <a:xfrm>
              <a:off x="0" y="-9525"/>
              <a:ext cx="2209800" cy="561975"/>
            </a:xfrm>
            <a:prstGeom prst="rect">
              <a:avLst/>
            </a:prstGeom>
          </p:spPr>
          <p:txBody>
            <a:bodyPr anchor="ctr" rtlCol="false" tIns="0" lIns="0" bIns="0" rIns="0"/>
            <a:lstStyle/>
            <a:p>
              <a:pPr algn="ctr">
                <a:lnSpc>
                  <a:spcPts val="2430"/>
                </a:lnSpc>
              </a:pPr>
              <a:r>
                <a:rPr lang="en-US" b="true" sz="2025">
                  <a:solidFill>
                    <a:srgbClr val="2B3F9E"/>
                  </a:solidFill>
                  <a:latin typeface="Arial Bold"/>
                  <a:ea typeface="Arial Bold"/>
                  <a:cs typeface="Arial Bold"/>
                  <a:sym typeface="Arial Bold"/>
                </a:rPr>
                <a:t>−22 %</a:t>
              </a:r>
            </a:p>
          </p:txBody>
        </p:sp>
      </p:grpSp>
      <p:grpSp>
        <p:nvGrpSpPr>
          <p:cNvPr name="Group 39" id="39"/>
          <p:cNvGrpSpPr/>
          <p:nvPr/>
        </p:nvGrpSpPr>
        <p:grpSpPr>
          <a:xfrm rot="0">
            <a:off x="8886825" y="3143250"/>
            <a:ext cx="8486775" cy="4171950"/>
            <a:chOff x="0" y="0"/>
            <a:chExt cx="11315700" cy="5562600"/>
          </a:xfrm>
        </p:grpSpPr>
        <p:sp>
          <p:nvSpPr>
            <p:cNvPr name="Freeform 40" id="40"/>
            <p:cNvSpPr/>
            <p:nvPr/>
          </p:nvSpPr>
          <p:spPr>
            <a:xfrm flipH="false" flipV="false" rot="0">
              <a:off x="0" y="0"/>
              <a:ext cx="11315700" cy="5562600"/>
            </a:xfrm>
            <a:custGeom>
              <a:avLst/>
              <a:gdLst/>
              <a:ahLst/>
              <a:cxnLst/>
              <a:rect r="r" b="b" t="t" l="l"/>
              <a:pathLst>
                <a:path h="5562600" w="11315700">
                  <a:moveTo>
                    <a:pt x="0" y="152400"/>
                  </a:moveTo>
                  <a:cubicBezTo>
                    <a:pt x="0" y="68199"/>
                    <a:pt x="68199" y="0"/>
                    <a:pt x="152400" y="0"/>
                  </a:cubicBezTo>
                  <a:lnTo>
                    <a:pt x="11163300" y="0"/>
                  </a:lnTo>
                  <a:cubicBezTo>
                    <a:pt x="11247501" y="0"/>
                    <a:pt x="11315700" y="68199"/>
                    <a:pt x="11315700" y="152400"/>
                  </a:cubicBezTo>
                  <a:lnTo>
                    <a:pt x="11315700" y="5410200"/>
                  </a:lnTo>
                  <a:cubicBezTo>
                    <a:pt x="11315700" y="5494401"/>
                    <a:pt x="11247501" y="5562600"/>
                    <a:pt x="11163300" y="5562600"/>
                  </a:cubicBezTo>
                  <a:lnTo>
                    <a:pt x="152400" y="5562600"/>
                  </a:lnTo>
                  <a:cubicBezTo>
                    <a:pt x="68199" y="5562600"/>
                    <a:pt x="0" y="5494401"/>
                    <a:pt x="0" y="5410200"/>
                  </a:cubicBezTo>
                  <a:close/>
                </a:path>
              </a:pathLst>
            </a:custGeom>
            <a:solidFill>
              <a:srgbClr val="B0B1B3"/>
            </a:solidFill>
          </p:spPr>
        </p:sp>
      </p:grpSp>
      <p:grpSp>
        <p:nvGrpSpPr>
          <p:cNvPr name="Group 41" id="41"/>
          <p:cNvGrpSpPr/>
          <p:nvPr/>
        </p:nvGrpSpPr>
        <p:grpSpPr>
          <a:xfrm rot="0">
            <a:off x="9372600" y="3671888"/>
            <a:ext cx="3429000" cy="885825"/>
            <a:chOff x="0" y="0"/>
            <a:chExt cx="4572000" cy="1181100"/>
          </a:xfrm>
        </p:grpSpPr>
        <p:sp>
          <p:nvSpPr>
            <p:cNvPr name="Freeform 42" id="42"/>
            <p:cNvSpPr/>
            <p:nvPr/>
          </p:nvSpPr>
          <p:spPr>
            <a:xfrm flipH="false" flipV="false" rot="0">
              <a:off x="0" y="0"/>
              <a:ext cx="4572000" cy="1181100"/>
            </a:xfrm>
            <a:custGeom>
              <a:avLst/>
              <a:gdLst/>
              <a:ahLst/>
              <a:cxnLst/>
              <a:rect r="r" b="b" t="t" l="l"/>
              <a:pathLst>
                <a:path h="1181100" w="4572000">
                  <a:moveTo>
                    <a:pt x="0" y="0"/>
                  </a:moveTo>
                  <a:lnTo>
                    <a:pt x="4572000" y="0"/>
                  </a:lnTo>
                  <a:lnTo>
                    <a:pt x="4572000" y="1181100"/>
                  </a:lnTo>
                  <a:lnTo>
                    <a:pt x="0" y="1181100"/>
                  </a:lnTo>
                  <a:close/>
                </a:path>
              </a:pathLst>
            </a:custGeom>
            <a:blipFill>
              <a:blip r:embed="rId3">
                <a:alphaModFix amt="0"/>
              </a:blip>
              <a:stretch>
                <a:fillRect l="0" t="-25425" r="0" b="-25425"/>
              </a:stretch>
            </a:blipFill>
          </p:spPr>
        </p:sp>
        <p:sp>
          <p:nvSpPr>
            <p:cNvPr name="TextBox 43" id="43"/>
            <p:cNvSpPr txBox="true"/>
            <p:nvPr/>
          </p:nvSpPr>
          <p:spPr>
            <a:xfrm>
              <a:off x="0" y="-19050"/>
              <a:ext cx="4572000" cy="1200150"/>
            </a:xfrm>
            <a:prstGeom prst="rect">
              <a:avLst/>
            </a:prstGeom>
          </p:spPr>
          <p:txBody>
            <a:bodyPr anchor="ctr" rtlCol="false" tIns="0" lIns="0" bIns="0" rIns="0"/>
            <a:lstStyle/>
            <a:p>
              <a:pPr algn="l">
                <a:lnSpc>
                  <a:spcPts val="5670"/>
                </a:lnSpc>
              </a:pPr>
              <a:r>
                <a:rPr lang="en-US" b="true" sz="4725">
                  <a:solidFill>
                    <a:srgbClr val="2B3F9E"/>
                  </a:solidFill>
                  <a:latin typeface="Arial Bold"/>
                  <a:ea typeface="Arial Bold"/>
                  <a:cs typeface="Arial Bold"/>
                  <a:sym typeface="Arial Bold"/>
                </a:rPr>
                <a:t>12,2 %</a:t>
              </a:r>
            </a:p>
          </p:txBody>
        </p:sp>
      </p:grpSp>
      <p:grpSp>
        <p:nvGrpSpPr>
          <p:cNvPr name="Group 44" id="44"/>
          <p:cNvGrpSpPr/>
          <p:nvPr/>
        </p:nvGrpSpPr>
        <p:grpSpPr>
          <a:xfrm rot="0">
            <a:off x="9372600" y="4557712"/>
            <a:ext cx="3429000" cy="785812"/>
            <a:chOff x="0" y="0"/>
            <a:chExt cx="4572000" cy="1047750"/>
          </a:xfrm>
        </p:grpSpPr>
        <p:sp>
          <p:nvSpPr>
            <p:cNvPr name="Freeform 45" id="45"/>
            <p:cNvSpPr/>
            <p:nvPr/>
          </p:nvSpPr>
          <p:spPr>
            <a:xfrm flipH="false" flipV="false" rot="0">
              <a:off x="0" y="0"/>
              <a:ext cx="4572000" cy="1047750"/>
            </a:xfrm>
            <a:custGeom>
              <a:avLst/>
              <a:gdLst/>
              <a:ahLst/>
              <a:cxnLst/>
              <a:rect r="r" b="b" t="t" l="l"/>
              <a:pathLst>
                <a:path h="1047750" w="4572000">
                  <a:moveTo>
                    <a:pt x="0" y="0"/>
                  </a:moveTo>
                  <a:lnTo>
                    <a:pt x="4572000" y="0"/>
                  </a:lnTo>
                  <a:lnTo>
                    <a:pt x="4572000" y="1047750"/>
                  </a:lnTo>
                  <a:lnTo>
                    <a:pt x="0" y="1047750"/>
                  </a:lnTo>
                  <a:close/>
                </a:path>
              </a:pathLst>
            </a:custGeom>
            <a:blipFill>
              <a:blip r:embed="rId3">
                <a:alphaModFix amt="0"/>
              </a:blip>
              <a:stretch>
                <a:fillRect l="0" t="-35025" r="0" b="-35025"/>
              </a:stretch>
            </a:blipFill>
          </p:spPr>
        </p:sp>
        <p:sp>
          <p:nvSpPr>
            <p:cNvPr name="TextBox 46" id="46"/>
            <p:cNvSpPr txBox="true"/>
            <p:nvPr/>
          </p:nvSpPr>
          <p:spPr>
            <a:xfrm>
              <a:off x="0" y="-19050"/>
              <a:ext cx="4572000" cy="1066800"/>
            </a:xfrm>
            <a:prstGeom prst="rect">
              <a:avLst/>
            </a:prstGeom>
          </p:spPr>
          <p:txBody>
            <a:bodyPr anchor="ctr" rtlCol="false" tIns="0" lIns="0" bIns="0" rIns="0"/>
            <a:lstStyle/>
            <a:p>
              <a:pPr algn="l">
                <a:lnSpc>
                  <a:spcPts val="2160"/>
                </a:lnSpc>
              </a:pPr>
              <a:r>
                <a:rPr lang="en-US" sz="1800">
                  <a:solidFill>
                    <a:srgbClr val="0C0E14"/>
                  </a:solidFill>
                  <a:latin typeface="Arial"/>
                  <a:ea typeface="Arial"/>
                  <a:cs typeface="Arial"/>
                  <a:sym typeface="Arial"/>
                </a:rPr>
                <a:t>MdAPE en el conjunto final</a:t>
              </a:r>
            </a:p>
          </p:txBody>
        </p:sp>
      </p:grpSp>
      <p:sp>
        <p:nvSpPr>
          <p:cNvPr name="TextBox 47" id="47"/>
          <p:cNvSpPr txBox="true"/>
          <p:nvPr/>
        </p:nvSpPr>
        <p:spPr>
          <a:xfrm rot="0">
            <a:off x="9464040" y="5470208"/>
            <a:ext cx="6960870" cy="627698"/>
          </a:xfrm>
          <a:prstGeom prst="rect">
            <a:avLst/>
          </a:prstGeom>
        </p:spPr>
        <p:txBody>
          <a:bodyPr anchor="t" rtlCol="false" tIns="0" lIns="0" bIns="0" rIns="0">
            <a:spAutoFit/>
          </a:bodyPr>
          <a:lstStyle/>
          <a:p>
            <a:pPr algn="l">
              <a:lnSpc>
                <a:spcPts val="2160"/>
              </a:lnSpc>
            </a:pPr>
            <a:r>
              <a:rPr lang="en-US" sz="1800">
                <a:solidFill>
                  <a:srgbClr val="0C0E14"/>
                </a:solidFill>
                <a:latin typeface="Arial"/>
                <a:ea typeface="Arial"/>
                <a:cs typeface="Arial"/>
                <a:sym typeface="Arial"/>
              </a:rPr>
              <a:t>La métrica expresa el error porcentual absoluto mediano.</a:t>
            </a:r>
          </a:p>
        </p:txBody>
      </p:sp>
      <p:sp>
        <p:nvSpPr>
          <p:cNvPr name="AutoShape 48" id="48"/>
          <p:cNvSpPr/>
          <p:nvPr/>
        </p:nvSpPr>
        <p:spPr>
          <a:xfrm rot="3000">
            <a:off x="878681" y="7853362"/>
            <a:ext cx="16502072" cy="0"/>
          </a:xfrm>
          <a:prstGeom prst="line">
            <a:avLst/>
          </a:prstGeom>
          <a:ln cap="rnd" w="9525">
            <a:solidFill>
              <a:srgbClr val="2B3F9E"/>
            </a:solidFill>
            <a:prstDash val="solid"/>
            <a:headEnd type="none" len="sm" w="sm"/>
            <a:tailEnd type="none" len="sm" w="sm"/>
          </a:ln>
        </p:spPr>
      </p:sp>
      <p:grpSp>
        <p:nvGrpSpPr>
          <p:cNvPr name="Group 49" id="49"/>
          <p:cNvGrpSpPr/>
          <p:nvPr/>
        </p:nvGrpSpPr>
        <p:grpSpPr>
          <a:xfrm rot="0">
            <a:off x="900112" y="8201025"/>
            <a:ext cx="3743325" cy="400050"/>
            <a:chOff x="0" y="0"/>
            <a:chExt cx="4991100" cy="533400"/>
          </a:xfrm>
        </p:grpSpPr>
        <p:sp>
          <p:nvSpPr>
            <p:cNvPr name="Freeform 50" id="50"/>
            <p:cNvSpPr/>
            <p:nvPr/>
          </p:nvSpPr>
          <p:spPr>
            <a:xfrm flipH="false" flipV="false" rot="0">
              <a:off x="0" y="0"/>
              <a:ext cx="4991100" cy="533400"/>
            </a:xfrm>
            <a:custGeom>
              <a:avLst/>
              <a:gdLst/>
              <a:ahLst/>
              <a:cxnLst/>
              <a:rect r="r" b="b" t="t" l="l"/>
              <a:pathLst>
                <a:path h="533400" w="4991100">
                  <a:moveTo>
                    <a:pt x="0" y="0"/>
                  </a:moveTo>
                  <a:lnTo>
                    <a:pt x="4991100" y="0"/>
                  </a:lnTo>
                  <a:lnTo>
                    <a:pt x="4991100" y="533400"/>
                  </a:lnTo>
                  <a:lnTo>
                    <a:pt x="0" y="533400"/>
                  </a:lnTo>
                  <a:close/>
                </a:path>
              </a:pathLst>
            </a:custGeom>
            <a:blipFill>
              <a:blip r:embed="rId3">
                <a:alphaModFix amt="0"/>
              </a:blip>
              <a:stretch>
                <a:fillRect l="0" t="-132324" r="0" b="-132324"/>
              </a:stretch>
            </a:blipFill>
          </p:spPr>
        </p:sp>
        <p:sp>
          <p:nvSpPr>
            <p:cNvPr name="TextBox 51" id="51"/>
            <p:cNvSpPr txBox="true"/>
            <p:nvPr/>
          </p:nvSpPr>
          <p:spPr>
            <a:xfrm>
              <a:off x="0" y="-19050"/>
              <a:ext cx="4991100" cy="552450"/>
            </a:xfrm>
            <a:prstGeom prst="rect">
              <a:avLst/>
            </a:prstGeom>
          </p:spPr>
          <p:txBody>
            <a:bodyPr anchor="ctr" rtlCol="false" tIns="0" lIns="0" bIns="0" rIns="0"/>
            <a:lstStyle/>
            <a:p>
              <a:pPr algn="l">
                <a:lnSpc>
                  <a:spcPts val="2160"/>
                </a:lnSpc>
              </a:pPr>
              <a:r>
                <a:rPr lang="en-US" b="true" sz="1800">
                  <a:solidFill>
                    <a:srgbClr val="0C0E14"/>
                  </a:solidFill>
                  <a:latin typeface="Arial Bold"/>
                  <a:ea typeface="Arial Bold"/>
                  <a:cs typeface="Arial Bold"/>
                  <a:sym typeface="Arial Bold"/>
                </a:rPr>
                <a:t>Siguientes validaciones</a:t>
              </a:r>
            </a:p>
          </p:txBody>
        </p:sp>
      </p:grpSp>
      <p:grpSp>
        <p:nvGrpSpPr>
          <p:cNvPr name="Group 52" id="52"/>
          <p:cNvGrpSpPr/>
          <p:nvPr/>
        </p:nvGrpSpPr>
        <p:grpSpPr>
          <a:xfrm rot="0">
            <a:off x="4857750" y="8172450"/>
            <a:ext cx="12201525" cy="542925"/>
            <a:chOff x="0" y="0"/>
            <a:chExt cx="16268700" cy="723900"/>
          </a:xfrm>
        </p:grpSpPr>
        <p:sp>
          <p:nvSpPr>
            <p:cNvPr name="Freeform 53" id="53"/>
            <p:cNvSpPr/>
            <p:nvPr/>
          </p:nvSpPr>
          <p:spPr>
            <a:xfrm flipH="false" flipV="false" rot="0">
              <a:off x="0" y="0"/>
              <a:ext cx="16268700" cy="723900"/>
            </a:xfrm>
            <a:custGeom>
              <a:avLst/>
              <a:gdLst/>
              <a:ahLst/>
              <a:cxnLst/>
              <a:rect r="r" b="b" t="t" l="l"/>
              <a:pathLst>
                <a:path h="723900" w="16268700">
                  <a:moveTo>
                    <a:pt x="0" y="0"/>
                  </a:moveTo>
                  <a:lnTo>
                    <a:pt x="16268700" y="0"/>
                  </a:lnTo>
                  <a:lnTo>
                    <a:pt x="16268700" y="723900"/>
                  </a:lnTo>
                  <a:lnTo>
                    <a:pt x="0" y="723900"/>
                  </a:lnTo>
                  <a:close/>
                </a:path>
              </a:pathLst>
            </a:custGeom>
            <a:blipFill>
              <a:blip r:embed="rId3">
                <a:alphaModFix amt="0"/>
              </a:blip>
              <a:stretch>
                <a:fillRect l="0" t="-387900" r="0" b="-387900"/>
              </a:stretch>
            </a:blipFill>
          </p:spPr>
        </p:sp>
        <p:sp>
          <p:nvSpPr>
            <p:cNvPr name="TextBox 54" id="54"/>
            <p:cNvSpPr txBox="true"/>
            <p:nvPr/>
          </p:nvSpPr>
          <p:spPr>
            <a:xfrm>
              <a:off x="0" y="-9525"/>
              <a:ext cx="16268700" cy="733425"/>
            </a:xfrm>
            <a:prstGeom prst="rect">
              <a:avLst/>
            </a:prstGeom>
          </p:spPr>
          <p:txBody>
            <a:bodyPr anchor="ctr" rtlCol="false" tIns="0" lIns="0" bIns="0" rIns="0"/>
            <a:lstStyle/>
            <a:p>
              <a:pPr algn="l">
                <a:lnSpc>
                  <a:spcPts val="2295"/>
                </a:lnSpc>
              </a:pPr>
              <a:r>
                <a:rPr lang="en-US" sz="1912">
                  <a:solidFill>
                    <a:srgbClr val="0C0E14"/>
                  </a:solidFill>
                  <a:latin typeface="Arial"/>
                  <a:ea typeface="Arial"/>
                  <a:cs typeface="Arial"/>
                  <a:sym typeface="Arial"/>
                </a:rPr>
                <a:t>Verificar inventario vigente, ampliar geocodificación y realizar estudio con usuarios.</a:t>
              </a:r>
            </a:p>
          </p:txBody>
        </p:sp>
      </p:grpSp>
      <p:grpSp>
        <p:nvGrpSpPr>
          <p:cNvPr name="Group 55" id="55"/>
          <p:cNvGrpSpPr/>
          <p:nvPr/>
        </p:nvGrpSpPr>
        <p:grpSpPr>
          <a:xfrm rot="0">
            <a:off x="900112" y="8915400"/>
            <a:ext cx="16216312" cy="414338"/>
            <a:chOff x="0" y="0"/>
            <a:chExt cx="21621750" cy="552450"/>
          </a:xfrm>
        </p:grpSpPr>
        <p:sp>
          <p:nvSpPr>
            <p:cNvPr name="Freeform 56" id="56"/>
            <p:cNvSpPr/>
            <p:nvPr/>
          </p:nvSpPr>
          <p:spPr>
            <a:xfrm flipH="false" flipV="false" rot="0">
              <a:off x="0" y="0"/>
              <a:ext cx="21621750" cy="552450"/>
            </a:xfrm>
            <a:custGeom>
              <a:avLst/>
              <a:gdLst/>
              <a:ahLst/>
              <a:cxnLst/>
              <a:rect r="r" b="b" t="t" l="l"/>
              <a:pathLst>
                <a:path h="552450" w="21621750">
                  <a:moveTo>
                    <a:pt x="0" y="0"/>
                  </a:moveTo>
                  <a:lnTo>
                    <a:pt x="21621750" y="0"/>
                  </a:lnTo>
                  <a:lnTo>
                    <a:pt x="21621750" y="552450"/>
                  </a:lnTo>
                  <a:lnTo>
                    <a:pt x="0" y="552450"/>
                  </a:lnTo>
                  <a:close/>
                </a:path>
              </a:pathLst>
            </a:custGeom>
            <a:blipFill>
              <a:blip r:embed="rId3">
                <a:alphaModFix amt="0"/>
              </a:blip>
              <a:stretch>
                <a:fillRect l="0" t="-712604" r="0" b="-712604"/>
              </a:stretch>
            </a:blipFill>
          </p:spPr>
        </p:sp>
        <p:sp>
          <p:nvSpPr>
            <p:cNvPr name="TextBox 57" id="57"/>
            <p:cNvSpPr txBox="true"/>
            <p:nvPr/>
          </p:nvSpPr>
          <p:spPr>
            <a:xfrm>
              <a:off x="0" y="-9525"/>
              <a:ext cx="21621750" cy="561975"/>
            </a:xfrm>
            <a:prstGeom prst="rect">
              <a:avLst/>
            </a:prstGeom>
          </p:spPr>
          <p:txBody>
            <a:bodyPr anchor="ctr" rtlCol="false" tIns="0" lIns="0" bIns="0" rIns="0"/>
            <a:lstStyle/>
            <a:p>
              <a:pPr algn="l">
                <a:lnSpc>
                  <a:spcPts val="1755"/>
                </a:lnSpc>
              </a:pPr>
              <a:r>
                <a:rPr lang="en-US" sz="1462">
                  <a:solidFill>
                    <a:srgbClr val="0C0E14"/>
                  </a:solidFill>
                  <a:latin typeface="Arial"/>
                  <a:ea typeface="Arial"/>
                  <a:cs typeface="Arial"/>
                  <a:sym typeface="Arial"/>
                </a:rPr>
                <a:t>Resultados orientativos. InmoScore no ofrece asesoría financiera ni confirma disponibilidad actual.</a:t>
              </a:r>
            </a:p>
          </p:txBody>
        </p:sp>
      </p:grpSp>
    </p:spTree>
  </p:cSld>
  <p:clrMapOvr>
    <a:masterClrMapping/>
  </p:clrMapOvr>
</p:sld>
</file>

<file path=ppt/slides/slide1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28700" y="4327652"/>
            <a:ext cx="6671890" cy="1460245"/>
          </a:xfrm>
          <a:prstGeom prst="rect">
            <a:avLst/>
          </a:prstGeom>
        </p:spPr>
        <p:txBody>
          <a:bodyPr anchor="t" rtlCol="false" tIns="0" lIns="0" bIns="0" rIns="0">
            <a:spAutoFit/>
          </a:bodyPr>
          <a:lstStyle/>
          <a:p>
            <a:pPr algn="l">
              <a:lnSpc>
                <a:spcPts val="11914"/>
              </a:lnSpc>
              <a:spcBef>
                <a:spcPct val="0"/>
              </a:spcBef>
            </a:pPr>
            <a:r>
              <a:rPr lang="en-US" b="true" sz="8510" spc="-544">
                <a:gradFill>
                  <a:gsLst>
                    <a:gs pos="0">
                      <a:srgbClr val="293E9C">
                        <a:alpha val="100000"/>
                      </a:srgbClr>
                    </a:gs>
                    <a:gs pos="100000">
                      <a:srgbClr val="3A58E4">
                        <a:alpha val="100000"/>
                      </a:srgbClr>
                    </a:gs>
                  </a:gsLst>
                  <a:path path="circle">
                    <a:fillToRect l="0" r="100000" t="0" b="100000"/>
                  </a:path>
                  <a:tileRect r="0" l="-100000" b="0" t="-100000"/>
                </a:gradFill>
                <a:latin typeface="Canva Sans Bold"/>
                <a:ea typeface="Canva Sans Bold"/>
                <a:cs typeface="Canva Sans Bold"/>
                <a:sym typeface="Canva Sans Bold"/>
              </a:rPr>
              <a:t>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DAHT_1IuXAY</dc:identifier>
  <dcterms:modified xsi:type="dcterms:W3CDTF">2011-08-01T06:04:30Z</dcterms:modified>
  <cp:revision>1</cp:revision>
  <dc:title>dpd protoripo</dc:title>
</cp:coreProperties>
</file>