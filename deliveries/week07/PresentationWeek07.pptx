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Presentamos Delivery 1 de InmoScore: la definición integrada del producto al cierre de la primera fase.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 tres preguntas siguen siendo las de Week 5, pero ahora cuantificadas con nuestros datos.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María y Carlos son los perfiles de los storyboards de Week 5. En ambos casos lo que limita el precio es la cuota del crédito, no el presupuesto declarado.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Cambiaron cuatro cajas respecto a Week 5: la data nueva que creamos, el estado de la solución, las métricas ya medidas y las acciones hacia Week 15.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Todas las fuentes son públicas. El manifiesto registra hash y fecha de cada archivo. Corregimos un error de Week 6 en el join del BCRP.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Precio y área tienen cola larga, por eso modelamos en logaritmos. Dentro de un distrito la dispersión sigue siendo grande: la mediana distrital no basta.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es que la inseguridad suba el precio: las denuncias ocurren donde hay comercio y población flotante, y se dividen entre residentes. Es un sesgo de medición que el producto debe declarar.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dataset del SAT no trae área ni tipo de predio, y las cocheras se venden como predios aparte. La fórmula (1 + f) / 2 es un criterio que no depende de Urbania, así que sirve para contrastarla.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Validación rotada de 5 pliegues estratificada por distrito y precio. La regla de aceptación es la de Week 6: bajar el MAE sin empeorar los distritos chicos.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intervalo usa residuos fuera de pliegue. Con residuos de entrenamiento cubría solo el 72 %. Los avisos por debajo del intervalo no se presentan como gangas.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primera corrida validó 57 %. La auditoría mostró que 31 rechazos eran falsos: OSM los ubicaba en el distrito correcto pero caían fuera del polígono simplificado.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primera versión no cumplía REQ-01: con el mismo presupuesto, María y Carlos recibían el mismo top 10. Las reglas de 'por verificar' y diversidad salieron de esa verificación.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Sólido: implementado hoy. Punteado: planificado para Week 10 a 15. El ranking de 3 896 avisos toma milisegundos.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prototipo se abre con doble clic y recalcula en el navegador. Verificamos que su top 10 es idéntico al del pipeline para ambos perfiles.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 criterios de aceptación de Week 5 se cumplen salvo el modelo de visión, bloqueado por datos, y el despliegue, que es el hito de Week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Week 8 es el parcial: la usamos para incorporar la retroalimentación y cerrar decisiones de stack.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Cerramos con los riesgos que definen la segunda fase y abrimos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D9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250">
                <a:solidFill>
                  <a:srgbClr val="9DACF8"/>
                </a:solidFill>
                <a:latin typeface="Calibri"/>
              </a:rPr>
              <a:t>DELIVERY 1 · DS3022 DESARROLLO DE PRODUCTO DE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Cambria"/>
              </a:rPr>
              <a:t>InmoScore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54680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ECEFFD"/>
                </a:solidFill>
                <a:latin typeface="Calibri"/>
              </a:rPr>
              <a:t>Cuánto vale de verdad cada aviso, y cuáles convienen a tu perfil, con la razón a la vista.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8463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Denzel 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Cloud &amp; DevOps   ·   </a:t>
            </a:r>
            <a:r>
              <a:rPr sz="1500" b="1" i="0">
                <a:solidFill>
                  <a:srgbClr val="FFFFFF"/>
                </a:solidFill>
                <a:latin typeface="Calibri"/>
              </a:rPr>
              <a:t>Jyns 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Machine Learning   ·   </a:t>
            </a:r>
            <a:r>
              <a:rPr sz="1500" b="1" i="0">
                <a:solidFill>
                  <a:srgbClr val="FFFFFF"/>
                </a:solidFill>
                <a:latin typeface="Calibri"/>
              </a:rPr>
              <a:t>Lisseth 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Data Analyst   ·   </a:t>
            </a:r>
            <a:r>
              <a:rPr sz="1500" b="1" i="0">
                <a:solidFill>
                  <a:srgbClr val="FFFFFF"/>
                </a:solidFill>
                <a:latin typeface="Calibri"/>
              </a:rPr>
              <a:t>Mafer </a:t>
            </a:r>
            <a:r>
              <a:rPr sz="1500" b="0" i="0">
                <a:solidFill>
                  <a:srgbClr val="FFFFFF"/>
                </a:solidFill>
                <a:latin typeface="Calibri"/>
              </a:rPr>
              <a:t>Full-Stack &amp; UX/UI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03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9DACF8"/>
                </a:solidFill>
                <a:latin typeface="Calibri"/>
              </a:rPr>
              <a:t>UTEC · Prof. Germain Garcia-Zanabria · 23 de setiembre de 2026 · github.com/Jyns123/DPD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50">
                <a:solidFill>
                  <a:srgbClr val="8A8983"/>
                </a:solidFill>
                <a:latin typeface="Calibri"/>
              </a:rPr>
              <a:t>PROBLEMA REVISADO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1B1A"/>
                </a:solidFill>
                <a:latin typeface="Cambria"/>
              </a:rPr>
              <a:t>Comprar vivienda con información incompleta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A3D9B"/>
                </a:solidFill>
                <a:latin typeface="Calibri"/>
              </a:rPr>
              <a:t>InmoScore · Delivery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2A3D9B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566928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2A3D9B"/>
                </a:solidFill>
                <a:latin typeface="Calibri"/>
              </a:rPr>
              <a:t>•  </a:t>
            </a:r>
            <a:r>
              <a:rPr sz="1700" b="1">
                <a:solidFill>
                  <a:srgbClr val="1B1B1A"/>
                </a:solidFill>
                <a:latin typeface="Calibri"/>
              </a:rPr>
              <a:t>¿El precio es razonable? </a:t>
            </a:r>
            <a:r>
              <a:rPr sz="1700" b="0">
                <a:solidFill>
                  <a:srgbClr val="1B1B1A"/>
                </a:solidFill>
                <a:latin typeface="Calibri"/>
              </a:rPr>
              <a:t>Los portales muestran precio y fotos, no un valor de referencia.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A3D9B"/>
                </a:solidFill>
                <a:latin typeface="Calibri"/>
              </a:rPr>
              <a:t>•  </a:t>
            </a:r>
            <a:r>
              <a:rPr sz="1700" b="1">
                <a:solidFill>
                  <a:srgbClr val="1B1B1A"/>
                </a:solidFill>
                <a:latin typeface="Calibri"/>
              </a:rPr>
              <a:t>¿Cómo es el entorno? </a:t>
            </a:r>
            <a:r>
              <a:rPr sz="1700" b="0">
                <a:solidFill>
                  <a:srgbClr val="1B1B1A"/>
                </a:solidFill>
                <a:latin typeface="Calibri"/>
              </a:rPr>
              <a:t>Seguridad, colegios y transporte no están en el aviso.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2A3D9B"/>
                </a:solidFill>
                <a:latin typeface="Calibri"/>
              </a:rPr>
              <a:t>•  </a:t>
            </a:r>
            <a:r>
              <a:rPr sz="1700" b="1">
                <a:solidFill>
                  <a:srgbClr val="1B1B1A"/>
                </a:solidFill>
                <a:latin typeface="Calibri"/>
              </a:rPr>
              <a:t>¿Quién construye? </a:t>
            </a:r>
            <a:r>
              <a:rPr sz="1700" b="0">
                <a:solidFill>
                  <a:srgbClr val="1B1B1A"/>
                </a:solidFill>
                <a:latin typeface="Calibri"/>
              </a:rPr>
              <a:t>En planos, se paga por adelantado sin historial del promotor.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600200"/>
            <a:ext cx="493776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B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0" y="1783080"/>
            <a:ext cx="4480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2A3D9B"/>
                </a:solidFill>
                <a:latin typeface="Cambria"/>
              </a:rPr>
              <a:t>3,4×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2560320"/>
            <a:ext cx="4480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5544F"/>
                </a:solidFill>
                <a:latin typeface="Calibri"/>
              </a:rPr>
              <a:t>variación del precio por m² entre distritos (S/ 2 773 a S/ 9 299)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3154680"/>
            <a:ext cx="4480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2A3D9B"/>
                </a:solidFill>
                <a:latin typeface="Cambria"/>
              </a:rPr>
              <a:t>15 %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3931920"/>
            <a:ext cx="4480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5544F"/>
                </a:solidFill>
                <a:latin typeface="Calibri"/>
              </a:rPr>
              <a:t>error mediano de usar la mediana del distrito como precio de referencia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4526280"/>
            <a:ext cx="4480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EB6834"/>
                </a:solidFill>
                <a:latin typeface="Cambria"/>
              </a:rPr>
              <a:t>+9–14 %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5303520"/>
            <a:ext cx="4480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5544F"/>
                </a:solidFill>
                <a:latin typeface="Calibri"/>
              </a:rPr>
              <a:t>precio pedido sobre el de cierre (Alcabala) en los distritos comparables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343400"/>
            <a:ext cx="57607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55544F"/>
                </a:solidFill>
                <a:latin typeface="Calibri"/>
              </a:rPr>
              <a:t>Enunciado: el comprador no tiene una forma accesible de saber si el precio de un aviso es razonable para sus características y su zona, ni de comparar avisos según sus propias prioridades.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50">
                <a:solidFill>
                  <a:srgbClr val="8A8983"/>
                </a:solidFill>
                <a:latin typeface="Calibri"/>
              </a:rPr>
              <a:t>USUARIOS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1B1A"/>
                </a:solidFill>
                <a:latin typeface="Cambria"/>
              </a:rPr>
              <a:t>Dos compradores, dos rankings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A3D9B"/>
                </a:solidFill>
                <a:latin typeface="Calibri"/>
              </a:rPr>
              <a:t>InmoScore · Delivery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2A3D9B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9496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B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A3D9B"/>
                </a:solidFill>
                <a:latin typeface="Cambria"/>
              </a:rPr>
              <a:t>María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4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5544F"/>
                </a:solidFill>
                <a:latin typeface="Calibri"/>
              </a:rPr>
              <a:t>Familia con una hija en edad escolar · ≥ 3 dormitorios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8036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B1B1A"/>
                </a:solidFill>
                <a:latin typeface="Calibri"/>
              </a:rPr>
              <a:t>Ingreso S/ 15 000 · ahorro S/ 150 000 · presupuesto S/ 700 000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9184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B1B1A"/>
                </a:solidFill>
                <a:latin typeface="Calibri"/>
              </a:rPr>
              <a:t>Precio 20 · Seguridad 40 · Colegios 30 · Constructora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9319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A8983"/>
                </a:solidFill>
                <a:latin typeface="Calibri"/>
              </a:rPr>
              <a:t>Precio máximo alcanzable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206240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EB6834"/>
                </a:solidFill>
                <a:latin typeface="Cambria"/>
              </a:rPr>
              <a:t>S/ 662 959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00200"/>
            <a:ext cx="539496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B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59" y="178308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A3D9B"/>
                </a:solidFill>
                <a:latin typeface="Cambria"/>
              </a:rPr>
              <a:t>Carlos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237744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5544F"/>
                </a:solidFill>
                <a:latin typeface="Calibri"/>
              </a:rPr>
              <a:t>Primer comprador, prioriza el precio · ≥ 2 dormitorios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288036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B1B1A"/>
                </a:solidFill>
                <a:latin typeface="Calibri"/>
              </a:rPr>
              <a:t>Ingreso S/ 9 000 · ahorro S/ 60 000 · presupuesto S/ 400 000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59" y="329184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B1B1A"/>
                </a:solidFill>
                <a:latin typeface="Calibri"/>
              </a:rPr>
              <a:t>Precio 60 · Seguridad 15 · Colegios 20 · Constructora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59" y="39319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A8983"/>
                </a:solidFill>
                <a:latin typeface="Calibri"/>
              </a:rPr>
              <a:t>Precio máximo alcanzable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59" y="4206240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EB6834"/>
                </a:solidFill>
                <a:latin typeface="Cambria"/>
              </a:rPr>
              <a:t>S/ 367 775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4406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5544F"/>
                </a:solidFill>
                <a:latin typeface="Calibri"/>
              </a:rPr>
              <a:t>Precio máximo = mínimo entre el presupuesto, el ahorro / 10 % de inicial y el crédito con cuota ≤ 30 % del ingreso (TEA 9 %, 20 años) más el ahorro. En ambos perfiles manda la cuota.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50">
                <a:solidFill>
                  <a:srgbClr val="8A8983"/>
                </a:solidFill>
                <a:latin typeface="Calibri"/>
              </a:rPr>
              <a:t>DATA PRODUCT CANVAS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1B1A"/>
                </a:solidFill>
                <a:latin typeface="Cambria"/>
              </a:rPr>
              <a:t>Canvas final de la primera fase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A3D9B"/>
                </a:solidFill>
                <a:latin typeface="Calibri"/>
              </a:rPr>
              <a:t>InmoScore · Delivery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2A3D9B"/>
                </a:solidFill>
                <a:latin typeface="Calibri"/>
              </a:rPr>
              <a:t>4</a:t>
            </a:r>
          </a:p>
        </p:txBody>
      </p:sp>
      <p:pic>
        <p:nvPicPr>
          <p:cNvPr id="6" name="Picture 5" descr="DataProductCanv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4243" y="1463040"/>
            <a:ext cx="6853033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50">
                <a:solidFill>
                  <a:srgbClr val="8A8983"/>
                </a:solidFill>
                <a:latin typeface="Calibri"/>
              </a:rPr>
              <a:t>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1B1A"/>
                </a:solidFill>
                <a:latin typeface="Cambria"/>
              </a:rPr>
              <a:t>Ocho fuentes públicas en un solo feature store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A3D9B"/>
                </a:solidFill>
                <a:latin typeface="Calibri"/>
              </a:rPr>
              <a:t>InmoScore · Delivery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2A3D9B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2606040" cy="1005840"/>
          </a:xfrm>
          <a:prstGeom prst="roundRect">
            <a:avLst>
              <a:gd name="adj" fmla="val 6000"/>
            </a:avLst>
          </a:prstGeom>
          <a:solidFill>
            <a:srgbClr val="EC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A3D9B"/>
                </a:solidFill>
                <a:latin typeface="Calibri"/>
              </a:rPr>
              <a:t>Urbania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3055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5544F"/>
                </a:solidFill>
                <a:latin typeface="Calibri"/>
              </a:rPr>
              <a:t>3 987 avisos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600200"/>
            <a:ext cx="2606040" cy="1005840"/>
          </a:xfrm>
          <a:prstGeom prst="roundRect">
            <a:avLst>
              <a:gd name="adj" fmla="val 6000"/>
            </a:avLst>
          </a:prstGeom>
          <a:solidFill>
            <a:srgbClr val="EC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7373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A3D9B"/>
                </a:solidFill>
                <a:latin typeface="Calibri"/>
              </a:rPr>
              <a:t>SAT · Alcabala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13055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5544F"/>
                </a:solidFill>
                <a:latin typeface="Calibri"/>
              </a:rPr>
              <a:t>24 148 compraventas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79" y="1600200"/>
            <a:ext cx="2606040" cy="1005840"/>
          </a:xfrm>
          <a:prstGeom prst="roundRect">
            <a:avLst>
              <a:gd name="adj" fmla="val 6000"/>
            </a:avLst>
          </a:prstGeom>
          <a:solidFill>
            <a:srgbClr val="EC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59" y="17373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A3D9B"/>
                </a:solidFill>
                <a:latin typeface="Calibri"/>
              </a:rPr>
              <a:t>BCRP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59" y="213055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5544F"/>
                </a:solidFill>
                <a:latin typeface="Calibri"/>
              </a:rPr>
              <a:t>957 observaciones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15399" y="1600200"/>
            <a:ext cx="2606040" cy="1005840"/>
          </a:xfrm>
          <a:prstGeom prst="roundRect">
            <a:avLst>
              <a:gd name="adj" fmla="val 6000"/>
            </a:avLst>
          </a:prstGeom>
          <a:solidFill>
            <a:srgbClr val="EC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79" y="17373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A3D9B"/>
                </a:solidFill>
                <a:latin typeface="Calibri"/>
              </a:rPr>
              <a:t>SIDPOL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79" y="213055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5544F"/>
                </a:solidFill>
                <a:latin typeface="Calibri"/>
              </a:rPr>
              <a:t>29 833 registros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788920"/>
            <a:ext cx="2606040" cy="1005840"/>
          </a:xfrm>
          <a:prstGeom prst="roundRect">
            <a:avLst>
              <a:gd name="adj" fmla="val 6000"/>
            </a:avLst>
          </a:prstGeom>
          <a:solidFill>
            <a:srgbClr val="EC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926079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A3D9B"/>
                </a:solidFill>
                <a:latin typeface="Calibri"/>
              </a:rPr>
              <a:t>OpenStreetMap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31927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5544F"/>
                </a:solidFill>
                <a:latin typeface="Calibri"/>
              </a:rPr>
              <a:t>16 987 POIs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37560" y="2788920"/>
            <a:ext cx="2606040" cy="1005840"/>
          </a:xfrm>
          <a:prstGeom prst="roundRect">
            <a:avLst>
              <a:gd name="adj" fmla="val 6000"/>
            </a:avLst>
          </a:prstGeom>
          <a:solidFill>
            <a:srgbClr val="EC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20440" y="2926079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A3D9B"/>
                </a:solidFill>
                <a:latin typeface="Calibri"/>
              </a:rPr>
              <a:t>INEI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331927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5544F"/>
                </a:solidFill>
                <a:latin typeface="Calibri"/>
              </a:rPr>
              <a:t>51 distritos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79" y="2788920"/>
            <a:ext cx="2606040" cy="1005840"/>
          </a:xfrm>
          <a:prstGeom prst="roundRect">
            <a:avLst>
              <a:gd name="adj" fmla="val 6000"/>
            </a:avLst>
          </a:prstGeom>
          <a:solidFill>
            <a:srgbClr val="EC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59" y="2926079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A3D9B"/>
                </a:solidFill>
                <a:latin typeface="Calibri"/>
              </a:rPr>
              <a:t>Fondo MIVIVIENDA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59" y="331927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5544F"/>
                </a:solidFill>
                <a:latin typeface="Calibri"/>
              </a:rPr>
              <a:t>747 proyectos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15399" y="2788920"/>
            <a:ext cx="2606040" cy="1005840"/>
          </a:xfrm>
          <a:prstGeom prst="roundRect">
            <a:avLst>
              <a:gd name="adj" fmla="val 6000"/>
            </a:avLst>
          </a:prstGeom>
          <a:solidFill>
            <a:srgbClr val="EC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98279" y="2926079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A3D9B"/>
                </a:solidFill>
                <a:latin typeface="Calibri"/>
              </a:rPr>
              <a:t>Nominatim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8279" y="331927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5544F"/>
                </a:solidFill>
                <a:latin typeface="Calibri"/>
              </a:rPr>
              <a:t>200 avisos geocodificados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160520"/>
            <a:ext cx="1106424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A3D9B"/>
                </a:solidFill>
                <a:latin typeface="Calibri"/>
              </a:rPr>
              <a:t>•  </a:t>
            </a:r>
            <a:r>
              <a:rPr sz="1500" b="1">
                <a:solidFill>
                  <a:srgbClr val="1B1B1A"/>
                </a:solidFill>
                <a:latin typeface="Calibri"/>
              </a:rPr>
              <a:t>Filtro IQR por distrito: </a:t>
            </a:r>
            <a:r>
              <a:rPr sz="1500" b="0">
                <a:solidFill>
                  <a:srgbClr val="1B1B1A"/>
                </a:solidFill>
                <a:latin typeface="Calibri"/>
              </a:rPr>
              <a:t>3 987 → 3 896 avisos en 20 distritos.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A3D9B"/>
                </a:solidFill>
                <a:latin typeface="Calibri"/>
              </a:rPr>
              <a:t>•  </a:t>
            </a:r>
            <a:r>
              <a:rPr sz="1500" b="1">
                <a:solidFill>
                  <a:srgbClr val="1B1B1A"/>
                </a:solidFill>
                <a:latin typeface="Calibri"/>
              </a:rPr>
              <a:t>Sin imputación: </a:t>
            </a:r>
            <a:r>
              <a:rPr sz="1500" b="0">
                <a:solidFill>
                  <a:srgbClr val="1B1B1A"/>
                </a:solidFill>
                <a:latin typeface="Calibri"/>
              </a:rPr>
              <a:t>data_partial marca 984 avisos (25,3 %) fuera de la cobertura del BCRP.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A3D9B"/>
                </a:solidFill>
                <a:latin typeface="Calibri"/>
              </a:rPr>
              <a:t>•  </a:t>
            </a:r>
            <a:r>
              <a:rPr sz="1500" b="1">
                <a:solidFill>
                  <a:srgbClr val="1B1B1A"/>
                </a:solidFill>
                <a:latin typeface="Calibri"/>
              </a:rPr>
              <a:t>Corrección de Week 6: </a:t>
            </a:r>
            <a:r>
              <a:rPr sz="1500" b="0">
                <a:solidFill>
                  <a:srgbClr val="1B1B1A"/>
                </a:solidFill>
                <a:latin typeface="Calibri"/>
              </a:rPr>
              <a:t>el ratio precio/alquiler quedaba vacío por un join sin normalizar; data_partial salía en 100 %.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A3D9B"/>
                </a:solidFill>
                <a:latin typeface="Calibri"/>
              </a:rPr>
              <a:t>•  </a:t>
            </a:r>
            <a:r>
              <a:rPr sz="1500" b="1">
                <a:solidFill>
                  <a:srgbClr val="1B1B1A"/>
                </a:solidFill>
                <a:latin typeface="Calibri"/>
              </a:rPr>
              <a:t>Trazabilidad: </a:t>
            </a:r>
            <a:r>
              <a:rPr sz="1500" b="0">
                <a:solidFill>
                  <a:srgbClr val="1B1B1A"/>
                </a:solidFill>
                <a:latin typeface="Calibri"/>
              </a:rPr>
              <a:t>manifiesto SHA-256 por archivo y diccionario de 315 columnas generado desde los datos.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50">
                <a:solidFill>
                  <a:srgbClr val="8A8983"/>
                </a:solidFill>
                <a:latin typeface="Calibri"/>
              </a:rPr>
              <a:t>ANÁLISIS EXPLORATORIO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1B1A"/>
                </a:solidFill>
                <a:latin typeface="Cambria"/>
              </a:rPr>
              <a:t>El área explica el precio; el distrito, el precio por m²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A3D9B"/>
                </a:solidFill>
                <a:latin typeface="Calibri"/>
              </a:rPr>
              <a:t>InmoScore · Delivery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2A3D9B"/>
                </a:solidFill>
                <a:latin typeface="Calibri"/>
              </a:rPr>
              <a:t>6</a:t>
            </a:r>
          </a:p>
        </p:txBody>
      </p:sp>
      <p:pic>
        <p:nvPicPr>
          <p:cNvPr id="6" name="Picture 5" descr="fig_eda_distribucio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10862"/>
            <a:ext cx="6949440" cy="2556115"/>
          </a:xfrm>
          <a:prstGeom prst="rect">
            <a:avLst/>
          </a:prstGeom>
        </p:spPr>
      </p:pic>
      <p:pic>
        <p:nvPicPr>
          <p:cNvPr id="7" name="Picture 6" descr="fig_eda_precio_m2_distrit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2420240"/>
            <a:ext cx="4114800" cy="288619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4297680"/>
            <a:ext cx="676656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A3D9B"/>
                </a:solidFill>
                <a:latin typeface="Calibri"/>
              </a:rPr>
              <a:t>•  </a:t>
            </a:r>
            <a:r>
              <a:rPr sz="1500" b="1">
                <a:solidFill>
                  <a:srgbClr val="1B1B1A"/>
                </a:solidFill>
                <a:latin typeface="Calibri"/>
              </a:rPr>
              <a:t>ρ(precio, área) = 0,74; </a:t>
            </a:r>
            <a:r>
              <a:rPr sz="1500" b="0">
                <a:solidFill>
                  <a:srgbClr val="1B1B1A"/>
                </a:solidFill>
                <a:latin typeface="Calibri"/>
              </a:rPr>
              <a:t>ρ(precio/m², área) = −0,21: el m² de los inmuebles grandes cuesta menos.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A3D9B"/>
                </a:solidFill>
                <a:latin typeface="Calibri"/>
              </a:rPr>
              <a:t>•  </a:t>
            </a:r>
            <a:r>
              <a:rPr sz="1500" b="1">
                <a:solidFill>
                  <a:srgbClr val="1B1B1A"/>
                </a:solidFill>
                <a:latin typeface="Calibri"/>
              </a:rPr>
              <a:t>Asimetría: </a:t>
            </a:r>
            <a:r>
              <a:rPr sz="1500" b="0">
                <a:solidFill>
                  <a:srgbClr val="1B1B1A"/>
                </a:solidFill>
                <a:latin typeface="Calibri"/>
              </a:rPr>
              <a:t>precio 4,8, área 2,9, precio por m² 0,4 → modelar en logaritmos.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A3D9B"/>
                </a:solidFill>
                <a:latin typeface="Calibri"/>
              </a:rPr>
              <a:t>•  </a:t>
            </a:r>
            <a:r>
              <a:rPr sz="1500" b="1">
                <a:solidFill>
                  <a:srgbClr val="1B1B1A"/>
                </a:solidFill>
                <a:latin typeface="Calibri"/>
              </a:rPr>
              <a:t>Dispersión dentro del distrito: </a:t>
            </a:r>
            <a:r>
              <a:rPr sz="1500" b="0">
                <a:solidFill>
                  <a:srgbClr val="1B1B1A"/>
                </a:solidFill>
                <a:latin typeface="Calibri"/>
              </a:rPr>
              <a:t>en Chorrillos la mitad central va de −21 % a +29 % de la mediana.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50">
                <a:solidFill>
                  <a:srgbClr val="8A8983"/>
                </a:solidFill>
                <a:latin typeface="Calibri"/>
              </a:rPr>
              <a:t>HALLAZGO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1B1A"/>
                </a:solidFill>
                <a:latin typeface="Cambria"/>
              </a:rPr>
              <a:t>Los distritos más caros tienen más denuncias por residente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A3D9B"/>
                </a:solidFill>
                <a:latin typeface="Calibri"/>
              </a:rPr>
              <a:t>InmoScore · Delivery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2A3D9B"/>
                </a:solidFill>
                <a:latin typeface="Calibri"/>
              </a:rPr>
              <a:t>7</a:t>
            </a:r>
          </a:p>
        </p:txBody>
      </p:sp>
      <p:pic>
        <p:nvPicPr>
          <p:cNvPr id="6" name="Picture 5" descr="fig_eda_entorno_vs_prec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04958"/>
            <a:ext cx="7498079" cy="328232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0" y="1600200"/>
            <a:ext cx="338328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B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0" y="1783080"/>
            <a:ext cx="2926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2A3D9B"/>
                </a:solidFill>
                <a:latin typeface="Cambria"/>
              </a:rPr>
              <a:t>ρ = −0,41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2560320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5544F"/>
                </a:solidFill>
                <a:latin typeface="Calibri"/>
              </a:rPr>
              <a:t>seguridad vs precio por m² en 20 distritos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3200400"/>
            <a:ext cx="2926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2A3D9B"/>
                </a:solidFill>
                <a:latin typeface="Cambria"/>
              </a:rPr>
              <a:t>ρ = +0,50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3977639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5544F"/>
                </a:solidFill>
                <a:latin typeface="Calibri"/>
              </a:rPr>
              <a:t>conveniencia urbana vs precio por m²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4617720"/>
            <a:ext cx="29260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5544F"/>
                </a:solidFill>
                <a:latin typeface="Calibri"/>
              </a:rPr>
              <a:t>Acción: probar normalización por superficie y por modalidad de denuncia en Week 11.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303520"/>
            <a:ext cx="749807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55544F"/>
                </a:solidFill>
                <a:latin typeface="Calibri"/>
              </a:rPr>
              <a:t>Miraflores, Barranco y San Isidro concentran comercio y turismo: las denuncias se dividen entre pocos residentes.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50">
                <a:solidFill>
                  <a:srgbClr val="8A8983"/>
                </a:solidFill>
                <a:latin typeface="Calibri"/>
              </a:rPr>
              <a:t>PRECIOS DE CIERRE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1B1A"/>
                </a:solidFill>
                <a:latin typeface="Cambria"/>
              </a:rPr>
              <a:t>Alcabala: cuánto se paga de verdad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A3D9B"/>
                </a:solidFill>
                <a:latin typeface="Calibri"/>
              </a:rPr>
              <a:t>InmoScore · Delivery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2A3D9B"/>
                </a:solidFill>
                <a:latin typeface="Calibri"/>
              </a:rPr>
              <a:t>8</a:t>
            </a:r>
          </a:p>
        </p:txBody>
      </p:sp>
      <p:pic>
        <p:nvPicPr>
          <p:cNvPr id="6" name="Picture 5" descr="fig_alcabala_oferta_vs_cier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81146"/>
            <a:ext cx="6035040" cy="416438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766560" y="1600200"/>
            <a:ext cx="48463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A3D9B"/>
                </a:solidFill>
                <a:latin typeface="Calibri"/>
              </a:rPr>
              <a:t>•  </a:t>
            </a:r>
            <a:r>
              <a:rPr sz="1500" b="1">
                <a:solidFill>
                  <a:srgbClr val="1B1B1A"/>
                </a:solidFill>
                <a:latin typeface="Calibri"/>
              </a:rPr>
              <a:t>24 148 compraventas </a:t>
            </a:r>
            <a:r>
              <a:rPr sz="1500" b="0">
                <a:solidFill>
                  <a:srgbClr val="1B1B1A"/>
                </a:solidFill>
                <a:latin typeface="Calibri"/>
              </a:rPr>
              <a:t>al 100 % en 44 distritos (ene–jun 2026).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A3D9B"/>
                </a:solidFill>
                <a:latin typeface="Calibri"/>
              </a:rPr>
              <a:t>•  </a:t>
            </a:r>
            <a:r>
              <a:rPr sz="1500" b="1">
                <a:solidFill>
                  <a:srgbClr val="1B1B1A"/>
                </a:solidFill>
                <a:latin typeface="Calibri"/>
              </a:rPr>
              <a:t>Problema: </a:t>
            </a:r>
            <a:r>
              <a:rPr sz="1500" b="0">
                <a:solidFill>
                  <a:srgbClr val="1B1B1A"/>
                </a:solidFill>
                <a:latin typeface="Calibri"/>
              </a:rPr>
              <a:t>64 % de las operaciones de San Isidro son cocheras o depósitos (&lt; S/ 80 000).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A3D9B"/>
                </a:solidFill>
                <a:latin typeface="Calibri"/>
              </a:rPr>
              <a:t>•  </a:t>
            </a:r>
            <a:r>
              <a:rPr sz="1500" b="1">
                <a:solidFill>
                  <a:srgbClr val="1B1B1A"/>
                </a:solidFill>
                <a:latin typeface="Calibri"/>
              </a:rPr>
              <a:t>Criterio: </a:t>
            </a:r>
            <a:r>
              <a:rPr sz="1500" b="0">
                <a:solidFill>
                  <a:srgbClr val="1B1B1A"/>
                </a:solidFill>
                <a:latin typeface="Calibri"/>
              </a:rPr>
              <a:t>la mediana de vivienda está en el percentil (1 + f) / 2 = mediana de las operaciones ≥ S/ 80 000.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A3D9B"/>
                </a:solidFill>
                <a:latin typeface="Calibri"/>
              </a:rPr>
              <a:t>•  </a:t>
            </a:r>
            <a:r>
              <a:rPr sz="1500" b="1">
                <a:solidFill>
                  <a:srgbClr val="1B1B1A"/>
                </a:solidFill>
                <a:latin typeface="Calibri"/>
              </a:rPr>
              <a:t>Resultado: </a:t>
            </a:r>
            <a:r>
              <a:rPr sz="1500" b="0">
                <a:solidFill>
                  <a:srgbClr val="1B1B1A"/>
                </a:solidFill>
                <a:latin typeface="Calibri"/>
              </a:rPr>
              <a:t>la oferta supera al cierre en +9 % a +14 % donde la composición es comparable.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A3D9B"/>
                </a:solidFill>
                <a:latin typeface="Calibri"/>
              </a:rPr>
              <a:t>•  </a:t>
            </a:r>
            <a:r>
              <a:rPr sz="1500" b="1">
                <a:solidFill>
                  <a:srgbClr val="1B1B1A"/>
                </a:solidFill>
                <a:latin typeface="Calibri"/>
              </a:rPr>
              <a:t>En distritos caros </a:t>
            </a:r>
            <a:r>
              <a:rPr sz="1500" b="0">
                <a:solidFill>
                  <a:srgbClr val="1B1B1A"/>
                </a:solidFill>
                <a:latin typeface="Calibri"/>
              </a:rPr>
              <a:t>la brecha (+50–72 %) mide composición, no negociación.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50">
                <a:solidFill>
                  <a:srgbClr val="8A8983"/>
                </a:solidFill>
                <a:latin typeface="Calibri"/>
              </a:rPr>
              <a:t>MOTOR DE VALORACIÓN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1B1A"/>
                </a:solidFill>
                <a:latin typeface="Cambria"/>
              </a:rPr>
              <a:t>Gradient boosting: −17 % de error frente a la línea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A3D9B"/>
                </a:solidFill>
                <a:latin typeface="Calibri"/>
              </a:rPr>
              <a:t>InmoScore · Delivery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2A3D9B"/>
                </a:solidFill>
                <a:latin typeface="Calibri"/>
              </a:rPr>
              <a:t>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8686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463040"/>
                <a:gridCol w="118872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Modelo</a:t>
                      </a:r>
                    </a:p>
                  </a:txBody>
                  <a:tcPr marL="73152" marR="73152" marT="27432" marB="27432" anchor="ctr">
                    <a:solidFill>
                      <a:srgbClr val="2A3D9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MAE (S/)</a:t>
                      </a:r>
                    </a:p>
                  </a:txBody>
                  <a:tcPr marL="73152" marR="73152" marT="27432" marB="27432" anchor="ctr">
                    <a:solidFill>
                      <a:srgbClr val="2A3D9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MdAPE</a:t>
                      </a:r>
                    </a:p>
                  </a:txBody>
                  <a:tcPr marL="73152" marR="73152" marT="27432" marB="27432" anchor="ctr">
                    <a:solidFill>
                      <a:srgbClr val="2A3D9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Error ≤ 10 %</a:t>
                      </a:r>
                    </a:p>
                  </a:txBody>
                  <a:tcPr marL="73152" marR="73152" marT="27432" marB="27432" anchor="ctr">
                    <a:solidFill>
                      <a:srgbClr val="2A3D9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ΔMAE vs A</a:t>
                      </a:r>
                    </a:p>
                  </a:txBody>
                  <a:tcPr marL="73152" marR="73152" marT="27432" marB="27432" anchor="ctr">
                    <a:solidFill>
                      <a:srgbClr val="2A3D9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B1B1A"/>
                          </a:solidFill>
                          <a:latin typeface="Calibri"/>
                        </a:rPr>
                        <a:t>A · Mediana distrital × área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1B1A"/>
                          </a:solidFill>
                          <a:latin typeface="Calibri"/>
                        </a:rPr>
                        <a:t>153 633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1B1A"/>
                          </a:solidFill>
                          <a:latin typeface="Calibri"/>
                        </a:rPr>
                        <a:t>15,2 %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1B1A"/>
                          </a:solidFill>
                          <a:latin typeface="Calibri"/>
                        </a:rPr>
                        <a:t>34,7 %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B1B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B1B1A"/>
                          </a:solidFill>
                          <a:latin typeface="Calibri"/>
                        </a:rPr>
                        <a:t>B · Log-lineal área + distrito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1B1A"/>
                          </a:solidFill>
                          <a:latin typeface="Calibri"/>
                        </a:rPr>
                        <a:t>150 995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1B1A"/>
                          </a:solidFill>
                          <a:latin typeface="Calibri"/>
                        </a:rPr>
                        <a:t>14,1 %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1B1A"/>
                          </a:solidFill>
                          <a:latin typeface="Calibri"/>
                        </a:rPr>
                        <a:t>36,4 %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1B1A"/>
                          </a:solidFill>
                          <a:latin typeface="Calibri"/>
                        </a:rPr>
                        <a:t>−1,7 %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B1B1A"/>
                          </a:solidFill>
                          <a:latin typeface="Calibri"/>
                        </a:rPr>
                        <a:t>C1 · Ridge de Week 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1B1A"/>
                          </a:solidFill>
                          <a:latin typeface="Calibri"/>
                        </a:rPr>
                        <a:t>166 668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1B1A"/>
                          </a:solidFill>
                          <a:latin typeface="Calibri"/>
                        </a:rPr>
                        <a:t>14,8 %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1B1A"/>
                          </a:solidFill>
                          <a:latin typeface="Calibri"/>
                        </a:rPr>
                        <a:t>35,6 %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1B1A"/>
                          </a:solidFill>
                          <a:latin typeface="Calibri"/>
                        </a:rPr>
                        <a:t>+8,5 %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B1B1A"/>
                          </a:solidFill>
                          <a:latin typeface="Calibri"/>
                        </a:rPr>
                        <a:t>C2 · Ridge v2 (log-área)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1B1A"/>
                          </a:solidFill>
                          <a:latin typeface="Calibri"/>
                        </a:rPr>
                        <a:t>136 257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1B1A"/>
                          </a:solidFill>
                          <a:latin typeface="Calibri"/>
                        </a:rPr>
                        <a:t>13,6 %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1B1A"/>
                          </a:solidFill>
                          <a:latin typeface="Calibri"/>
                        </a:rPr>
                        <a:t>38,2 %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1B1A"/>
                          </a:solidFill>
                          <a:latin typeface="Calibri"/>
                        </a:rPr>
                        <a:t>−11,3 %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B1B1A"/>
                          </a:solidFill>
                          <a:latin typeface="Calibri"/>
                        </a:rPr>
                        <a:t>D · Gradient boosting</a:t>
                      </a:r>
                    </a:p>
                  </a:txBody>
                  <a:tcPr marL="73152" marR="73152" marT="27432" marB="27432" anchor="ctr">
                    <a:solidFill>
                      <a:srgbClr val="ECEFF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1B1B1A"/>
                          </a:solidFill>
                          <a:latin typeface="Calibri"/>
                        </a:rPr>
                        <a:t>127 396</a:t>
                      </a:r>
                    </a:p>
                  </a:txBody>
                  <a:tcPr marL="73152" marR="73152" marT="27432" marB="27432" anchor="ctr">
                    <a:solidFill>
                      <a:srgbClr val="ECEFF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1B1B1A"/>
                          </a:solidFill>
                          <a:latin typeface="Calibri"/>
                        </a:rPr>
                        <a:t>11,9 %</a:t>
                      </a:r>
                    </a:p>
                  </a:txBody>
                  <a:tcPr marL="73152" marR="73152" marT="27432" marB="27432" anchor="ctr">
                    <a:solidFill>
                      <a:srgbClr val="ECEFF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1B1B1A"/>
                          </a:solidFill>
                          <a:latin typeface="Calibri"/>
                        </a:rPr>
                        <a:t>43,2 %</a:t>
                      </a:r>
                    </a:p>
                  </a:txBody>
                  <a:tcPr marL="73152" marR="73152" marT="27432" marB="27432" anchor="ctr">
                    <a:solidFill>
                      <a:srgbClr val="ECEFF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1B1B1A"/>
                          </a:solidFill>
                          <a:latin typeface="Calibri"/>
                        </a:rPr>
                        <a:t>−17,1 %</a:t>
                      </a:r>
                    </a:p>
                  </a:txBody>
                  <a:tcPr marL="73152" marR="73152" marT="27432" marB="27432" anchor="ctr">
                    <a:solidFill>
                      <a:srgbClr val="ECEFFD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9509760" y="1645920"/>
            <a:ext cx="210312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B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0" y="1783080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EB6834"/>
                </a:solidFill>
                <a:latin typeface="Cambria"/>
              </a:rPr>
              <a:t>11,9 %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2560320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5544F"/>
                </a:solidFill>
                <a:latin typeface="Calibri"/>
              </a:rPr>
              <a:t>MdAPE del modelo (línea base 15,2 %)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3063240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2A3D9B"/>
                </a:solidFill>
                <a:latin typeface="Cambria"/>
              </a:rPr>
              <a:t>80,1 %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0" y="3840480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5544F"/>
                </a:solidFill>
                <a:latin typeface="Calibri"/>
              </a:rPr>
              <a:t>cobertura del intervalo del 80 %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663440"/>
            <a:ext cx="1106424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A3D9B"/>
                </a:solidFill>
                <a:latin typeface="Calibri"/>
              </a:rPr>
              <a:t>•  </a:t>
            </a:r>
            <a:r>
              <a:rPr sz="1500" b="1">
                <a:solidFill>
                  <a:srgbClr val="1B1B1A"/>
                </a:solidFill>
                <a:latin typeface="Calibri"/>
              </a:rPr>
              <a:t>Reproducible: </a:t>
            </a:r>
            <a:r>
              <a:rPr sz="1500" b="0">
                <a:solidFill>
                  <a:srgbClr val="1B1B1A"/>
                </a:solidFill>
                <a:latin typeface="Calibri"/>
              </a:rPr>
              <a:t>el pliegue 0 da las cifras exactas de Week 6 (S/ 155 372,04 y S/ 155 396,37).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A3D9B"/>
                </a:solidFill>
                <a:latin typeface="Calibri"/>
              </a:rPr>
              <a:t>•  </a:t>
            </a:r>
            <a:r>
              <a:rPr sz="1500" b="1">
                <a:solidFill>
                  <a:srgbClr val="1B1B1A"/>
                </a:solidFill>
                <a:latin typeface="Calibri"/>
              </a:rPr>
              <a:t>Error de especificación: </a:t>
            </a:r>
            <a:r>
              <a:rPr sz="1500" b="0">
                <a:solidFill>
                  <a:srgbClr val="1B1B1A"/>
                </a:solidFill>
                <a:latin typeface="Calibri"/>
              </a:rPr>
              <a:t>el Ridge de Week 6 usaba el área lineal para predecir log(precio): +8,5 % de error.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A3D9B"/>
                </a:solidFill>
                <a:latin typeface="Calibri"/>
              </a:rPr>
              <a:t>•  </a:t>
            </a:r>
            <a:r>
              <a:rPr sz="1500" b="1">
                <a:solidFill>
                  <a:srgbClr val="1B1B1A"/>
                </a:solidFill>
                <a:latin typeface="Calibri"/>
              </a:rPr>
              <a:t>Selección automática </a:t>
            </a:r>
            <a:r>
              <a:rPr sz="1500" b="0">
                <a:solidFill>
                  <a:srgbClr val="1B1B1A"/>
                </a:solidFill>
                <a:latin typeface="Calibri"/>
              </a:rPr>
              <a:t>con la regla de Week 6; D mejora el MdAPE en los 20 distritos.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50">
                <a:solidFill>
                  <a:srgbClr val="8A8983"/>
                </a:solidFill>
                <a:latin typeface="Calibri"/>
              </a:rPr>
              <a:t>MOTOR DE VALORACIÓN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1B1A"/>
                </a:solidFill>
                <a:latin typeface="Cambria"/>
              </a:rPr>
              <a:t>Mejora en todos los distritos, con incertidumbre honesta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A3D9B"/>
                </a:solidFill>
                <a:latin typeface="Calibri"/>
              </a:rPr>
              <a:t>InmoScore · Delivery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2A3D9B"/>
                </a:solidFill>
                <a:latin typeface="Calibri"/>
              </a:rPr>
              <a:t>10</a:t>
            </a:r>
          </a:p>
        </p:txBody>
      </p:sp>
      <p:pic>
        <p:nvPicPr>
          <p:cNvPr id="6" name="Picture 5" descr="fig_modelos_error_distri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96373"/>
            <a:ext cx="5852160" cy="39339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0" y="1600200"/>
            <a:ext cx="50292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A3D9B"/>
                </a:solidFill>
                <a:latin typeface="Calibri"/>
              </a:rPr>
              <a:t>•  </a:t>
            </a:r>
            <a:r>
              <a:rPr sz="1500" b="1">
                <a:solidFill>
                  <a:srgbClr val="1B1B1A"/>
                </a:solidFill>
                <a:latin typeface="Calibri"/>
              </a:rPr>
              <a:t>Intervalo del 80 % cross-conformal: </a:t>
            </a:r>
            <a:r>
              <a:rPr sz="1500" b="0">
                <a:solidFill>
                  <a:srgbClr val="1B1B1A"/>
                </a:solidFill>
                <a:latin typeface="Calibri"/>
              </a:rPr>
              <a:t>cuantiles de los residuos fuera de pliegue; cobertura 80,1 % (antes 72 % con residuos de entrenamiento).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A3D9B"/>
                </a:solidFill>
                <a:latin typeface="Calibri"/>
              </a:rPr>
              <a:t>•  </a:t>
            </a:r>
            <a:r>
              <a:rPr sz="1500" b="1">
                <a:solidFill>
                  <a:srgbClr val="1B1B1A"/>
                </a:solidFill>
                <a:latin typeface="Calibri"/>
              </a:rPr>
              <a:t>388 avisos (10 %) </a:t>
            </a:r>
            <a:r>
              <a:rPr sz="1500" b="0">
                <a:solidFill>
                  <a:srgbClr val="1B1B1A"/>
                </a:solidFill>
                <a:latin typeface="Calibri"/>
              </a:rPr>
              <a:t>quedan bajo el intervalo: pasan a una lista "por verificar".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A3D9B"/>
                </a:solidFill>
                <a:latin typeface="Calibri"/>
              </a:rPr>
              <a:t>•  </a:t>
            </a:r>
            <a:r>
              <a:rPr sz="1500" b="1">
                <a:solidFill>
                  <a:srgbClr val="1B1B1A"/>
                </a:solidFill>
                <a:latin typeface="Calibri"/>
              </a:rPr>
              <a:t>Ate (29 avisos): </a:t>
            </a:r>
            <a:r>
              <a:rPr sz="1500" b="0">
                <a:solidFill>
                  <a:srgbClr val="1B1B1A"/>
                </a:solidFill>
                <a:latin typeface="Calibri"/>
              </a:rPr>
              <a:t>mejora marginal del MdAPE y +3 % de MAE; la regla de distritos chicos lo acepta (cociente 0,87).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A3D9B"/>
                </a:solidFill>
                <a:latin typeface="Calibri"/>
              </a:rPr>
              <a:t>•  </a:t>
            </a:r>
            <a:r>
              <a:rPr sz="1500" b="1">
                <a:solidFill>
                  <a:srgbClr val="1B1B1A"/>
                </a:solidFill>
                <a:latin typeface="Calibri"/>
              </a:rPr>
              <a:t>Alternativa interpretable: </a:t>
            </a:r>
            <a:r>
              <a:rPr sz="1500" b="0">
                <a:solidFill>
                  <a:srgbClr val="1B1B1A"/>
                </a:solidFill>
                <a:latin typeface="Calibri"/>
              </a:rPr>
              <a:t>Ridge v2, a 7 % de D, si las explicaciones SHAP no resultan legibles.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50">
                <a:solidFill>
                  <a:srgbClr val="8A8983"/>
                </a:solidFill>
                <a:latin typeface="Calibri"/>
              </a:rPr>
              <a:t>ENRIQUECIMIENTO GEOESPACIAL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1B1A"/>
                </a:solidFill>
                <a:latin typeface="Cambria"/>
              </a:rPr>
              <a:t>Geocodificación: de 10 avisos a 200, con 83 % validados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A3D9B"/>
                </a:solidFill>
                <a:latin typeface="Calibri"/>
              </a:rPr>
              <a:t>InmoScore · Delivery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2A3D9B"/>
                </a:solidFill>
                <a:latin typeface="Calibri"/>
              </a:rPr>
              <a:t>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557784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005840"/>
                <a:gridCol w="1188720"/>
                <a:gridCol w="1005840"/>
              </a:tblGrid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Distrito</a:t>
                      </a:r>
                    </a:p>
                  </a:txBody>
                  <a:tcPr marL="73152" marR="73152" marT="27432" marB="27432" anchor="ctr">
                    <a:solidFill>
                      <a:srgbClr val="2A3D9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Avisos</a:t>
                      </a:r>
                    </a:p>
                  </a:txBody>
                  <a:tcPr marL="73152" marR="73152" marT="27432" marB="27432" anchor="ctr">
                    <a:solidFill>
                      <a:srgbClr val="2A3D9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Validados</a:t>
                      </a:r>
                    </a:p>
                  </a:txBody>
                  <a:tcPr marL="73152" marR="73152" marT="27432" marB="27432" anchor="ctr">
                    <a:solidFill>
                      <a:srgbClr val="2A3D9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Tasa</a:t>
                      </a:r>
                    </a:p>
                  </a:txBody>
                  <a:tcPr marL="73152" marR="73152" marT="27432" marB="27432" anchor="ctr">
                    <a:solidFill>
                      <a:srgbClr val="2A3D9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B1B1A"/>
                          </a:solidFill>
                          <a:latin typeface="Calibri"/>
                        </a:rPr>
                        <a:t>Jesus Maria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1B1A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1B1A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1B1A"/>
                          </a:solidFill>
                          <a:latin typeface="Calibri"/>
                        </a:rPr>
                        <a:t>95 %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B1B1A"/>
                          </a:solidFill>
                          <a:latin typeface="Calibri"/>
                        </a:rPr>
                        <a:t>Surquillo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1B1A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1B1A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1B1A"/>
                          </a:solidFill>
                          <a:latin typeface="Calibri"/>
                        </a:rPr>
                        <a:t>88 %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B1B1A"/>
                          </a:solidFill>
                          <a:latin typeface="Calibri"/>
                        </a:rPr>
                        <a:t>Barranco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1B1A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1B1A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1B1A"/>
                          </a:solidFill>
                          <a:latin typeface="Calibri"/>
                        </a:rPr>
                        <a:t>82 %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B1B1A"/>
                          </a:solidFill>
                          <a:latin typeface="Calibri"/>
                        </a:rPr>
                        <a:t>San Borja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1B1A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1B1A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1B1A"/>
                          </a:solidFill>
                          <a:latin typeface="Calibri"/>
                        </a:rPr>
                        <a:t>82 %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B1B1A"/>
                          </a:solidFill>
                          <a:latin typeface="Calibri"/>
                        </a:rPr>
                        <a:t>Pueblo Libre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1B1A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1B1A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B1B1A"/>
                          </a:solidFill>
                          <a:latin typeface="Calibri"/>
                        </a:rPr>
                        <a:t>68 %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B1B1A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73152" marR="73152" marT="27432" marB="27432" anchor="ctr">
                    <a:solidFill>
                      <a:srgbClr val="ECEFF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1B1B1A"/>
                          </a:solidFill>
                          <a:latin typeface="Calibri"/>
                        </a:rPr>
                        <a:t>200</a:t>
                      </a:r>
                    </a:p>
                  </a:txBody>
                  <a:tcPr marL="73152" marR="73152" marT="27432" marB="27432" anchor="ctr">
                    <a:solidFill>
                      <a:srgbClr val="ECEFF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1B1B1A"/>
                          </a:solidFill>
                          <a:latin typeface="Calibri"/>
                        </a:rPr>
                        <a:t>166</a:t>
                      </a:r>
                    </a:p>
                  </a:txBody>
                  <a:tcPr marL="73152" marR="73152" marT="27432" marB="27432" anchor="ctr">
                    <a:solidFill>
                      <a:srgbClr val="ECEFF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1B1B1A"/>
                          </a:solidFill>
                          <a:latin typeface="Calibri"/>
                        </a:rPr>
                        <a:t>83 %</a:t>
                      </a:r>
                    </a:p>
                  </a:txBody>
                  <a:tcPr marL="73152" marR="73152" marT="27432" marB="27432" anchor="ctr">
                    <a:solidFill>
                      <a:srgbClr val="ECEFFD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1645920"/>
            <a:ext cx="521208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A3D9B"/>
                </a:solidFill>
                <a:latin typeface="Calibri"/>
              </a:rPr>
              <a:t>•  </a:t>
            </a:r>
            <a:r>
              <a:rPr sz="1500" b="1">
                <a:solidFill>
                  <a:srgbClr val="1B1B1A"/>
                </a:solidFill>
                <a:latin typeface="Calibri"/>
              </a:rPr>
              <a:t>Limpieza: </a:t>
            </a:r>
            <a:r>
              <a:rPr sz="1500" b="0">
                <a:solidFill>
                  <a:srgbClr val="1B1B1A"/>
                </a:solidFill>
                <a:latin typeface="Calibri"/>
              </a:rPr>
              <a:t>departamento, "al 500", "cerca a…", abreviaturas Jr./Av./Psj.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A3D9B"/>
                </a:solidFill>
                <a:latin typeface="Calibri"/>
              </a:rPr>
              <a:t>•  </a:t>
            </a:r>
            <a:r>
              <a:rPr sz="1500" b="1">
                <a:solidFill>
                  <a:srgbClr val="1B1B1A"/>
                </a:solidFill>
                <a:latin typeface="Calibri"/>
              </a:rPr>
              <a:t>Tres intentos: </a:t>
            </a:r>
            <a:r>
              <a:rPr sz="1500" b="0">
                <a:solidFill>
                  <a:srgbClr val="1B1B1A"/>
                </a:solidFill>
                <a:latin typeface="Calibri"/>
              </a:rPr>
              <a:t>dirección, calle sin número, urbanización (precisión "zona").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A3D9B"/>
                </a:solidFill>
                <a:latin typeface="Calibri"/>
              </a:rPr>
              <a:t>•  </a:t>
            </a:r>
            <a:r>
              <a:rPr sz="1500" b="1">
                <a:solidFill>
                  <a:srgbClr val="1B1B1A"/>
                </a:solidFill>
                <a:latin typeface="Calibri"/>
              </a:rPr>
              <a:t>Validación sin imputar: </a:t>
            </a:r>
            <a:r>
              <a:rPr sz="1500" b="0">
                <a:solidFill>
                  <a:srgbClr val="1B1B1A"/>
                </a:solidFill>
                <a:latin typeface="Calibri"/>
              </a:rPr>
              <a:t>polígono ±300 m o distrito según OSM; 1,1 s por consulta con caché.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A3D9B"/>
                </a:solidFill>
                <a:latin typeface="Calibri"/>
              </a:rPr>
              <a:t>•  </a:t>
            </a:r>
            <a:r>
              <a:rPr sz="1500" b="1">
                <a:solidFill>
                  <a:srgbClr val="1B1B1A"/>
                </a:solidFill>
                <a:latin typeface="Calibri"/>
              </a:rPr>
              <a:t>57 % → 83 %: </a:t>
            </a:r>
            <a:r>
              <a:rPr sz="1500" b="0">
                <a:solidFill>
                  <a:srgbClr val="1B1B1A"/>
                </a:solidFill>
                <a:latin typeface="Calibri"/>
              </a:rPr>
              <a:t>31 falsos rechazos por el GeoJSON simplificado.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A3D9B"/>
                </a:solidFill>
                <a:latin typeface="Calibri"/>
              </a:rPr>
              <a:t>•  </a:t>
            </a:r>
            <a:r>
              <a:rPr sz="1500" b="1">
                <a:solidFill>
                  <a:srgbClr val="1B1B1A"/>
                </a:solidFill>
                <a:latin typeface="Calibri"/>
              </a:rPr>
              <a:t>Distancia mediana: </a:t>
            </a:r>
            <a:r>
              <a:rPr sz="1500" b="0">
                <a:solidFill>
                  <a:srgbClr val="1B1B1A"/>
                </a:solidFill>
                <a:latin typeface="Calibri"/>
              </a:rPr>
              <a:t>colegio 158 m, parque 102 m, paradero 221 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50">
                <a:solidFill>
                  <a:srgbClr val="8A8983"/>
                </a:solidFill>
                <a:latin typeface="Calibri"/>
              </a:rPr>
              <a:t>CAPA DE RECOMENDACIÓN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1B1A"/>
                </a:solidFill>
                <a:latin typeface="Cambria"/>
              </a:rPr>
              <a:t>Un ranking por perfil, explicado y sin imputar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A3D9B"/>
                </a:solidFill>
                <a:latin typeface="Calibri"/>
              </a:rPr>
              <a:t>InmoScore · Delivery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2A3D9B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A3D9B"/>
                </a:solidFill>
                <a:latin typeface="Cambria"/>
              </a:rPr>
              <a:t>score = Σ peso × componente / Σ pesos de los componentes disponibles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51206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2A3D9B"/>
                </a:solidFill>
                <a:latin typeface="Calibri"/>
              </a:rPr>
              <a:t>•  </a:t>
            </a:r>
            <a:r>
              <a:rPr sz="1500" b="1">
                <a:solidFill>
                  <a:srgbClr val="1B1B1A"/>
                </a:solidFill>
                <a:latin typeface="Calibri"/>
              </a:rPr>
              <a:t>Componentes: </a:t>
            </a:r>
            <a:r>
              <a:rPr sz="1500" b="0">
                <a:solidFill>
                  <a:srgbClr val="1B1B1A"/>
                </a:solidFill>
                <a:latin typeface="Calibri"/>
              </a:rPr>
              <a:t>precio (logística del opportunity score), seguridad, colegios y servicios, constructora.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A3D9B"/>
                </a:solidFill>
                <a:latin typeface="Calibri"/>
              </a:rPr>
              <a:t>•  </a:t>
            </a:r>
            <a:r>
              <a:rPr sz="1500" b="1">
                <a:solidFill>
                  <a:srgbClr val="1B1B1A"/>
                </a:solidFill>
                <a:latin typeface="Calibri"/>
              </a:rPr>
              <a:t>Faltante ≠ cero: </a:t>
            </a:r>
            <a:r>
              <a:rPr sz="1500" b="0">
                <a:solidFill>
                  <a:srgbClr val="1B1B1A"/>
                </a:solidFill>
                <a:latin typeface="Calibri"/>
              </a:rPr>
              <a:t>sale del cálculo y la explicación lo declara.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A3D9B"/>
                </a:solidFill>
                <a:latin typeface="Calibri"/>
              </a:rPr>
              <a:t>•  </a:t>
            </a:r>
            <a:r>
              <a:rPr sz="1500" b="1">
                <a:solidFill>
                  <a:srgbClr val="1B1B1A"/>
                </a:solidFill>
                <a:latin typeface="Calibri"/>
              </a:rPr>
              <a:t>Precio atípico </a:t>
            </a:r>
            <a:r>
              <a:rPr sz="1500" b="0">
                <a:solidFill>
                  <a:srgbClr val="1B1B1A"/>
                </a:solidFill>
                <a:latin typeface="Calibri"/>
              </a:rPr>
              <a:t>→ lista "por verificar", no ranking.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A3D9B"/>
                </a:solidFill>
                <a:latin typeface="Calibri"/>
              </a:rPr>
              <a:t>•  </a:t>
            </a:r>
            <a:r>
              <a:rPr sz="1500" b="1">
                <a:solidFill>
                  <a:srgbClr val="1B1B1A"/>
                </a:solidFill>
                <a:latin typeface="Calibri"/>
              </a:rPr>
              <a:t>Diversidad: </a:t>
            </a:r>
            <a:r>
              <a:rPr sz="1500" b="0">
                <a:solidFill>
                  <a:srgbClr val="1B1B1A"/>
                </a:solidFill>
                <a:latin typeface="Calibri"/>
              </a:rPr>
              <a:t>máximo 3 avisos por distrito en el top 10.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A3D9B"/>
                </a:solidFill>
                <a:latin typeface="Calibri"/>
              </a:rPr>
              <a:t>•  </a:t>
            </a:r>
            <a:r>
              <a:rPr sz="1500" b="1">
                <a:solidFill>
                  <a:srgbClr val="1B1B1A"/>
                </a:solidFill>
                <a:latin typeface="Calibri"/>
              </a:rPr>
              <a:t>Iteración: </a:t>
            </a:r>
            <a:r>
              <a:rPr sz="1500" b="0">
                <a:solidFill>
                  <a:srgbClr val="1B1B1A"/>
                </a:solidFill>
                <a:latin typeface="Calibri"/>
              </a:rPr>
              <a:t>la v1 daba el mismo top 10 a ambos perfiles (Jaccard 1,0).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035040" y="2148840"/>
          <a:ext cx="55778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155448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Criterio</a:t>
                      </a:r>
                    </a:p>
                  </a:txBody>
                  <a:tcPr marL="73152" marR="73152" marT="27432" marB="27432" anchor="ctr">
                    <a:solidFill>
                      <a:srgbClr val="2A3D9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Resultado</a:t>
                      </a:r>
                    </a:p>
                  </a:txBody>
                  <a:tcPr marL="73152" marR="73152" marT="27432" marB="27432" anchor="ctr">
                    <a:solidFill>
                      <a:srgbClr val="2A3D9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B1B1A"/>
                          </a:solidFill>
                          <a:latin typeface="Calibri"/>
                        </a:rPr>
                        <a:t>REQ-01 perfiles distintos (Jaccard top 10)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B1B1A"/>
                          </a:solidFill>
                          <a:latin typeface="Calibri"/>
                        </a:rPr>
                        <a:t>0,43  ✓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B1B1A"/>
                          </a:solidFill>
                          <a:latin typeface="Calibri"/>
                        </a:rPr>
                        <a:t>REQ-01 mismo presupuesto (Jaccard)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B1B1A"/>
                          </a:solidFill>
                          <a:latin typeface="Calibri"/>
                        </a:rPr>
                        <a:t>0,67  ✓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B1B1A"/>
                          </a:solidFill>
                          <a:latin typeface="Calibri"/>
                        </a:rPr>
                        <a:t>REQ-01 ρ de Spearman entre scores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B1B1A"/>
                          </a:solidFill>
                          <a:latin typeface="Calibri"/>
                        </a:rPr>
                        <a:t>0,69  ✓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B1B1A"/>
                          </a:solidFill>
                          <a:latin typeface="Calibri"/>
                        </a:rPr>
                        <a:t>REQ-02 avisos con explicación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B1B1A"/>
                          </a:solidFill>
                          <a:latin typeface="Calibri"/>
                        </a:rPr>
                        <a:t>100 %  ✓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B1B1A"/>
                          </a:solidFill>
                          <a:latin typeface="Calibri"/>
                        </a:rPr>
                        <a:t>Atípicos en el ranking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B1B1A"/>
                          </a:solidFill>
                          <a:latin typeface="Calibri"/>
                        </a:rPr>
                        <a:t>0 %  ✓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B1B1A"/>
                          </a:solidFill>
                          <a:latin typeface="Calibri"/>
                        </a:rPr>
                        <a:t>Parciales que lo declaran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B1B1A"/>
                          </a:solidFill>
                          <a:latin typeface="Calibri"/>
                        </a:rPr>
                        <a:t>100 %  ✓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B1B1A"/>
                          </a:solidFill>
                          <a:latin typeface="Calibri"/>
                        </a:rPr>
                        <a:t>RNF-01 tiempo del ranking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B1B1A"/>
                          </a:solidFill>
                          <a:latin typeface="Calibri"/>
                        </a:rPr>
                        <a:t>0,09 s  ✓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50">
                <a:solidFill>
                  <a:srgbClr val="8A8983"/>
                </a:solidFill>
                <a:latin typeface="Calibri"/>
              </a:rPr>
              <a:t>ARQUITECTURA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1B1A"/>
                </a:solidFill>
                <a:latin typeface="Cambria"/>
              </a:rPr>
              <a:t>Por lotes: el pipeline precalcula, el servicio solo pondera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A3D9B"/>
                </a:solidFill>
                <a:latin typeface="Calibri"/>
              </a:rPr>
              <a:t>InmoScore · Delivery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2A3D9B"/>
                </a:solidFill>
                <a:latin typeface="Calibri"/>
              </a:rPr>
              <a:t>13</a:t>
            </a:r>
          </a:p>
        </p:txBody>
      </p:sp>
      <p:pic>
        <p:nvPicPr>
          <p:cNvPr id="6" name="Picture 5" descr="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4636" y="1371600"/>
            <a:ext cx="8372246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50">
                <a:solidFill>
                  <a:srgbClr val="8A8983"/>
                </a:solidFill>
                <a:latin typeface="Calibri"/>
              </a:rPr>
              <a:t>INTERFAZ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1B1A"/>
                </a:solidFill>
                <a:latin typeface="Cambria"/>
              </a:rPr>
              <a:t>Prototipo de baja fidelidad con datos reales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A3D9B"/>
                </a:solidFill>
                <a:latin typeface="Calibri"/>
              </a:rPr>
              <a:t>InmoScore · Delivery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2A3D9B"/>
                </a:solidFill>
                <a:latin typeface="Calibri"/>
              </a:rPr>
              <a:t>14</a:t>
            </a:r>
          </a:p>
        </p:txBody>
      </p:sp>
      <p:pic>
        <p:nvPicPr>
          <p:cNvPr id="6" name="Picture 5" descr="user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0626" y="1371600"/>
            <a:ext cx="9100267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50">
                <a:solidFill>
                  <a:srgbClr val="8A8983"/>
                </a:solidFill>
                <a:latin typeface="Calibri"/>
              </a:rPr>
              <a:t>REQUERIMIENTOS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1B1A"/>
                </a:solidFill>
                <a:latin typeface="Cambria"/>
              </a:rPr>
              <a:t>Estado al cierre de la primera fase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A3D9B"/>
                </a:solidFill>
                <a:latin typeface="Calibri"/>
              </a:rPr>
              <a:t>InmoScore · Delivery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2A3D9B"/>
                </a:solidFill>
                <a:latin typeface="Calibr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2A3D9B"/>
                </a:solidFill>
                <a:latin typeface="Cambria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2560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5544F"/>
                </a:solidFill>
                <a:latin typeface="Calibri"/>
              </a:rPr>
              <a:t>de 26 funcionales implementados y verificados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60020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2A3D9B"/>
                </a:solidFill>
                <a:latin typeface="Cambria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377440"/>
            <a:ext cx="2560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5544F"/>
                </a:solidFill>
                <a:latin typeface="Calibri"/>
              </a:rPr>
              <a:t>funcionales parciales, con plan y semana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60020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2A3D9B"/>
                </a:solidFill>
                <a:latin typeface="Cambria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377440"/>
            <a:ext cx="2560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5544F"/>
                </a:solidFill>
                <a:latin typeface="Calibri"/>
              </a:rPr>
              <a:t>de 13 no funcionales cumplidos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160020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EB6834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2377440"/>
            <a:ext cx="2560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5544F"/>
                </a:solidFill>
                <a:latin typeface="Calibri"/>
              </a:rPr>
              <a:t>bloqueado por datos: modelo de visión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48640" y="3291840"/>
          <a:ext cx="11064240" cy="2816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6560"/>
                <a:gridCol w="4297680"/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Criterio de aceptación (Week 5)</a:t>
                      </a:r>
                    </a:p>
                  </a:txBody>
                  <a:tcPr marL="73152" marR="73152" marT="27432" marB="27432" anchor="ctr">
                    <a:solidFill>
                      <a:srgbClr val="2A3D9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Estado</a:t>
                      </a:r>
                    </a:p>
                  </a:txBody>
                  <a:tcPr marL="73152" marR="73152" marT="27432" marB="27432" anchor="ctr">
                    <a:solidFill>
                      <a:srgbClr val="2A3D9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B1B1A"/>
                          </a:solidFill>
                          <a:latin typeface="Calibri"/>
                        </a:rPr>
                        <a:t>≥ 500 avisos con &lt; 10 % de faltantes críticos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B1B1A"/>
                          </a:solidFill>
                          <a:latin typeface="Calibri"/>
                        </a:rPr>
                        <a:t>✓ 3 896 avisos, 0 faltantes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B1B1A"/>
                          </a:solidFill>
                          <a:latin typeface="Calibri"/>
                        </a:rPr>
                        <a:t>MAE comparado contra la línea base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B1B1A"/>
                          </a:solidFill>
                          <a:latin typeface="Calibri"/>
                        </a:rPr>
                        <a:t>✓ −17,1 %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B1B1A"/>
                          </a:solidFill>
                          <a:latin typeface="Calibri"/>
                        </a:rPr>
                        <a:t>Dos perfiles, dos rankings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B1B1A"/>
                          </a:solidFill>
                          <a:latin typeface="Calibri"/>
                        </a:rPr>
                        <a:t>✓ Jaccard 0,43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B1B1A"/>
                          </a:solidFill>
                          <a:latin typeface="Calibri"/>
                        </a:rPr>
                        <a:t>Explicación en cada recomendación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B1B1A"/>
                          </a:solidFill>
                          <a:latin typeface="Calibri"/>
                        </a:rPr>
                        <a:t>✓ 100 %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B1B1A"/>
                          </a:solidFill>
                          <a:latin typeface="Calibri"/>
                        </a:rPr>
                        <a:t>Modelo de visión ≥ 70 %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B1B1A"/>
                          </a:solidFill>
                          <a:latin typeface="Calibri"/>
                        </a:rPr>
                        <a:t>Sin datos: decisión en Week 10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B1B1A"/>
                          </a:solidFill>
                          <a:latin typeface="Calibri"/>
                        </a:rPr>
                        <a:t>Prototipo desplegado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B1B1A"/>
                          </a:solidFill>
                          <a:latin typeface="Calibri"/>
                        </a:rPr>
                        <a:t>Local hoy; URL en Week 10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50">
                <a:solidFill>
                  <a:srgbClr val="8A8983"/>
                </a:solidFill>
                <a:latin typeface="Calibri"/>
              </a:rPr>
              <a:t>PLAN HASTA WEEK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1B1A"/>
                </a:solidFill>
                <a:latin typeface="Cambria"/>
              </a:rPr>
              <a:t>Prioridades y responsables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A3D9B"/>
                </a:solidFill>
                <a:latin typeface="Calibri"/>
              </a:rPr>
              <a:t>InmoScore · Delivery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2A3D9B"/>
                </a:solidFill>
                <a:latin typeface="Calibri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1463040" cy="1828800"/>
          </a:xfrm>
          <a:prstGeom prst="roundRect">
            <a:avLst>
              <a:gd name="adj" fmla="val 6000"/>
            </a:avLst>
          </a:prstGeom>
          <a:solidFill>
            <a:srgbClr val="EC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A3D9B"/>
                </a:solidFill>
                <a:latin typeface="Calibri"/>
              </a:rPr>
              <a:t>W8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57400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B1B1A"/>
                </a:solidFill>
                <a:latin typeface="Calibri"/>
              </a:rPr>
              <a:t>Parcial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14600"/>
            <a:ext cx="1234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5544F"/>
                </a:solidFill>
                <a:latin typeface="Calibri"/>
              </a:rPr>
              <a:t>retroalimentación y stack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48840" y="1600200"/>
            <a:ext cx="1463040" cy="1828800"/>
          </a:xfrm>
          <a:prstGeom prst="roundRect">
            <a:avLst>
              <a:gd name="adj" fmla="val 6000"/>
            </a:avLst>
          </a:prstGeom>
          <a:solidFill>
            <a:srgbClr val="EC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169164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A3D9B"/>
                </a:solidFill>
                <a:latin typeface="Calibri"/>
              </a:rPr>
              <a:t>W9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057400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B1B1A"/>
                </a:solidFill>
                <a:latin typeface="Calibri"/>
              </a:rPr>
              <a:t>Construir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514600"/>
            <a:ext cx="1234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5544F"/>
                </a:solidFill>
                <a:latin typeface="Calibri"/>
              </a:rPr>
              <a:t>geocodificación completa, API, web app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49039" y="1600200"/>
            <a:ext cx="1463040" cy="1828800"/>
          </a:xfrm>
          <a:prstGeom prst="roundRect">
            <a:avLst>
              <a:gd name="adj" fmla="val 6000"/>
            </a:avLst>
          </a:prstGeom>
          <a:solidFill>
            <a:srgbClr val="2A3D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86200" y="169164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W10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2057400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Prototipo funcional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2514600"/>
            <a:ext cx="1234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CEFFD"/>
                </a:solidFill>
                <a:latin typeface="Calibri"/>
              </a:rPr>
              <a:t>flujo desplegado, mapa, decisión de visión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49240" y="1600200"/>
            <a:ext cx="1463040" cy="1828800"/>
          </a:xfrm>
          <a:prstGeom prst="roundRect">
            <a:avLst>
              <a:gd name="adj" fmla="val 6000"/>
            </a:avLst>
          </a:prstGeom>
          <a:solidFill>
            <a:srgbClr val="EC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0" y="169164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A3D9B"/>
                </a:solidFill>
                <a:latin typeface="Calibri"/>
              </a:rPr>
              <a:t>W11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2057400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B1B1A"/>
                </a:solidFill>
                <a:latin typeface="Calibri"/>
              </a:rPr>
              <a:t>Evaluar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2514600"/>
            <a:ext cx="1234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5544F"/>
                </a:solidFill>
                <a:latin typeface="Calibri"/>
              </a:rPr>
              <a:t>SHAP, umbral Alcabala, seguridad, usuarios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49440" y="1600200"/>
            <a:ext cx="1463040" cy="1828800"/>
          </a:xfrm>
          <a:prstGeom prst="roundRect">
            <a:avLst>
              <a:gd name="adj" fmla="val 6000"/>
            </a:avLst>
          </a:prstGeom>
          <a:solidFill>
            <a:srgbClr val="2A3D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86600" y="169164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W12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2057400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Evaluación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2514600"/>
            <a:ext cx="1234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CEFFD"/>
                </a:solidFill>
                <a:latin typeface="Calibri"/>
              </a:rPr>
              <a:t>casos de estudio, guardar y comparar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49640" y="1600200"/>
            <a:ext cx="1463040" cy="1828800"/>
          </a:xfrm>
          <a:prstGeom prst="roundRect">
            <a:avLst>
              <a:gd name="adj" fmla="val 6000"/>
            </a:avLst>
          </a:prstGeom>
          <a:solidFill>
            <a:srgbClr val="EC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169164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A3D9B"/>
                </a:solidFill>
                <a:latin typeface="Calibri"/>
              </a:rPr>
              <a:t>W13–14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2057400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B1B1A"/>
                </a:solidFill>
                <a:latin typeface="Calibri"/>
              </a:rPr>
              <a:t>Cerrar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2514600"/>
            <a:ext cx="1234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5544F"/>
                </a:solidFill>
                <a:latin typeface="Calibri"/>
              </a:rPr>
              <a:t>refresco, accesibilidad, reporte y video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49840" y="1600200"/>
            <a:ext cx="1463040" cy="1828800"/>
          </a:xfrm>
          <a:prstGeom prst="roundRect">
            <a:avLst>
              <a:gd name="adj" fmla="val 6000"/>
            </a:avLst>
          </a:prstGeom>
          <a:solidFill>
            <a:srgbClr val="2A3D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87000" y="169164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W15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87000" y="2057400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Delivery 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87000" y="2514600"/>
            <a:ext cx="1234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CEFFD"/>
                </a:solidFill>
                <a:latin typeface="Calibri"/>
              </a:rPr>
              <a:t>presentación final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548640" y="3749039"/>
          <a:ext cx="1106423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7955279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Integrante</a:t>
                      </a:r>
                    </a:p>
                  </a:txBody>
                  <a:tcPr marL="73152" marR="73152" marT="27432" marB="27432" anchor="ctr">
                    <a:solidFill>
                      <a:srgbClr val="2A3D9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Responsabilidad principal hasta Week 15</a:t>
                      </a:r>
                    </a:p>
                  </a:txBody>
                  <a:tcPr marL="73152" marR="73152" marT="27432" marB="27432" anchor="ctr">
                    <a:solidFill>
                      <a:srgbClr val="2A3D9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B1B1A"/>
                          </a:solidFill>
                          <a:latin typeface="Calibri"/>
                        </a:rPr>
                        <a:t>Denzel · Cloud &amp; DevOps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B1B1A"/>
                          </a:solidFill>
                          <a:latin typeface="Calibri"/>
                        </a:rPr>
                        <a:t>Contenedor y despliegue, GitHub Actions, geocodificación completa, URL pública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B1B1A"/>
                          </a:solidFill>
                          <a:latin typeface="Calibri"/>
                        </a:rPr>
                        <a:t>Jyns · Machine Learning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B1B1A"/>
                          </a:solidFill>
                          <a:latin typeface="Calibri"/>
                        </a:rPr>
                        <a:t>Valoración y evaluación, recomendación, explicaciones SHAP, decisión de visión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B1B1A"/>
                          </a:solidFill>
                          <a:latin typeface="Calibri"/>
                        </a:rPr>
                        <a:t>Lisseth · Data Analyst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B1B1A"/>
                          </a:solidFill>
                          <a:latin typeface="Calibri"/>
                        </a:rPr>
                        <a:t>Calidad del pipeline, POIs, diccionario, umbral Alcabala, índice de seguridad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B1B1A"/>
                          </a:solidFill>
                          <a:latin typeface="Calibri"/>
                        </a:rPr>
                        <a:t>Mafer · Full-Stack &amp; UX/UI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B1B1A"/>
                          </a:solidFill>
                          <a:latin typeface="Calibri"/>
                        </a:rPr>
                        <a:t>Web app y mapa, alta fidelidad, prueba con usuarios, página y video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3D9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250">
                <a:solidFill>
                  <a:srgbClr val="9DACF8"/>
                </a:solidFill>
                <a:latin typeface="Calibri"/>
              </a:rPr>
              <a:t>PRÓXIMOS PASOS Y RIESGOS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mbria"/>
              </a:rPr>
              <a:t>Lo que falta decidir antes de Week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9DACF8"/>
                </a:solidFill>
                <a:latin typeface="Calibri"/>
              </a:rPr>
              <a:t>Imágenes de entorno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49377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Mapillary más un set propio, o sacar el modelo de visión del alcance y declararlo.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246888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9DACF8"/>
                </a:solidFill>
                <a:latin typeface="Calibri"/>
              </a:rPr>
              <a:t>Sesgo en seguridad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926080"/>
            <a:ext cx="49377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Normalizar por superficie o por modalidad; declararlo en la interfaz.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0624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9DACF8"/>
                </a:solidFill>
                <a:latin typeface="Calibri"/>
              </a:rPr>
              <a:t>Cierre vs oferta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63440"/>
            <a:ext cx="49377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Umbral de cochera por distrito con la relación valor/autovalúo de Alcabala.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420624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9DACF8"/>
                </a:solidFill>
                <a:latin typeface="Calibri"/>
              </a:rPr>
              <a:t>Inventario vigente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4663440"/>
            <a:ext cx="49377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Complementar el dataset sin fecha con el scraper por sitemap de Week 6.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893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Gracias · preguntas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